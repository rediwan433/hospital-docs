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0" r:id="rId1"/>
  </p:sldMasterIdLst>
  <p:notesMasterIdLst>
    <p:notesMasterId r:id="rId25"/>
  </p:notesMasterIdLst>
  <p:sldIdLst>
    <p:sldId id="306" r:id="rId2"/>
    <p:sldId id="272" r:id="rId3"/>
    <p:sldId id="286" r:id="rId4"/>
    <p:sldId id="307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69BE-FE39-41DA-9D4E-AA67771FB734}" type="datetimeFigureOut">
              <a:rPr lang="en-US" smtClean="0"/>
              <a:pPr/>
              <a:t>9/23/2019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CE9FDA-DA69-4B03-8209-1DB69FFE3E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30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FEA02B4-5188-4E27-B3A9-D0F1ECEFDE14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42251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78A2212-85C7-48D5-80BA-8DAD75E8798A}" type="slidenum">
              <a:rPr lang="en-US" smtClean="0"/>
              <a:pPr eaLnBrk="1" hangingPunct="1"/>
              <a:t>14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036292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2F58AA-5155-4387-A9E9-AE953CE712E3}" type="slidenum">
              <a:rPr lang="en-US" smtClean="0"/>
              <a:pPr eaLnBrk="1" hangingPunct="1"/>
              <a:t>16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84820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C90B234-37D3-4566-94AC-F983B2E1FF73}" type="slidenum">
              <a:rPr lang="en-US" smtClean="0"/>
              <a:pPr eaLnBrk="1" hangingPunct="1"/>
              <a:t>19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04512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C181BA3-39FA-4FFF-8730-4B89AAC47379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13145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66172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884" y="1879926"/>
            <a:ext cx="7760513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0204" y="3597481"/>
            <a:ext cx="5971593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61655" y="4972192"/>
            <a:ext cx="1296208" cy="361810"/>
          </a:xfrm>
        </p:spPr>
        <p:txBody>
          <a:bodyPr/>
          <a:lstStyle/>
          <a:p>
            <a:fld id="{21C84CB9-9036-4344-87E2-958DDAE1D0B3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4972194"/>
            <a:ext cx="4999075" cy="361809"/>
          </a:xfrm>
        </p:spPr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797" y="4972193"/>
            <a:ext cx="968201" cy="361809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72920" y="76751"/>
            <a:ext cx="4038801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75561" y="5960533"/>
            <a:ext cx="1133600" cy="279400"/>
          </a:xfrm>
        </p:spPr>
        <p:txBody>
          <a:bodyPr/>
          <a:lstStyle/>
          <a:p>
            <a:fld id="{82408B62-EAA5-43D8-B41E-C656F6854212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9161" y="5960533"/>
            <a:ext cx="965539" cy="279400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5D5A-583A-44AF-BD68-B1EF3F06EE58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06788" y="5960533"/>
            <a:ext cx="1154187" cy="279400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052394"/>
            <a:ext cx="906497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CD7C-F6E2-4922-BAE9-23B4F5FFB561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06788" y="5934457"/>
            <a:ext cx="1021184" cy="305477"/>
          </a:xfrm>
        </p:spPr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F577C-8378-44AE-A477-C10B0793EC88}" type="datetime1">
              <a:rPr lang="en-US" smtClean="0"/>
              <a:t>9/23/2019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DE2A-3329-4DAD-9EEB-A72C6CBBDD71}" type="datetime1">
              <a:rPr lang="en-US" smtClean="0"/>
              <a:t>9/23/2019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21691-5BF9-4B05-ABFB-824CC51E0730}" type="datetime1">
              <a:rPr lang="en-US" smtClean="0"/>
              <a:t>9/23/2019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1A62E-130A-4DA9-A177-F21C05754E08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85004-FF65-463C-9634-3B79BA2A1FCD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1778C-1B7C-4BC8-A854-A562F0B4A2F8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52077-7434-4916-9701-60F05BD7FAEA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F4ADF-9152-4F50-8DDD-FFD52113C51F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CCD3A-D40A-487C-A29F-74F0F2AA775E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CF2DF-1D21-41C1-84E6-967465CF19F8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573-DACD-4E82-BDD3-BB7919699A22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055E-A47D-454F-B134-04A00FEA5ECA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09F81-16B8-4431-95AF-0B6D0FDBE674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35133"/>
            <a:ext cx="897447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EA916B-F292-4FBB-AB3E-928BAB8C3323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3007" y="5960533"/>
            <a:ext cx="126112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52743B3-639B-4115-8757-96385278586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96777" y="4072"/>
            <a:ext cx="3209731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720" y="365125"/>
            <a:ext cx="10342880" cy="4285703"/>
          </a:xfrm>
        </p:spPr>
        <p:txBody>
          <a:bodyPr/>
          <a:lstStyle/>
          <a:p>
            <a:r>
              <a:rPr lang="en-US" b="1" dirty="0" smtClean="0"/>
              <a:t>             Volume 2:  Section 4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Infection Prevention and Control in special </a:t>
            </a:r>
            <a:r>
              <a:rPr lang="en-US" b="1" dirty="0" smtClean="0"/>
              <a:t>settings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008-641B-4BC4-AB6F-A1BE7509A018}" type="datetime1">
              <a:rPr lang="en-US" smtClean="0"/>
              <a:t>9/23/2019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8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08884" y="2460821"/>
            <a:ext cx="7760513" cy="1877628"/>
          </a:xfrm>
        </p:spPr>
        <p:txBody>
          <a:bodyPr/>
          <a:lstStyle/>
          <a:p>
            <a:r>
              <a:rPr lang="en-US" sz="3200" dirty="0"/>
              <a:t>Volume </a:t>
            </a:r>
            <a:r>
              <a:rPr lang="en-US" sz="3200" dirty="0" smtClean="0"/>
              <a:t>2_Section </a:t>
            </a:r>
            <a:r>
              <a:rPr lang="en-US" sz="3200" dirty="0"/>
              <a:t>4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2800" dirty="0" smtClean="0">
                <a:cs typeface="Arial" panose="020B0604020202020204" pitchFamily="34" charset="0"/>
              </a:rPr>
              <a:t>CHAPTER 1: </a:t>
            </a:r>
            <a:r>
              <a:rPr lang="en-US" sz="2800" dirty="0">
                <a:cs typeface="Arial" panose="020B0604020202020204" pitchFamily="34" charset="0"/>
              </a:rPr>
              <a:t/>
            </a:r>
            <a:br>
              <a:rPr lang="en-US" sz="2800" dirty="0">
                <a:cs typeface="Arial" panose="020B0604020202020204" pitchFamily="34" charset="0"/>
              </a:rPr>
            </a:br>
            <a:r>
              <a:rPr lang="en-US" sz="2800" dirty="0">
                <a:cs typeface="Arial" panose="020B0604020202020204" pitchFamily="34" charset="0"/>
              </a:rPr>
              <a:t>SAFE SURGERY AND SAFE PRACTICE IN THE OPERATION ROOM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427890" y="5252911"/>
            <a:ext cx="7677807" cy="101290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</a:t>
            </a:r>
            <a:r>
              <a:rPr lang="en-US" sz="51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Infection Prevention and Control </a:t>
            </a:r>
            <a:r>
              <a:rPr lang="en-US" sz="5100" b="1" dirty="0" smtClean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 special </a:t>
            </a:r>
            <a:r>
              <a:rPr lang="en-US" sz="51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setting</a:t>
            </a:r>
          </a:p>
        </p:txBody>
      </p:sp>
    </p:spTree>
    <p:extLst>
      <p:ext uri="{BB962C8B-B14F-4D97-AF65-F5344CB8AC3E}">
        <p14:creationId xmlns:p14="http://schemas.microsoft.com/office/powerpoint/2010/main" val="350658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Chapter Content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9517"/>
            <a:ext cx="10515600" cy="41274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 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Overview of Safe Surgery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/>
              <a:t>The Safe Surgery Guidelines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/>
              <a:t>Establishing surgical asepsis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The Surgical Environment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Instruments Causing Injuries</a:t>
            </a:r>
            <a:endParaRPr lang="en-US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GB" dirty="0" smtClean="0"/>
              <a:t>Designing Safer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61ACC-8444-4931-B4B2-84077497275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7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1960880"/>
            <a:ext cx="10464800" cy="4318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By the end of this chapter, participants will be able to:</a:t>
            </a:r>
          </a:p>
          <a:p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Explain proven safe surgical care standards.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Identify the operating room and associated risks for patients and the staff.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Identify Instruments as a cause of most injuries in the operating room.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Describe how to avoid injuries from sharps and designing a safe operation room.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AF2A7-3FC4-46B0-B97C-C5AF11FB667C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17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1. Overview  of Save </a:t>
            </a:r>
            <a:r>
              <a:rPr lang="en-US" dirty="0"/>
              <a:t>Surgery </a:t>
            </a:r>
            <a:r>
              <a:rPr lang="en-US" dirty="0" smtClean="0"/>
              <a:t>(1/1)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59" y="1910081"/>
            <a:ext cx="10363201" cy="426688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Each year, millions of people undergo surgical treatment due to traumatic injuries, pregnancy-related complications and malignancies. </a:t>
            </a:r>
            <a:endParaRPr lang="en-US" dirty="0" smtClean="0"/>
          </a:p>
          <a:p>
            <a:pPr algn="just"/>
            <a:r>
              <a:rPr lang="en-GB" dirty="0" smtClean="0"/>
              <a:t>Surgery is often the only therapy to alleviate disabilities and reduce the risk for death from common conditions. </a:t>
            </a:r>
            <a:endParaRPr lang="en-US" dirty="0" smtClean="0"/>
          </a:p>
          <a:p>
            <a:pPr algn="just"/>
            <a:r>
              <a:rPr lang="en-US" dirty="0"/>
              <a:t>Infections and other postoperative morbidities are also a serious problem prevailing around the world. </a:t>
            </a:r>
            <a:endParaRPr lang="en-US" dirty="0" smtClean="0"/>
          </a:p>
          <a:p>
            <a:pPr algn="just"/>
            <a:r>
              <a:rPr lang="en-US" dirty="0"/>
              <a:t>Monitoring and evaluation of outcomes is an essential component of surgical care.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8264E-26EA-4E4F-8E18-E81411B62063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64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841" y="365125"/>
            <a:ext cx="11006959" cy="1325563"/>
          </a:xfrm>
        </p:spPr>
        <p:txBody>
          <a:bodyPr/>
          <a:lstStyle/>
          <a:p>
            <a:r>
              <a:rPr lang="en-US" b="1" dirty="0" smtClean="0"/>
              <a:t>    </a:t>
            </a:r>
            <a:br>
              <a:rPr lang="en-US" b="1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 smtClean="0"/>
              <a:t>2. The Safe Surgery Guidelines</a:t>
            </a:r>
            <a:br>
              <a:rPr lang="en-US" b="1" dirty="0" smtClean="0"/>
            </a:br>
            <a:r>
              <a:rPr 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(1/5)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85089"/>
            <a:ext cx="10515600" cy="3291873"/>
          </a:xfrm>
        </p:spPr>
        <p:txBody>
          <a:bodyPr/>
          <a:lstStyle/>
          <a:p>
            <a:pPr lvl="0">
              <a:buNone/>
            </a:pPr>
            <a:r>
              <a:rPr lang="en-US" dirty="0" smtClean="0"/>
              <a:t>2.1. The </a:t>
            </a:r>
            <a:r>
              <a:rPr lang="en-US" dirty="0"/>
              <a:t>implementation of the safe surgery checklist.</a:t>
            </a:r>
          </a:p>
          <a:p>
            <a:pPr>
              <a:buNone/>
            </a:pPr>
            <a:r>
              <a:rPr lang="en-US" dirty="0" smtClean="0"/>
              <a:t>2.2. The </a:t>
            </a:r>
            <a:r>
              <a:rPr lang="en-US" dirty="0"/>
              <a:t>monitoring and evaluation of surgical outcomes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6F00-308D-4712-9963-0E6F18BBB1D0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3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609600"/>
            <a:ext cx="10353041" cy="1371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2.1. </a:t>
            </a:r>
            <a:r>
              <a:rPr lang="en-US" sz="4400" b="1" dirty="0" smtClean="0"/>
              <a:t>The Implementation of The Safe Surgery Checklist </a:t>
            </a:r>
            <a:r>
              <a:rPr lang="en-US" sz="4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(2/5</a:t>
            </a:r>
            <a:r>
              <a:rPr 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760" y="1950720"/>
            <a:ext cx="10480040" cy="42262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Checklist involves the coordination of the operating </a:t>
            </a:r>
            <a:r>
              <a:rPr lang="en-US" dirty="0" smtClean="0"/>
              <a:t>team </a:t>
            </a:r>
            <a:r>
              <a:rPr lang="en-US" dirty="0"/>
              <a:t>to </a:t>
            </a:r>
            <a:r>
              <a:rPr lang="en-US" dirty="0" smtClean="0"/>
              <a:t>discuss </a:t>
            </a:r>
            <a:r>
              <a:rPr lang="en-US" dirty="0"/>
              <a:t>key safety checks prior to specific </a:t>
            </a:r>
            <a:r>
              <a:rPr lang="en-US" dirty="0" smtClean="0"/>
              <a:t>phases: </a:t>
            </a:r>
          </a:p>
          <a:p>
            <a:r>
              <a:rPr lang="en-US" dirty="0" smtClean="0"/>
              <a:t>       “</a:t>
            </a:r>
            <a:r>
              <a:rPr lang="en-US" dirty="0"/>
              <a:t>Sign In” prior to induction of </a:t>
            </a:r>
            <a:r>
              <a:rPr lang="en-US" dirty="0" smtClean="0"/>
              <a:t>anesthesia</a:t>
            </a:r>
          </a:p>
          <a:p>
            <a:r>
              <a:rPr lang="en-US" dirty="0" smtClean="0"/>
              <a:t>       “</a:t>
            </a:r>
            <a:r>
              <a:rPr lang="en-US" dirty="0"/>
              <a:t>Time Out” prior to skin </a:t>
            </a:r>
            <a:r>
              <a:rPr lang="en-US" dirty="0" smtClean="0"/>
              <a:t>incision</a:t>
            </a:r>
          </a:p>
          <a:p>
            <a:r>
              <a:rPr lang="en-US" dirty="0" smtClean="0"/>
              <a:t>        “</a:t>
            </a:r>
            <a:r>
              <a:rPr lang="en-US" dirty="0"/>
              <a:t>Sign Out” before the team leaves the operating room.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C15A5-751D-462C-9744-2D048FCB2F4E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1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039" y="783086"/>
            <a:ext cx="10734215" cy="1325563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4400" dirty="0" smtClean="0"/>
              <a:t>10 Basic Essential Objectives Which Are Congruent To Safe Surgery Guidelines </a:t>
            </a:r>
            <a:r>
              <a:rPr lang="en-US" sz="4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(3/5</a:t>
            </a:r>
            <a:r>
              <a:rPr 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720" y="2346960"/>
            <a:ext cx="10332720" cy="35881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sz="3300" b="1" dirty="0" smtClean="0"/>
              <a:t>In </a:t>
            </a:r>
            <a:r>
              <a:rPr lang="en-US" sz="3300" b="1" dirty="0"/>
              <a:t>any surgical case:</a:t>
            </a:r>
          </a:p>
          <a:p>
            <a:pPr marL="0" indent="0">
              <a:buNone/>
            </a:pPr>
            <a:r>
              <a:rPr lang="en-US" sz="3300" dirty="0"/>
              <a:t>1.   The team will operate on the </a:t>
            </a:r>
            <a:r>
              <a:rPr lang="en-US" sz="3300" b="1" dirty="0"/>
              <a:t>correct patient </a:t>
            </a:r>
            <a:r>
              <a:rPr lang="en-US" sz="3300" dirty="0"/>
              <a:t>at the </a:t>
            </a:r>
            <a:r>
              <a:rPr lang="en-US" sz="3300" b="1" dirty="0"/>
              <a:t>correct site</a:t>
            </a:r>
            <a:r>
              <a:rPr lang="en-US" sz="3300" dirty="0"/>
              <a:t>.</a:t>
            </a:r>
          </a:p>
          <a:p>
            <a:pPr marL="0" indent="0">
              <a:buNone/>
            </a:pPr>
            <a:r>
              <a:rPr lang="en-US" sz="3300" dirty="0"/>
              <a:t>2.   The team will use </a:t>
            </a:r>
            <a:r>
              <a:rPr lang="en-US" sz="3300" b="1" dirty="0"/>
              <a:t>methods known to prevent harm from administration of anesthetics</a:t>
            </a:r>
            <a:r>
              <a:rPr lang="en-US" sz="3300" dirty="0"/>
              <a:t>, while protecting the patient from pain.</a:t>
            </a:r>
          </a:p>
          <a:p>
            <a:pPr marL="0" indent="0">
              <a:buNone/>
            </a:pPr>
            <a:r>
              <a:rPr lang="en-US" sz="3300" dirty="0" smtClean="0"/>
              <a:t>3</a:t>
            </a:r>
            <a:r>
              <a:rPr lang="en-US" sz="3300" dirty="0"/>
              <a:t>. The team will recognize and effectively prepare for </a:t>
            </a:r>
            <a:r>
              <a:rPr lang="en-US" sz="3300" b="1" dirty="0"/>
              <a:t>life threatening loss of airway or respiratory function.</a:t>
            </a:r>
          </a:p>
          <a:p>
            <a:pPr marL="0" indent="0">
              <a:buNone/>
            </a:pPr>
            <a:r>
              <a:rPr lang="en-US" sz="3300" dirty="0"/>
              <a:t>4.   The team will recognize and effectively prepare for </a:t>
            </a:r>
            <a:r>
              <a:rPr lang="en-US" sz="3300" b="1" dirty="0"/>
              <a:t>risk of high blood loss.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3346-4DB7-4B0B-BCCB-90D4D8973F2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33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400" dirty="0" smtClean="0"/>
              <a:t>10 </a:t>
            </a:r>
            <a:r>
              <a:rPr lang="en-US" sz="4400" dirty="0"/>
              <a:t>basic essential … (4/5)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760" y="971506"/>
            <a:ext cx="10617200" cy="53276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5. </a:t>
            </a:r>
            <a:r>
              <a:rPr lang="en-US" sz="3000" dirty="0" smtClean="0"/>
              <a:t>The </a:t>
            </a:r>
            <a:r>
              <a:rPr lang="en-US" sz="3000" dirty="0"/>
              <a:t>team will avoid </a:t>
            </a:r>
            <a:r>
              <a:rPr lang="en-US" sz="3000" b="1" dirty="0"/>
              <a:t>inducing an allergic or adverse drug reaction </a:t>
            </a:r>
            <a:r>
              <a:rPr lang="en-US" sz="3000" dirty="0"/>
              <a:t>for which the patient is known to be at significant risk.</a:t>
            </a:r>
          </a:p>
          <a:p>
            <a:pPr marL="0" indent="0">
              <a:buNone/>
            </a:pPr>
            <a:r>
              <a:rPr lang="en-US" sz="3000" b="1" dirty="0"/>
              <a:t>6. </a:t>
            </a:r>
            <a:r>
              <a:rPr lang="en-US" sz="3000" dirty="0" smtClean="0"/>
              <a:t>The </a:t>
            </a:r>
            <a:r>
              <a:rPr lang="en-US" sz="3000" dirty="0"/>
              <a:t>team will consistently use methods known to minimize the </a:t>
            </a:r>
            <a:r>
              <a:rPr lang="en-US" sz="3000" b="1" dirty="0"/>
              <a:t>risk for surgical site infection.</a:t>
            </a:r>
          </a:p>
          <a:p>
            <a:pPr marL="0" indent="0">
              <a:buNone/>
            </a:pPr>
            <a:r>
              <a:rPr lang="en-US" sz="3000" b="1" dirty="0"/>
              <a:t>7. </a:t>
            </a:r>
            <a:r>
              <a:rPr lang="en-US" sz="3000" dirty="0" smtClean="0"/>
              <a:t>The  </a:t>
            </a:r>
            <a:r>
              <a:rPr lang="en-US" sz="3000" dirty="0"/>
              <a:t>team  will  prevent  </a:t>
            </a:r>
            <a:r>
              <a:rPr lang="en-US" sz="3000" b="1" dirty="0"/>
              <a:t>inadvertent  retention  of  instruments  and  sponges  in  surgical wounds.</a:t>
            </a:r>
          </a:p>
          <a:p>
            <a:pPr marL="0" indent="0">
              <a:buNone/>
            </a:pPr>
            <a:r>
              <a:rPr lang="en-US" sz="3000" b="1" dirty="0"/>
              <a:t>8. </a:t>
            </a:r>
            <a:r>
              <a:rPr lang="en-US" sz="3000" dirty="0" smtClean="0"/>
              <a:t>The </a:t>
            </a:r>
            <a:r>
              <a:rPr lang="en-US" sz="3000" dirty="0"/>
              <a:t>team will secure and accurately </a:t>
            </a:r>
            <a:r>
              <a:rPr lang="en-US" sz="3000" b="1" dirty="0"/>
              <a:t>identify all surgical specimens</a:t>
            </a:r>
            <a:r>
              <a:rPr lang="en-US" sz="3000" dirty="0"/>
              <a:t>.</a:t>
            </a:r>
          </a:p>
          <a:p>
            <a:pPr marL="0" indent="0">
              <a:buNone/>
            </a:pPr>
            <a:r>
              <a:rPr lang="en-US" sz="3000" b="1" dirty="0"/>
              <a:t>9. </a:t>
            </a:r>
            <a:r>
              <a:rPr lang="en-US" sz="3000" dirty="0" smtClean="0"/>
              <a:t>The </a:t>
            </a:r>
            <a:r>
              <a:rPr lang="en-US" sz="3000" dirty="0"/>
              <a:t>team will </a:t>
            </a:r>
            <a:r>
              <a:rPr lang="en-US" sz="3000" b="1" dirty="0"/>
              <a:t>effectively communicate and exchange critical information</a:t>
            </a:r>
            <a:r>
              <a:rPr lang="en-US" sz="3000" dirty="0"/>
              <a:t> for the safe conduct of the operation.</a:t>
            </a:r>
          </a:p>
          <a:p>
            <a:pPr marL="0" indent="0">
              <a:buNone/>
            </a:pPr>
            <a:r>
              <a:rPr lang="en-US" sz="3000" b="1" dirty="0"/>
              <a:t>10. </a:t>
            </a:r>
            <a:r>
              <a:rPr lang="en-US" sz="3000" dirty="0"/>
              <a:t>Hospitals  and  public  health  systems  will  </a:t>
            </a:r>
            <a:r>
              <a:rPr lang="en-US" sz="3000" b="1" dirty="0"/>
              <a:t>establish  routine  surveillance  of  surgical capacity, volume and results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D8D4-B646-439F-A13E-D7C3B466BD9A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5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321" y="619125"/>
            <a:ext cx="10668000" cy="1325563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 smtClean="0"/>
              <a:t>2.2. The Monitoring And Evaluation Of Surgical Outcomes</a:t>
            </a:r>
            <a:r>
              <a:rPr lang="en-US" sz="3600" dirty="0" smtClean="0"/>
              <a:t>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>(5/5</a:t>
            </a:r>
            <a:r>
              <a:rPr lang="en-US" sz="3600" dirty="0"/>
              <a:t>)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4206" y="2443655"/>
            <a:ext cx="9619593" cy="3733308"/>
          </a:xfrm>
        </p:spPr>
        <p:txBody>
          <a:bodyPr/>
          <a:lstStyle/>
          <a:p>
            <a:r>
              <a:rPr lang="en-US" dirty="0"/>
              <a:t>The monthly facility </a:t>
            </a:r>
            <a:r>
              <a:rPr lang="en-US" dirty="0" smtClean="0"/>
              <a:t>report:</a:t>
            </a:r>
          </a:p>
          <a:p>
            <a:pPr lvl="2"/>
            <a:r>
              <a:rPr lang="en-US" sz="2800" dirty="0" smtClean="0"/>
              <a:t>Death </a:t>
            </a:r>
            <a:r>
              <a:rPr lang="en-US" sz="2800" dirty="0"/>
              <a:t>on the day of surgery </a:t>
            </a:r>
            <a:endParaRPr lang="en-US" sz="2800" dirty="0" smtClean="0"/>
          </a:p>
          <a:p>
            <a:pPr lvl="2"/>
            <a:r>
              <a:rPr lang="en-US" sz="2800" dirty="0" smtClean="0"/>
              <a:t>Postoperative </a:t>
            </a:r>
            <a:r>
              <a:rPr lang="en-US" sz="2800" dirty="0"/>
              <a:t>in-hospital deaths </a:t>
            </a:r>
            <a:endParaRPr lang="en-US" sz="2800" dirty="0" smtClean="0"/>
          </a:p>
          <a:p>
            <a:pPr lvl="2"/>
            <a:r>
              <a:rPr lang="en-US" sz="2800" dirty="0" smtClean="0"/>
              <a:t>The </a:t>
            </a:r>
            <a:r>
              <a:rPr lang="en-US" sz="2800" dirty="0"/>
              <a:t>frequency of compliance </a:t>
            </a:r>
          </a:p>
          <a:p>
            <a:pPr marL="0" lvl="0" indent="0">
              <a:buNone/>
            </a:pPr>
            <a:r>
              <a:rPr lang="en-US" dirty="0" smtClean="0"/>
              <a:t>                        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40D4F-49C8-4AF6-BE64-F749A465C44A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6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US" sz="4000" b="1" dirty="0" smtClean="0">
                <a:solidFill>
                  <a:srgbClr val="060B0E"/>
                </a:solidFill>
              </a:rPr>
              <a:t>3. Establishing </a:t>
            </a:r>
            <a:r>
              <a:rPr lang="en-US" sz="4000" b="1" dirty="0">
                <a:solidFill>
                  <a:srgbClr val="060B0E"/>
                </a:solidFill>
              </a:rPr>
              <a:t>surgical </a:t>
            </a:r>
            <a:r>
              <a:rPr lang="en-US" sz="4000" b="1" dirty="0" smtClean="0">
                <a:solidFill>
                  <a:srgbClr val="060B0E"/>
                </a:solidFill>
              </a:rPr>
              <a:t>asepsis (1/1)</a:t>
            </a:r>
            <a:endParaRPr lang="en-US" sz="4000" b="1" dirty="0">
              <a:solidFill>
                <a:srgbClr val="060B0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839" y="1275606"/>
            <a:ext cx="10759441" cy="501343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 smtClean="0">
                <a:solidFill>
                  <a:srgbClr val="060B0E"/>
                </a:solidFill>
              </a:rPr>
              <a:t>Patient considerations</a:t>
            </a:r>
            <a:r>
              <a:rPr lang="en-US" dirty="0" smtClean="0">
                <a:solidFill>
                  <a:srgbClr val="060B0E"/>
                </a:solidFill>
              </a:rPr>
              <a:t>: skin cleaning pre-operatively, skin antisepsis and wound covering.</a:t>
            </a:r>
          </a:p>
          <a:p>
            <a:pPr>
              <a:defRPr/>
            </a:pPr>
            <a:r>
              <a:rPr lang="en-US" b="1" dirty="0" smtClean="0">
                <a:solidFill>
                  <a:srgbClr val="060B0E"/>
                </a:solidFill>
              </a:rPr>
              <a:t>Surgical staff considerations</a:t>
            </a:r>
            <a:r>
              <a:rPr lang="en-US" dirty="0" smtClean="0">
                <a:solidFill>
                  <a:srgbClr val="060B0E"/>
                </a:solidFill>
              </a:rPr>
              <a:t>: hand hygiene; use and removal of gloves and gowns.</a:t>
            </a:r>
          </a:p>
          <a:p>
            <a:pPr>
              <a:defRPr/>
            </a:pPr>
            <a:r>
              <a:rPr lang="en-US" b="1" dirty="0" smtClean="0">
                <a:solidFill>
                  <a:srgbClr val="060B0E"/>
                </a:solidFill>
              </a:rPr>
              <a:t>Equipment and room preparation considerations</a:t>
            </a:r>
            <a:r>
              <a:rPr lang="en-US" dirty="0" smtClean="0">
                <a:solidFill>
                  <a:srgbClr val="060B0E"/>
                </a:solidFill>
              </a:rPr>
              <a:t>: traffic flow and activity patterns as well as housekeeping practices and instrument processing.</a:t>
            </a:r>
          </a:p>
          <a:p>
            <a:pPr>
              <a:defRPr/>
            </a:pPr>
            <a:r>
              <a:rPr lang="en-US" b="1" dirty="0" smtClean="0">
                <a:solidFill>
                  <a:srgbClr val="060B0E"/>
                </a:solidFill>
              </a:rPr>
              <a:t>Environmental considerations</a:t>
            </a:r>
            <a:r>
              <a:rPr lang="en-US" dirty="0" smtClean="0">
                <a:solidFill>
                  <a:srgbClr val="060B0E"/>
                </a:solidFill>
              </a:rPr>
              <a:t>: maintaining an aseptic operating field and using safer operating practices and techniques.</a:t>
            </a:r>
            <a:endParaRPr lang="en-US" dirty="0">
              <a:solidFill>
                <a:srgbClr val="060B0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0D2B8D-2C04-492B-9DC2-6249ADB1DF2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FE91-65B3-4A29-911C-68D289F9E196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2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690245"/>
            <a:ext cx="10728960" cy="13255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cs typeface="Arial" panose="020B0604020202020204" pitchFamily="34" charset="0"/>
              </a:rPr>
              <a:t>4. The Surgical Environment </a:t>
            </a:r>
            <a:r>
              <a:rPr lang="en-US" sz="4000" dirty="0" smtClean="0"/>
              <a:t>That Increase The Chance of Accidents (1/1)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1879600"/>
            <a:ext cx="10515600" cy="3911599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Passing </a:t>
            </a:r>
            <a:r>
              <a:rPr lang="en-US" dirty="0"/>
              <a:t>sharp instruments without looking </a:t>
            </a:r>
            <a:endParaRPr lang="en-US" dirty="0" smtClean="0"/>
          </a:p>
          <a:p>
            <a:r>
              <a:rPr lang="en-US" dirty="0" smtClean="0"/>
              <a:t>Workspace</a:t>
            </a:r>
          </a:p>
          <a:p>
            <a:r>
              <a:rPr lang="en-US" dirty="0" smtClean="0"/>
              <a:t>Need </a:t>
            </a:r>
            <a:r>
              <a:rPr lang="en-US" dirty="0"/>
              <a:t>for speed </a:t>
            </a:r>
            <a:endParaRPr lang="en-US" dirty="0" smtClean="0"/>
          </a:p>
          <a:p>
            <a:r>
              <a:rPr lang="en-US" dirty="0"/>
              <a:t>S</a:t>
            </a:r>
            <a:r>
              <a:rPr lang="en-US" dirty="0" smtClean="0"/>
              <a:t>tress </a:t>
            </a:r>
            <a:r>
              <a:rPr lang="en-US" dirty="0"/>
              <a:t>of anxiety, fatigue, frustration </a:t>
            </a:r>
            <a:endParaRPr lang="en-US" dirty="0" smtClean="0"/>
          </a:p>
          <a:p>
            <a:r>
              <a:rPr lang="en-US" dirty="0" smtClean="0">
                <a:solidFill>
                  <a:srgbClr val="060B0E"/>
                </a:solidFill>
              </a:rPr>
              <a:t>Minor finger cuts and scratches increases the risk of transmission   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Exposure to blood and other body fluids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42F0F-BFCC-485F-A880-349A2E07E20D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3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69155" y="543098"/>
            <a:ext cx="9064979" cy="1188426"/>
          </a:xfrm>
        </p:spPr>
        <p:txBody>
          <a:bodyPr/>
          <a:lstStyle/>
          <a:p>
            <a:r>
              <a:rPr lang="en-US" sz="4000" b="1" dirty="0" smtClean="0">
                <a:solidFill>
                  <a:srgbClr val="060B0E"/>
                </a:solidFill>
              </a:rPr>
              <a:t>5. Which </a:t>
            </a:r>
            <a:r>
              <a:rPr lang="en-US" sz="4000" b="1" dirty="0">
                <a:solidFill>
                  <a:srgbClr val="060B0E"/>
                </a:solidFill>
              </a:rPr>
              <a:t>Instruments Cause Injuries</a:t>
            </a:r>
            <a:r>
              <a:rPr lang="en-US" sz="4000" b="1" dirty="0" smtClean="0">
                <a:solidFill>
                  <a:srgbClr val="060B0E"/>
                </a:solidFill>
              </a:rPr>
              <a:t>?</a:t>
            </a:r>
            <a:br>
              <a:rPr lang="en-US" sz="4000" b="1" dirty="0" smtClean="0">
                <a:solidFill>
                  <a:srgbClr val="060B0E"/>
                </a:solidFill>
              </a:rPr>
            </a:br>
            <a:r>
              <a:rPr lang="en-US" sz="4000" dirty="0" smtClean="0">
                <a:solidFill>
                  <a:srgbClr val="060B0E"/>
                </a:solidFill>
              </a:rPr>
              <a:t>(1/8)</a:t>
            </a:r>
            <a:endParaRPr lang="en-US" sz="4000" b="1" dirty="0">
              <a:solidFill>
                <a:srgbClr val="060B0E"/>
              </a:solidFill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3108" y="2132632"/>
            <a:ext cx="10139855" cy="3827901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060B0E"/>
                </a:solidFill>
              </a:rPr>
              <a:t>Scalpel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Suture needles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Hypodermic needles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Wire suture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Laparoscopy and surgical drain trocars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Orthopedic drill bits, crews, pins, wires, and saws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FCEF92-AC36-4A10-BC74-4F69755693E4}" type="slidenum">
              <a:rPr lang="en-US" smtClean="0"/>
              <a:pPr>
                <a:defRPr/>
              </a:pPr>
              <a:t>13</a:t>
            </a:fld>
            <a:endParaRPr lang="en-US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6CBA-20B3-4D1A-9068-66A1F2E7E2ED}" type="datetime1">
              <a:rPr lang="en-US" smtClean="0"/>
              <a:t>9/23/2019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1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solidFill>
                  <a:srgbClr val="060B0E"/>
                </a:solidFill>
              </a:rPr>
              <a:t>5. Which </a:t>
            </a:r>
            <a:r>
              <a:rPr lang="en-US" sz="4000" b="1" dirty="0">
                <a:solidFill>
                  <a:srgbClr val="060B0E"/>
                </a:solidFill>
              </a:rPr>
              <a:t>Instruments Cause Injuries</a:t>
            </a:r>
            <a:r>
              <a:rPr lang="en-US" sz="4000" b="1" dirty="0" smtClean="0">
                <a:solidFill>
                  <a:srgbClr val="060B0E"/>
                </a:solidFill>
              </a:rPr>
              <a:t>?...</a:t>
            </a:r>
            <a:br>
              <a:rPr lang="en-US" sz="4000" b="1" dirty="0" smtClean="0">
                <a:solidFill>
                  <a:srgbClr val="060B0E"/>
                </a:solidFill>
              </a:rPr>
            </a:br>
            <a:r>
              <a:rPr lang="en-US" sz="4000" dirty="0" smtClean="0">
                <a:solidFill>
                  <a:srgbClr val="060B0E"/>
                </a:solidFill>
              </a:rPr>
              <a:t>(2/8)</a:t>
            </a:r>
            <a:endParaRPr lang="en-US" sz="4000" b="1" dirty="0">
              <a:solidFill>
                <a:srgbClr val="060B0E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9640" y="2475185"/>
            <a:ext cx="10515600" cy="3701777"/>
          </a:xfrm>
        </p:spPr>
        <p:txBody>
          <a:bodyPr/>
          <a:lstStyle/>
          <a:p>
            <a:r>
              <a:rPr lang="en-US" dirty="0" smtClean="0">
                <a:solidFill>
                  <a:srgbClr val="060B0E"/>
                </a:solidFill>
              </a:rPr>
              <a:t>Needle point cautery tips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Skin hooks and towel clips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Sharp-pointed scissors and sharp-tipped mosquito forceps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Dissecting forceps</a:t>
            </a:r>
          </a:p>
          <a:p>
            <a:r>
              <a:rPr lang="en-US" dirty="0" smtClean="0">
                <a:solidFill>
                  <a:srgbClr val="060B0E"/>
                </a:solidFill>
              </a:rPr>
              <a:t>Sharp-toothed </a:t>
            </a:r>
            <a:r>
              <a:rPr lang="en-US" dirty="0" err="1" smtClean="0">
                <a:solidFill>
                  <a:srgbClr val="060B0E"/>
                </a:solidFill>
              </a:rPr>
              <a:t>tenaculi</a:t>
            </a:r>
            <a:endParaRPr lang="en-US" dirty="0" smtClean="0">
              <a:solidFill>
                <a:srgbClr val="060B0E"/>
              </a:solidFill>
            </a:endParaRPr>
          </a:p>
          <a:p>
            <a:endParaRPr lang="en-US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69F54D-7E9E-46DB-B50D-5718B424EB92}" type="slidenum">
              <a:rPr lang="en-US" smtClean="0"/>
              <a:pPr>
                <a:defRPr/>
              </a:pPr>
              <a:t>14</a:t>
            </a:fld>
            <a:endParaRPr lang="en-US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2CFCA-9635-4356-AC6A-DE34C504C48A}" type="datetime1">
              <a:rPr lang="en-US" smtClean="0"/>
              <a:t>9/23/2019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3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808182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When Do Injuries Occur?</a:t>
            </a:r>
            <a:br>
              <a:rPr lang="en-US" dirty="0" smtClean="0"/>
            </a:br>
            <a:r>
              <a:rPr lang="en-US" dirty="0" smtClean="0">
                <a:solidFill>
                  <a:srgbClr val="060B0E"/>
                </a:solidFill>
              </a:rPr>
              <a:t>(3/8)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3920" y="2490136"/>
            <a:ext cx="10576560" cy="344499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600" dirty="0"/>
              <a:t>Most often, scalpel injuries occur when:</a:t>
            </a:r>
          </a:p>
          <a:p>
            <a:pPr marL="0" indent="0"/>
            <a:r>
              <a:rPr lang="en-US" sz="3600" dirty="0" smtClean="0"/>
              <a:t> Putting </a:t>
            </a:r>
            <a:r>
              <a:rPr lang="en-US" sz="3600" dirty="0"/>
              <a:t>on and taking off the disposable </a:t>
            </a:r>
            <a:r>
              <a:rPr lang="en-US" sz="3600" dirty="0" smtClean="0"/>
              <a:t>blade.</a:t>
            </a:r>
          </a:p>
          <a:p>
            <a:pPr marL="0" indent="0"/>
            <a:r>
              <a:rPr lang="en-US" sz="3600" dirty="0" smtClean="0"/>
              <a:t>Passing </a:t>
            </a:r>
            <a:r>
              <a:rPr lang="en-US" sz="3600" dirty="0"/>
              <a:t>the scalpel hand to hand between team </a:t>
            </a:r>
            <a:r>
              <a:rPr lang="en-US" sz="3600" dirty="0" smtClean="0"/>
              <a:t>members          </a:t>
            </a:r>
          </a:p>
          <a:p>
            <a:pPr marL="0" indent="0"/>
            <a:r>
              <a:rPr lang="en-US" sz="3600" dirty="0" smtClean="0">
                <a:solidFill>
                  <a:srgbClr val="060B0E"/>
                </a:solidFill>
              </a:rPr>
              <a:t>Cutting</a:t>
            </a:r>
          </a:p>
          <a:p>
            <a:pPr marL="0" indent="0"/>
            <a:r>
              <a:rPr lang="en-US" sz="3600" dirty="0" smtClean="0">
                <a:solidFill>
                  <a:srgbClr val="060B0E"/>
                </a:solidFill>
              </a:rPr>
              <a:t>Before and after using the scalpel: leaving it on the field, dropping it, etc.</a:t>
            </a:r>
          </a:p>
          <a:p>
            <a:pPr marL="0" indent="0"/>
            <a:r>
              <a:rPr lang="en-US" sz="3600" dirty="0" smtClean="0">
                <a:solidFill>
                  <a:srgbClr val="060B0E"/>
                </a:solidFill>
              </a:rPr>
              <a:t>Loading or repositioning the needle in the needle holder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A06B-B66F-4861-9B50-E6187E1C78D5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46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69155" y="721360"/>
            <a:ext cx="9064979" cy="989844"/>
          </a:xfrm>
        </p:spPr>
        <p:txBody>
          <a:bodyPr/>
          <a:lstStyle/>
          <a:p>
            <a:r>
              <a:rPr lang="en-US" sz="4000" b="1" dirty="0" smtClean="0">
                <a:solidFill>
                  <a:srgbClr val="060B0E"/>
                </a:solidFill>
              </a:rPr>
              <a:t>Suture Needle </a:t>
            </a:r>
            <a:r>
              <a:rPr lang="en-US" sz="4000" dirty="0" smtClean="0">
                <a:solidFill>
                  <a:srgbClr val="060B0E"/>
                </a:solidFill>
              </a:rPr>
              <a:t>I</a:t>
            </a:r>
            <a:r>
              <a:rPr lang="en-US" sz="4000" b="1" dirty="0" smtClean="0">
                <a:solidFill>
                  <a:srgbClr val="060B0E"/>
                </a:solidFill>
              </a:rPr>
              <a:t>njuries</a:t>
            </a:r>
            <a:br>
              <a:rPr lang="en-US" sz="4000" b="1" dirty="0" smtClean="0">
                <a:solidFill>
                  <a:srgbClr val="060B0E"/>
                </a:solidFill>
              </a:rPr>
            </a:br>
            <a:r>
              <a:rPr lang="en-US" sz="4000" dirty="0" smtClean="0">
                <a:solidFill>
                  <a:srgbClr val="060B0E"/>
                </a:solidFill>
              </a:rPr>
              <a:t>(4/8)</a:t>
            </a:r>
            <a:endParaRPr lang="en-US" sz="4000" b="1" dirty="0">
              <a:solidFill>
                <a:srgbClr val="060B0E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76447"/>
            <a:ext cx="10515600" cy="3985556"/>
          </a:xfrm>
        </p:spPr>
        <p:txBody>
          <a:bodyPr>
            <a:normAutofit/>
          </a:bodyPr>
          <a:lstStyle/>
          <a:p>
            <a:r>
              <a:rPr lang="en-US" sz="2800" dirty="0"/>
              <a:t>Loading</a:t>
            </a:r>
            <a:endParaRPr lang="en-US" sz="2800" dirty="0" smtClean="0">
              <a:solidFill>
                <a:srgbClr val="060B0E"/>
              </a:solidFill>
            </a:endParaRPr>
          </a:p>
          <a:p>
            <a:r>
              <a:rPr lang="en-US" sz="2800" dirty="0" smtClean="0">
                <a:solidFill>
                  <a:srgbClr val="060B0E"/>
                </a:solidFill>
              </a:rPr>
              <a:t>Passing the </a:t>
            </a:r>
            <a:r>
              <a:rPr lang="en-US" sz="2800" dirty="0" smtClean="0">
                <a:solidFill>
                  <a:schemeClr val="tx1"/>
                </a:solidFill>
              </a:rPr>
              <a:t>needle</a:t>
            </a:r>
            <a:r>
              <a:rPr lang="en-US" sz="2800" dirty="0" smtClean="0">
                <a:solidFill>
                  <a:srgbClr val="060B0E"/>
                </a:solidFill>
              </a:rPr>
              <a:t> hand-to-hand</a:t>
            </a:r>
          </a:p>
          <a:p>
            <a:r>
              <a:rPr lang="en-US" sz="2800" dirty="0" smtClean="0">
                <a:solidFill>
                  <a:srgbClr val="060B0E"/>
                </a:solidFill>
              </a:rPr>
              <a:t>Suturing</a:t>
            </a:r>
          </a:p>
          <a:p>
            <a:r>
              <a:rPr lang="en-US" sz="2800" dirty="0" smtClean="0">
                <a:solidFill>
                  <a:srgbClr val="060B0E"/>
                </a:solidFill>
              </a:rPr>
              <a:t>Tying with the needle still attached</a:t>
            </a:r>
          </a:p>
          <a:p>
            <a:r>
              <a:rPr lang="en-US" sz="2800" dirty="0" smtClean="0">
                <a:solidFill>
                  <a:srgbClr val="060B0E"/>
                </a:solidFill>
              </a:rPr>
              <a:t>Before and after using the needle</a:t>
            </a:r>
          </a:p>
          <a:p>
            <a:r>
              <a:rPr lang="en-US" sz="2800" dirty="0" smtClean="0">
                <a:solidFill>
                  <a:srgbClr val="060B0E"/>
                </a:solidFill>
              </a:rPr>
              <a:t>Placing scalpel blades and suture needles in an over-filled sharps container or poorly located container</a:t>
            </a:r>
          </a:p>
          <a:p>
            <a:endParaRPr lang="en-US" dirty="0" smtClean="0">
              <a:solidFill>
                <a:srgbClr val="060B0E"/>
              </a:solidFill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FFE25B-4B7A-413F-A012-43963F42782C}" type="slidenum">
              <a:rPr lang="en-US" smtClean="0"/>
              <a:pPr>
                <a:defRPr/>
              </a:pPr>
              <a:t>16</a:t>
            </a:fld>
            <a:endParaRPr lang="en-US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CF89-7DA8-441C-A137-5335354AE801}" type="datetime1">
              <a:rPr lang="en-US" smtClean="0"/>
              <a:t>9/23/2019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995" y="624378"/>
            <a:ext cx="9064979" cy="1188426"/>
          </a:xfrm>
        </p:spPr>
        <p:txBody>
          <a:bodyPr/>
          <a:lstStyle/>
          <a:p>
            <a:r>
              <a:rPr lang="en-US" b="1" dirty="0" smtClean="0"/>
              <a:t>To </a:t>
            </a:r>
            <a:r>
              <a:rPr lang="en-US" b="1" dirty="0"/>
              <a:t>avoid the injury in </a:t>
            </a:r>
            <a:r>
              <a:rPr lang="en-US" b="1" dirty="0" smtClean="0"/>
              <a:t>OR</a:t>
            </a:r>
            <a:br>
              <a:rPr lang="en-US" b="1" dirty="0" smtClean="0"/>
            </a:br>
            <a:r>
              <a:rPr lang="en-US" dirty="0" smtClean="0">
                <a:solidFill>
                  <a:srgbClr val="060B0E"/>
                </a:solidFill>
              </a:rPr>
              <a:t>(5/8)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4107"/>
            <a:ext cx="10515600" cy="4208693"/>
          </a:xfrm>
        </p:spPr>
        <p:txBody>
          <a:bodyPr>
            <a:normAutofit/>
          </a:bodyPr>
          <a:lstStyle/>
          <a:p>
            <a:r>
              <a:rPr lang="en-US" sz="2800" dirty="0"/>
              <a:t>Use a small Mayo forceps </a:t>
            </a:r>
            <a:endParaRPr lang="en-US" sz="2800" dirty="0" smtClean="0"/>
          </a:p>
          <a:p>
            <a:r>
              <a:rPr lang="en-US" sz="2800" dirty="0"/>
              <a:t>use tissue forceps</a:t>
            </a:r>
            <a:r>
              <a:rPr lang="en-US" sz="2800" dirty="0" smtClean="0"/>
              <a:t>, </a:t>
            </a:r>
            <a:r>
              <a:rPr lang="en-US" sz="2800" dirty="0"/>
              <a:t>to hold tissue </a:t>
            </a:r>
            <a:endParaRPr lang="en-US" sz="2800" dirty="0" smtClean="0"/>
          </a:p>
          <a:p>
            <a:r>
              <a:rPr lang="en-US" sz="2800" dirty="0"/>
              <a:t>Use a “hands-free” technique </a:t>
            </a:r>
            <a:endParaRPr lang="en-US" sz="2800" dirty="0" smtClean="0"/>
          </a:p>
          <a:p>
            <a:r>
              <a:rPr lang="en-US" sz="2800" dirty="0"/>
              <a:t>remove sharpened materials </a:t>
            </a:r>
            <a:r>
              <a:rPr lang="en-US" sz="2800" dirty="0" smtClean="0"/>
              <a:t> </a:t>
            </a:r>
            <a:r>
              <a:rPr lang="en-US" sz="2800" dirty="0"/>
              <a:t>immediately after use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Place sharp containers within arm’s reach</a:t>
            </a:r>
          </a:p>
          <a:p>
            <a:r>
              <a:rPr lang="en-US" sz="2800" dirty="0" smtClean="0"/>
              <a:t>Replace sharp containers three quarters full</a:t>
            </a:r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973F-FDF0-4EFD-884D-3A4309E34304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9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3"/>
          <p:cNvSpPr>
            <a:spLocks noGrp="1"/>
          </p:cNvSpPr>
          <p:nvPr>
            <p:ph type="title"/>
          </p:nvPr>
        </p:nvSpPr>
        <p:spPr>
          <a:xfrm>
            <a:off x="1569155" y="680720"/>
            <a:ext cx="9064979" cy="979684"/>
          </a:xfrm>
        </p:spPr>
        <p:txBody>
          <a:bodyPr/>
          <a:lstStyle/>
          <a:p>
            <a:r>
              <a:rPr lang="en-US" sz="4000" b="1" dirty="0">
                <a:solidFill>
                  <a:srgbClr val="060B0E"/>
                </a:solidFill>
              </a:rPr>
              <a:t>Hands-Free </a:t>
            </a:r>
            <a:r>
              <a:rPr lang="en-US" sz="4000" b="1" dirty="0" smtClean="0">
                <a:solidFill>
                  <a:srgbClr val="060B0E"/>
                </a:solidFill>
              </a:rPr>
              <a:t>Technique</a:t>
            </a:r>
            <a:br>
              <a:rPr lang="en-US" sz="4000" b="1" dirty="0" smtClean="0">
                <a:solidFill>
                  <a:srgbClr val="060B0E"/>
                </a:solidFill>
              </a:rPr>
            </a:br>
            <a:r>
              <a:rPr lang="en-US" sz="4000" dirty="0" smtClean="0">
                <a:solidFill>
                  <a:srgbClr val="060B0E"/>
                </a:solidFill>
              </a:rPr>
              <a:t>(6/8)</a:t>
            </a:r>
            <a:endParaRPr lang="en-US" sz="40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31519" y="1930400"/>
            <a:ext cx="10739121" cy="362712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>
                <a:solidFill>
                  <a:srgbClr val="060B0E"/>
                </a:solidFill>
              </a:rPr>
              <a:t>The assistant or scrub nurse places a sterile or high level disinfected kidney basin, or other suitable small container, on the operative field between her/himself and the surgeon. </a:t>
            </a:r>
          </a:p>
          <a:p>
            <a:pPr>
              <a:defRPr/>
            </a:pPr>
            <a:r>
              <a:rPr lang="en-US" dirty="0" smtClean="0">
                <a:solidFill>
                  <a:srgbClr val="060B0E"/>
                </a:solidFill>
              </a:rPr>
              <a:t>The container is designated as the Safe or Neutral Zone in which sharps are placed before and immediately after use.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8DBBBF-6651-4396-8D97-628B6A8245A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8B3BD-A411-4BBE-AEC0-A4EE94A7A6B0}" type="datetime1">
              <a:rPr lang="en-US" smtClean="0"/>
              <a:t>9/23/2019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3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847794" y="874699"/>
            <a:ext cx="9064980" cy="78138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60B0E"/>
                </a:solidFill>
              </a:rPr>
              <a:t>Hands-Free </a:t>
            </a:r>
            <a:r>
              <a:rPr lang="en-US" sz="4000" b="1" dirty="0" smtClean="0">
                <a:solidFill>
                  <a:srgbClr val="060B0E"/>
                </a:solidFill>
              </a:rPr>
              <a:t>Technique</a:t>
            </a:r>
            <a:br>
              <a:rPr lang="en-US" sz="4000" b="1" dirty="0" smtClean="0">
                <a:solidFill>
                  <a:srgbClr val="060B0E"/>
                </a:solidFill>
              </a:rPr>
            </a:br>
            <a:r>
              <a:rPr lang="en-US" b="1" dirty="0" smtClean="0">
                <a:solidFill>
                  <a:srgbClr val="060B0E"/>
                </a:solidFill>
              </a:rPr>
              <a:t>(7/8)</a:t>
            </a:r>
            <a:endParaRPr lang="en-US" sz="4000" b="1" dirty="0">
              <a:solidFill>
                <a:srgbClr val="060B0E"/>
              </a:solidFill>
            </a:endParaRP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90CB841-E1E2-4617-A014-2776143BCD62}" type="slidenum">
              <a:rPr lang="en-US" smtClean="0"/>
              <a:pPr>
                <a:defRPr/>
              </a:pPr>
              <a:t>19</a:t>
            </a:fld>
            <a:endParaRPr lang="en-US" smtClean="0"/>
          </a:p>
        </p:txBody>
      </p:sp>
      <p:pic>
        <p:nvPicPr>
          <p:cNvPr id="22532" name="Picture 3" descr="HandsFre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1" y="1525588"/>
            <a:ext cx="3656013" cy="4113213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914400" y="1905000"/>
            <a:ext cx="581152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3200" b="1" dirty="0">
                <a:solidFill>
                  <a:srgbClr val="060B0E"/>
                </a:solidFill>
              </a:rPr>
              <a:t>To maintain sharpness of scalpel blades, use a plastic container or place a sterile cloth in a metal container. </a:t>
            </a:r>
            <a:endParaRPr lang="en-US" sz="3200" b="1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26297-A78A-4E40-B714-940D19219930}" type="datetime1">
              <a:rPr lang="en-US" smtClean="0"/>
              <a:t>9/23/2019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8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1560" y="736600"/>
            <a:ext cx="8229600" cy="914400"/>
          </a:xfrm>
        </p:spPr>
        <p:txBody>
          <a:bodyPr/>
          <a:lstStyle/>
          <a:p>
            <a:r>
              <a:rPr lang="en-US" sz="4000" b="1" dirty="0" smtClean="0">
                <a:solidFill>
                  <a:srgbClr val="060B0E"/>
                </a:solidFill>
              </a:rPr>
              <a:t>Parking</a:t>
            </a:r>
            <a:br>
              <a:rPr lang="en-US" sz="4000" b="1" dirty="0" smtClean="0">
                <a:solidFill>
                  <a:srgbClr val="060B0E"/>
                </a:solidFill>
              </a:rPr>
            </a:br>
            <a:r>
              <a:rPr lang="en-US" sz="4000" dirty="0" smtClean="0">
                <a:solidFill>
                  <a:srgbClr val="060B0E"/>
                </a:solidFill>
              </a:rPr>
              <a:t>(8/8)</a:t>
            </a:r>
            <a:endParaRPr lang="en-US" sz="4000" b="1" dirty="0">
              <a:solidFill>
                <a:srgbClr val="060B0E"/>
              </a:solidFill>
            </a:endParaRPr>
          </a:p>
        </p:txBody>
      </p:sp>
      <p:sp>
        <p:nvSpPr>
          <p:cNvPr id="23555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DF3E1E-886F-4631-BF24-89A73D2C8202}" type="slidenum">
              <a:rPr lang="en-US" smtClean="0"/>
              <a:pPr>
                <a:defRPr/>
              </a:pPr>
              <a:t>20</a:t>
            </a:fld>
            <a:endParaRPr lang="en-US" smtClean="0"/>
          </a:p>
        </p:txBody>
      </p:sp>
      <p:pic>
        <p:nvPicPr>
          <p:cNvPr id="23557" name="Picture 3" descr="Park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0" y="1679576"/>
            <a:ext cx="5969000" cy="4111625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D22-CCF6-4FDF-81DC-F20A93BF5F35}" type="datetime1">
              <a:rPr lang="en-US" smtClean="0"/>
              <a:t>9/23/2019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2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665018"/>
            <a:ext cx="9064979" cy="1072342"/>
          </a:xfrm>
        </p:spPr>
        <p:txBody>
          <a:bodyPr/>
          <a:lstStyle/>
          <a:p>
            <a:r>
              <a:rPr lang="en-US" b="1" dirty="0" smtClean="0"/>
              <a:t>6. Designing Safer Operations</a:t>
            </a:r>
            <a:br>
              <a:rPr lang="en-US" b="1" dirty="0" smtClean="0"/>
            </a:br>
            <a:r>
              <a:rPr lang="en-US" dirty="0">
                <a:solidFill>
                  <a:srgbClr val="060B0E"/>
                </a:solidFill>
              </a:rPr>
              <a:t>(</a:t>
            </a:r>
            <a:r>
              <a:rPr lang="en-US" dirty="0" smtClean="0">
                <a:solidFill>
                  <a:srgbClr val="060B0E"/>
                </a:solidFill>
              </a:rPr>
              <a:t>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99" y="1696721"/>
            <a:ext cx="10588121" cy="448024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Using the least dangerous instrument </a:t>
            </a:r>
            <a:endParaRPr lang="en-US" sz="2800" dirty="0" smtClean="0"/>
          </a:p>
          <a:p>
            <a:pPr algn="just"/>
            <a:r>
              <a:rPr lang="en-US" sz="2800" dirty="0" smtClean="0"/>
              <a:t>Brief </a:t>
            </a:r>
            <a:r>
              <a:rPr lang="en-US" sz="2800" dirty="0"/>
              <a:t>pre-operative discussion </a:t>
            </a:r>
            <a:endParaRPr lang="en-US" sz="2800" dirty="0" smtClean="0"/>
          </a:p>
          <a:p>
            <a:pPr algn="just"/>
            <a:r>
              <a:rPr lang="en-US" sz="2800" dirty="0" smtClean="0"/>
              <a:t>Anticipating  </a:t>
            </a:r>
            <a:r>
              <a:rPr lang="en-US" sz="2800" dirty="0"/>
              <a:t>the needs of the surgeon for each step of the operation in advance. </a:t>
            </a:r>
            <a:endParaRPr lang="en-US" sz="2800" dirty="0" smtClean="0"/>
          </a:p>
          <a:p>
            <a:pPr algn="just"/>
            <a:r>
              <a:rPr lang="en-US" sz="2800" dirty="0" smtClean="0"/>
              <a:t>Developing </a:t>
            </a:r>
            <a:r>
              <a:rPr lang="en-US" sz="2800" dirty="0"/>
              <a:t>checklists that lay out each step </a:t>
            </a:r>
            <a:r>
              <a:rPr lang="en-US" sz="2800" dirty="0" smtClean="0"/>
              <a:t> </a:t>
            </a:r>
            <a:r>
              <a:rPr lang="en-US" sz="2800" dirty="0"/>
              <a:t>of the operation </a:t>
            </a:r>
            <a:endParaRPr lang="en-US" sz="2800" dirty="0" smtClean="0"/>
          </a:p>
          <a:p>
            <a:pPr algn="just"/>
            <a:r>
              <a:rPr lang="en-US" sz="2800" dirty="0"/>
              <a:t>Reviewing the checklist with the surgical team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4429B-1224-4D17-BE44-040C5ED04477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30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1030778"/>
            <a:ext cx="9064979" cy="858982"/>
          </a:xfrm>
        </p:spPr>
        <p:txBody>
          <a:bodyPr/>
          <a:lstStyle/>
          <a:p>
            <a:pPr lvl="0"/>
            <a:r>
              <a:rPr lang="en-US" dirty="0" smtClean="0"/>
              <a:t> </a:t>
            </a:r>
            <a:br>
              <a:rPr lang="en-US" dirty="0" smtClean="0"/>
            </a:br>
            <a:r>
              <a:rPr lang="en-US" sz="4000" dirty="0" smtClean="0"/>
              <a:t>Technique For Using Blunt Needles</a:t>
            </a:r>
            <a:br>
              <a:rPr lang="en-US" sz="4000" dirty="0" smtClean="0"/>
            </a:br>
            <a:r>
              <a:rPr lang="en-US" dirty="0" smtClean="0">
                <a:solidFill>
                  <a:srgbClr val="060B0E"/>
                </a:solidFill>
              </a:rPr>
              <a:t>(2/2)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2617075"/>
            <a:ext cx="10739120" cy="3559887"/>
          </a:xfrm>
        </p:spPr>
        <p:txBody>
          <a:bodyPr/>
          <a:lstStyle/>
          <a:p>
            <a:r>
              <a:rPr lang="en-US" dirty="0"/>
              <a:t>Use a strong needle holder and lock it </a:t>
            </a:r>
            <a:r>
              <a:rPr lang="en-US" dirty="0" smtClean="0"/>
              <a:t>fully</a:t>
            </a:r>
          </a:p>
          <a:p>
            <a:r>
              <a:rPr lang="en-US" dirty="0"/>
              <a:t>Position the needle in the </a:t>
            </a:r>
            <a:r>
              <a:rPr lang="en-US" dirty="0" smtClean="0"/>
              <a:t>mid-curve</a:t>
            </a:r>
          </a:p>
          <a:p>
            <a:r>
              <a:rPr lang="en-US" dirty="0"/>
              <a:t>Grasp and hold the tissue to be sutured with a tissue forceps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FC11C-778E-4342-8875-1537E705F573}" type="datetime1">
              <a:rPr lang="en-US" smtClean="0"/>
              <a:t>9/23/2019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58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569155" y="721360"/>
            <a:ext cx="9064979" cy="857764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summary</a:t>
            </a:r>
            <a:r>
              <a:rPr lang="en-US" dirty="0" smtClean="0">
                <a:solidFill>
                  <a:srgbClr val="060B0E"/>
                </a:solidFill>
              </a:rPr>
              <a:t>(1/1)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1423336"/>
            <a:ext cx="10363200" cy="4438984"/>
          </a:xfrm>
        </p:spPr>
        <p:txBody>
          <a:bodyPr>
            <a:normAutofit/>
          </a:bodyPr>
          <a:lstStyle/>
          <a:p>
            <a:r>
              <a:rPr lang="en-GB" dirty="0" smtClean="0"/>
              <a:t>Surgical care is complex and inv1lves dozens of steps.  </a:t>
            </a:r>
          </a:p>
          <a:p>
            <a:r>
              <a:rPr lang="en-GB" dirty="0" smtClean="0"/>
              <a:t>Controlling the four main sources of infectious organisms: the patient, surgical staff, the equipment and the operating room environment.</a:t>
            </a:r>
          </a:p>
          <a:p>
            <a:r>
              <a:rPr lang="en-GB" dirty="0" smtClean="0"/>
              <a:t>The operating room has special characteristics that increase the chance of accidents.</a:t>
            </a:r>
          </a:p>
          <a:p>
            <a:r>
              <a:rPr lang="en-GB" dirty="0" smtClean="0"/>
              <a:t>The “hands-free” technique for passing surgical instruments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F548-104D-4E68-80AF-20381495ECFA}" type="datetime1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Vol.2 Sec.4 Chap. 6 : SAFE SURGERY AND SAFE PRACTICE IN THE OPERATION ROOM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43B3-639B-4115-8757-96385278586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8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7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Theme7</Template>
  <TotalTime>1369</TotalTime>
  <Words>1320</Words>
  <Application>Microsoft Office PowerPoint</Application>
  <PresentationFormat>Custom</PresentationFormat>
  <Paragraphs>192</Paragraphs>
  <Slides>23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Theme7</vt:lpstr>
      <vt:lpstr>             Volume 2:  Section 4  Infection Prevention and Control in special settings</vt:lpstr>
      <vt:lpstr>Volume 2_Section 4  CHAPTER 1:  SAFE SURGERY AND SAFE PRACTICE IN THE OPERATION ROOM </vt:lpstr>
      <vt:lpstr>   Chapter Content </vt:lpstr>
      <vt:lpstr>Learning Objective</vt:lpstr>
      <vt:lpstr> 1. Overview  of Save Surgery (1/1)   </vt:lpstr>
      <vt:lpstr>      2. The Safe Surgery Guidelines (1/5) </vt:lpstr>
      <vt:lpstr> 2.1. The Implementation of The Safe Surgery Checklist (2/5)  </vt:lpstr>
      <vt:lpstr> 10 Basic Essential Objectives Which Are Congruent To Safe Surgery Guidelines (3/5) </vt:lpstr>
      <vt:lpstr> 10 basic essential … (4/5) </vt:lpstr>
      <vt:lpstr>2.2. The Monitoring And Evaluation Of Surgical Outcomes  (5/5) </vt:lpstr>
      <vt:lpstr>3. Establishing surgical asepsis (1/1)</vt:lpstr>
      <vt:lpstr>4. The Surgical Environment That Increase The Chance of Accidents (1/1)</vt:lpstr>
      <vt:lpstr>5. Which Instruments Cause Injuries? (1/8)</vt:lpstr>
      <vt:lpstr>5. Which Instruments Cause Injuries?... (2/8)</vt:lpstr>
      <vt:lpstr> When Do Injuries Occur? (3/8) </vt:lpstr>
      <vt:lpstr>Suture Needle Injuries (4/8)</vt:lpstr>
      <vt:lpstr>To avoid the injury in OR (5/8)</vt:lpstr>
      <vt:lpstr>Hands-Free Technique (6/8)</vt:lpstr>
      <vt:lpstr>Hands-Free Technique (7/8)</vt:lpstr>
      <vt:lpstr>Parking (8/8)</vt:lpstr>
      <vt:lpstr>6. Designing Safer Operations (1/2)</vt:lpstr>
      <vt:lpstr>  Technique For Using Blunt Needles (2/2) </vt:lpstr>
      <vt:lpstr> summary(1/1)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6. Mortuary IPC for Handling Human Remains</dc:title>
  <dc:creator>yayene Tad</dc:creator>
  <cp:lastModifiedBy>moh</cp:lastModifiedBy>
  <cp:revision>39</cp:revision>
  <dcterms:created xsi:type="dcterms:W3CDTF">2018-12-11T15:00:38Z</dcterms:created>
  <dcterms:modified xsi:type="dcterms:W3CDTF">2019-09-23T08:02:42Z</dcterms:modified>
</cp:coreProperties>
</file>