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7" r:id="rId2"/>
    <p:sldId id="286" r:id="rId3"/>
    <p:sldId id="287" r:id="rId4"/>
    <p:sldId id="288" r:id="rId5"/>
    <p:sldId id="266" r:id="rId6"/>
    <p:sldId id="293" r:id="rId7"/>
    <p:sldId id="292" r:id="rId8"/>
    <p:sldId id="289" r:id="rId9"/>
    <p:sldId id="272" r:id="rId10"/>
    <p:sldId id="273" r:id="rId11"/>
    <p:sldId id="294" r:id="rId12"/>
    <p:sldId id="274" r:id="rId13"/>
    <p:sldId id="275" r:id="rId14"/>
    <p:sldId id="276" r:id="rId15"/>
    <p:sldId id="277" r:id="rId16"/>
    <p:sldId id="278" r:id="rId17"/>
    <p:sldId id="279" r:id="rId18"/>
    <p:sldId id="290" r:id="rId19"/>
    <p:sldId id="291"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3" d="100"/>
          <a:sy n="53" d="100"/>
        </p:scale>
        <p:origin x="-994" y="-77"/>
      </p:cViewPr>
      <p:guideLst>
        <p:guide orient="horz" pos="2160"/>
        <p:guide pos="2880"/>
      </p:guideLst>
    </p:cSldViewPr>
  </p:slideViewPr>
  <p:notesTextViewPr>
    <p:cViewPr>
      <p:scale>
        <a:sx n="1" d="1"/>
        <a:sy n="1" d="1"/>
      </p:scale>
      <p:origin x="0" y="0"/>
    </p:cViewPr>
  </p:notesTextViewPr>
  <p:sorterViewPr>
    <p:cViewPr>
      <p:scale>
        <a:sx n="100" d="100"/>
        <a:sy n="100" d="100"/>
      </p:scale>
      <p:origin x="0" y="216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F88E7A9-1A0E-42A0-B409-95B9E2233F37}" type="datetimeFigureOut">
              <a:rPr lang="en-US" smtClean="0"/>
              <a:t>11/24/2018</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CD987D6-4896-428E-AF8B-A1B7054D623B}" type="slidenum">
              <a:rPr lang="en-US" smtClean="0"/>
              <a:t>‹#›</a:t>
            </a:fld>
            <a:endParaRPr lang="en-US"/>
          </a:p>
        </p:txBody>
      </p:sp>
    </p:spTree>
    <p:extLst>
      <p:ext uri="{BB962C8B-B14F-4D97-AF65-F5344CB8AC3E}">
        <p14:creationId xmlns:p14="http://schemas.microsoft.com/office/powerpoint/2010/main" val="16871395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Arial" charset="0"/>
              </a:defRPr>
            </a:lvl1pPr>
            <a:lvl2pPr marL="742950" indent="-285750" eaLnBrk="0" hangingPunct="0">
              <a:defRPr sz="3200">
                <a:solidFill>
                  <a:schemeClr val="tx1"/>
                </a:solidFill>
                <a:latin typeface="Arial" charset="0"/>
              </a:defRPr>
            </a:lvl2pPr>
            <a:lvl3pPr marL="1143000" indent="-228600" eaLnBrk="0" hangingPunct="0">
              <a:defRPr sz="3200">
                <a:solidFill>
                  <a:schemeClr val="tx1"/>
                </a:solidFill>
                <a:latin typeface="Arial" charset="0"/>
              </a:defRPr>
            </a:lvl3pPr>
            <a:lvl4pPr marL="1600200" indent="-228600" eaLnBrk="0" hangingPunct="0">
              <a:defRPr sz="3200">
                <a:solidFill>
                  <a:schemeClr val="tx1"/>
                </a:solidFill>
                <a:latin typeface="Arial" charset="0"/>
              </a:defRPr>
            </a:lvl4pPr>
            <a:lvl5pPr marL="2057400" indent="-228600" eaLnBrk="0" hangingPunct="0">
              <a:defRPr sz="3200">
                <a:solidFill>
                  <a:schemeClr val="tx1"/>
                </a:solidFill>
                <a:latin typeface="Arial" charset="0"/>
              </a:defRPr>
            </a:lvl5pPr>
            <a:lvl6pPr marL="2514600" indent="-228600" eaLnBrk="0" fontAlgn="base" hangingPunct="0">
              <a:spcBef>
                <a:spcPct val="0"/>
              </a:spcBef>
              <a:spcAft>
                <a:spcPct val="0"/>
              </a:spcAft>
              <a:defRPr sz="3200">
                <a:solidFill>
                  <a:schemeClr val="tx1"/>
                </a:solidFill>
                <a:latin typeface="Arial" charset="0"/>
              </a:defRPr>
            </a:lvl6pPr>
            <a:lvl7pPr marL="2971800" indent="-228600" eaLnBrk="0" fontAlgn="base" hangingPunct="0">
              <a:spcBef>
                <a:spcPct val="0"/>
              </a:spcBef>
              <a:spcAft>
                <a:spcPct val="0"/>
              </a:spcAft>
              <a:defRPr sz="3200">
                <a:solidFill>
                  <a:schemeClr val="tx1"/>
                </a:solidFill>
                <a:latin typeface="Arial" charset="0"/>
              </a:defRPr>
            </a:lvl7pPr>
            <a:lvl8pPr marL="3429000" indent="-228600" eaLnBrk="0" fontAlgn="base" hangingPunct="0">
              <a:spcBef>
                <a:spcPct val="0"/>
              </a:spcBef>
              <a:spcAft>
                <a:spcPct val="0"/>
              </a:spcAft>
              <a:defRPr sz="3200">
                <a:solidFill>
                  <a:schemeClr val="tx1"/>
                </a:solidFill>
                <a:latin typeface="Arial" charset="0"/>
              </a:defRPr>
            </a:lvl8pPr>
            <a:lvl9pPr marL="3886200" indent="-228600" eaLnBrk="0" fontAlgn="base" hangingPunct="0">
              <a:spcBef>
                <a:spcPct val="0"/>
              </a:spcBef>
              <a:spcAft>
                <a:spcPct val="0"/>
              </a:spcAft>
              <a:defRPr sz="3200">
                <a:solidFill>
                  <a:schemeClr val="tx1"/>
                </a:solidFill>
                <a:latin typeface="Arial" charset="0"/>
              </a:defRPr>
            </a:lvl9pPr>
          </a:lstStyle>
          <a:p>
            <a:pPr eaLnBrk="1" hangingPunct="1"/>
            <a:fld id="{F01C0031-A78F-49AE-98EA-EED712A6F977}" type="slidenum">
              <a:rPr lang="en-US" sz="1200"/>
              <a:pPr eaLnBrk="1" hangingPunct="1"/>
              <a:t>9</a:t>
            </a:fld>
            <a:endParaRPr lang="en-US" sz="120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Arial" charset="0"/>
              </a:defRPr>
            </a:lvl1pPr>
            <a:lvl2pPr marL="742950" indent="-285750" eaLnBrk="0" hangingPunct="0">
              <a:defRPr sz="3200">
                <a:solidFill>
                  <a:schemeClr val="tx1"/>
                </a:solidFill>
                <a:latin typeface="Arial" charset="0"/>
              </a:defRPr>
            </a:lvl2pPr>
            <a:lvl3pPr marL="1143000" indent="-228600" eaLnBrk="0" hangingPunct="0">
              <a:defRPr sz="3200">
                <a:solidFill>
                  <a:schemeClr val="tx1"/>
                </a:solidFill>
                <a:latin typeface="Arial" charset="0"/>
              </a:defRPr>
            </a:lvl3pPr>
            <a:lvl4pPr marL="1600200" indent="-228600" eaLnBrk="0" hangingPunct="0">
              <a:defRPr sz="3200">
                <a:solidFill>
                  <a:schemeClr val="tx1"/>
                </a:solidFill>
                <a:latin typeface="Arial" charset="0"/>
              </a:defRPr>
            </a:lvl4pPr>
            <a:lvl5pPr marL="2057400" indent="-228600" eaLnBrk="0" hangingPunct="0">
              <a:defRPr sz="3200">
                <a:solidFill>
                  <a:schemeClr val="tx1"/>
                </a:solidFill>
                <a:latin typeface="Arial" charset="0"/>
              </a:defRPr>
            </a:lvl5pPr>
            <a:lvl6pPr marL="2514600" indent="-228600" eaLnBrk="0" fontAlgn="base" hangingPunct="0">
              <a:spcBef>
                <a:spcPct val="0"/>
              </a:spcBef>
              <a:spcAft>
                <a:spcPct val="0"/>
              </a:spcAft>
              <a:defRPr sz="3200">
                <a:solidFill>
                  <a:schemeClr val="tx1"/>
                </a:solidFill>
                <a:latin typeface="Arial" charset="0"/>
              </a:defRPr>
            </a:lvl6pPr>
            <a:lvl7pPr marL="2971800" indent="-228600" eaLnBrk="0" fontAlgn="base" hangingPunct="0">
              <a:spcBef>
                <a:spcPct val="0"/>
              </a:spcBef>
              <a:spcAft>
                <a:spcPct val="0"/>
              </a:spcAft>
              <a:defRPr sz="3200">
                <a:solidFill>
                  <a:schemeClr val="tx1"/>
                </a:solidFill>
                <a:latin typeface="Arial" charset="0"/>
              </a:defRPr>
            </a:lvl7pPr>
            <a:lvl8pPr marL="3429000" indent="-228600" eaLnBrk="0" fontAlgn="base" hangingPunct="0">
              <a:spcBef>
                <a:spcPct val="0"/>
              </a:spcBef>
              <a:spcAft>
                <a:spcPct val="0"/>
              </a:spcAft>
              <a:defRPr sz="3200">
                <a:solidFill>
                  <a:schemeClr val="tx1"/>
                </a:solidFill>
                <a:latin typeface="Arial" charset="0"/>
              </a:defRPr>
            </a:lvl8pPr>
            <a:lvl9pPr marL="3886200" indent="-228600" eaLnBrk="0" fontAlgn="base" hangingPunct="0">
              <a:spcBef>
                <a:spcPct val="0"/>
              </a:spcBef>
              <a:spcAft>
                <a:spcPct val="0"/>
              </a:spcAft>
              <a:defRPr sz="3200">
                <a:solidFill>
                  <a:schemeClr val="tx1"/>
                </a:solidFill>
                <a:latin typeface="Arial" charset="0"/>
              </a:defRPr>
            </a:lvl9pPr>
          </a:lstStyle>
          <a:p>
            <a:pPr eaLnBrk="1" hangingPunct="1"/>
            <a:fld id="{86314070-DBA2-46F8-9C80-32F52465E0F7}" type="slidenum">
              <a:rPr lang="en-US" sz="1200"/>
              <a:pPr eaLnBrk="1" hangingPunct="1"/>
              <a:t>10</a:t>
            </a:fld>
            <a:endParaRPr lang="en-US" sz="1200"/>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Arial" charset="0"/>
              </a:defRPr>
            </a:lvl1pPr>
            <a:lvl2pPr marL="742950" indent="-285750" eaLnBrk="0" hangingPunct="0">
              <a:defRPr sz="3200">
                <a:solidFill>
                  <a:schemeClr val="tx1"/>
                </a:solidFill>
                <a:latin typeface="Arial" charset="0"/>
              </a:defRPr>
            </a:lvl2pPr>
            <a:lvl3pPr marL="1143000" indent="-228600" eaLnBrk="0" hangingPunct="0">
              <a:defRPr sz="3200">
                <a:solidFill>
                  <a:schemeClr val="tx1"/>
                </a:solidFill>
                <a:latin typeface="Arial" charset="0"/>
              </a:defRPr>
            </a:lvl3pPr>
            <a:lvl4pPr marL="1600200" indent="-228600" eaLnBrk="0" hangingPunct="0">
              <a:defRPr sz="3200">
                <a:solidFill>
                  <a:schemeClr val="tx1"/>
                </a:solidFill>
                <a:latin typeface="Arial" charset="0"/>
              </a:defRPr>
            </a:lvl4pPr>
            <a:lvl5pPr marL="2057400" indent="-228600" eaLnBrk="0" hangingPunct="0">
              <a:defRPr sz="3200">
                <a:solidFill>
                  <a:schemeClr val="tx1"/>
                </a:solidFill>
                <a:latin typeface="Arial" charset="0"/>
              </a:defRPr>
            </a:lvl5pPr>
            <a:lvl6pPr marL="2514600" indent="-228600" eaLnBrk="0" fontAlgn="base" hangingPunct="0">
              <a:spcBef>
                <a:spcPct val="0"/>
              </a:spcBef>
              <a:spcAft>
                <a:spcPct val="0"/>
              </a:spcAft>
              <a:defRPr sz="3200">
                <a:solidFill>
                  <a:schemeClr val="tx1"/>
                </a:solidFill>
                <a:latin typeface="Arial" charset="0"/>
              </a:defRPr>
            </a:lvl6pPr>
            <a:lvl7pPr marL="2971800" indent="-228600" eaLnBrk="0" fontAlgn="base" hangingPunct="0">
              <a:spcBef>
                <a:spcPct val="0"/>
              </a:spcBef>
              <a:spcAft>
                <a:spcPct val="0"/>
              </a:spcAft>
              <a:defRPr sz="3200">
                <a:solidFill>
                  <a:schemeClr val="tx1"/>
                </a:solidFill>
                <a:latin typeface="Arial" charset="0"/>
              </a:defRPr>
            </a:lvl7pPr>
            <a:lvl8pPr marL="3429000" indent="-228600" eaLnBrk="0" fontAlgn="base" hangingPunct="0">
              <a:spcBef>
                <a:spcPct val="0"/>
              </a:spcBef>
              <a:spcAft>
                <a:spcPct val="0"/>
              </a:spcAft>
              <a:defRPr sz="3200">
                <a:solidFill>
                  <a:schemeClr val="tx1"/>
                </a:solidFill>
                <a:latin typeface="Arial" charset="0"/>
              </a:defRPr>
            </a:lvl8pPr>
            <a:lvl9pPr marL="3886200" indent="-228600" eaLnBrk="0" fontAlgn="base" hangingPunct="0">
              <a:spcBef>
                <a:spcPct val="0"/>
              </a:spcBef>
              <a:spcAft>
                <a:spcPct val="0"/>
              </a:spcAft>
              <a:defRPr sz="3200">
                <a:solidFill>
                  <a:schemeClr val="tx1"/>
                </a:solidFill>
                <a:latin typeface="Arial" charset="0"/>
              </a:defRPr>
            </a:lvl9pPr>
          </a:lstStyle>
          <a:p>
            <a:pPr eaLnBrk="1" hangingPunct="1"/>
            <a:fld id="{8E2EA954-0610-4FEC-9208-6D7739FEA8F0}" type="slidenum">
              <a:rPr lang="en-US" sz="1200"/>
              <a:pPr eaLnBrk="1" hangingPunct="1"/>
              <a:t>12</a:t>
            </a:fld>
            <a:endParaRPr lang="en-US" sz="1200"/>
          </a:p>
        </p:txBody>
      </p:sp>
      <p:sp>
        <p:nvSpPr>
          <p:cNvPr id="27651"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Arial" charset="0"/>
              </a:defRPr>
            </a:lvl1pPr>
            <a:lvl2pPr marL="742950" indent="-285750" eaLnBrk="0" hangingPunct="0">
              <a:defRPr sz="3200">
                <a:solidFill>
                  <a:schemeClr val="tx1"/>
                </a:solidFill>
                <a:latin typeface="Arial" charset="0"/>
              </a:defRPr>
            </a:lvl2pPr>
            <a:lvl3pPr marL="1143000" indent="-228600" eaLnBrk="0" hangingPunct="0">
              <a:defRPr sz="3200">
                <a:solidFill>
                  <a:schemeClr val="tx1"/>
                </a:solidFill>
                <a:latin typeface="Arial" charset="0"/>
              </a:defRPr>
            </a:lvl3pPr>
            <a:lvl4pPr marL="1600200" indent="-228600" eaLnBrk="0" hangingPunct="0">
              <a:defRPr sz="3200">
                <a:solidFill>
                  <a:schemeClr val="tx1"/>
                </a:solidFill>
                <a:latin typeface="Arial" charset="0"/>
              </a:defRPr>
            </a:lvl4pPr>
            <a:lvl5pPr marL="2057400" indent="-228600" eaLnBrk="0" hangingPunct="0">
              <a:defRPr sz="3200">
                <a:solidFill>
                  <a:schemeClr val="tx1"/>
                </a:solidFill>
                <a:latin typeface="Arial" charset="0"/>
              </a:defRPr>
            </a:lvl5pPr>
            <a:lvl6pPr marL="2514600" indent="-228600" eaLnBrk="0" fontAlgn="base" hangingPunct="0">
              <a:spcBef>
                <a:spcPct val="0"/>
              </a:spcBef>
              <a:spcAft>
                <a:spcPct val="0"/>
              </a:spcAft>
              <a:defRPr sz="3200">
                <a:solidFill>
                  <a:schemeClr val="tx1"/>
                </a:solidFill>
                <a:latin typeface="Arial" charset="0"/>
              </a:defRPr>
            </a:lvl6pPr>
            <a:lvl7pPr marL="2971800" indent="-228600" eaLnBrk="0" fontAlgn="base" hangingPunct="0">
              <a:spcBef>
                <a:spcPct val="0"/>
              </a:spcBef>
              <a:spcAft>
                <a:spcPct val="0"/>
              </a:spcAft>
              <a:defRPr sz="3200">
                <a:solidFill>
                  <a:schemeClr val="tx1"/>
                </a:solidFill>
                <a:latin typeface="Arial" charset="0"/>
              </a:defRPr>
            </a:lvl7pPr>
            <a:lvl8pPr marL="3429000" indent="-228600" eaLnBrk="0" fontAlgn="base" hangingPunct="0">
              <a:spcBef>
                <a:spcPct val="0"/>
              </a:spcBef>
              <a:spcAft>
                <a:spcPct val="0"/>
              </a:spcAft>
              <a:defRPr sz="3200">
                <a:solidFill>
                  <a:schemeClr val="tx1"/>
                </a:solidFill>
                <a:latin typeface="Arial" charset="0"/>
              </a:defRPr>
            </a:lvl8pPr>
            <a:lvl9pPr marL="3886200" indent="-228600" eaLnBrk="0" fontAlgn="base" hangingPunct="0">
              <a:spcBef>
                <a:spcPct val="0"/>
              </a:spcBef>
              <a:spcAft>
                <a:spcPct val="0"/>
              </a:spcAft>
              <a:defRPr sz="3200">
                <a:solidFill>
                  <a:schemeClr val="tx1"/>
                </a:solidFill>
                <a:latin typeface="Arial" charset="0"/>
              </a:defRPr>
            </a:lvl9pPr>
          </a:lstStyle>
          <a:p>
            <a:pPr eaLnBrk="1" hangingPunct="1"/>
            <a:fld id="{1801239E-5820-45AD-8B0C-97E7D0E5064E}" type="slidenum">
              <a:rPr lang="en-US" sz="1200"/>
              <a:pPr eaLnBrk="1" hangingPunct="1"/>
              <a:t>13</a:t>
            </a:fld>
            <a:endParaRPr lang="en-US" sz="1200"/>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Arial" charset="0"/>
              </a:defRPr>
            </a:lvl1pPr>
            <a:lvl2pPr marL="742950" indent="-285750" eaLnBrk="0" hangingPunct="0">
              <a:defRPr sz="3200">
                <a:solidFill>
                  <a:schemeClr val="tx1"/>
                </a:solidFill>
                <a:latin typeface="Arial" charset="0"/>
              </a:defRPr>
            </a:lvl2pPr>
            <a:lvl3pPr marL="1143000" indent="-228600" eaLnBrk="0" hangingPunct="0">
              <a:defRPr sz="3200">
                <a:solidFill>
                  <a:schemeClr val="tx1"/>
                </a:solidFill>
                <a:latin typeface="Arial" charset="0"/>
              </a:defRPr>
            </a:lvl3pPr>
            <a:lvl4pPr marL="1600200" indent="-228600" eaLnBrk="0" hangingPunct="0">
              <a:defRPr sz="3200">
                <a:solidFill>
                  <a:schemeClr val="tx1"/>
                </a:solidFill>
                <a:latin typeface="Arial" charset="0"/>
              </a:defRPr>
            </a:lvl4pPr>
            <a:lvl5pPr marL="2057400" indent="-228600" eaLnBrk="0" hangingPunct="0">
              <a:defRPr sz="3200">
                <a:solidFill>
                  <a:schemeClr val="tx1"/>
                </a:solidFill>
                <a:latin typeface="Arial" charset="0"/>
              </a:defRPr>
            </a:lvl5pPr>
            <a:lvl6pPr marL="2514600" indent="-228600" eaLnBrk="0" fontAlgn="base" hangingPunct="0">
              <a:spcBef>
                <a:spcPct val="0"/>
              </a:spcBef>
              <a:spcAft>
                <a:spcPct val="0"/>
              </a:spcAft>
              <a:defRPr sz="3200">
                <a:solidFill>
                  <a:schemeClr val="tx1"/>
                </a:solidFill>
                <a:latin typeface="Arial" charset="0"/>
              </a:defRPr>
            </a:lvl6pPr>
            <a:lvl7pPr marL="2971800" indent="-228600" eaLnBrk="0" fontAlgn="base" hangingPunct="0">
              <a:spcBef>
                <a:spcPct val="0"/>
              </a:spcBef>
              <a:spcAft>
                <a:spcPct val="0"/>
              </a:spcAft>
              <a:defRPr sz="3200">
                <a:solidFill>
                  <a:schemeClr val="tx1"/>
                </a:solidFill>
                <a:latin typeface="Arial" charset="0"/>
              </a:defRPr>
            </a:lvl7pPr>
            <a:lvl8pPr marL="3429000" indent="-228600" eaLnBrk="0" fontAlgn="base" hangingPunct="0">
              <a:spcBef>
                <a:spcPct val="0"/>
              </a:spcBef>
              <a:spcAft>
                <a:spcPct val="0"/>
              </a:spcAft>
              <a:defRPr sz="3200">
                <a:solidFill>
                  <a:schemeClr val="tx1"/>
                </a:solidFill>
                <a:latin typeface="Arial" charset="0"/>
              </a:defRPr>
            </a:lvl8pPr>
            <a:lvl9pPr marL="3886200" indent="-228600" eaLnBrk="0" fontAlgn="base" hangingPunct="0">
              <a:spcBef>
                <a:spcPct val="0"/>
              </a:spcBef>
              <a:spcAft>
                <a:spcPct val="0"/>
              </a:spcAft>
              <a:defRPr sz="3200">
                <a:solidFill>
                  <a:schemeClr val="tx1"/>
                </a:solidFill>
                <a:latin typeface="Arial" charset="0"/>
              </a:defRPr>
            </a:lvl9pPr>
          </a:lstStyle>
          <a:p>
            <a:pPr eaLnBrk="1" hangingPunct="1"/>
            <a:fld id="{58CB7B25-1043-43C3-AABA-CC42BDC95DBE}" type="slidenum">
              <a:rPr lang="en-US" sz="1200"/>
              <a:pPr eaLnBrk="1" hangingPunct="1"/>
              <a:t>14</a:t>
            </a:fld>
            <a:endParaRPr lang="en-US" sz="1200"/>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Arial" charset="0"/>
              </a:defRPr>
            </a:lvl1pPr>
            <a:lvl2pPr marL="742950" indent="-285750" eaLnBrk="0" hangingPunct="0">
              <a:defRPr sz="3200">
                <a:solidFill>
                  <a:schemeClr val="tx1"/>
                </a:solidFill>
                <a:latin typeface="Arial" charset="0"/>
              </a:defRPr>
            </a:lvl2pPr>
            <a:lvl3pPr marL="1143000" indent="-228600" eaLnBrk="0" hangingPunct="0">
              <a:defRPr sz="3200">
                <a:solidFill>
                  <a:schemeClr val="tx1"/>
                </a:solidFill>
                <a:latin typeface="Arial" charset="0"/>
              </a:defRPr>
            </a:lvl3pPr>
            <a:lvl4pPr marL="1600200" indent="-228600" eaLnBrk="0" hangingPunct="0">
              <a:defRPr sz="3200">
                <a:solidFill>
                  <a:schemeClr val="tx1"/>
                </a:solidFill>
                <a:latin typeface="Arial" charset="0"/>
              </a:defRPr>
            </a:lvl4pPr>
            <a:lvl5pPr marL="2057400" indent="-228600" eaLnBrk="0" hangingPunct="0">
              <a:defRPr sz="3200">
                <a:solidFill>
                  <a:schemeClr val="tx1"/>
                </a:solidFill>
                <a:latin typeface="Arial" charset="0"/>
              </a:defRPr>
            </a:lvl5pPr>
            <a:lvl6pPr marL="2514600" indent="-228600" eaLnBrk="0" fontAlgn="base" hangingPunct="0">
              <a:spcBef>
                <a:spcPct val="0"/>
              </a:spcBef>
              <a:spcAft>
                <a:spcPct val="0"/>
              </a:spcAft>
              <a:defRPr sz="3200">
                <a:solidFill>
                  <a:schemeClr val="tx1"/>
                </a:solidFill>
                <a:latin typeface="Arial" charset="0"/>
              </a:defRPr>
            </a:lvl6pPr>
            <a:lvl7pPr marL="2971800" indent="-228600" eaLnBrk="0" fontAlgn="base" hangingPunct="0">
              <a:spcBef>
                <a:spcPct val="0"/>
              </a:spcBef>
              <a:spcAft>
                <a:spcPct val="0"/>
              </a:spcAft>
              <a:defRPr sz="3200">
                <a:solidFill>
                  <a:schemeClr val="tx1"/>
                </a:solidFill>
                <a:latin typeface="Arial" charset="0"/>
              </a:defRPr>
            </a:lvl7pPr>
            <a:lvl8pPr marL="3429000" indent="-228600" eaLnBrk="0" fontAlgn="base" hangingPunct="0">
              <a:spcBef>
                <a:spcPct val="0"/>
              </a:spcBef>
              <a:spcAft>
                <a:spcPct val="0"/>
              </a:spcAft>
              <a:defRPr sz="3200">
                <a:solidFill>
                  <a:schemeClr val="tx1"/>
                </a:solidFill>
                <a:latin typeface="Arial" charset="0"/>
              </a:defRPr>
            </a:lvl8pPr>
            <a:lvl9pPr marL="3886200" indent="-228600" eaLnBrk="0" fontAlgn="base" hangingPunct="0">
              <a:spcBef>
                <a:spcPct val="0"/>
              </a:spcBef>
              <a:spcAft>
                <a:spcPct val="0"/>
              </a:spcAft>
              <a:defRPr sz="3200">
                <a:solidFill>
                  <a:schemeClr val="tx1"/>
                </a:solidFill>
                <a:latin typeface="Arial" charset="0"/>
              </a:defRPr>
            </a:lvl9pPr>
          </a:lstStyle>
          <a:p>
            <a:pPr eaLnBrk="1" hangingPunct="1"/>
            <a:fld id="{47D71C9B-AF1B-4C82-9BF0-B588166AD8C1}" type="slidenum">
              <a:rPr lang="en-US" sz="1200"/>
              <a:pPr eaLnBrk="1" hangingPunct="1"/>
              <a:t>15</a:t>
            </a:fld>
            <a:endParaRPr lang="en-US" sz="1200"/>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a:ln/>
        </p:spPr>
      </p:sp>
      <p:sp>
        <p:nvSpPr>
          <p:cNvPr id="317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
        <p:nvSpPr>
          <p:cNvPr id="317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Arial" charset="0"/>
              </a:defRPr>
            </a:lvl1pPr>
            <a:lvl2pPr marL="742950" indent="-285750" eaLnBrk="0" hangingPunct="0">
              <a:defRPr sz="3200">
                <a:solidFill>
                  <a:schemeClr val="tx1"/>
                </a:solidFill>
                <a:latin typeface="Arial" charset="0"/>
              </a:defRPr>
            </a:lvl2pPr>
            <a:lvl3pPr marL="1143000" indent="-228600" eaLnBrk="0" hangingPunct="0">
              <a:defRPr sz="3200">
                <a:solidFill>
                  <a:schemeClr val="tx1"/>
                </a:solidFill>
                <a:latin typeface="Arial" charset="0"/>
              </a:defRPr>
            </a:lvl3pPr>
            <a:lvl4pPr marL="1600200" indent="-228600" eaLnBrk="0" hangingPunct="0">
              <a:defRPr sz="3200">
                <a:solidFill>
                  <a:schemeClr val="tx1"/>
                </a:solidFill>
                <a:latin typeface="Arial" charset="0"/>
              </a:defRPr>
            </a:lvl4pPr>
            <a:lvl5pPr marL="2057400" indent="-228600" eaLnBrk="0" hangingPunct="0">
              <a:defRPr sz="3200">
                <a:solidFill>
                  <a:schemeClr val="tx1"/>
                </a:solidFill>
                <a:latin typeface="Arial" charset="0"/>
              </a:defRPr>
            </a:lvl5pPr>
            <a:lvl6pPr marL="2514600" indent="-228600" eaLnBrk="0" fontAlgn="base" hangingPunct="0">
              <a:spcBef>
                <a:spcPct val="0"/>
              </a:spcBef>
              <a:spcAft>
                <a:spcPct val="0"/>
              </a:spcAft>
              <a:defRPr sz="3200">
                <a:solidFill>
                  <a:schemeClr val="tx1"/>
                </a:solidFill>
                <a:latin typeface="Arial" charset="0"/>
              </a:defRPr>
            </a:lvl6pPr>
            <a:lvl7pPr marL="2971800" indent="-228600" eaLnBrk="0" fontAlgn="base" hangingPunct="0">
              <a:spcBef>
                <a:spcPct val="0"/>
              </a:spcBef>
              <a:spcAft>
                <a:spcPct val="0"/>
              </a:spcAft>
              <a:defRPr sz="3200">
                <a:solidFill>
                  <a:schemeClr val="tx1"/>
                </a:solidFill>
                <a:latin typeface="Arial" charset="0"/>
              </a:defRPr>
            </a:lvl7pPr>
            <a:lvl8pPr marL="3429000" indent="-228600" eaLnBrk="0" fontAlgn="base" hangingPunct="0">
              <a:spcBef>
                <a:spcPct val="0"/>
              </a:spcBef>
              <a:spcAft>
                <a:spcPct val="0"/>
              </a:spcAft>
              <a:defRPr sz="3200">
                <a:solidFill>
                  <a:schemeClr val="tx1"/>
                </a:solidFill>
                <a:latin typeface="Arial" charset="0"/>
              </a:defRPr>
            </a:lvl8pPr>
            <a:lvl9pPr marL="3886200" indent="-228600" eaLnBrk="0" fontAlgn="base" hangingPunct="0">
              <a:spcBef>
                <a:spcPct val="0"/>
              </a:spcBef>
              <a:spcAft>
                <a:spcPct val="0"/>
              </a:spcAft>
              <a:defRPr sz="3200">
                <a:solidFill>
                  <a:schemeClr val="tx1"/>
                </a:solidFill>
                <a:latin typeface="Arial" charset="0"/>
              </a:defRPr>
            </a:lvl9pPr>
          </a:lstStyle>
          <a:p>
            <a:pPr eaLnBrk="1" hangingPunct="1"/>
            <a:fld id="{A7739914-E908-4F3A-9033-1AA3DD04E5A5}" type="slidenum">
              <a:rPr lang="en-US" sz="1200"/>
              <a:pPr eaLnBrk="1" hangingPunct="1"/>
              <a:t>16</a:t>
            </a:fld>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Arial" charset="0"/>
              </a:defRPr>
            </a:lvl1pPr>
            <a:lvl2pPr marL="742950" indent="-285750" eaLnBrk="0" hangingPunct="0">
              <a:defRPr sz="3200">
                <a:solidFill>
                  <a:schemeClr val="tx1"/>
                </a:solidFill>
                <a:latin typeface="Arial" charset="0"/>
              </a:defRPr>
            </a:lvl2pPr>
            <a:lvl3pPr marL="1143000" indent="-228600" eaLnBrk="0" hangingPunct="0">
              <a:defRPr sz="3200">
                <a:solidFill>
                  <a:schemeClr val="tx1"/>
                </a:solidFill>
                <a:latin typeface="Arial" charset="0"/>
              </a:defRPr>
            </a:lvl3pPr>
            <a:lvl4pPr marL="1600200" indent="-228600" eaLnBrk="0" hangingPunct="0">
              <a:defRPr sz="3200">
                <a:solidFill>
                  <a:schemeClr val="tx1"/>
                </a:solidFill>
                <a:latin typeface="Arial" charset="0"/>
              </a:defRPr>
            </a:lvl4pPr>
            <a:lvl5pPr marL="2057400" indent="-228600" eaLnBrk="0" hangingPunct="0">
              <a:defRPr sz="3200">
                <a:solidFill>
                  <a:schemeClr val="tx1"/>
                </a:solidFill>
                <a:latin typeface="Arial" charset="0"/>
              </a:defRPr>
            </a:lvl5pPr>
            <a:lvl6pPr marL="2514600" indent="-228600" eaLnBrk="0" fontAlgn="base" hangingPunct="0">
              <a:spcBef>
                <a:spcPct val="0"/>
              </a:spcBef>
              <a:spcAft>
                <a:spcPct val="0"/>
              </a:spcAft>
              <a:defRPr sz="3200">
                <a:solidFill>
                  <a:schemeClr val="tx1"/>
                </a:solidFill>
                <a:latin typeface="Arial" charset="0"/>
              </a:defRPr>
            </a:lvl6pPr>
            <a:lvl7pPr marL="2971800" indent="-228600" eaLnBrk="0" fontAlgn="base" hangingPunct="0">
              <a:spcBef>
                <a:spcPct val="0"/>
              </a:spcBef>
              <a:spcAft>
                <a:spcPct val="0"/>
              </a:spcAft>
              <a:defRPr sz="3200">
                <a:solidFill>
                  <a:schemeClr val="tx1"/>
                </a:solidFill>
                <a:latin typeface="Arial" charset="0"/>
              </a:defRPr>
            </a:lvl7pPr>
            <a:lvl8pPr marL="3429000" indent="-228600" eaLnBrk="0" fontAlgn="base" hangingPunct="0">
              <a:spcBef>
                <a:spcPct val="0"/>
              </a:spcBef>
              <a:spcAft>
                <a:spcPct val="0"/>
              </a:spcAft>
              <a:defRPr sz="3200">
                <a:solidFill>
                  <a:schemeClr val="tx1"/>
                </a:solidFill>
                <a:latin typeface="Arial" charset="0"/>
              </a:defRPr>
            </a:lvl8pPr>
            <a:lvl9pPr marL="3886200" indent="-228600" eaLnBrk="0" fontAlgn="base" hangingPunct="0">
              <a:spcBef>
                <a:spcPct val="0"/>
              </a:spcBef>
              <a:spcAft>
                <a:spcPct val="0"/>
              </a:spcAft>
              <a:defRPr sz="3200">
                <a:solidFill>
                  <a:schemeClr val="tx1"/>
                </a:solidFill>
                <a:latin typeface="Arial" charset="0"/>
              </a:defRPr>
            </a:lvl9pPr>
          </a:lstStyle>
          <a:p>
            <a:pPr eaLnBrk="1" hangingPunct="1"/>
            <a:fld id="{C1A36EF2-67B5-412F-9572-9A6498EF224C}" type="slidenum">
              <a:rPr lang="en-US" sz="1200"/>
              <a:pPr eaLnBrk="1" hangingPunct="1"/>
              <a:t>17</a:t>
            </a:fld>
            <a:endParaRPr lang="en-US" sz="1200"/>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EA0988E-B6D5-43AB-B207-B9A2B860A7EE}" type="datetimeFigureOut">
              <a:rPr lang="en-US" smtClean="0"/>
              <a:t>11/24/2018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63E4AD-6D14-4849-89E5-DF9C6E0C39D4}" type="slidenum">
              <a:rPr lang="en-US" smtClean="0"/>
              <a:t>‹#›</a:t>
            </a:fld>
            <a:endParaRPr lang="en-US"/>
          </a:p>
        </p:txBody>
      </p:sp>
    </p:spTree>
    <p:extLst>
      <p:ext uri="{BB962C8B-B14F-4D97-AF65-F5344CB8AC3E}">
        <p14:creationId xmlns:p14="http://schemas.microsoft.com/office/powerpoint/2010/main" val="25354323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EA0988E-B6D5-43AB-B207-B9A2B860A7EE}" type="datetimeFigureOut">
              <a:rPr lang="en-US" smtClean="0"/>
              <a:t>11/24/2018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63E4AD-6D14-4849-89E5-DF9C6E0C39D4}" type="slidenum">
              <a:rPr lang="en-US" smtClean="0"/>
              <a:t>‹#›</a:t>
            </a:fld>
            <a:endParaRPr lang="en-US"/>
          </a:p>
        </p:txBody>
      </p:sp>
    </p:spTree>
    <p:extLst>
      <p:ext uri="{BB962C8B-B14F-4D97-AF65-F5344CB8AC3E}">
        <p14:creationId xmlns:p14="http://schemas.microsoft.com/office/powerpoint/2010/main" val="40560533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EA0988E-B6D5-43AB-B207-B9A2B860A7EE}" type="datetimeFigureOut">
              <a:rPr lang="en-US" smtClean="0"/>
              <a:t>11/24/2018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63E4AD-6D14-4849-89E5-DF9C6E0C39D4}" type="slidenum">
              <a:rPr lang="en-US" smtClean="0"/>
              <a:t>‹#›</a:t>
            </a:fld>
            <a:endParaRPr lang="en-US"/>
          </a:p>
        </p:txBody>
      </p:sp>
    </p:spTree>
    <p:extLst>
      <p:ext uri="{BB962C8B-B14F-4D97-AF65-F5344CB8AC3E}">
        <p14:creationId xmlns:p14="http://schemas.microsoft.com/office/powerpoint/2010/main" val="30025448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EA0988E-B6D5-43AB-B207-B9A2B860A7EE}" type="datetimeFigureOut">
              <a:rPr lang="en-US" smtClean="0"/>
              <a:t>11/24/2018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63E4AD-6D14-4849-89E5-DF9C6E0C39D4}" type="slidenum">
              <a:rPr lang="en-US" smtClean="0"/>
              <a:t>‹#›</a:t>
            </a:fld>
            <a:endParaRPr lang="en-US"/>
          </a:p>
        </p:txBody>
      </p:sp>
    </p:spTree>
    <p:extLst>
      <p:ext uri="{BB962C8B-B14F-4D97-AF65-F5344CB8AC3E}">
        <p14:creationId xmlns:p14="http://schemas.microsoft.com/office/powerpoint/2010/main" val="24324496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EA0988E-B6D5-43AB-B207-B9A2B860A7EE}" type="datetimeFigureOut">
              <a:rPr lang="en-US" smtClean="0"/>
              <a:t>11/24/2018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063E4AD-6D14-4849-89E5-DF9C6E0C39D4}" type="slidenum">
              <a:rPr lang="en-US" smtClean="0"/>
              <a:t>‹#›</a:t>
            </a:fld>
            <a:endParaRPr lang="en-US"/>
          </a:p>
        </p:txBody>
      </p:sp>
    </p:spTree>
    <p:extLst>
      <p:ext uri="{BB962C8B-B14F-4D97-AF65-F5344CB8AC3E}">
        <p14:creationId xmlns:p14="http://schemas.microsoft.com/office/powerpoint/2010/main" val="27898400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EA0988E-B6D5-43AB-B207-B9A2B860A7EE}" type="datetimeFigureOut">
              <a:rPr lang="en-US" smtClean="0"/>
              <a:t>11/24/2018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063E4AD-6D14-4849-89E5-DF9C6E0C39D4}" type="slidenum">
              <a:rPr lang="en-US" smtClean="0"/>
              <a:t>‹#›</a:t>
            </a:fld>
            <a:endParaRPr lang="en-US"/>
          </a:p>
        </p:txBody>
      </p:sp>
    </p:spTree>
    <p:extLst>
      <p:ext uri="{BB962C8B-B14F-4D97-AF65-F5344CB8AC3E}">
        <p14:creationId xmlns:p14="http://schemas.microsoft.com/office/powerpoint/2010/main" val="35361130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EA0988E-B6D5-43AB-B207-B9A2B860A7EE}" type="datetimeFigureOut">
              <a:rPr lang="en-US" smtClean="0"/>
              <a:t>11/24/2018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063E4AD-6D14-4849-89E5-DF9C6E0C39D4}" type="slidenum">
              <a:rPr lang="en-US" smtClean="0"/>
              <a:t>‹#›</a:t>
            </a:fld>
            <a:endParaRPr lang="en-US"/>
          </a:p>
        </p:txBody>
      </p:sp>
    </p:spTree>
    <p:extLst>
      <p:ext uri="{BB962C8B-B14F-4D97-AF65-F5344CB8AC3E}">
        <p14:creationId xmlns:p14="http://schemas.microsoft.com/office/powerpoint/2010/main" val="31585749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EA0988E-B6D5-43AB-B207-B9A2B860A7EE}" type="datetimeFigureOut">
              <a:rPr lang="en-US" smtClean="0"/>
              <a:t>11/24/2018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63E4AD-6D14-4849-89E5-DF9C6E0C39D4}" type="slidenum">
              <a:rPr lang="en-US" smtClean="0"/>
              <a:t>‹#›</a:t>
            </a:fld>
            <a:endParaRPr lang="en-US"/>
          </a:p>
        </p:txBody>
      </p:sp>
    </p:spTree>
    <p:extLst>
      <p:ext uri="{BB962C8B-B14F-4D97-AF65-F5344CB8AC3E}">
        <p14:creationId xmlns:p14="http://schemas.microsoft.com/office/powerpoint/2010/main" val="33340426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EA0988E-B6D5-43AB-B207-B9A2B860A7EE}" type="datetimeFigureOut">
              <a:rPr lang="en-US" smtClean="0"/>
              <a:t>11/24/2018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63E4AD-6D14-4849-89E5-DF9C6E0C39D4}" type="slidenum">
              <a:rPr lang="en-US" smtClean="0"/>
              <a:t>‹#›</a:t>
            </a:fld>
            <a:endParaRPr lang="en-US"/>
          </a:p>
        </p:txBody>
      </p:sp>
    </p:spTree>
    <p:extLst>
      <p:ext uri="{BB962C8B-B14F-4D97-AF65-F5344CB8AC3E}">
        <p14:creationId xmlns:p14="http://schemas.microsoft.com/office/powerpoint/2010/main" val="1994999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EA0988E-B6D5-43AB-B207-B9A2B860A7EE}" type="datetimeFigureOut">
              <a:rPr lang="en-US" smtClean="0"/>
              <a:t>11/24/2018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63E4AD-6D14-4849-89E5-DF9C6E0C39D4}" type="slidenum">
              <a:rPr lang="en-US" smtClean="0"/>
              <a:t>‹#›</a:t>
            </a:fld>
            <a:endParaRPr lang="en-US"/>
          </a:p>
        </p:txBody>
      </p:sp>
    </p:spTree>
    <p:extLst>
      <p:ext uri="{BB962C8B-B14F-4D97-AF65-F5344CB8AC3E}">
        <p14:creationId xmlns:p14="http://schemas.microsoft.com/office/powerpoint/2010/main" val="32237492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EA0988E-B6D5-43AB-B207-B9A2B860A7EE}" type="datetimeFigureOut">
              <a:rPr lang="en-US" smtClean="0"/>
              <a:t>11/24/2018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63E4AD-6D14-4849-89E5-DF9C6E0C39D4}" type="slidenum">
              <a:rPr lang="en-US" smtClean="0"/>
              <a:t>‹#›</a:t>
            </a:fld>
            <a:endParaRPr lang="en-US"/>
          </a:p>
        </p:txBody>
      </p:sp>
    </p:spTree>
    <p:extLst>
      <p:ext uri="{BB962C8B-B14F-4D97-AF65-F5344CB8AC3E}">
        <p14:creationId xmlns:p14="http://schemas.microsoft.com/office/powerpoint/2010/main" val="7840497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A0988E-B6D5-43AB-B207-B9A2B860A7EE}" type="datetimeFigureOut">
              <a:rPr lang="en-US" smtClean="0"/>
              <a:t>11/24/2018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063E4AD-6D14-4849-89E5-DF9C6E0C39D4}" type="slidenum">
              <a:rPr lang="en-US" smtClean="0"/>
              <a:t>‹#›</a:t>
            </a:fld>
            <a:endParaRPr lang="en-US"/>
          </a:p>
        </p:txBody>
      </p:sp>
    </p:spTree>
    <p:extLst>
      <p:ext uri="{BB962C8B-B14F-4D97-AF65-F5344CB8AC3E}">
        <p14:creationId xmlns:p14="http://schemas.microsoft.com/office/powerpoint/2010/main" val="16390959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b="1" dirty="0" smtClean="0"/>
              <a:t>Chapter </a:t>
            </a:r>
            <a:r>
              <a:rPr lang="en-US" b="1" dirty="0" smtClean="0"/>
              <a:t> </a:t>
            </a:r>
            <a:r>
              <a:rPr lang="en-US" b="1" dirty="0" smtClean="0"/>
              <a:t>12: Traffic flow and activity pattern in Healthcare facilities </a:t>
            </a:r>
            <a:endParaRPr lang="en-US" b="1"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3951106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Learning </a:t>
            </a:r>
            <a:r>
              <a:rPr lang="en-US" b="1" dirty="0"/>
              <a:t>objectives</a:t>
            </a:r>
            <a:r>
              <a:rPr lang="en-US" dirty="0"/>
              <a:t/>
            </a:r>
            <a:br>
              <a:rPr lang="en-US" dirty="0"/>
            </a:br>
            <a:endParaRPr lang="en-US" dirty="0"/>
          </a:p>
        </p:txBody>
      </p:sp>
      <p:sp>
        <p:nvSpPr>
          <p:cNvPr id="3" name="Content Placeholder 2"/>
          <p:cNvSpPr>
            <a:spLocks noGrp="1"/>
          </p:cNvSpPr>
          <p:nvPr>
            <p:ph idx="1"/>
          </p:nvPr>
        </p:nvSpPr>
        <p:spPr/>
        <p:txBody>
          <a:bodyPr/>
          <a:lstStyle/>
          <a:p>
            <a:pPr lvl="0"/>
            <a:r>
              <a:rPr lang="en-US" dirty="0" smtClean="0"/>
              <a:t>The </a:t>
            </a:r>
            <a:r>
              <a:rPr lang="en-US" dirty="0"/>
              <a:t>significance of regulating traffic flow and defining activity patterns in health facilities</a:t>
            </a:r>
          </a:p>
          <a:p>
            <a:pPr lvl="0"/>
            <a:r>
              <a:rPr lang="en-US" dirty="0"/>
              <a:t>Designing traffic flow and activity patterns in procedure rooms, instrument processing and surgical areas.</a:t>
            </a:r>
          </a:p>
          <a:p>
            <a:r>
              <a:rPr lang="en-US" dirty="0"/>
              <a:t>The traffic flow requirements for different areas</a:t>
            </a:r>
            <a:endParaRPr lang="en-US" dirty="0"/>
          </a:p>
        </p:txBody>
      </p:sp>
    </p:spTree>
    <p:extLst>
      <p:ext uri="{BB962C8B-B14F-4D97-AF65-F5344CB8AC3E}">
        <p14:creationId xmlns:p14="http://schemas.microsoft.com/office/powerpoint/2010/main" val="19413297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0"/>
            <a:r>
              <a:rPr lang="en-US" sz="2800" dirty="0" smtClean="0"/>
              <a:t/>
            </a:r>
            <a:br>
              <a:rPr lang="en-US" sz="2800" dirty="0" smtClean="0"/>
            </a:br>
            <a:r>
              <a:rPr lang="en-US" sz="2800" b="1" dirty="0" smtClean="0"/>
              <a:t>The </a:t>
            </a:r>
            <a:r>
              <a:rPr lang="en-US" sz="2800" b="1" dirty="0"/>
              <a:t>significance of regulating traffic flow and defining activity patterns in health facilities</a:t>
            </a:r>
            <a:r>
              <a:rPr lang="en-US" sz="2800" dirty="0"/>
              <a:t/>
            </a:r>
            <a:br>
              <a:rPr lang="en-US" sz="2800" dirty="0"/>
            </a:br>
            <a:endParaRPr lang="en-US" sz="2800" dirty="0"/>
          </a:p>
        </p:txBody>
      </p:sp>
      <p:sp>
        <p:nvSpPr>
          <p:cNvPr id="3" name="Content Placeholder 2"/>
          <p:cNvSpPr>
            <a:spLocks noGrp="1"/>
          </p:cNvSpPr>
          <p:nvPr>
            <p:ph idx="1"/>
          </p:nvPr>
        </p:nvSpPr>
        <p:spPr/>
        <p:txBody>
          <a:bodyPr>
            <a:normAutofit/>
          </a:bodyPr>
          <a:lstStyle/>
          <a:p>
            <a:r>
              <a:rPr lang="en-US" dirty="0"/>
              <a:t>Regulating the flow of visitors, patients and the staff plays a central role in preventing disease transmission in healthcare facilities. </a:t>
            </a:r>
            <a:endParaRPr lang="en-US" dirty="0" smtClean="0"/>
          </a:p>
          <a:p>
            <a:r>
              <a:rPr lang="en-US" dirty="0" smtClean="0"/>
              <a:t>This </a:t>
            </a:r>
            <a:r>
              <a:rPr lang="en-US" dirty="0"/>
              <a:t>is so for the number of microorganisms in a designated area tends to be related to that of the number of people present and their activity. </a:t>
            </a:r>
            <a:endParaRPr lang="en-US" dirty="0" smtClean="0"/>
          </a:p>
          <a:p>
            <a:endParaRPr lang="en-US" dirty="0"/>
          </a:p>
        </p:txBody>
      </p:sp>
    </p:spTree>
    <p:extLst>
      <p:ext uri="{BB962C8B-B14F-4D97-AF65-F5344CB8AC3E}">
        <p14:creationId xmlns:p14="http://schemas.microsoft.com/office/powerpoint/2010/main" val="37419391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…………….Continued  </a:t>
            </a:r>
            <a:endParaRPr lang="en-US" dirty="0"/>
          </a:p>
        </p:txBody>
      </p:sp>
      <p:sp>
        <p:nvSpPr>
          <p:cNvPr id="3" name="Content Placeholder 2"/>
          <p:cNvSpPr>
            <a:spLocks noGrp="1"/>
          </p:cNvSpPr>
          <p:nvPr>
            <p:ph idx="1"/>
          </p:nvPr>
        </p:nvSpPr>
        <p:spPr/>
        <p:txBody>
          <a:bodyPr/>
          <a:lstStyle/>
          <a:p>
            <a:r>
              <a:rPr lang="en-US" dirty="0"/>
              <a:t>Microbial contamination is found to be high in areas such as waiting rooms and places where soiled surgical instruments and other equipment are initially processed.</a:t>
            </a:r>
          </a:p>
          <a:p>
            <a:r>
              <a:rPr lang="en-US" dirty="0"/>
              <a:t> Microbial contamination is minimized by reducing the number of people coming to the area and defining the activities taking place at each place.</a:t>
            </a:r>
          </a:p>
          <a:p>
            <a:endParaRPr lang="en-US" dirty="0"/>
          </a:p>
        </p:txBody>
      </p:sp>
    </p:spTree>
    <p:extLst>
      <p:ext uri="{BB962C8B-B14F-4D97-AF65-F5344CB8AC3E}">
        <p14:creationId xmlns:p14="http://schemas.microsoft.com/office/powerpoint/2010/main" val="35976223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Continued …….</a:t>
            </a:r>
            <a:endParaRPr lang="en-US" dirty="0"/>
          </a:p>
        </p:txBody>
      </p:sp>
      <p:sp>
        <p:nvSpPr>
          <p:cNvPr id="3" name="Content Placeholder 2"/>
          <p:cNvSpPr>
            <a:spLocks noGrp="1"/>
          </p:cNvSpPr>
          <p:nvPr>
            <p:ph idx="1"/>
          </p:nvPr>
        </p:nvSpPr>
        <p:spPr/>
        <p:txBody>
          <a:bodyPr>
            <a:normAutofit/>
          </a:bodyPr>
          <a:lstStyle/>
          <a:p>
            <a:r>
              <a:rPr lang="en-US" dirty="0" smtClean="0"/>
              <a:t>An  </a:t>
            </a:r>
            <a:r>
              <a:rPr lang="en-US" dirty="0"/>
              <a:t>important  objective  of  infection  prevention  and control is  to  minimize  the  level  of  microbial contamination in areas where patient care and instrument processing take place. </a:t>
            </a:r>
            <a:endParaRPr lang="en-US" dirty="0"/>
          </a:p>
        </p:txBody>
      </p:sp>
    </p:spTree>
    <p:extLst>
      <p:ext uri="{BB962C8B-B14F-4D97-AF65-F5344CB8AC3E}">
        <p14:creationId xmlns:p14="http://schemas.microsoft.com/office/powerpoint/2010/main" val="5662398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Continued …….</a:t>
            </a:r>
          </a:p>
        </p:txBody>
      </p:sp>
      <p:sp>
        <p:nvSpPr>
          <p:cNvPr id="3" name="Content Placeholder 2"/>
          <p:cNvSpPr>
            <a:spLocks noGrp="1"/>
          </p:cNvSpPr>
          <p:nvPr>
            <p:ph idx="1"/>
          </p:nvPr>
        </p:nvSpPr>
        <p:spPr/>
        <p:txBody>
          <a:bodyPr>
            <a:normAutofit fontScale="92500" lnSpcReduction="20000"/>
          </a:bodyPr>
          <a:lstStyle/>
          <a:p>
            <a:r>
              <a:rPr lang="en-US" dirty="0"/>
              <a:t>Regulating the flow of visitors, patients and staff prevents disease transmission</a:t>
            </a:r>
          </a:p>
          <a:p>
            <a:r>
              <a:rPr lang="en-US" dirty="0"/>
              <a:t>Microbial contamination is minimized by reducing the number of people permitted into an area and by defining the activities that take place </a:t>
            </a:r>
          </a:p>
          <a:p>
            <a:pPr>
              <a:spcBef>
                <a:spcPct val="50000"/>
              </a:spcBef>
            </a:pPr>
            <a:r>
              <a:rPr lang="en-US" dirty="0"/>
              <a:t>Such areas include:</a:t>
            </a:r>
          </a:p>
          <a:p>
            <a:pPr>
              <a:spcBef>
                <a:spcPct val="50000"/>
              </a:spcBef>
              <a:buClr>
                <a:srgbClr val="E80C1C"/>
              </a:buClr>
              <a:buFont typeface="Courier New" pitchFamily="49" charset="0"/>
              <a:buChar char="o"/>
            </a:pPr>
            <a:r>
              <a:rPr lang="en-US" dirty="0"/>
              <a:t> Procedure areas</a:t>
            </a:r>
          </a:p>
          <a:p>
            <a:pPr>
              <a:spcBef>
                <a:spcPct val="50000"/>
              </a:spcBef>
              <a:buClr>
                <a:srgbClr val="E80C1C"/>
              </a:buClr>
              <a:buFont typeface="Courier New" pitchFamily="49" charset="0"/>
              <a:buChar char="o"/>
            </a:pPr>
            <a:r>
              <a:rPr lang="en-US" dirty="0"/>
              <a:t> Surgical units</a:t>
            </a:r>
          </a:p>
          <a:p>
            <a:pPr>
              <a:spcBef>
                <a:spcPct val="50000"/>
              </a:spcBef>
              <a:buClr>
                <a:srgbClr val="E80C1C"/>
              </a:buClr>
              <a:buFont typeface="Courier New" pitchFamily="49" charset="0"/>
              <a:buChar char="o"/>
            </a:pPr>
            <a:r>
              <a:rPr lang="en-US" dirty="0"/>
              <a:t> Work areas</a:t>
            </a:r>
            <a:r>
              <a:rPr lang="en-US" sz="2400" dirty="0"/>
              <a:t> </a:t>
            </a:r>
            <a:endParaRPr lang="en-US" sz="2400" dirty="0"/>
          </a:p>
        </p:txBody>
      </p:sp>
    </p:spTree>
    <p:extLst>
      <p:ext uri="{BB962C8B-B14F-4D97-AF65-F5344CB8AC3E}">
        <p14:creationId xmlns:p14="http://schemas.microsoft.com/office/powerpoint/2010/main" val="36059663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Continued</a:t>
            </a:r>
          </a:p>
        </p:txBody>
      </p:sp>
      <p:sp>
        <p:nvSpPr>
          <p:cNvPr id="3" name="Content Placeholder 2"/>
          <p:cNvSpPr>
            <a:spLocks noGrp="1"/>
          </p:cNvSpPr>
          <p:nvPr>
            <p:ph idx="1"/>
          </p:nvPr>
        </p:nvSpPr>
        <p:spPr/>
        <p:txBody>
          <a:bodyPr>
            <a:normAutofit fontScale="77500" lnSpcReduction="20000"/>
          </a:bodyPr>
          <a:lstStyle/>
          <a:p>
            <a:pPr lvl="0"/>
            <a:r>
              <a:rPr lang="en-US" b="1" dirty="0"/>
              <a:t>Procedure areas - </a:t>
            </a:r>
            <a:r>
              <a:rPr lang="en-US" dirty="0"/>
              <a:t>are settings where patients are examined and procedures (e.g. pelvic examinations, wound care management, blood drawing, immunizations, IUD insertions and removals, and normal childbirth) are carried out.</a:t>
            </a:r>
          </a:p>
          <a:p>
            <a:pPr lvl="0"/>
            <a:r>
              <a:rPr lang="en-US" b="1" dirty="0"/>
              <a:t>Surgical units - </a:t>
            </a:r>
            <a:r>
              <a:rPr lang="en-US" dirty="0"/>
              <a:t>are settings where major and minor operations are performed. The surgical unit also includes preoperative and recovery rooms as well as several other areas</a:t>
            </a:r>
          </a:p>
          <a:p>
            <a:r>
              <a:rPr lang="en-US" b="1" dirty="0"/>
              <a:t>Work areas - </a:t>
            </a:r>
            <a:r>
              <a:rPr lang="en-US" dirty="0"/>
              <a:t>are settings where instruments are being processed. These include dirty and clean areas where soiled instruments, equipment and other items are first cleaned and either high-level disinfected or sterilized and then stored.</a:t>
            </a:r>
          </a:p>
          <a:p>
            <a:pPr lvl="0"/>
            <a:endParaRPr lang="en-US" dirty="0"/>
          </a:p>
        </p:txBody>
      </p:sp>
    </p:spTree>
    <p:extLst>
      <p:ext uri="{BB962C8B-B14F-4D97-AF65-F5344CB8AC3E}">
        <p14:creationId xmlns:p14="http://schemas.microsoft.com/office/powerpoint/2010/main" val="19916675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cap="all" dirty="0"/>
              <a:t>Facility Design,</a:t>
            </a:r>
            <a:r>
              <a:rPr lang="en-US" b="1" dirty="0"/>
              <a:t> SPACE AND EQUIPMENT REQUIREMENTS</a:t>
            </a:r>
            <a:endParaRPr lang="en-US" dirty="0"/>
          </a:p>
        </p:txBody>
      </p:sp>
      <p:sp>
        <p:nvSpPr>
          <p:cNvPr id="3" name="Content Placeholder 2"/>
          <p:cNvSpPr>
            <a:spLocks noGrp="1"/>
          </p:cNvSpPr>
          <p:nvPr>
            <p:ph idx="1"/>
          </p:nvPr>
        </p:nvSpPr>
        <p:spPr/>
        <p:txBody>
          <a:bodyPr>
            <a:normAutofit fontScale="77500" lnSpcReduction="20000"/>
          </a:bodyPr>
          <a:lstStyle/>
          <a:p>
            <a:pPr lvl="0"/>
            <a:r>
              <a:rPr lang="en-US" dirty="0"/>
              <a:t>Designating appropriate traffic flow for patients, health care workers (HCWs), and equipment to ensure safe separation between contaminated items and clean/sterile items.</a:t>
            </a:r>
          </a:p>
          <a:p>
            <a:pPr lvl="0"/>
            <a:r>
              <a:rPr lang="en-US" dirty="0"/>
              <a:t>Developing policies and procedures that establish clear authority, responsibility, and accountability to ensure that these safe practices are adopted and practiced.</a:t>
            </a:r>
          </a:p>
          <a:p>
            <a:pPr lvl="0"/>
            <a:r>
              <a:rPr lang="en-US" dirty="0"/>
              <a:t>Regulating the flow of visitors, patients, and staff using signs (e.g., authorized personnel only), reminders (e.g., red line on the floor), and physical barriers (e.g., closed doors). The amount of traffic and the number of individuals present in a designated area and their activities contribute to the number of microorganisms present in that area.</a:t>
            </a:r>
          </a:p>
          <a:p>
            <a:endParaRPr lang="en-US" dirty="0"/>
          </a:p>
        </p:txBody>
      </p:sp>
    </p:spTree>
    <p:extLst>
      <p:ext uri="{BB962C8B-B14F-4D97-AF65-F5344CB8AC3E}">
        <p14:creationId xmlns:p14="http://schemas.microsoft.com/office/powerpoint/2010/main" val="35654857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pPr>
              <a:defRPr/>
            </a:pPr>
            <a:fld id="{07A6120F-E21F-4B79-945A-38047FCAA65B}" type="slidenum">
              <a:rPr lang="en-US"/>
              <a:pPr>
                <a:defRPr/>
              </a:pPr>
              <a:t>9</a:t>
            </a:fld>
            <a:endParaRPr lang="en-US"/>
          </a:p>
        </p:txBody>
      </p:sp>
      <p:sp>
        <p:nvSpPr>
          <p:cNvPr id="8195" name="Rectangle 2"/>
          <p:cNvSpPr>
            <a:spLocks noGrp="1" noChangeArrowheads="1"/>
          </p:cNvSpPr>
          <p:nvPr>
            <p:ph type="title"/>
          </p:nvPr>
        </p:nvSpPr>
        <p:spPr>
          <a:xfrm>
            <a:off x="914400" y="381000"/>
            <a:ext cx="7772400" cy="914400"/>
          </a:xfrm>
        </p:spPr>
        <p:txBody>
          <a:bodyPr/>
          <a:lstStyle/>
          <a:p>
            <a:pPr eaLnBrk="1" hangingPunct="1"/>
            <a:r>
              <a:rPr lang="en-US" b="1" smtClean="0"/>
              <a:t>Waiting Areas</a:t>
            </a:r>
          </a:p>
        </p:txBody>
      </p:sp>
      <p:sp>
        <p:nvSpPr>
          <p:cNvPr id="284675" name="Rectangle 3"/>
          <p:cNvSpPr>
            <a:spLocks noGrp="1" noChangeArrowheads="1"/>
          </p:cNvSpPr>
          <p:nvPr>
            <p:ph type="body" idx="1"/>
          </p:nvPr>
        </p:nvSpPr>
        <p:spPr>
          <a:xfrm>
            <a:off x="762000" y="1828800"/>
            <a:ext cx="8188325" cy="3332163"/>
          </a:xfrm>
        </p:spPr>
        <p:txBody>
          <a:bodyPr/>
          <a:lstStyle/>
          <a:p>
            <a:pPr eaLnBrk="1" hangingPunct="1">
              <a:buClr>
                <a:srgbClr val="E80C1C"/>
              </a:buClr>
            </a:pPr>
            <a:r>
              <a:rPr lang="en-US" sz="3200" smtClean="0"/>
              <a:t>General public (visitors, patients/clients, providers, administrative staff)</a:t>
            </a:r>
          </a:p>
          <a:p>
            <a:pPr eaLnBrk="1" hangingPunct="1">
              <a:buClr>
                <a:srgbClr val="E80C1C"/>
              </a:buClr>
            </a:pPr>
            <a:r>
              <a:rPr lang="en-US" sz="3200" smtClean="0"/>
              <a:t>Microbial contamination tends to be higher if it is crowded.</a:t>
            </a:r>
          </a:p>
          <a:p>
            <a:pPr eaLnBrk="1" hangingPunct="1">
              <a:buClr>
                <a:srgbClr val="E80C1C"/>
              </a:buClr>
            </a:pPr>
            <a:r>
              <a:rPr lang="en-US" sz="3200" smtClean="0"/>
              <a:t>No invasive procedures are performed.</a:t>
            </a:r>
          </a:p>
          <a:p>
            <a:pPr eaLnBrk="1" hangingPunct="1">
              <a:buClr>
                <a:srgbClr val="E80C1C"/>
              </a:buClr>
            </a:pPr>
            <a:r>
              <a:rPr lang="en-US" sz="3200" smtClean="0"/>
              <a:t>Risks??? (droplet, airborne transmission)</a:t>
            </a:r>
          </a:p>
        </p:txBody>
      </p:sp>
    </p:spTree>
    <p:extLst>
      <p:ext uri="{BB962C8B-B14F-4D97-AF65-F5344CB8AC3E}">
        <p14:creationId xmlns:p14="http://schemas.microsoft.com/office/powerpoint/2010/main" val="11420582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8467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8467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8467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8467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4675"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Slide Number Placeholder 3"/>
          <p:cNvSpPr>
            <a:spLocks noGrp="1"/>
          </p:cNvSpPr>
          <p:nvPr>
            <p:ph type="sldNum" sz="quarter" idx="10"/>
          </p:nvPr>
        </p:nvSpPr>
        <p:spPr/>
        <p:txBody>
          <a:bodyPr/>
          <a:lstStyle/>
          <a:p>
            <a:pPr>
              <a:defRPr/>
            </a:pPr>
            <a:fld id="{B2353F14-1061-461F-842B-633A310AB30A}" type="slidenum">
              <a:rPr lang="en-US"/>
              <a:pPr>
                <a:defRPr/>
              </a:pPr>
              <a:t>10</a:t>
            </a:fld>
            <a:endParaRPr lang="en-US"/>
          </a:p>
        </p:txBody>
      </p:sp>
      <p:sp>
        <p:nvSpPr>
          <p:cNvPr id="9219" name="Rectangle 2"/>
          <p:cNvSpPr>
            <a:spLocks noGrp="1" noChangeArrowheads="1"/>
          </p:cNvSpPr>
          <p:nvPr>
            <p:ph type="title"/>
          </p:nvPr>
        </p:nvSpPr>
        <p:spPr>
          <a:xfrm>
            <a:off x="3657600" y="381000"/>
            <a:ext cx="2895600" cy="990600"/>
          </a:xfrm>
        </p:spPr>
        <p:txBody>
          <a:bodyPr>
            <a:normAutofit fontScale="90000"/>
          </a:bodyPr>
          <a:lstStyle/>
          <a:p>
            <a:pPr eaLnBrk="1" hangingPunct="1"/>
            <a:r>
              <a:rPr lang="en-US" b="1" dirty="0" smtClean="0"/>
              <a:t>Procedure Areas</a:t>
            </a:r>
          </a:p>
        </p:txBody>
      </p:sp>
      <p:sp>
        <p:nvSpPr>
          <p:cNvPr id="286723" name="Rectangle 3"/>
          <p:cNvSpPr>
            <a:spLocks noGrp="1" noChangeArrowheads="1"/>
          </p:cNvSpPr>
          <p:nvPr>
            <p:ph type="body" idx="1"/>
          </p:nvPr>
        </p:nvSpPr>
        <p:spPr>
          <a:xfrm>
            <a:off x="152400" y="2057400"/>
            <a:ext cx="8839200" cy="4572000"/>
          </a:xfrm>
        </p:spPr>
        <p:txBody>
          <a:bodyPr/>
          <a:lstStyle/>
          <a:p>
            <a:pPr eaLnBrk="1" hangingPunct="1">
              <a:buClr>
                <a:srgbClr val="E80C1C"/>
              </a:buClr>
            </a:pPr>
            <a:r>
              <a:rPr lang="en-US" sz="2600" dirty="0" smtClean="0"/>
              <a:t>Limit traffic to authorized staff and patients.</a:t>
            </a:r>
          </a:p>
          <a:p>
            <a:pPr eaLnBrk="1" hangingPunct="1">
              <a:buClr>
                <a:srgbClr val="E80C1C"/>
              </a:buClr>
            </a:pPr>
            <a:r>
              <a:rPr lang="en-US" sz="2600" dirty="0" smtClean="0"/>
              <a:t>Patients can wear their own clean clothing.</a:t>
            </a:r>
          </a:p>
          <a:p>
            <a:pPr eaLnBrk="1" hangingPunct="1">
              <a:buClr>
                <a:srgbClr val="E80C1C"/>
              </a:buClr>
            </a:pPr>
            <a:r>
              <a:rPr lang="en-US" sz="2600" dirty="0" smtClean="0"/>
              <a:t>Staff should wear attire and PPE appropriate for the procedures being performed.</a:t>
            </a:r>
          </a:p>
          <a:p>
            <a:pPr eaLnBrk="1" hangingPunct="1">
              <a:buClr>
                <a:srgbClr val="E80C1C"/>
              </a:buClr>
            </a:pPr>
            <a:r>
              <a:rPr lang="en-US" sz="2600" dirty="0" smtClean="0"/>
              <a:t>Decontaminate used materials at point of use.</a:t>
            </a:r>
          </a:p>
          <a:p>
            <a:pPr eaLnBrk="1" hangingPunct="1">
              <a:buClr>
                <a:srgbClr val="E80C1C"/>
              </a:buClr>
            </a:pPr>
            <a:r>
              <a:rPr lang="en-US" sz="2600" dirty="0" smtClean="0"/>
              <a:t>Have a sharps disposal at point of use.</a:t>
            </a:r>
          </a:p>
          <a:p>
            <a:pPr eaLnBrk="1" hangingPunct="1">
              <a:buClr>
                <a:srgbClr val="E80C1C"/>
              </a:buClr>
            </a:pPr>
            <a:r>
              <a:rPr lang="en-US" sz="2600" dirty="0" smtClean="0"/>
              <a:t>Segregate waste at point of use.</a:t>
            </a:r>
          </a:p>
          <a:p>
            <a:pPr eaLnBrk="1" hangingPunct="1">
              <a:buClr>
                <a:srgbClr val="E80C1C"/>
              </a:buClr>
            </a:pPr>
            <a:r>
              <a:rPr lang="en-US" sz="2600" dirty="0" smtClean="0"/>
              <a:t>Have linen collection containers at point of use.</a:t>
            </a:r>
          </a:p>
        </p:txBody>
      </p:sp>
      <p:pic>
        <p:nvPicPr>
          <p:cNvPr id="9221" name="Picture 4" descr="TrafficFlow_photo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52400"/>
            <a:ext cx="2438400"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2" name="Picture 5" descr="TrafficFlow_photo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0" y="152400"/>
            <a:ext cx="2133600" cy="149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10135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8672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8672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8672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8672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286723">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286723">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28672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23" grpId="0" build="p"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t>TRAFFIC FLOW AND ACTIVITY PATTERNS</a:t>
            </a:r>
            <a:endParaRPr lang="en-US" sz="2800" dirty="0"/>
          </a:p>
        </p:txBody>
      </p:sp>
      <p:sp>
        <p:nvSpPr>
          <p:cNvPr id="3" name="Content Placeholder 2"/>
          <p:cNvSpPr>
            <a:spLocks noGrp="1"/>
          </p:cNvSpPr>
          <p:nvPr>
            <p:ph idx="1"/>
          </p:nvPr>
        </p:nvSpPr>
        <p:spPr/>
        <p:txBody>
          <a:bodyPr>
            <a:normAutofit fontScale="77500" lnSpcReduction="20000"/>
          </a:bodyPr>
          <a:lstStyle/>
          <a:p>
            <a:r>
              <a:rPr lang="en-US" b="1" cap="all" dirty="0"/>
              <a:t>ICU and Isolation room</a:t>
            </a:r>
            <a:endParaRPr lang="en-US" dirty="0"/>
          </a:p>
          <a:p>
            <a:pPr lvl="0"/>
            <a:r>
              <a:rPr lang="en-US" dirty="0"/>
              <a:t>Limit traffic to authorized staff and patients at all times.</a:t>
            </a:r>
          </a:p>
          <a:p>
            <a:pPr lvl="0"/>
            <a:r>
              <a:rPr lang="en-US" dirty="0"/>
              <a:t>Permit only the patient and staff (performing and assisting) Only two family members should be limited at a time in one room for limited period of time in a day (wearing clean attire and head-cover).</a:t>
            </a:r>
          </a:p>
          <a:p>
            <a:pPr lvl="0"/>
            <a:r>
              <a:rPr lang="en-US" dirty="0"/>
              <a:t>Patients can wear their own clean clothing.</a:t>
            </a:r>
          </a:p>
          <a:p>
            <a:pPr lvl="0"/>
            <a:r>
              <a:rPr lang="en-US" dirty="0"/>
              <a:t>staff should wear attire and personal protective equipment (PPE) according to procedures performed. Family member who allowed to inter should wear head cover, face mask, gown and shoe cover above their clean close and shoe.</a:t>
            </a:r>
          </a:p>
          <a:p>
            <a:pPr lvl="0"/>
            <a:r>
              <a:rPr lang="en-US" dirty="0"/>
              <a:t>Family member who reported to have acute URTI should not be allowed to inter </a:t>
            </a:r>
          </a:p>
          <a:p>
            <a:endParaRPr lang="en-US" dirty="0"/>
          </a:p>
        </p:txBody>
      </p:sp>
    </p:spTree>
    <p:extLst>
      <p:ext uri="{BB962C8B-B14F-4D97-AF65-F5344CB8AC3E}">
        <p14:creationId xmlns:p14="http://schemas.microsoft.com/office/powerpoint/2010/main" val="22917500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pPr>
              <a:defRPr/>
            </a:pPr>
            <a:fld id="{224C8A8B-3591-44D7-9FB4-B85520C7176C}" type="slidenum">
              <a:rPr lang="en-US"/>
              <a:pPr>
                <a:defRPr/>
              </a:pPr>
              <a:t>12</a:t>
            </a:fld>
            <a:endParaRPr lang="en-US"/>
          </a:p>
        </p:txBody>
      </p:sp>
      <p:sp>
        <p:nvSpPr>
          <p:cNvPr id="10243" name="Rectangle 2"/>
          <p:cNvSpPr>
            <a:spLocks noGrp="1" noChangeArrowheads="1"/>
          </p:cNvSpPr>
          <p:nvPr>
            <p:ph type="title"/>
          </p:nvPr>
        </p:nvSpPr>
        <p:spPr>
          <a:xfrm>
            <a:off x="2133600" y="457200"/>
            <a:ext cx="4572000" cy="838200"/>
          </a:xfrm>
        </p:spPr>
        <p:txBody>
          <a:bodyPr/>
          <a:lstStyle/>
          <a:p>
            <a:pPr eaLnBrk="1" hangingPunct="1"/>
            <a:r>
              <a:rPr lang="en-US" b="1" smtClean="0"/>
              <a:t>Surgical Unit</a:t>
            </a:r>
          </a:p>
        </p:txBody>
      </p:sp>
      <p:sp>
        <p:nvSpPr>
          <p:cNvPr id="288771" name="Rectangle 3"/>
          <p:cNvSpPr>
            <a:spLocks noGrp="1" noChangeArrowheads="1"/>
          </p:cNvSpPr>
          <p:nvPr>
            <p:ph type="body" idx="1"/>
          </p:nvPr>
        </p:nvSpPr>
        <p:spPr>
          <a:xfrm>
            <a:off x="936625" y="1371601"/>
            <a:ext cx="7521575" cy="3886200"/>
          </a:xfrm>
        </p:spPr>
        <p:txBody>
          <a:bodyPr>
            <a:normAutofit lnSpcReduction="10000"/>
          </a:bodyPr>
          <a:lstStyle/>
          <a:p>
            <a:pPr>
              <a:buClr>
                <a:srgbClr val="E80C1C"/>
              </a:buClr>
            </a:pPr>
            <a:r>
              <a:rPr lang="en-US" b="1" dirty="0"/>
              <a:t>Surgical </a:t>
            </a:r>
            <a:r>
              <a:rPr lang="en-US" b="1" dirty="0" smtClean="0"/>
              <a:t>Unit: </a:t>
            </a:r>
            <a:r>
              <a:rPr lang="en-US" dirty="0" smtClean="0"/>
              <a:t>is </a:t>
            </a:r>
            <a:r>
              <a:rPr lang="en-US" dirty="0"/>
              <a:t>often divided into four designated areas, which are defined by the activities performed </a:t>
            </a:r>
            <a:r>
              <a:rPr lang="en-US" dirty="0" smtClean="0"/>
              <a:t>includes; </a:t>
            </a:r>
          </a:p>
          <a:p>
            <a:pPr marL="0" indent="0">
              <a:buClr>
                <a:srgbClr val="E80C1C"/>
              </a:buClr>
              <a:buNone/>
            </a:pPr>
            <a:endParaRPr lang="en-US" sz="1200" dirty="0" smtClean="0"/>
          </a:p>
          <a:p>
            <a:pPr eaLnBrk="1" hangingPunct="1">
              <a:buClr>
                <a:srgbClr val="E80C1C"/>
              </a:buClr>
            </a:pPr>
            <a:r>
              <a:rPr lang="en-US" sz="3200" dirty="0" smtClean="0"/>
              <a:t>Unrestricted area</a:t>
            </a:r>
          </a:p>
          <a:p>
            <a:pPr eaLnBrk="1" hangingPunct="1">
              <a:buClr>
                <a:srgbClr val="E80C1C"/>
              </a:buClr>
            </a:pPr>
            <a:r>
              <a:rPr lang="en-US" sz="3200" dirty="0" smtClean="0"/>
              <a:t>Transition zone</a:t>
            </a:r>
          </a:p>
          <a:p>
            <a:pPr eaLnBrk="1" hangingPunct="1">
              <a:buClr>
                <a:srgbClr val="E80C1C"/>
              </a:buClr>
            </a:pPr>
            <a:r>
              <a:rPr lang="en-US" sz="3200" dirty="0" smtClean="0"/>
              <a:t>Semi restricted area</a:t>
            </a:r>
          </a:p>
          <a:p>
            <a:pPr eaLnBrk="1" hangingPunct="1">
              <a:buClr>
                <a:srgbClr val="E80C1C"/>
              </a:buClr>
            </a:pPr>
            <a:r>
              <a:rPr lang="en-US" sz="3200" dirty="0" smtClean="0"/>
              <a:t>Restricted area</a:t>
            </a:r>
          </a:p>
          <a:p>
            <a:pPr eaLnBrk="1" hangingPunct="1">
              <a:buClr>
                <a:srgbClr val="E80C1C"/>
              </a:buClr>
            </a:pPr>
            <a:endParaRPr lang="en-US" sz="3200" dirty="0" smtClean="0"/>
          </a:p>
        </p:txBody>
      </p:sp>
    </p:spTree>
    <p:extLst>
      <p:ext uri="{BB962C8B-B14F-4D97-AF65-F5344CB8AC3E}">
        <p14:creationId xmlns:p14="http://schemas.microsoft.com/office/powerpoint/2010/main" val="1133977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887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8877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88771">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88771">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28877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8771"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pPr>
              <a:defRPr/>
            </a:pPr>
            <a:fld id="{F604A8CE-1B51-4362-95DA-79702214CA53}" type="slidenum">
              <a:rPr lang="en-US"/>
              <a:pPr>
                <a:defRPr/>
              </a:pPr>
              <a:t>13</a:t>
            </a:fld>
            <a:endParaRPr lang="en-US"/>
          </a:p>
        </p:txBody>
      </p:sp>
      <p:sp>
        <p:nvSpPr>
          <p:cNvPr id="11267" name="Rectangle 2"/>
          <p:cNvSpPr>
            <a:spLocks noGrp="1" noChangeArrowheads="1"/>
          </p:cNvSpPr>
          <p:nvPr>
            <p:ph type="title"/>
          </p:nvPr>
        </p:nvSpPr>
        <p:spPr>
          <a:xfrm>
            <a:off x="2133600" y="304800"/>
            <a:ext cx="4572000" cy="1143000"/>
          </a:xfrm>
        </p:spPr>
        <p:txBody>
          <a:bodyPr/>
          <a:lstStyle/>
          <a:p>
            <a:pPr eaLnBrk="1" hangingPunct="1"/>
            <a:r>
              <a:rPr lang="en-US" b="1" smtClean="0"/>
              <a:t>Surgical Unit</a:t>
            </a:r>
          </a:p>
        </p:txBody>
      </p:sp>
      <p:sp>
        <p:nvSpPr>
          <p:cNvPr id="290819" name="Rectangle 3"/>
          <p:cNvSpPr>
            <a:spLocks noGrp="1" noChangeArrowheads="1"/>
          </p:cNvSpPr>
          <p:nvPr>
            <p:ph type="body" idx="1"/>
          </p:nvPr>
        </p:nvSpPr>
        <p:spPr>
          <a:xfrm>
            <a:off x="228600" y="1447800"/>
            <a:ext cx="8686800" cy="4267200"/>
          </a:xfrm>
        </p:spPr>
        <p:txBody>
          <a:bodyPr>
            <a:normAutofit lnSpcReduction="10000"/>
          </a:bodyPr>
          <a:lstStyle/>
          <a:p>
            <a:pPr eaLnBrk="1" hangingPunct="1">
              <a:buFont typeface="Wingdings" pitchFamily="2" charset="2"/>
              <a:buNone/>
            </a:pPr>
            <a:r>
              <a:rPr lang="en-US" b="1" i="1" dirty="0" smtClean="0"/>
              <a:t>Unrestricted area:</a:t>
            </a:r>
          </a:p>
          <a:p>
            <a:pPr eaLnBrk="1" hangingPunct="1">
              <a:buClr>
                <a:srgbClr val="E80C1C"/>
              </a:buClr>
            </a:pPr>
            <a:r>
              <a:rPr lang="en-US" sz="2600" dirty="0" smtClean="0"/>
              <a:t>Entrance from the main corridor</a:t>
            </a:r>
          </a:p>
          <a:p>
            <a:pPr eaLnBrk="1" hangingPunct="1">
              <a:buClr>
                <a:srgbClr val="E80C1C"/>
              </a:buClr>
            </a:pPr>
            <a:r>
              <a:rPr lang="en-US" sz="2600" dirty="0" smtClean="0"/>
              <a:t>Staff, patients, and materials enter the surgical suite</a:t>
            </a:r>
          </a:p>
          <a:p>
            <a:pPr eaLnBrk="1" hangingPunct="1">
              <a:buClr>
                <a:srgbClr val="E80C1C"/>
              </a:buClr>
            </a:pPr>
            <a:endParaRPr lang="en-US" sz="2600" b="1" i="1" dirty="0" smtClean="0"/>
          </a:p>
          <a:p>
            <a:pPr eaLnBrk="1" hangingPunct="1">
              <a:buFont typeface="Wingdings" pitchFamily="2" charset="2"/>
              <a:buNone/>
            </a:pPr>
            <a:r>
              <a:rPr lang="en-US" b="1" i="1" dirty="0" smtClean="0"/>
              <a:t>Transition zone:</a:t>
            </a:r>
          </a:p>
          <a:p>
            <a:pPr eaLnBrk="1" hangingPunct="1">
              <a:buClr>
                <a:srgbClr val="E80C1C"/>
              </a:buClr>
            </a:pPr>
            <a:r>
              <a:rPr lang="en-US" sz="2600" dirty="0" smtClean="0"/>
              <a:t>Dressing rooms and lockers</a:t>
            </a:r>
          </a:p>
          <a:p>
            <a:pPr eaLnBrk="1" hangingPunct="1">
              <a:buClr>
                <a:srgbClr val="E80C1C"/>
              </a:buClr>
            </a:pPr>
            <a:r>
              <a:rPr lang="en-US" sz="2600" dirty="0" smtClean="0"/>
              <a:t>Staff put on surgical attire to move to semi-restricted and restricted areas </a:t>
            </a:r>
          </a:p>
          <a:p>
            <a:pPr eaLnBrk="1" hangingPunct="1">
              <a:buClr>
                <a:srgbClr val="E80C1C"/>
              </a:buClr>
            </a:pPr>
            <a:r>
              <a:rPr lang="en-US" sz="2600" dirty="0" smtClean="0"/>
              <a:t>Only authorized personnel</a:t>
            </a:r>
            <a:endParaRPr lang="en-US" sz="2600" b="1" i="1" dirty="0" smtClean="0"/>
          </a:p>
        </p:txBody>
      </p:sp>
    </p:spTree>
    <p:extLst>
      <p:ext uri="{BB962C8B-B14F-4D97-AF65-F5344CB8AC3E}">
        <p14:creationId xmlns:p14="http://schemas.microsoft.com/office/powerpoint/2010/main" val="10944581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9081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9081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90819">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90819">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290819">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290819">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29081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0819" grpId="0" build="p"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pPr>
              <a:defRPr/>
            </a:pPr>
            <a:fld id="{F3546787-2127-41D1-96FC-C51E051E26BD}" type="slidenum">
              <a:rPr lang="en-US"/>
              <a:pPr>
                <a:defRPr/>
              </a:pPr>
              <a:t>14</a:t>
            </a:fld>
            <a:endParaRPr lang="en-US"/>
          </a:p>
        </p:txBody>
      </p:sp>
      <p:sp>
        <p:nvSpPr>
          <p:cNvPr id="12291" name="Rectangle 2"/>
          <p:cNvSpPr>
            <a:spLocks noGrp="1" noChangeArrowheads="1"/>
          </p:cNvSpPr>
          <p:nvPr>
            <p:ph type="title"/>
          </p:nvPr>
        </p:nvSpPr>
        <p:spPr>
          <a:xfrm>
            <a:off x="1905000" y="457200"/>
            <a:ext cx="5562600" cy="914400"/>
          </a:xfrm>
        </p:spPr>
        <p:txBody>
          <a:bodyPr/>
          <a:lstStyle/>
          <a:p>
            <a:pPr eaLnBrk="1" hangingPunct="1"/>
            <a:r>
              <a:rPr lang="en-US" b="1" smtClean="0"/>
              <a:t>Semi-restricted Area</a:t>
            </a:r>
          </a:p>
        </p:txBody>
      </p:sp>
      <p:sp>
        <p:nvSpPr>
          <p:cNvPr id="292867" name="Rectangle 3"/>
          <p:cNvSpPr>
            <a:spLocks noGrp="1" noChangeArrowheads="1"/>
          </p:cNvSpPr>
          <p:nvPr>
            <p:ph type="body" idx="1"/>
          </p:nvPr>
        </p:nvSpPr>
        <p:spPr>
          <a:xfrm>
            <a:off x="228600" y="1447800"/>
            <a:ext cx="8686800" cy="4800600"/>
          </a:xfrm>
        </p:spPr>
        <p:txBody>
          <a:bodyPr>
            <a:normAutofit lnSpcReduction="10000"/>
          </a:bodyPr>
          <a:lstStyle/>
          <a:p>
            <a:pPr eaLnBrk="1" hangingPunct="1">
              <a:buClr>
                <a:srgbClr val="E80C1C"/>
              </a:buClr>
            </a:pPr>
            <a:r>
              <a:rPr lang="en-US" dirty="0" smtClean="0"/>
              <a:t>Limit traffic to authorized staff and patients at all times.</a:t>
            </a:r>
          </a:p>
          <a:p>
            <a:pPr eaLnBrk="1" hangingPunct="1">
              <a:buClr>
                <a:srgbClr val="E80C1C"/>
              </a:buClr>
            </a:pPr>
            <a:r>
              <a:rPr lang="en-US" dirty="0" smtClean="0"/>
              <a:t>Have a work area for processing of clean instruments.</a:t>
            </a:r>
          </a:p>
          <a:p>
            <a:pPr eaLnBrk="1" hangingPunct="1">
              <a:buClr>
                <a:srgbClr val="E80C1C"/>
              </a:buClr>
            </a:pPr>
            <a:r>
              <a:rPr lang="en-US" dirty="0" smtClean="0"/>
              <a:t>Have a storage area for clean and sterile items.</a:t>
            </a:r>
          </a:p>
          <a:p>
            <a:pPr eaLnBrk="1" hangingPunct="1">
              <a:buClr>
                <a:srgbClr val="E80C1C"/>
              </a:buClr>
            </a:pPr>
            <a:r>
              <a:rPr lang="en-US" dirty="0" smtClean="0"/>
              <a:t>Have doors limiting traffic to the restricted area.</a:t>
            </a:r>
          </a:p>
          <a:p>
            <a:pPr eaLnBrk="1" hangingPunct="1">
              <a:buClr>
                <a:srgbClr val="E80C1C"/>
              </a:buClr>
            </a:pPr>
            <a:r>
              <a:rPr lang="en-US" dirty="0" smtClean="0"/>
              <a:t>Staff should wear surgical attire and caps.</a:t>
            </a:r>
          </a:p>
          <a:p>
            <a:pPr eaLnBrk="1" hangingPunct="1">
              <a:buClr>
                <a:srgbClr val="E80C1C"/>
              </a:buClr>
            </a:pPr>
            <a:r>
              <a:rPr lang="en-US" dirty="0" smtClean="0"/>
              <a:t>Staff should wear closed shoes that will protect their feet from fluids and dropped items.</a:t>
            </a:r>
          </a:p>
        </p:txBody>
      </p:sp>
    </p:spTree>
    <p:extLst>
      <p:ext uri="{BB962C8B-B14F-4D97-AF65-F5344CB8AC3E}">
        <p14:creationId xmlns:p14="http://schemas.microsoft.com/office/powerpoint/2010/main" val="32100438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9286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9286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9286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92867">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292867">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29286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2867" grpId="0" build="p"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pPr>
              <a:defRPr/>
            </a:pPr>
            <a:fld id="{F460FE3C-0191-4440-B364-4CB606AFCDC0}" type="slidenum">
              <a:rPr lang="en-US"/>
              <a:pPr>
                <a:defRPr/>
              </a:pPr>
              <a:t>15</a:t>
            </a:fld>
            <a:endParaRPr lang="en-US"/>
          </a:p>
        </p:txBody>
      </p:sp>
      <p:sp>
        <p:nvSpPr>
          <p:cNvPr id="13315" name="Rectangle 2"/>
          <p:cNvSpPr>
            <a:spLocks noGrp="1" noChangeArrowheads="1"/>
          </p:cNvSpPr>
          <p:nvPr>
            <p:ph type="title"/>
          </p:nvPr>
        </p:nvSpPr>
        <p:spPr>
          <a:xfrm>
            <a:off x="2209800" y="304800"/>
            <a:ext cx="4572000" cy="1143000"/>
          </a:xfrm>
        </p:spPr>
        <p:txBody>
          <a:bodyPr/>
          <a:lstStyle/>
          <a:p>
            <a:pPr eaLnBrk="1" hangingPunct="1"/>
            <a:r>
              <a:rPr lang="en-US" b="1" smtClean="0"/>
              <a:t>Restricted Area</a:t>
            </a:r>
          </a:p>
        </p:txBody>
      </p:sp>
      <p:sp>
        <p:nvSpPr>
          <p:cNvPr id="294915" name="Rectangle 3"/>
          <p:cNvSpPr>
            <a:spLocks noGrp="1" noChangeArrowheads="1"/>
          </p:cNvSpPr>
          <p:nvPr>
            <p:ph type="body" idx="1"/>
          </p:nvPr>
        </p:nvSpPr>
        <p:spPr>
          <a:xfrm>
            <a:off x="152400" y="1524000"/>
            <a:ext cx="8534400" cy="4724400"/>
          </a:xfrm>
        </p:spPr>
        <p:txBody>
          <a:bodyPr/>
          <a:lstStyle/>
          <a:p>
            <a:pPr eaLnBrk="1" hangingPunct="1">
              <a:lnSpc>
                <a:spcPct val="90000"/>
              </a:lnSpc>
              <a:buClr>
                <a:srgbClr val="E80C1C"/>
              </a:buClr>
            </a:pPr>
            <a:r>
              <a:rPr lang="en-US" sz="3000" dirty="0" smtClean="0"/>
              <a:t>Limit traffic to authorized staff and patients at all times.</a:t>
            </a:r>
          </a:p>
          <a:p>
            <a:pPr eaLnBrk="1" hangingPunct="1">
              <a:lnSpc>
                <a:spcPct val="90000"/>
              </a:lnSpc>
              <a:buClr>
                <a:srgbClr val="E80C1C"/>
              </a:buClr>
            </a:pPr>
            <a:r>
              <a:rPr lang="en-US" sz="3000" dirty="0" smtClean="0"/>
              <a:t>Keep doors closed at all times except during movement of staff, patients, and equipment.</a:t>
            </a:r>
          </a:p>
          <a:p>
            <a:pPr eaLnBrk="1" hangingPunct="1">
              <a:lnSpc>
                <a:spcPct val="90000"/>
              </a:lnSpc>
              <a:buClr>
                <a:srgbClr val="E80C1C"/>
              </a:buClr>
            </a:pPr>
            <a:r>
              <a:rPr lang="en-US" sz="3000" dirty="0" smtClean="0"/>
              <a:t>Scrubbed staff should wear full surgical attire and cover head and hair with a cap and mask.</a:t>
            </a:r>
          </a:p>
          <a:p>
            <a:pPr eaLnBrk="1" hangingPunct="1">
              <a:lnSpc>
                <a:spcPct val="90000"/>
              </a:lnSpc>
              <a:buClr>
                <a:srgbClr val="E80C1C"/>
              </a:buClr>
            </a:pPr>
            <a:r>
              <a:rPr lang="en-US" sz="3000" dirty="0" smtClean="0"/>
              <a:t>Staff should wear clean, closed shoes that will protect their feet from fluids and dropped items.</a:t>
            </a:r>
          </a:p>
        </p:txBody>
      </p:sp>
    </p:spTree>
    <p:extLst>
      <p:ext uri="{BB962C8B-B14F-4D97-AF65-F5344CB8AC3E}">
        <p14:creationId xmlns:p14="http://schemas.microsoft.com/office/powerpoint/2010/main" val="38036110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9491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9491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9491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9491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4915" grpId="0" build="p"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pPr>
              <a:defRPr/>
            </a:pPr>
            <a:endParaRPr lang="en-US" dirty="0"/>
          </a:p>
        </p:txBody>
      </p:sp>
      <p:sp>
        <p:nvSpPr>
          <p:cNvPr id="14339" name="Rectangle 2"/>
          <p:cNvSpPr>
            <a:spLocks noGrp="1" noChangeArrowheads="1"/>
          </p:cNvSpPr>
          <p:nvPr>
            <p:ph type="title"/>
          </p:nvPr>
        </p:nvSpPr>
        <p:spPr>
          <a:xfrm>
            <a:off x="838200" y="457200"/>
            <a:ext cx="7772400" cy="914400"/>
          </a:xfrm>
        </p:spPr>
        <p:txBody>
          <a:bodyPr/>
          <a:lstStyle/>
          <a:p>
            <a:pPr eaLnBrk="1" hangingPunct="1"/>
            <a:r>
              <a:rPr lang="en-US" b="1" smtClean="0"/>
              <a:t>Restricted Area</a:t>
            </a:r>
          </a:p>
        </p:txBody>
      </p:sp>
      <p:sp>
        <p:nvSpPr>
          <p:cNvPr id="14340" name="Rectangle 3"/>
          <p:cNvSpPr>
            <a:spLocks noGrp="1" noChangeArrowheads="1"/>
          </p:cNvSpPr>
          <p:nvPr>
            <p:ph type="body" idx="1"/>
          </p:nvPr>
        </p:nvSpPr>
        <p:spPr>
          <a:xfrm>
            <a:off x="304800" y="1676400"/>
            <a:ext cx="8458200" cy="4343400"/>
          </a:xfrm>
        </p:spPr>
        <p:txBody>
          <a:bodyPr/>
          <a:lstStyle/>
          <a:p>
            <a:pPr eaLnBrk="1" hangingPunct="1">
              <a:buClr>
                <a:srgbClr val="E80C1C"/>
              </a:buClr>
            </a:pPr>
            <a:r>
              <a:rPr lang="en-US" sz="3000" dirty="0" smtClean="0"/>
              <a:t>Masks are required only when sterile supplies are open and scrubbed staff are operating.</a:t>
            </a:r>
          </a:p>
          <a:p>
            <a:pPr eaLnBrk="1" hangingPunct="1">
              <a:buClr>
                <a:srgbClr val="E80C1C"/>
              </a:buClr>
            </a:pPr>
            <a:r>
              <a:rPr lang="en-US" sz="3000" dirty="0" smtClean="0"/>
              <a:t>Patients entering this area should wear clean gowns or be covered with clean linen, and have their hair covered.</a:t>
            </a:r>
          </a:p>
          <a:p>
            <a:pPr eaLnBrk="1" hangingPunct="1">
              <a:buClr>
                <a:srgbClr val="E80C1C"/>
              </a:buClr>
            </a:pPr>
            <a:r>
              <a:rPr lang="en-US" sz="3000" dirty="0" smtClean="0"/>
              <a:t>Patients do not need to wear mask unless they are under droplet or airborne precautions.</a:t>
            </a:r>
          </a:p>
          <a:p>
            <a:pPr eaLnBrk="1" hangingPunct="1">
              <a:buClr>
                <a:srgbClr val="E80C1C"/>
              </a:buClr>
            </a:pPr>
            <a:endParaRPr lang="en-US" sz="3000" dirty="0" smtClean="0"/>
          </a:p>
          <a:p>
            <a:pPr eaLnBrk="1" hangingPunct="1"/>
            <a:endParaRPr lang="en-US" dirty="0" smtClean="0"/>
          </a:p>
        </p:txBody>
      </p:sp>
    </p:spTree>
    <p:extLst>
      <p:ext uri="{BB962C8B-B14F-4D97-AF65-F5344CB8AC3E}">
        <p14:creationId xmlns:p14="http://schemas.microsoft.com/office/powerpoint/2010/main" val="6511913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Slide Number Placeholder 3"/>
          <p:cNvSpPr>
            <a:spLocks noGrp="1"/>
          </p:cNvSpPr>
          <p:nvPr>
            <p:ph type="sldNum" sz="quarter" idx="10"/>
          </p:nvPr>
        </p:nvSpPr>
        <p:spPr/>
        <p:txBody>
          <a:bodyPr/>
          <a:lstStyle/>
          <a:p>
            <a:pPr>
              <a:defRPr/>
            </a:pPr>
            <a:fld id="{591CADDE-BBA1-44CB-B1C7-4E707684AC31}" type="slidenum">
              <a:rPr lang="en-US"/>
              <a:pPr>
                <a:defRPr/>
              </a:pPr>
              <a:t>17</a:t>
            </a:fld>
            <a:endParaRPr lang="en-US"/>
          </a:p>
        </p:txBody>
      </p:sp>
      <p:sp>
        <p:nvSpPr>
          <p:cNvPr id="15363" name="Rectangle 2"/>
          <p:cNvSpPr>
            <a:spLocks noGrp="1" noChangeArrowheads="1"/>
          </p:cNvSpPr>
          <p:nvPr>
            <p:ph type="title"/>
          </p:nvPr>
        </p:nvSpPr>
        <p:spPr>
          <a:xfrm>
            <a:off x="2819400" y="533400"/>
            <a:ext cx="4572000" cy="1143000"/>
          </a:xfrm>
        </p:spPr>
        <p:txBody>
          <a:bodyPr/>
          <a:lstStyle/>
          <a:p>
            <a:pPr eaLnBrk="1" hangingPunct="1"/>
            <a:r>
              <a:rPr lang="en-US" b="1" smtClean="0"/>
              <a:t>Work Area</a:t>
            </a:r>
          </a:p>
        </p:txBody>
      </p:sp>
      <p:sp>
        <p:nvSpPr>
          <p:cNvPr id="297987" name="Rectangle 3"/>
          <p:cNvSpPr>
            <a:spLocks noGrp="1" noChangeArrowheads="1"/>
          </p:cNvSpPr>
          <p:nvPr>
            <p:ph type="body" idx="1"/>
          </p:nvPr>
        </p:nvSpPr>
        <p:spPr>
          <a:xfrm>
            <a:off x="685800" y="2286000"/>
            <a:ext cx="8153400" cy="3733800"/>
          </a:xfrm>
        </p:spPr>
        <p:txBody>
          <a:bodyPr>
            <a:normAutofit fontScale="92500" lnSpcReduction="10000"/>
          </a:bodyPr>
          <a:lstStyle/>
          <a:p>
            <a:pPr marL="0" indent="0" eaLnBrk="1" hangingPunct="1">
              <a:buNone/>
            </a:pPr>
            <a:r>
              <a:rPr lang="en-US" b="1" dirty="0" smtClean="0"/>
              <a:t>The Central Supply Department  consists of four areas:</a:t>
            </a:r>
          </a:p>
          <a:p>
            <a:pPr marL="0" indent="0" eaLnBrk="1" hangingPunct="1">
              <a:buNone/>
            </a:pPr>
            <a:endParaRPr lang="en-US" b="1" dirty="0" smtClean="0"/>
          </a:p>
          <a:p>
            <a:pPr eaLnBrk="1" hangingPunct="1">
              <a:buClr>
                <a:srgbClr val="E80C1C"/>
              </a:buClr>
            </a:pPr>
            <a:r>
              <a:rPr lang="en-US" dirty="0" smtClean="0"/>
              <a:t>The “dirty” receiving/clean-up area</a:t>
            </a:r>
          </a:p>
          <a:p>
            <a:pPr eaLnBrk="1" hangingPunct="1">
              <a:buClr>
                <a:srgbClr val="E80C1C"/>
              </a:buClr>
            </a:pPr>
            <a:r>
              <a:rPr lang="en-US" dirty="0" smtClean="0"/>
              <a:t>The “clean” work area</a:t>
            </a:r>
          </a:p>
          <a:p>
            <a:pPr eaLnBrk="1" hangingPunct="1">
              <a:buClr>
                <a:srgbClr val="E80C1C"/>
              </a:buClr>
            </a:pPr>
            <a:r>
              <a:rPr lang="en-US" dirty="0" smtClean="0"/>
              <a:t>The clean equipment storage area</a:t>
            </a:r>
          </a:p>
          <a:p>
            <a:pPr eaLnBrk="1" hangingPunct="1">
              <a:buClr>
                <a:srgbClr val="E80C1C"/>
              </a:buClr>
            </a:pPr>
            <a:r>
              <a:rPr lang="en-US" dirty="0" smtClean="0"/>
              <a:t>Sterile or HLD area</a:t>
            </a:r>
          </a:p>
        </p:txBody>
      </p:sp>
      <p:pic>
        <p:nvPicPr>
          <p:cNvPr id="15365" name="Picture 4" descr="TrafficFlow_photo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304800"/>
            <a:ext cx="1981200" cy="149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6" name="Picture 5" descr="TrafficFlow_photo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81800" y="304800"/>
            <a:ext cx="2057400" cy="150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808217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9798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9798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97987">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97987">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29798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987" grpId="0" build="p"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…..continued  </a:t>
            </a:r>
            <a:endParaRPr lang="en-US" dirty="0"/>
          </a:p>
        </p:txBody>
      </p:sp>
      <p:sp>
        <p:nvSpPr>
          <p:cNvPr id="3" name="Content Placeholder 2"/>
          <p:cNvSpPr>
            <a:spLocks noGrp="1"/>
          </p:cNvSpPr>
          <p:nvPr>
            <p:ph idx="1"/>
          </p:nvPr>
        </p:nvSpPr>
        <p:spPr/>
        <p:txBody>
          <a:bodyPr>
            <a:normAutofit fontScale="85000" lnSpcReduction="10000"/>
          </a:bodyPr>
          <a:lstStyle/>
          <a:p>
            <a:pPr lvl="0"/>
            <a:r>
              <a:rPr lang="en-US" dirty="0"/>
              <a:t>Ensuring appropriate ventilation of OTs, procedure areas, CSSDs, and instrument processing areas. </a:t>
            </a:r>
          </a:p>
          <a:p>
            <a:pPr lvl="0"/>
            <a:r>
              <a:rPr lang="en-US" dirty="0"/>
              <a:t>Using fans in facilities without mechanical ventilation to optimize existing ventilation</a:t>
            </a:r>
            <a:r>
              <a:rPr lang="en-US" dirty="0" smtClean="0"/>
              <a:t>.</a:t>
            </a:r>
          </a:p>
          <a:p>
            <a:pPr lvl="0"/>
            <a:r>
              <a:rPr lang="en-US" dirty="0" smtClean="0"/>
              <a:t> </a:t>
            </a:r>
            <a:r>
              <a:rPr lang="en-US" dirty="0"/>
              <a:t>The air should be drawn into the area and should be exhausted outside using one-way exhaust fans. </a:t>
            </a:r>
            <a:endParaRPr lang="en-US" dirty="0" smtClean="0"/>
          </a:p>
          <a:p>
            <a:pPr lvl="0"/>
            <a:r>
              <a:rPr lang="en-US" dirty="0" smtClean="0"/>
              <a:t>Where </a:t>
            </a:r>
            <a:r>
              <a:rPr lang="en-US" dirty="0"/>
              <a:t>mechanical ventilation or fans are not available, the only option is to use natural ventilation with open windows and doors fitted with mosquito nets.</a:t>
            </a:r>
          </a:p>
          <a:p>
            <a:r>
              <a:rPr lang="en-US" dirty="0"/>
              <a:t>Designing new facilities and renovations with these principles in mind</a:t>
            </a:r>
            <a:endParaRPr lang="en-US" dirty="0"/>
          </a:p>
        </p:txBody>
      </p:sp>
    </p:spTree>
    <p:extLst>
      <p:ext uri="{BB962C8B-B14F-4D97-AF65-F5344CB8AC3E}">
        <p14:creationId xmlns:p14="http://schemas.microsoft.com/office/powerpoint/2010/main" val="18175848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sz="3100" b="1" dirty="0" smtClean="0"/>
              <a:t>TRAFFIC </a:t>
            </a:r>
            <a:r>
              <a:rPr lang="en-US" sz="3100" b="1" dirty="0"/>
              <a:t>FLOW AND ACTIVITY PATTERNS</a:t>
            </a:r>
            <a:r>
              <a:rPr lang="en-US" sz="3100" dirty="0"/>
              <a:t/>
            </a:r>
            <a:br>
              <a:rPr lang="en-US" sz="3100" dirty="0"/>
            </a:br>
            <a:endParaRPr lang="en-US" sz="3100" dirty="0"/>
          </a:p>
        </p:txBody>
      </p:sp>
      <p:sp>
        <p:nvSpPr>
          <p:cNvPr id="3" name="Content Placeholder 2"/>
          <p:cNvSpPr>
            <a:spLocks noGrp="1"/>
          </p:cNvSpPr>
          <p:nvPr>
            <p:ph idx="1"/>
          </p:nvPr>
        </p:nvSpPr>
        <p:spPr/>
        <p:txBody>
          <a:bodyPr>
            <a:normAutofit fontScale="77500" lnSpcReduction="20000"/>
          </a:bodyPr>
          <a:lstStyle/>
          <a:p>
            <a:r>
              <a:rPr lang="en-US" b="1" cap="all" dirty="0"/>
              <a:t>ICU and Isolation room</a:t>
            </a:r>
            <a:endParaRPr lang="en-US" dirty="0"/>
          </a:p>
          <a:p>
            <a:pPr lvl="0"/>
            <a:r>
              <a:rPr lang="en-US" dirty="0"/>
              <a:t>Limit traffic to authorized staff and patients at all times.</a:t>
            </a:r>
          </a:p>
          <a:p>
            <a:pPr lvl="0"/>
            <a:r>
              <a:rPr lang="en-US" dirty="0"/>
              <a:t>Permit only the patient and staff (performing and assisting) Only two family members should be limited at a time in one room for limited period of time in a day (wearing clean attire and head-cover).</a:t>
            </a:r>
          </a:p>
          <a:p>
            <a:pPr lvl="0"/>
            <a:r>
              <a:rPr lang="en-US" dirty="0"/>
              <a:t>Patients can wear their own clean clothing.</a:t>
            </a:r>
          </a:p>
          <a:p>
            <a:pPr lvl="0"/>
            <a:r>
              <a:rPr lang="en-US" dirty="0"/>
              <a:t>staff should wear attire and personal protective equipment (PPE) according to procedures performed. Family member who allowed to inter should wear head cover, face mask, gown and shoe cover above their clean close and shoe.</a:t>
            </a:r>
          </a:p>
          <a:p>
            <a:pPr lvl="0"/>
            <a:r>
              <a:rPr lang="en-US" dirty="0"/>
              <a:t>Family member who reported to have acute URTI should not be allowed to inter </a:t>
            </a:r>
          </a:p>
          <a:p>
            <a:endParaRPr lang="en-US" dirty="0"/>
          </a:p>
        </p:txBody>
      </p:sp>
    </p:spTree>
    <p:extLst>
      <p:ext uri="{BB962C8B-B14F-4D97-AF65-F5344CB8AC3E}">
        <p14:creationId xmlns:p14="http://schemas.microsoft.com/office/powerpoint/2010/main" val="31349841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239</TotalTime>
  <Words>1191</Words>
  <Application>Microsoft Office PowerPoint</Application>
  <PresentationFormat>On-screen Show (4:3)</PresentationFormat>
  <Paragraphs>115</Paragraphs>
  <Slides>19</Slides>
  <Notes>8</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Chapter  12: Traffic flow and activity pattern in Healthcare facilities </vt:lpstr>
      <vt:lpstr> Learning objectives </vt:lpstr>
      <vt:lpstr> The significance of regulating traffic flow and defining activity patterns in health facilities </vt:lpstr>
      <vt:lpstr>…………….Continued  </vt:lpstr>
      <vt:lpstr>Continued …….</vt:lpstr>
      <vt:lpstr>Continued …….</vt:lpstr>
      <vt:lpstr>Continued</vt:lpstr>
      <vt:lpstr>Facility Design, SPACE AND EQUIPMENT REQUIREMENTS</vt:lpstr>
      <vt:lpstr>Waiting Areas</vt:lpstr>
      <vt:lpstr>Procedure Areas</vt:lpstr>
      <vt:lpstr>TRAFFIC FLOW AND ACTIVITY PATTERNS</vt:lpstr>
      <vt:lpstr>Surgical Unit</vt:lpstr>
      <vt:lpstr>Surgical Unit</vt:lpstr>
      <vt:lpstr>Semi-restricted Area</vt:lpstr>
      <vt:lpstr>Restricted Area</vt:lpstr>
      <vt:lpstr>Restricted Area</vt:lpstr>
      <vt:lpstr>Work Area</vt:lpstr>
      <vt:lpstr>…..continued  </vt:lpstr>
      <vt:lpstr> TRAFFIC FLOW AND ACTIVITY PATTERNS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13: Traffic flow and activity pattern in Healthcare facilities </dc:title>
  <dc:creator>SONY</dc:creator>
  <cp:lastModifiedBy>Nitsihit</cp:lastModifiedBy>
  <cp:revision>16</cp:revision>
  <dcterms:created xsi:type="dcterms:W3CDTF">2011-07-28T11:40:50Z</dcterms:created>
  <dcterms:modified xsi:type="dcterms:W3CDTF">2018-11-24T20:17:26Z</dcterms:modified>
</cp:coreProperties>
</file>