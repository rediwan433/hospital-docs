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0" r:id="rId1"/>
  </p:sldMasterIdLst>
  <p:notesMasterIdLst>
    <p:notesMasterId r:id="rId24"/>
  </p:notesMasterIdLst>
  <p:sldIdLst>
    <p:sldId id="272" r:id="rId2"/>
    <p:sldId id="308" r:id="rId3"/>
    <p:sldId id="329" r:id="rId4"/>
    <p:sldId id="327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>
        <p:scale>
          <a:sx n="81" d="100"/>
          <a:sy n="81" d="100"/>
        </p:scale>
        <p:origin x="-300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269BE-FE39-41DA-9D4E-AA67771FB734}" type="datetimeFigureOut">
              <a:rPr lang="en-US" smtClean="0"/>
              <a:t>9/22/2019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CE9FDA-DA69-4B03-8209-1DB69FFE3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38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66172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884" y="1879926"/>
            <a:ext cx="7760513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0204" y="3597481"/>
            <a:ext cx="5971593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61655" y="4972192"/>
            <a:ext cx="1296208" cy="361810"/>
          </a:xfrm>
        </p:spPr>
        <p:txBody>
          <a:bodyPr/>
          <a:lstStyle/>
          <a:p>
            <a:fld id="{16143EF0-6B4D-4228-891B-C61A51582B4B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4972194"/>
            <a:ext cx="4999075" cy="361809"/>
          </a:xfrm>
        </p:spPr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797" y="4972193"/>
            <a:ext cx="968201" cy="361809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72920" y="76751"/>
            <a:ext cx="4038801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75561" y="5960533"/>
            <a:ext cx="1133600" cy="279400"/>
          </a:xfrm>
        </p:spPr>
        <p:txBody>
          <a:bodyPr/>
          <a:lstStyle/>
          <a:p>
            <a:fld id="{A3C08357-5C79-4632-914C-20F09D3322A9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9161" y="5960533"/>
            <a:ext cx="965539" cy="279400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6860-FB60-4060-A2DD-6AA694AD9012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06788" y="5960533"/>
            <a:ext cx="1154187" cy="279400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052394"/>
            <a:ext cx="906497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541D-71BD-4A95-9AA8-EDE990CFB376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06788" y="5934457"/>
            <a:ext cx="1021184" cy="305477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7978-0D68-4EA9-B4A2-4771031892CD}" type="datetime1">
              <a:rPr lang="en-US" smtClean="0"/>
              <a:t>9/22/2019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1D96-6158-44BE-9A1B-6DCCF8FBA3F9}" type="datetime1">
              <a:rPr lang="en-US" smtClean="0"/>
              <a:t>9/22/2019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6DFB-1DE0-4D30-9C16-6F52C2D41A3C}" type="datetime1">
              <a:rPr lang="en-US" smtClean="0"/>
              <a:t>9/22/2019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9DB95-9A28-425B-A8BC-D23AC59B7A5D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08D3B-173C-423A-AFD4-1D188166F82E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3AAA-324D-4C45-A7DC-18CA2DE32EAB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AEC-0A95-4E1C-A128-AE495A712831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E14B-CB4E-4D3D-840E-0F205CCED105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968F7-04B0-4B04-AB3C-A455939DF0D6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24E6-FB04-465F-9A0F-6995683CD4DF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3F34-2AA8-4AC4-B9A5-9EC77AE60CB6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685-0156-467E-8A16-02EB6C0FFA4C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8CED-4F9C-4D2C-8B91-45E1D26C5C03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35133"/>
            <a:ext cx="897447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8CF6D84-440E-419D-8475-37FE1C9CAE54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3007" y="5960533"/>
            <a:ext cx="126112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96777" y="4072"/>
            <a:ext cx="3209731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08884" y="2460821"/>
            <a:ext cx="7760513" cy="1877628"/>
          </a:xfrm>
        </p:spPr>
        <p:txBody>
          <a:bodyPr/>
          <a:lstStyle/>
          <a:p>
            <a:r>
              <a:rPr lang="en-US" sz="3200" dirty="0"/>
              <a:t>Volume </a:t>
            </a:r>
            <a:r>
              <a:rPr lang="en-US" sz="3200" dirty="0" smtClean="0"/>
              <a:t>2_Section </a:t>
            </a:r>
            <a:r>
              <a:rPr lang="en-US" sz="3200" dirty="0"/>
              <a:t>4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2800" dirty="0" smtClean="0">
                <a:cs typeface="Arial" panose="020B0604020202020204" pitchFamily="34" charset="0"/>
              </a:rPr>
              <a:t>CHAPTER 2: </a:t>
            </a:r>
            <a:r>
              <a:rPr lang="en-US" sz="2800" dirty="0" smtClean="0"/>
              <a:t>IPC </a:t>
            </a:r>
            <a:r>
              <a:rPr lang="en-US" sz="2800" dirty="0"/>
              <a:t>in Intensive Care Unit (ICU)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427890" y="5252911"/>
            <a:ext cx="7677807" cy="101290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</a:t>
            </a:r>
            <a:r>
              <a:rPr lang="en-US" sz="51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Infection Prevention and Control </a:t>
            </a:r>
            <a:r>
              <a:rPr lang="en-US" sz="5100" b="1" dirty="0" smtClean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 special </a:t>
            </a:r>
            <a:r>
              <a:rPr lang="en-US" sz="51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setting</a:t>
            </a:r>
          </a:p>
        </p:txBody>
      </p:sp>
    </p:spTree>
    <p:extLst>
      <p:ext uri="{BB962C8B-B14F-4D97-AF65-F5344CB8AC3E}">
        <p14:creationId xmlns:p14="http://schemas.microsoft.com/office/powerpoint/2010/main" val="350658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297" y="873760"/>
            <a:ext cx="10515600" cy="807403"/>
          </a:xfrm>
        </p:spPr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Chapter contents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9120"/>
            <a:ext cx="10515600" cy="4327843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GB" dirty="0" smtClean="0"/>
              <a:t>Overview of IPC in ICU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dirty="0" smtClean="0"/>
              <a:t>Characteristics of ICU Patients and Settings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dirty="0" smtClean="0"/>
              <a:t>Commonly used devices for ICU patients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dirty="0" smtClean="0"/>
              <a:t>Source and Transmission of Infection in the ICU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/>
              <a:t>General Interventions for IPC in the ICU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9F23B-CCBF-48A1-947C-BF8EF30864D0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1960880"/>
            <a:ext cx="10464800" cy="4318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By the end of this chapter, participants will be able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Describe the Characteristics of ICU patients and settings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Identify the Commonly used devices for ICU patients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Explain the transmission of infection in the ICU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Explain the role of the HCW in transmitting infection within the ICU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Explain about additional Information for Facility Leaders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D0375-C1D0-4212-BC0B-6D504F0842FD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7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848822"/>
          </a:xfrm>
        </p:spPr>
        <p:txBody>
          <a:bodyPr/>
          <a:lstStyle/>
          <a:p>
            <a:pPr lvl="0"/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1. Overview of IPC in ICU (1/1)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040" y="1838960"/>
            <a:ext cx="10322560" cy="4096173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Patients admitted into intensive care units (ICUs) may have several conditions that increase risk of infections.</a:t>
            </a:r>
          </a:p>
          <a:p>
            <a:r>
              <a:rPr lang="en-GB" dirty="0" smtClean="0"/>
              <a:t>Infections acquired in the ICU account for more than one fifth (20%) of all infections acquired in healthcare facilities. (WHO 2011) </a:t>
            </a:r>
          </a:p>
          <a:p>
            <a:r>
              <a:rPr lang="en-GB" dirty="0" smtClean="0"/>
              <a:t>In low-resource settings up to nine of every 10 ICU patients admitted in ICU suffer at least one healthcare-associated infection (HAI)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A4A1-B8B0-466D-9A27-FA0F745AD40A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Characteristics </a:t>
            </a:r>
            <a:r>
              <a:rPr lang="en-US" b="1" dirty="0"/>
              <a:t>of ICU Patients and </a:t>
            </a:r>
            <a:r>
              <a:rPr lang="en-US" b="1" dirty="0" smtClean="0"/>
              <a:t>Settings (1/1)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50161"/>
            <a:ext cx="10515600" cy="3626802"/>
          </a:xfrm>
        </p:spPr>
        <p:txBody>
          <a:bodyPr>
            <a:normAutofit/>
          </a:bodyPr>
          <a:lstStyle/>
          <a:p>
            <a:r>
              <a:rPr lang="en-US" dirty="0"/>
              <a:t>The ICU provides a setting in which close monitoring and constant care is provided to </a:t>
            </a:r>
            <a:r>
              <a:rPr lang="en-US" dirty="0" smtClean="0"/>
              <a:t>patients, </a:t>
            </a:r>
            <a:r>
              <a:rPr lang="en-US" dirty="0"/>
              <a:t>with life-threatening conditions </a:t>
            </a:r>
            <a:endParaRPr lang="en-US" dirty="0" smtClean="0"/>
          </a:p>
          <a:p>
            <a:r>
              <a:rPr lang="en-GB" dirty="0" smtClean="0"/>
              <a:t>ICU patients are often </a:t>
            </a:r>
            <a:r>
              <a:rPr lang="en-GB" b="1" dirty="0" smtClean="0"/>
              <a:t>old </a:t>
            </a:r>
            <a:r>
              <a:rPr lang="en-GB" dirty="0" smtClean="0"/>
              <a:t>or </a:t>
            </a:r>
            <a:r>
              <a:rPr lang="en-GB" b="1" dirty="0" smtClean="0"/>
              <a:t>very young </a:t>
            </a:r>
            <a:r>
              <a:rPr lang="en-GB" dirty="0" smtClean="0"/>
              <a:t>and have impaired immunity and poor nutritional status, which put them at higher risk of infection.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432B-69E6-41B1-B234-8EBE3A8C2670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0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" y="492298"/>
            <a:ext cx="10474959" cy="1072342"/>
          </a:xfrm>
        </p:spPr>
        <p:txBody>
          <a:bodyPr/>
          <a:lstStyle/>
          <a:p>
            <a:r>
              <a:rPr lang="en-US" sz="4000" b="1" dirty="0" smtClean="0"/>
              <a:t>3. Devices </a:t>
            </a:r>
            <a:r>
              <a:rPr lang="en-US" sz="4000" b="1" dirty="0"/>
              <a:t>Commonly Used for ICU </a:t>
            </a:r>
            <a:r>
              <a:rPr lang="en-US" sz="4000" b="1" dirty="0" smtClean="0"/>
              <a:t>Patients (1/1)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200" y="1280160"/>
            <a:ext cx="10342880" cy="4998720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Vascular devices: peripheral and central venous catheters</a:t>
            </a:r>
          </a:p>
          <a:p>
            <a:pPr lvl="0"/>
            <a:r>
              <a:rPr lang="en-US" sz="2800" dirty="0"/>
              <a:t>Indwelling urinary catheters</a:t>
            </a:r>
          </a:p>
          <a:p>
            <a:pPr lvl="0"/>
            <a:r>
              <a:rPr lang="en-US" sz="2800" dirty="0"/>
              <a:t>Nasogastric tubes and gastrostomy tubes</a:t>
            </a:r>
          </a:p>
          <a:p>
            <a:pPr lvl="0"/>
            <a:r>
              <a:rPr lang="en-US" sz="2800" dirty="0"/>
              <a:t>Invasive cardiac monitoring</a:t>
            </a:r>
          </a:p>
          <a:p>
            <a:pPr lvl="0"/>
            <a:r>
              <a:rPr lang="en-US" sz="2800" dirty="0"/>
              <a:t>Mechanical ventilation with endotracheal tubes or tracheostomy tubes</a:t>
            </a:r>
          </a:p>
          <a:p>
            <a:pPr lvl="0"/>
            <a:r>
              <a:rPr lang="en-US" sz="2800" dirty="0"/>
              <a:t>Wound drains</a:t>
            </a:r>
          </a:p>
          <a:p>
            <a:pPr lvl="0"/>
            <a:r>
              <a:rPr lang="en-US" sz="2800" dirty="0"/>
              <a:t>Intracranial external ventricular drains</a:t>
            </a:r>
          </a:p>
          <a:p>
            <a:pPr marL="0" indent="0">
              <a:buNone/>
            </a:pPr>
            <a:r>
              <a:rPr lang="en-US" sz="2800" b="1" dirty="0"/>
              <a:t>Invasive medical devices greatly increase a patient’s risk of developing an infection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987E-53EC-4AF9-ADD3-8A172C1581A2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02640"/>
            <a:ext cx="10627359" cy="969524"/>
          </a:xfrm>
        </p:spPr>
        <p:txBody>
          <a:bodyPr/>
          <a:lstStyle/>
          <a:p>
            <a:r>
              <a:rPr lang="en-US" sz="4000" b="1" dirty="0" smtClean="0"/>
              <a:t>4. </a:t>
            </a:r>
            <a:r>
              <a:rPr lang="en-US" sz="4000" dirty="0" smtClean="0"/>
              <a:t>Sources and Transmission </a:t>
            </a:r>
            <a:r>
              <a:rPr lang="en-US" sz="4000" b="1" dirty="0" smtClean="0"/>
              <a:t>of </a:t>
            </a:r>
            <a:r>
              <a:rPr lang="en-US" sz="4000" b="1" dirty="0"/>
              <a:t>Infection in the </a:t>
            </a:r>
            <a:r>
              <a:rPr lang="en-US" sz="4000" b="1" dirty="0" smtClean="0"/>
              <a:t>ICU (1/3)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47521"/>
            <a:ext cx="10515600" cy="4429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sz="2800" dirty="0" smtClean="0"/>
              <a:t>ICU </a:t>
            </a:r>
            <a:r>
              <a:rPr lang="en-US" sz="2800" dirty="0"/>
              <a:t>patients are at risk of infection related to</a:t>
            </a:r>
            <a:r>
              <a:rPr lang="en-US" sz="2800" dirty="0" smtClean="0"/>
              <a:t>:</a:t>
            </a:r>
          </a:p>
          <a:p>
            <a:pPr lvl="0"/>
            <a:r>
              <a:rPr lang="en-US" sz="2800" dirty="0"/>
              <a:t>Extremes of age</a:t>
            </a:r>
          </a:p>
          <a:p>
            <a:pPr lvl="0"/>
            <a:r>
              <a:rPr lang="en-US" sz="2800" dirty="0"/>
              <a:t>Presence of critical illness or trauma</a:t>
            </a:r>
          </a:p>
          <a:p>
            <a:pPr lvl="0"/>
            <a:r>
              <a:rPr lang="en-US" sz="2800" dirty="0"/>
              <a:t>Presence of underlying disease such as diabetes, cancer, renal failure</a:t>
            </a:r>
          </a:p>
          <a:p>
            <a:pPr lvl="0"/>
            <a:r>
              <a:rPr lang="en-US" sz="2800" dirty="0"/>
              <a:t>Impaired natural defense mechanisms of the body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4CC52-0365-4D0E-BAD2-19A10C0F5F25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24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186" y="365125"/>
            <a:ext cx="11164614" cy="1325563"/>
          </a:xfrm>
        </p:spPr>
        <p:txBody>
          <a:bodyPr/>
          <a:lstStyle/>
          <a:p>
            <a:r>
              <a:rPr lang="en-US" b="1" dirty="0"/>
              <a:t>Transmission </a:t>
            </a:r>
            <a:r>
              <a:rPr lang="en-US" b="1" dirty="0" smtClean="0"/>
              <a:t>of …(2/3)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746" y="2349062"/>
            <a:ext cx="10407694" cy="3846785"/>
          </a:xfrm>
        </p:spPr>
        <p:txBody>
          <a:bodyPr/>
          <a:lstStyle/>
          <a:p>
            <a:pPr lvl="0"/>
            <a:r>
              <a:rPr lang="en-US" sz="2800" dirty="0"/>
              <a:t>Presence of </a:t>
            </a:r>
            <a:r>
              <a:rPr lang="en-US" sz="2800" b="1" dirty="0"/>
              <a:t>invasive medical devices </a:t>
            </a:r>
            <a:r>
              <a:rPr lang="en-US" sz="2800" dirty="0"/>
              <a:t>(e.g., endotracheal intubation, urinary catheterization)</a:t>
            </a:r>
          </a:p>
          <a:p>
            <a:pPr lvl="0"/>
            <a:r>
              <a:rPr lang="en-US" sz="2800" b="1" dirty="0"/>
              <a:t>Frequent medical procedures</a:t>
            </a:r>
          </a:p>
          <a:p>
            <a:pPr lvl="0"/>
            <a:r>
              <a:rPr lang="en-US" sz="2800" b="1" dirty="0"/>
              <a:t>Frequent and prolonged use of antibiotics </a:t>
            </a:r>
            <a:r>
              <a:rPr lang="en-US" sz="2800" dirty="0"/>
              <a:t>creating antibiotic resistance</a:t>
            </a:r>
          </a:p>
          <a:p>
            <a:pPr lvl="0"/>
            <a:r>
              <a:rPr lang="en-US" sz="2800" dirty="0"/>
              <a:t>Prolonged </a:t>
            </a:r>
            <a:r>
              <a:rPr lang="en-US" sz="2800" b="1" dirty="0"/>
              <a:t>ICU stay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36BD-1671-4AC2-AAC3-ECA923DE3113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08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Infection Entry </a:t>
            </a:r>
            <a:r>
              <a:rPr lang="en-US" b="1" dirty="0" smtClean="0"/>
              <a:t>Points(3/3)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74731"/>
            <a:ext cx="10515600" cy="3402232"/>
          </a:xfrm>
        </p:spPr>
        <p:txBody>
          <a:bodyPr/>
          <a:lstStyle/>
          <a:p>
            <a:r>
              <a:rPr lang="en-US" b="1" dirty="0"/>
              <a:t>I</a:t>
            </a:r>
            <a:r>
              <a:rPr lang="en-US" b="1" dirty="0" smtClean="0"/>
              <a:t>nvasive </a:t>
            </a:r>
            <a:r>
              <a:rPr lang="en-US" b="1" dirty="0"/>
              <a:t>medical devices and procedures </a:t>
            </a:r>
            <a:r>
              <a:rPr lang="en-US" dirty="0"/>
              <a:t>provide increased opportunities for pathogens to bypass the normal defenses of the skin and respiratory and urinary tracts.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D110C-7744-4875-892E-0F0F5463E23A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2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5208"/>
            <a:ext cx="10515600" cy="83039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400" dirty="0" smtClean="0"/>
              <a:t>Challenges for </a:t>
            </a:r>
            <a:r>
              <a:rPr lang="en-US" sz="4400" b="1" dirty="0"/>
              <a:t>Infections in the </a:t>
            </a:r>
            <a:r>
              <a:rPr lang="en-US" sz="4400" b="1" dirty="0" smtClean="0"/>
              <a:t>ICU (1/1)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8000"/>
            <a:ext cx="10515600" cy="4398963"/>
          </a:xfrm>
        </p:spPr>
        <p:txBody>
          <a:bodyPr>
            <a:normAutofit/>
          </a:bodyPr>
          <a:lstStyle/>
          <a:p>
            <a:r>
              <a:rPr lang="en-US" sz="2800" dirty="0"/>
              <a:t>Early signs of infection may </a:t>
            </a:r>
            <a:r>
              <a:rPr lang="en-US" sz="2800" dirty="0" smtClean="0"/>
              <a:t>be </a:t>
            </a:r>
            <a:r>
              <a:rPr lang="en-US" sz="2800" b="1" dirty="0"/>
              <a:t>obscured by the patient’s illness </a:t>
            </a:r>
            <a:endParaRPr lang="en-US" sz="2800" b="1" dirty="0" smtClean="0"/>
          </a:p>
          <a:p>
            <a:r>
              <a:rPr lang="en-US" sz="2800" b="1" dirty="0"/>
              <a:t>Results</a:t>
            </a:r>
            <a:r>
              <a:rPr lang="en-US" sz="2800" dirty="0"/>
              <a:t> from microbiology testing may be </a:t>
            </a:r>
            <a:r>
              <a:rPr lang="en-US" sz="2800" b="1" dirty="0" smtClean="0"/>
              <a:t>delayed</a:t>
            </a:r>
          </a:p>
          <a:p>
            <a:r>
              <a:rPr lang="en-US" sz="2800" b="1" dirty="0"/>
              <a:t>N</a:t>
            </a:r>
            <a:r>
              <a:rPr lang="en-US" sz="2800" b="1" dirty="0" smtClean="0"/>
              <a:t>on-availability</a:t>
            </a:r>
            <a:r>
              <a:rPr lang="en-US" sz="2800" dirty="0" smtClean="0"/>
              <a:t> </a:t>
            </a:r>
            <a:r>
              <a:rPr lang="en-US" sz="2800" dirty="0"/>
              <a:t>of </a:t>
            </a:r>
            <a:r>
              <a:rPr lang="en-US" sz="2800" b="1" dirty="0"/>
              <a:t>antimicrobial susceptibility </a:t>
            </a:r>
            <a:r>
              <a:rPr lang="en-US" sz="2800" b="1" dirty="0" smtClean="0"/>
              <a:t>testing</a:t>
            </a:r>
          </a:p>
          <a:p>
            <a:r>
              <a:rPr lang="en-US" sz="2800" dirty="0"/>
              <a:t>Patients colonized with </a:t>
            </a:r>
            <a:r>
              <a:rPr lang="en-US" sz="2800" b="1" dirty="0"/>
              <a:t>MDRO in ICU continue to transmit infection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0A9B-563D-4C75-B9BC-E1F2503123F8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91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360" y="426085"/>
            <a:ext cx="10749280" cy="1325563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b="1" dirty="0" smtClean="0"/>
              <a:t>Role </a:t>
            </a:r>
            <a:r>
              <a:rPr lang="en-US" sz="4400" b="1" dirty="0"/>
              <a:t>of the HCW in Transmitting Infection within the </a:t>
            </a:r>
            <a:r>
              <a:rPr lang="en-US" sz="4400" b="1" dirty="0" smtClean="0"/>
              <a:t>ICU (1/1)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360" y="2270233"/>
            <a:ext cx="10632440" cy="3906729"/>
          </a:xfrm>
        </p:spPr>
        <p:txBody>
          <a:bodyPr/>
          <a:lstStyle/>
          <a:p>
            <a:r>
              <a:rPr lang="en-US" sz="2800" dirty="0"/>
              <a:t>All staff in the ICU</a:t>
            </a:r>
            <a:r>
              <a:rPr lang="en-US" sz="2800" dirty="0" smtClean="0"/>
              <a:t>, </a:t>
            </a:r>
            <a:r>
              <a:rPr lang="en-US" sz="2800" dirty="0"/>
              <a:t>can transmit infection by not complying with recommended </a:t>
            </a:r>
            <a:r>
              <a:rPr lang="en-US" sz="2800" dirty="0" smtClean="0"/>
              <a:t>Standard Precautions</a:t>
            </a:r>
          </a:p>
          <a:p>
            <a:r>
              <a:rPr lang="en-US" sz="2800" dirty="0"/>
              <a:t>Chronic staff shortage </a:t>
            </a:r>
            <a:endParaRPr lang="en-US" sz="2800" dirty="0" smtClean="0"/>
          </a:p>
          <a:p>
            <a:r>
              <a:rPr lang="en-US" sz="2800" dirty="0" smtClean="0"/>
              <a:t>When </a:t>
            </a:r>
            <a:r>
              <a:rPr lang="en-US" sz="2800" dirty="0"/>
              <a:t>a HCWs who are less familiar with the setting start working in an ICU.</a:t>
            </a:r>
            <a:endParaRPr lang="en-US" sz="2800" dirty="0" smtClean="0">
              <a:effectLst/>
            </a:endParaRP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416-41DC-4616-B3BC-6D328A42CFD7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56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520" y="675178"/>
            <a:ext cx="9834879" cy="1188426"/>
          </a:xfrm>
        </p:spPr>
        <p:txBody>
          <a:bodyPr>
            <a:normAutofit/>
          </a:bodyPr>
          <a:lstStyle/>
          <a:p>
            <a:r>
              <a:rPr lang="en-US" sz="4000" b="1" dirty="0"/>
              <a:t>Best Practices and Key </a:t>
            </a:r>
            <a:r>
              <a:rPr lang="en-US" sz="4000" b="1" dirty="0" smtClean="0"/>
              <a:t>Components (1/1)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0186"/>
            <a:ext cx="10515600" cy="4835566"/>
          </a:xfrm>
        </p:spPr>
        <p:txBody>
          <a:bodyPr/>
          <a:lstStyle/>
          <a:p>
            <a:r>
              <a:rPr lang="en-US" sz="2800" dirty="0"/>
              <a:t>Apply Standard Precautions to each patient at each </a:t>
            </a:r>
            <a:r>
              <a:rPr lang="en-US" sz="2800" dirty="0" smtClean="0"/>
              <a:t>encounter</a:t>
            </a:r>
          </a:p>
          <a:p>
            <a:r>
              <a:rPr lang="en-US" sz="2800" dirty="0"/>
              <a:t>Use Transmission-Based Precautions for specific patients </a:t>
            </a:r>
            <a:endParaRPr lang="en-US" sz="2800" dirty="0" smtClean="0"/>
          </a:p>
          <a:p>
            <a:r>
              <a:rPr lang="en-US" sz="2800" dirty="0"/>
              <a:t>Prevent device-associated infections </a:t>
            </a:r>
            <a:endParaRPr lang="en-US" sz="2800" dirty="0" smtClean="0"/>
          </a:p>
          <a:p>
            <a:pPr lvl="0"/>
            <a:r>
              <a:rPr lang="en-US" sz="2800" dirty="0"/>
              <a:t>Patient Spacing</a:t>
            </a:r>
          </a:p>
          <a:p>
            <a:pPr lvl="0"/>
            <a:r>
              <a:rPr lang="en-US" sz="2800" dirty="0"/>
              <a:t>Workflow </a:t>
            </a:r>
          </a:p>
          <a:p>
            <a:pPr lvl="0"/>
            <a:r>
              <a:rPr lang="en-US" sz="2800" dirty="0"/>
              <a:t>Visitor Management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59E18-CFB2-4383-B3F8-867DC49FBFD7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91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5. General </a:t>
            </a:r>
            <a:r>
              <a:rPr lang="en-US" sz="4000" b="1" dirty="0"/>
              <a:t>Interventions for IPC in the </a:t>
            </a:r>
            <a:r>
              <a:rPr lang="en-US" sz="4000" b="1" dirty="0" smtClean="0"/>
              <a:t>ICU (1/5)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840" y="1967345"/>
            <a:ext cx="10601960" cy="39931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ICU staff needs to be </a:t>
            </a:r>
            <a:r>
              <a:rPr lang="en-US" sz="2800" dirty="0" smtClean="0"/>
              <a:t>experts </a:t>
            </a:r>
            <a:r>
              <a:rPr lang="en-US" sz="2800" dirty="0"/>
              <a:t>on incorporating </a:t>
            </a:r>
            <a:endParaRPr lang="en-US" sz="2800" dirty="0" smtClean="0"/>
          </a:p>
          <a:p>
            <a:pPr lvl="0"/>
            <a:r>
              <a:rPr lang="en-US" sz="2800" dirty="0" smtClean="0"/>
              <a:t>Standard </a:t>
            </a:r>
            <a:r>
              <a:rPr lang="en-US" sz="2800" dirty="0"/>
              <a:t>Precaution</a:t>
            </a:r>
          </a:p>
          <a:p>
            <a:pPr lvl="0"/>
            <a:r>
              <a:rPr lang="en-US" sz="2800" dirty="0"/>
              <a:t>Transmission-Based Precautions</a:t>
            </a:r>
          </a:p>
          <a:p>
            <a:pPr lvl="0"/>
            <a:r>
              <a:rPr lang="en-US" sz="2800" dirty="0"/>
              <a:t>Patient Spacing</a:t>
            </a:r>
          </a:p>
          <a:p>
            <a:pPr lvl="0"/>
            <a:r>
              <a:rPr lang="en-US" sz="2800" dirty="0"/>
              <a:t>Workflow </a:t>
            </a:r>
          </a:p>
          <a:p>
            <a:pPr lvl="0"/>
            <a:r>
              <a:rPr lang="en-US" sz="2800" dirty="0"/>
              <a:t>Patient Care</a:t>
            </a:r>
          </a:p>
          <a:p>
            <a:pPr lvl="0"/>
            <a:r>
              <a:rPr lang="en-US" sz="2800" dirty="0"/>
              <a:t>Visitor Management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8C45-8B72-4B1A-B8D1-276E5BD7C08F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10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23" y="365125"/>
            <a:ext cx="11950263" cy="1325563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b="1" dirty="0" smtClean="0"/>
              <a:t>Interventions </a:t>
            </a:r>
            <a:r>
              <a:rPr lang="en-US" sz="4000" b="1" dirty="0"/>
              <a:t>for the Prevention of Device-Associated Infections in the </a:t>
            </a:r>
            <a:r>
              <a:rPr lang="en-US" sz="4000" b="1" dirty="0" smtClean="0"/>
              <a:t>ICU (2/5)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825624"/>
            <a:ext cx="10769600" cy="4764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HCWs in the ICU can protect patients by:</a:t>
            </a:r>
          </a:p>
          <a:p>
            <a:pPr lvl="0"/>
            <a:r>
              <a:rPr lang="en-US" sz="3000" dirty="0" smtClean="0"/>
              <a:t>Only </a:t>
            </a:r>
            <a:r>
              <a:rPr lang="en-US" sz="3000" dirty="0"/>
              <a:t>using invasive medical devices </a:t>
            </a:r>
            <a:r>
              <a:rPr lang="en-US" sz="3000" b="1" dirty="0"/>
              <a:t>when absolutely necessary for care </a:t>
            </a:r>
            <a:r>
              <a:rPr lang="en-US" sz="3000" dirty="0"/>
              <a:t>(not convenience of HCW)</a:t>
            </a:r>
          </a:p>
          <a:p>
            <a:pPr lvl="0"/>
            <a:r>
              <a:rPr lang="en-US" sz="3000" dirty="0"/>
              <a:t>Actively </a:t>
            </a:r>
            <a:r>
              <a:rPr lang="en-US" sz="3000" b="1" dirty="0"/>
              <a:t>removing devices as soon as possible </a:t>
            </a:r>
            <a:r>
              <a:rPr lang="en-US" sz="3000" dirty="0"/>
              <a:t>and </a:t>
            </a:r>
            <a:r>
              <a:rPr lang="en-US" sz="3000" b="1" dirty="0"/>
              <a:t>strictly </a:t>
            </a:r>
          </a:p>
          <a:p>
            <a:pPr lvl="0"/>
            <a:r>
              <a:rPr lang="en-US" sz="3000" dirty="0"/>
              <a:t>Vigilantly incorporating </a:t>
            </a:r>
            <a:r>
              <a:rPr lang="en-US" sz="3000" b="1" dirty="0"/>
              <a:t>basic IPC practices </a:t>
            </a:r>
            <a:r>
              <a:rPr lang="en-US" sz="3000" dirty="0"/>
              <a:t>into the insertion and care of invasive medical devices</a:t>
            </a:r>
          </a:p>
          <a:p>
            <a:pPr lvl="0"/>
            <a:r>
              <a:rPr lang="en-US" sz="3000" dirty="0"/>
              <a:t>Incorporating elements of </a:t>
            </a:r>
            <a:r>
              <a:rPr lang="en-US" sz="3000" b="1" dirty="0"/>
              <a:t>infection prevention bundles </a:t>
            </a:r>
            <a:r>
              <a:rPr lang="en-US" sz="3000" dirty="0"/>
              <a:t>into care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6CAE-CF65-4D15-A699-F9F404F83AAD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81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283779"/>
            <a:ext cx="11267440" cy="140690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400" b="1" dirty="0" smtClean="0"/>
              <a:t>Interventions </a:t>
            </a:r>
            <a:r>
              <a:rPr lang="en-US" sz="4400" b="1" dirty="0"/>
              <a:t>for the Prevention of Specific Types of HAIs in the </a:t>
            </a:r>
            <a:r>
              <a:rPr lang="en-US" sz="4400" b="1" dirty="0" smtClean="0"/>
              <a:t>ICU (3/5)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880" y="2042160"/>
            <a:ext cx="10928306" cy="453206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 smtClean="0"/>
              <a:t>  </a:t>
            </a:r>
            <a:r>
              <a:rPr lang="en-US" sz="2800" b="1" dirty="0" smtClean="0"/>
              <a:t>Healthcare-Associated </a:t>
            </a:r>
            <a:r>
              <a:rPr lang="en-US" sz="2800" b="1" dirty="0"/>
              <a:t>Pneumonia</a:t>
            </a:r>
            <a:endParaRPr lang="en-US" sz="2800" dirty="0"/>
          </a:p>
          <a:p>
            <a:pPr algn="just"/>
            <a:r>
              <a:rPr lang="en-US" sz="2800" dirty="0"/>
              <a:t>Healthcare–associated pneumonia is common in ICUs for unventilated patients due to </a:t>
            </a:r>
            <a:endParaRPr lang="en-US" sz="2800" dirty="0" smtClean="0"/>
          </a:p>
          <a:p>
            <a:pPr lvl="1" algn="just"/>
            <a:r>
              <a:rPr lang="en-US" dirty="0" smtClean="0"/>
              <a:t>Reduced </a:t>
            </a:r>
            <a:r>
              <a:rPr lang="en-US" dirty="0"/>
              <a:t>level of consciousness, </a:t>
            </a:r>
            <a:endParaRPr lang="en-US" dirty="0" smtClean="0"/>
          </a:p>
          <a:p>
            <a:pPr lvl="1" algn="just"/>
            <a:r>
              <a:rPr lang="en-US" dirty="0" smtClean="0"/>
              <a:t>Lack </a:t>
            </a:r>
            <a:r>
              <a:rPr lang="en-US" dirty="0"/>
              <a:t>of mobility, </a:t>
            </a:r>
            <a:endParaRPr lang="en-US" dirty="0" smtClean="0"/>
          </a:p>
          <a:p>
            <a:pPr lvl="1" algn="just"/>
            <a:r>
              <a:rPr lang="en-US" dirty="0" smtClean="0"/>
              <a:t>Anesthesia, </a:t>
            </a:r>
          </a:p>
          <a:p>
            <a:pPr lvl="1" algn="just"/>
            <a:r>
              <a:rPr lang="en-US" dirty="0" smtClean="0"/>
              <a:t>Pain, </a:t>
            </a:r>
          </a:p>
          <a:p>
            <a:pPr lvl="1" algn="just"/>
            <a:r>
              <a:rPr lang="en-US" dirty="0" smtClean="0"/>
              <a:t>Immune </a:t>
            </a:r>
            <a:r>
              <a:rPr lang="en-US" dirty="0"/>
              <a:t>suppression, and </a:t>
            </a:r>
            <a:endParaRPr lang="en-US" dirty="0" smtClean="0"/>
          </a:p>
          <a:p>
            <a:pPr lvl="1" algn="just"/>
            <a:r>
              <a:rPr lang="en-US" dirty="0" smtClean="0"/>
              <a:t>Other </a:t>
            </a:r>
            <a:r>
              <a:rPr lang="en-US" dirty="0"/>
              <a:t>factors. </a:t>
            </a:r>
            <a:endParaRPr lang="en-US" dirty="0" smtClean="0"/>
          </a:p>
          <a:p>
            <a:pPr algn="just"/>
            <a:r>
              <a:rPr lang="en-US" sz="2800" dirty="0" smtClean="0"/>
              <a:t>Strict </a:t>
            </a:r>
            <a:r>
              <a:rPr lang="en-US" sz="2800" dirty="0"/>
              <a:t>and vigilant IPC practices can help prevent healthcare–associated pneumonia in ICU.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2501-9B02-47E8-A581-DEE17A6A78FE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19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Interventions … (4/5)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760" y="2490136"/>
            <a:ext cx="10515600" cy="34449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dirty="0" smtClean="0"/>
              <a:t>   Surgical </a:t>
            </a:r>
            <a:r>
              <a:rPr lang="en-US" sz="3300" b="1" dirty="0"/>
              <a:t>Site Infections</a:t>
            </a:r>
            <a:endParaRPr lang="en-US" sz="3300" dirty="0"/>
          </a:p>
          <a:p>
            <a:r>
              <a:rPr lang="en-US" sz="3300" dirty="0"/>
              <a:t>Surgical site infection (SSI) is the most common type of HAI </a:t>
            </a:r>
            <a:r>
              <a:rPr lang="en-US" sz="3300" dirty="0" smtClean="0"/>
              <a:t>and </a:t>
            </a:r>
            <a:r>
              <a:rPr lang="en-US" sz="3300" dirty="0"/>
              <a:t>has high rates of mortality. </a:t>
            </a:r>
            <a:endParaRPr lang="en-US" sz="3300" dirty="0" smtClean="0"/>
          </a:p>
          <a:p>
            <a:r>
              <a:rPr lang="en-US" sz="3300" dirty="0" smtClean="0"/>
              <a:t>ICU </a:t>
            </a:r>
            <a:r>
              <a:rPr lang="en-US" sz="3300" dirty="0"/>
              <a:t>patients are particularly vulnerable including the potential for a high burden of MDRO in the ICU environment. </a:t>
            </a:r>
          </a:p>
          <a:p>
            <a:r>
              <a:rPr lang="en-US" sz="3300" dirty="0"/>
              <a:t>B</a:t>
            </a:r>
            <a:r>
              <a:rPr lang="en-US" sz="3300" dirty="0" smtClean="0"/>
              <a:t>y </a:t>
            </a:r>
            <a:r>
              <a:rPr lang="en-US" sz="3300" dirty="0"/>
              <a:t>preparing patients pre-operatively and following evidence-based IPC practices in the ICU after surgery, HCWs can prevent SSIs in ICU patients. </a:t>
            </a:r>
          </a:p>
          <a:p>
            <a:endParaRPr lang="en-US" sz="3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A19D4-BAE6-41EC-80A0-B28B2C8577F2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93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365125"/>
            <a:ext cx="10820400" cy="1325563"/>
          </a:xfrm>
        </p:spPr>
        <p:txBody>
          <a:bodyPr>
            <a:normAutofit fontScale="90000"/>
          </a:bodyPr>
          <a:lstStyle/>
          <a:p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 smtClean="0"/>
              <a:t>Interventions … (5/5/)</a:t>
            </a:r>
            <a:r>
              <a:rPr lang="en-US" sz="4400" dirty="0"/>
              <a:t/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727201"/>
            <a:ext cx="10642600" cy="45923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Organism Colonization and Infection</a:t>
            </a:r>
            <a:endParaRPr lang="en-US" sz="2800" dirty="0" smtClean="0"/>
          </a:p>
          <a:p>
            <a:r>
              <a:rPr lang="en-US" sz="2800" dirty="0" smtClean="0"/>
              <a:t>Adhere </a:t>
            </a:r>
            <a:r>
              <a:rPr lang="en-US" sz="2800" dirty="0"/>
              <a:t>to Standard Precautions </a:t>
            </a:r>
            <a:endParaRPr lang="en-US" sz="2800" dirty="0" smtClean="0"/>
          </a:p>
          <a:p>
            <a:r>
              <a:rPr lang="en-US" sz="2800" dirty="0"/>
              <a:t>Isolate and identify patients with MDROs </a:t>
            </a:r>
            <a:endParaRPr lang="en-US" sz="2800" dirty="0" smtClean="0"/>
          </a:p>
          <a:p>
            <a:r>
              <a:rPr lang="en-US" sz="2800" dirty="0"/>
              <a:t>Use Contact Precautions routinely </a:t>
            </a:r>
            <a:endParaRPr lang="en-US" sz="2800" dirty="0" smtClean="0"/>
          </a:p>
          <a:p>
            <a:r>
              <a:rPr lang="en-US" sz="2800" dirty="0"/>
              <a:t>Provide single room for patients infected with </a:t>
            </a:r>
            <a:r>
              <a:rPr lang="en-US" sz="2800" dirty="0" smtClean="0"/>
              <a:t>MDROs</a:t>
            </a:r>
          </a:p>
          <a:p>
            <a:r>
              <a:rPr lang="en-US" sz="2800" dirty="0"/>
              <a:t>Carry out environmental cleaning and disinfection </a:t>
            </a:r>
            <a:endParaRPr lang="en-US" sz="2800" dirty="0" smtClean="0"/>
          </a:p>
          <a:p>
            <a:r>
              <a:rPr lang="en-US" sz="2800" dirty="0"/>
              <a:t>Ensure that staff responsible for waste management wear recommended PPE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CCA-C822-4A74-9B9A-D792A18FCDA0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78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604058"/>
            <a:ext cx="10637519" cy="1188426"/>
          </a:xfrm>
        </p:spPr>
        <p:txBody>
          <a:bodyPr/>
          <a:lstStyle/>
          <a:p>
            <a:r>
              <a:rPr lang="en-US" sz="4000" b="1" dirty="0"/>
              <a:t>Additional Information for Facility </a:t>
            </a:r>
            <a:r>
              <a:rPr lang="en-US" sz="4000" b="1" dirty="0" smtClean="0"/>
              <a:t>Leaders (1/1)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72920"/>
            <a:ext cx="10718800" cy="4669769"/>
          </a:xfrm>
        </p:spPr>
        <p:txBody>
          <a:bodyPr>
            <a:normAutofit/>
          </a:bodyPr>
          <a:lstStyle/>
          <a:p>
            <a:r>
              <a:rPr lang="en-US" sz="2800" dirty="0"/>
              <a:t>Facility leaders actively and openly support and communicate IPC messages </a:t>
            </a:r>
            <a:endParaRPr lang="en-US" sz="2800" dirty="0" smtClean="0"/>
          </a:p>
          <a:p>
            <a:r>
              <a:rPr lang="en-US" sz="2800" dirty="0"/>
              <a:t>Perform a facility risk assessment </a:t>
            </a:r>
            <a:endParaRPr lang="en-US" sz="2800" dirty="0" smtClean="0"/>
          </a:p>
          <a:p>
            <a:r>
              <a:rPr lang="en-US" sz="2800" dirty="0"/>
              <a:t>Provide resources for infection </a:t>
            </a:r>
            <a:r>
              <a:rPr lang="en-US" sz="2800" dirty="0" smtClean="0"/>
              <a:t>control</a:t>
            </a:r>
          </a:p>
          <a:p>
            <a:r>
              <a:rPr lang="en-US" sz="2800" dirty="0"/>
              <a:t>Assign ICU-based champions </a:t>
            </a:r>
            <a:r>
              <a:rPr lang="en-US" sz="2800" dirty="0" smtClean="0"/>
              <a:t>to </a:t>
            </a:r>
            <a:r>
              <a:rPr lang="en-US" sz="2800" dirty="0"/>
              <a:t>facilitate the spread of </a:t>
            </a:r>
            <a:r>
              <a:rPr lang="en-US" sz="2800" dirty="0" smtClean="0"/>
              <a:t>IPC</a:t>
            </a:r>
          </a:p>
          <a:p>
            <a:pPr lvl="0"/>
            <a:r>
              <a:rPr lang="en-US" sz="2800" dirty="0"/>
              <a:t>Provide resources for the ongoing education of patient and family attendants in infection control topics </a:t>
            </a:r>
            <a:r>
              <a:rPr lang="en-US" sz="2800" dirty="0" smtClean="0"/>
              <a:t>and</a:t>
            </a:r>
          </a:p>
          <a:p>
            <a:pPr lvl="0"/>
            <a:r>
              <a:rPr lang="en-US" sz="2800" dirty="0" smtClean="0"/>
              <a:t> </a:t>
            </a:r>
            <a:r>
              <a:rPr lang="en-US" sz="2800" dirty="0"/>
              <a:t>Implement interventions to improve appropriate use of antibiotics.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586D-79A9-4CC5-B78B-81FB39080E1A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67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679034"/>
            <a:ext cx="10612120" cy="1325563"/>
          </a:xfrm>
        </p:spPr>
        <p:txBody>
          <a:bodyPr/>
          <a:lstStyle/>
          <a:p>
            <a:r>
              <a:rPr lang="en-US" sz="4000" b="1" dirty="0"/>
              <a:t>Strategies for Health Facilities to Prevent HAIs in the </a:t>
            </a:r>
            <a:r>
              <a:rPr lang="en-US" sz="4000" b="1" dirty="0" smtClean="0"/>
              <a:t>ICU (1/ 3)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621" y="2380593"/>
            <a:ext cx="10723179" cy="4256690"/>
          </a:xfrm>
        </p:spPr>
        <p:txBody>
          <a:bodyPr>
            <a:normAutofit/>
          </a:bodyPr>
          <a:lstStyle/>
          <a:p>
            <a:r>
              <a:rPr lang="en-US" sz="2800" dirty="0"/>
              <a:t>Providing written guidelines/policies for </a:t>
            </a:r>
            <a:r>
              <a:rPr lang="en-US" sz="2800" dirty="0" smtClean="0"/>
              <a:t>HCWs</a:t>
            </a:r>
          </a:p>
          <a:p>
            <a:r>
              <a:rPr lang="en-US" sz="2800" dirty="0"/>
              <a:t>Ensure that adequate staffing for </a:t>
            </a:r>
            <a:r>
              <a:rPr lang="en-US" sz="2800" dirty="0" smtClean="0"/>
              <a:t>ICU, </a:t>
            </a:r>
          </a:p>
          <a:p>
            <a:r>
              <a:rPr lang="en-US" sz="2800" dirty="0"/>
              <a:t>T</a:t>
            </a:r>
            <a:r>
              <a:rPr lang="en-US" sz="2800" dirty="0" smtClean="0"/>
              <a:t>rain </a:t>
            </a:r>
            <a:r>
              <a:rPr lang="en-US" sz="2800" dirty="0"/>
              <a:t>HCWs on the insertion, care, and maintenance of invasive medical devices, prevention of MDRO, and other IPC aspects of ICU </a:t>
            </a:r>
            <a:r>
              <a:rPr lang="en-US" sz="2800" dirty="0" smtClean="0"/>
              <a:t>care</a:t>
            </a:r>
          </a:p>
          <a:p>
            <a:pPr lvl="0"/>
            <a:r>
              <a:rPr lang="en-US" sz="2800" dirty="0"/>
              <a:t>Ensure that only trained, competent staff work in the ICU.</a:t>
            </a:r>
            <a:endParaRPr lang="en-US" sz="2800" dirty="0" smtClean="0">
              <a:effectLst/>
            </a:endParaRP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C1CA-D68B-4293-B0FA-43B20E8F3F88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52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55" y="175938"/>
            <a:ext cx="11695386" cy="1325563"/>
          </a:xfrm>
        </p:spPr>
        <p:txBody>
          <a:bodyPr/>
          <a:lstStyle/>
          <a:p>
            <a:r>
              <a:rPr lang="en-US" b="1" dirty="0" smtClean="0"/>
              <a:t>  </a:t>
            </a:r>
            <a:r>
              <a:rPr lang="en-US" sz="4000" b="1" dirty="0" smtClean="0"/>
              <a:t>Strategies for …(2/3)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7171"/>
            <a:ext cx="10515600" cy="3969791"/>
          </a:xfrm>
        </p:spPr>
        <p:txBody>
          <a:bodyPr>
            <a:normAutofit/>
          </a:bodyPr>
          <a:lstStyle/>
          <a:p>
            <a:r>
              <a:rPr lang="en-US" sz="2800" dirty="0"/>
              <a:t>If possible, limit ICU occupancy to a capacity and staffing for safe care</a:t>
            </a:r>
          </a:p>
          <a:p>
            <a:r>
              <a:rPr lang="en-US" sz="2800" dirty="0"/>
              <a:t>Monitor hand hygiene compliance </a:t>
            </a:r>
          </a:p>
          <a:p>
            <a:r>
              <a:rPr lang="en-US" sz="2800" dirty="0"/>
              <a:t>Provide supplies necessary for IPC </a:t>
            </a:r>
          </a:p>
          <a:p>
            <a:r>
              <a:rPr lang="en-US" sz="2800" dirty="0"/>
              <a:t>Prioritize the use of IPC resources </a:t>
            </a:r>
          </a:p>
          <a:p>
            <a:r>
              <a:rPr lang="en-US" sz="2800" dirty="0"/>
              <a:t>Provide resources for collection of data </a:t>
            </a:r>
          </a:p>
          <a:p>
            <a:r>
              <a:rPr lang="en-US" sz="2800" dirty="0"/>
              <a:t>Report results of data collection to ICU-based staff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5B00-234C-4542-A0A7-4B539E9E9CC5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70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635462"/>
          </a:xfrm>
        </p:spPr>
        <p:txBody>
          <a:bodyPr/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Strategies </a:t>
            </a:r>
            <a:r>
              <a:rPr lang="en-US" sz="4000" b="1" dirty="0"/>
              <a:t>for ICUs with Ongoing </a:t>
            </a:r>
            <a:r>
              <a:rPr lang="en-US" sz="4000" b="1" dirty="0" smtClean="0"/>
              <a:t>Issues (3/3)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809858"/>
            <a:ext cx="10759440" cy="46697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/>
          </a:p>
          <a:p>
            <a:pPr lvl="0" algn="just"/>
            <a:r>
              <a:rPr lang="en-US" sz="2800" b="1" dirty="0"/>
              <a:t>Conduct in-depth investigation </a:t>
            </a:r>
            <a:r>
              <a:rPr lang="en-US" sz="2800" dirty="0"/>
              <a:t>of each HAI identified and use the data to focus interventions on root causes. </a:t>
            </a:r>
          </a:p>
          <a:p>
            <a:pPr lvl="0" algn="just"/>
            <a:r>
              <a:rPr lang="en-US" sz="2800" b="1" dirty="0"/>
              <a:t>Analyze data </a:t>
            </a:r>
            <a:r>
              <a:rPr lang="en-US" sz="2800" dirty="0"/>
              <a:t>to focus interventions on </a:t>
            </a:r>
            <a:r>
              <a:rPr lang="en-US" sz="2800" b="1" dirty="0"/>
              <a:t>root causes. </a:t>
            </a:r>
          </a:p>
          <a:p>
            <a:pPr lvl="0" algn="just"/>
            <a:r>
              <a:rPr lang="en-US" sz="2800" b="1" dirty="0"/>
              <a:t>Conduct routine review meetings </a:t>
            </a:r>
            <a:r>
              <a:rPr lang="en-US" sz="2800" dirty="0"/>
              <a:t>to review compliance, competence, and availability of supplies as well as ICU HAI rates.</a:t>
            </a:r>
          </a:p>
          <a:p>
            <a:pPr lvl="0" algn="just"/>
            <a:r>
              <a:rPr lang="en-US" sz="2800" b="1" dirty="0"/>
              <a:t>Develop/adapt/utilize procedures and tools/job aids </a:t>
            </a:r>
            <a:r>
              <a:rPr lang="en-US" sz="2800" dirty="0"/>
              <a:t>to remind HCWs to perform expected IPC practices.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F6625-9730-43C7-955A-78E36004500E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69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195" y="670560"/>
            <a:ext cx="9064979" cy="878084"/>
          </a:xfrm>
        </p:spPr>
        <p:txBody>
          <a:bodyPr/>
          <a:lstStyle/>
          <a:p>
            <a:r>
              <a:rPr lang="en-US" dirty="0" smtClean="0"/>
              <a:t>Summary (1/1)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120" y="1493520"/>
            <a:ext cx="10485120" cy="4441613"/>
          </a:xfrm>
        </p:spPr>
        <p:txBody>
          <a:bodyPr>
            <a:normAutofit fontScale="92500"/>
          </a:bodyPr>
          <a:lstStyle/>
          <a:p>
            <a:r>
              <a:rPr lang="en-GB" sz="2800" dirty="0" smtClean="0"/>
              <a:t>Need for vigilance in  compliance with recommended IPC practices in ICU.</a:t>
            </a:r>
          </a:p>
          <a:p>
            <a:r>
              <a:rPr lang="en-GB" sz="2800" dirty="0" smtClean="0"/>
              <a:t>The ICU provides a setting in which close monitoring and constant care is provided to patients (Old very Young)</a:t>
            </a:r>
          </a:p>
          <a:p>
            <a:r>
              <a:rPr lang="en-GB" sz="2800" dirty="0" smtClean="0"/>
              <a:t>Patients in the ICU tend to have multiple medical devices for monitoring and interventions</a:t>
            </a:r>
          </a:p>
          <a:p>
            <a:r>
              <a:rPr lang="en-GB" sz="2800" dirty="0" smtClean="0"/>
              <a:t>Typical ICU patients are more vulnerable and receive more hands-on care, thus there are more opportunities for transmission.</a:t>
            </a:r>
          </a:p>
          <a:p>
            <a:r>
              <a:rPr lang="en-GB" sz="2800" dirty="0" smtClean="0"/>
              <a:t>ICU staff needs to be experts on incorporating IPC Standard Precautions practices into all aspects of the ICU workflow at all times.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DEB6-8865-4D44-8050-565C7CB3C8E8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 Sec. 4 Chap. 2: IPC in ICU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7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Theme7</Template>
  <TotalTime>1415</TotalTime>
  <Words>1372</Words>
  <Application>Microsoft Office PowerPoint</Application>
  <PresentationFormat>Custom</PresentationFormat>
  <Paragraphs>193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Theme7</vt:lpstr>
      <vt:lpstr>Volume 2_Section 4  CHAPTER 2: IPC in Intensive Care Unit (ICU)   </vt:lpstr>
      <vt:lpstr> Chapter contents  </vt:lpstr>
      <vt:lpstr>Learning Objective</vt:lpstr>
      <vt:lpstr> 1. Overview of IPC in ICU (1/1) </vt:lpstr>
      <vt:lpstr>2. Characteristics of ICU Patients and Settings (1/1)</vt:lpstr>
      <vt:lpstr>3. Devices Commonly Used for ICU Patients (1/1)</vt:lpstr>
      <vt:lpstr>4. Sources and Transmission of Infection in the ICU (1/3)</vt:lpstr>
      <vt:lpstr>Transmission of …(2/3)</vt:lpstr>
      <vt:lpstr>Infection Entry Points(3/3) </vt:lpstr>
      <vt:lpstr> Challenges for Infections in the ICU (1/1) </vt:lpstr>
      <vt:lpstr>  Role of the HCW in Transmitting Infection within the ICU (1/1) </vt:lpstr>
      <vt:lpstr>Best Practices and Key Components (1/1)</vt:lpstr>
      <vt:lpstr> 5. General Interventions for IPC in the ICU (1/5) </vt:lpstr>
      <vt:lpstr>  Interventions for the Prevention of Device-Associated Infections in the ICU (2/5) </vt:lpstr>
      <vt:lpstr>  Interventions for the Prevention of Specific Types of HAIs in the ICU (3/5) </vt:lpstr>
      <vt:lpstr>Interventions … (4/5)</vt:lpstr>
      <vt:lpstr>  Interventions … (5/5/) </vt:lpstr>
      <vt:lpstr>Additional Information for Facility Leaders (1/1)</vt:lpstr>
      <vt:lpstr>Strategies for Health Facilities to Prevent HAIs in the ICU (1/ 3)</vt:lpstr>
      <vt:lpstr>  Strategies for …(2/3)</vt:lpstr>
      <vt:lpstr> Strategies for ICUs with Ongoing Issues (3/3) </vt:lpstr>
      <vt:lpstr>Summary (1/1)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6. Mortuary IPC for Handling Human Remains</dc:title>
  <dc:creator>yayene Tad</dc:creator>
  <cp:lastModifiedBy>moh</cp:lastModifiedBy>
  <cp:revision>44</cp:revision>
  <dcterms:created xsi:type="dcterms:W3CDTF">2018-12-11T15:00:38Z</dcterms:created>
  <dcterms:modified xsi:type="dcterms:W3CDTF">2019-09-23T06:53:13Z</dcterms:modified>
</cp:coreProperties>
</file>