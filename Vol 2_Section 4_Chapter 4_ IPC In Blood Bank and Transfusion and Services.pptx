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0" r:id="rId1"/>
  </p:sldMasterIdLst>
  <p:notesMasterIdLst>
    <p:notesMasterId r:id="rId22"/>
  </p:notesMasterIdLst>
  <p:sldIdLst>
    <p:sldId id="272" r:id="rId2"/>
    <p:sldId id="308" r:id="rId3"/>
    <p:sldId id="362" r:id="rId4"/>
    <p:sldId id="344" r:id="rId5"/>
    <p:sldId id="345" r:id="rId6"/>
    <p:sldId id="346" r:id="rId7"/>
    <p:sldId id="347" r:id="rId8"/>
    <p:sldId id="348" r:id="rId9"/>
    <p:sldId id="349" r:id="rId10"/>
    <p:sldId id="350" r:id="rId11"/>
    <p:sldId id="351" r:id="rId12"/>
    <p:sldId id="352" r:id="rId13"/>
    <p:sldId id="353" r:id="rId14"/>
    <p:sldId id="354" r:id="rId15"/>
    <p:sldId id="355" r:id="rId16"/>
    <p:sldId id="356" r:id="rId17"/>
    <p:sldId id="357" r:id="rId18"/>
    <p:sldId id="358" r:id="rId19"/>
    <p:sldId id="359" r:id="rId20"/>
    <p:sldId id="361"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2" autoAdjust="0"/>
    <p:restoredTop sz="94660"/>
  </p:normalViewPr>
  <p:slideViewPr>
    <p:cSldViewPr snapToGrid="0">
      <p:cViewPr varScale="1">
        <p:scale>
          <a:sx n="68" d="100"/>
          <a:sy n="68" d="100"/>
        </p:scale>
        <p:origin x="816"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E7269BE-FE39-41DA-9D4E-AA67771FB734}" type="datetimeFigureOut">
              <a:rPr lang="en-US" smtClean="0"/>
              <a:pPr/>
              <a:t>28-Feb-24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ACE9FDA-DA69-4B03-8209-1DB69FFE3E65}" type="slidenum">
              <a:rPr lang="en-US" smtClean="0"/>
              <a:pPr/>
              <a:t>‹#›</a:t>
            </a:fld>
            <a:endParaRPr lang="en-US"/>
          </a:p>
        </p:txBody>
      </p:sp>
    </p:spTree>
    <p:extLst>
      <p:ext uri="{BB962C8B-B14F-4D97-AF65-F5344CB8AC3E}">
        <p14:creationId xmlns:p14="http://schemas.microsoft.com/office/powerpoint/2010/main" val="3828734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shadeToTitle="1">
        <a:gradFill flip="none" rotWithShape="1">
          <a:gsLst>
            <a:gs pos="0">
              <a:schemeClr val="accent2">
                <a:lumMod val="0"/>
                <a:lumOff val="100000"/>
                <a:alpha val="88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grpSp>
        <p:nvGrpSpPr>
          <p:cNvPr id="18" name="Group 17"/>
          <p:cNvGrpSpPr/>
          <p:nvPr/>
        </p:nvGrpSpPr>
        <p:grpSpPr>
          <a:xfrm>
            <a:off x="1" y="109831"/>
            <a:ext cx="12366172" cy="6598881"/>
            <a:chOff x="0" y="211434"/>
            <a:chExt cx="9278874" cy="6958648"/>
          </a:xfrm>
          <a:noFill/>
        </p:grpSpPr>
        <p:pic>
          <p:nvPicPr>
            <p:cNvPr id="8" name="Picture 7" descr="SD-PanelTitle-R1.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7" y="211434"/>
              <a:ext cx="9278197" cy="6958648"/>
            </a:xfrm>
            <a:prstGeom prst="rect">
              <a:avLst/>
            </a:prstGeom>
            <a:grpFill/>
          </p:spPr>
        </p:pic>
        <p:sp>
          <p:nvSpPr>
            <p:cNvPr id="11" name="Rectangle 10"/>
            <p:cNvSpPr/>
            <p:nvPr/>
          </p:nvSpPr>
          <p:spPr>
            <a:xfrm>
              <a:off x="1515532" y="1682076"/>
              <a:ext cx="6112935" cy="3656814"/>
            </a:xfrm>
            <a:prstGeom prst="rect">
              <a:avLst/>
            </a:prstGeom>
            <a:grpFill/>
            <a:ln w="15875" cap="flat">
              <a:miter lim="800000"/>
            </a:ln>
          </p:spPr>
          <p:style>
            <a:lnRef idx="1">
              <a:schemeClr val="accent1"/>
            </a:lnRef>
            <a:fillRef idx="3">
              <a:schemeClr val="accent1"/>
            </a:fillRef>
            <a:effectRef idx="2">
              <a:schemeClr val="accent1"/>
            </a:effectRef>
            <a:fontRef idx="minor">
              <a:schemeClr val="lt1"/>
            </a:fontRef>
          </p:style>
        </p:sp>
        <p:pic>
          <p:nvPicPr>
            <p:cNvPr id="12" name="Picture 11" descr="HDRibbonTitle-UniformTrim.png"/>
            <p:cNvPicPr>
              <a:picLocks noChangeAspect="1"/>
            </p:cNvPicPr>
            <p:nvPr/>
          </p:nvPicPr>
          <p:blipFill rotWithShape="1">
            <a:blip r:embed="rId3" cstate="print">
              <a:extLst>
                <a:ext uri="{28A0092B-C50C-407E-A947-70E740481C1C}">
                  <a14:useLocalDpi xmlns:a14="http://schemas.microsoft.com/office/drawing/2010/main" val="0"/>
                </a:ext>
              </a:extLst>
            </a:blip>
            <a:srcRect l="-2" r="47959"/>
            <a:stretch/>
          </p:blipFill>
          <p:spPr>
            <a:xfrm>
              <a:off x="0" y="3128434"/>
              <a:ext cx="1664208" cy="612648"/>
            </a:xfrm>
            <a:prstGeom prst="rect">
              <a:avLst/>
            </a:prstGeom>
            <a:grpFill/>
          </p:spPr>
        </p:pic>
        <p:pic>
          <p:nvPicPr>
            <p:cNvPr id="13" name="Picture 12" descr="HDRibbonTitle-UniformTrim.png"/>
            <p:cNvPicPr>
              <a:picLocks noChangeAspect="1"/>
            </p:cNvPicPr>
            <p:nvPr/>
          </p:nvPicPr>
          <p:blipFill rotWithShape="1">
            <a:blip r:embed="rId3" cstate="print">
              <a:extLst>
                <a:ext uri="{28A0092B-C50C-407E-A947-70E740481C1C}">
                  <a14:useLocalDpi xmlns:a14="http://schemas.microsoft.com/office/drawing/2010/main" val="0"/>
                </a:ext>
              </a:extLst>
            </a:blip>
            <a:srcRect l="-2" r="47959"/>
            <a:stretch/>
          </p:blipFill>
          <p:spPr>
            <a:xfrm>
              <a:off x="7480469" y="3128434"/>
              <a:ext cx="1664208" cy="612648"/>
            </a:xfrm>
            <a:prstGeom prst="rect">
              <a:avLst/>
            </a:prstGeom>
            <a:grpFill/>
          </p:spPr>
        </p:pic>
      </p:grpSp>
      <p:sp>
        <p:nvSpPr>
          <p:cNvPr id="2" name="Title 1"/>
          <p:cNvSpPr>
            <a:spLocks noGrp="1"/>
          </p:cNvSpPr>
          <p:nvPr>
            <p:ph type="ctrTitle"/>
          </p:nvPr>
        </p:nvSpPr>
        <p:spPr>
          <a:xfrm>
            <a:off x="2208884" y="1879926"/>
            <a:ext cx="7760513" cy="1528328"/>
          </a:xfrm>
        </p:spPr>
        <p:txBody>
          <a:bodyPr anchor="b">
            <a:noAutofit/>
          </a:bodyPr>
          <a:lstStyle>
            <a:lvl1pPr marL="0" marR="0" indent="0" algn="ctr" defTabSz="457200" rtl="0" eaLnBrk="1" fontAlgn="auto" latinLnBrk="0" hangingPunct="1">
              <a:lnSpc>
                <a:spcPct val="100000"/>
              </a:lnSpc>
              <a:spcBef>
                <a:spcPct val="0"/>
              </a:spcBef>
              <a:spcAft>
                <a:spcPts val="0"/>
              </a:spcAft>
              <a:buClrTx/>
              <a:buSzTx/>
              <a:buFontTx/>
              <a:buNone/>
              <a:tabLst/>
              <a:defRPr lang="en-US" sz="3600" b="1" smtClean="0">
                <a:effectLst/>
              </a:defRPr>
            </a:lvl1pPr>
          </a:lstStyle>
          <a:p>
            <a:r>
              <a:rPr lang="en-US" altLang="en-US" smtClean="0">
                <a:solidFill>
                  <a:prstClr val="black"/>
                </a:solidFill>
              </a:rPr>
              <a:t>Click to edit Master title style</a:t>
            </a:r>
            <a:endParaRPr lang="en-US" altLang="en-US" dirty="0">
              <a:solidFill>
                <a:prstClr val="black"/>
              </a:solidFill>
            </a:endParaRPr>
          </a:p>
        </p:txBody>
      </p:sp>
      <p:sp>
        <p:nvSpPr>
          <p:cNvPr id="3" name="Subtitle 2"/>
          <p:cNvSpPr>
            <a:spLocks noGrp="1"/>
          </p:cNvSpPr>
          <p:nvPr>
            <p:ph type="subTitle" idx="1"/>
          </p:nvPr>
        </p:nvSpPr>
        <p:spPr>
          <a:xfrm>
            <a:off x="3110204" y="3597481"/>
            <a:ext cx="5971593" cy="1012902"/>
          </a:xfrm>
        </p:spPr>
        <p:txBody>
          <a:bodyPr anchor="t">
            <a:normAutofit/>
          </a:bodyPr>
          <a:lstStyle>
            <a:lvl1pPr marL="0" indent="0" algn="ctr">
              <a:buNone/>
              <a:defRPr sz="3200" b="0" i="0">
                <a:solidFill>
                  <a:schemeClr val="tx1"/>
                </a:solidFill>
                <a:latin typeface="Arial" charset="0"/>
                <a:ea typeface="Arial" charset="0"/>
                <a:cs typeface="Arial"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561655" y="4972192"/>
            <a:ext cx="1296208" cy="361810"/>
          </a:xfrm>
        </p:spPr>
        <p:txBody>
          <a:bodyPr/>
          <a:lstStyle/>
          <a:p>
            <a:fld id="{C8794B71-8FF1-4FEB-AE5B-DFB21DC7E8C7}" type="datetime1">
              <a:rPr lang="en-US" smtClean="0"/>
              <a:t>28-Feb-24</a:t>
            </a:fld>
            <a:endParaRPr lang="en-US"/>
          </a:p>
        </p:txBody>
      </p:sp>
      <p:sp>
        <p:nvSpPr>
          <p:cNvPr id="5" name="Footer Placeholder 4"/>
          <p:cNvSpPr>
            <a:spLocks noGrp="1"/>
          </p:cNvSpPr>
          <p:nvPr>
            <p:ph type="ftr" sz="quarter" idx="11"/>
          </p:nvPr>
        </p:nvSpPr>
        <p:spPr>
          <a:xfrm>
            <a:off x="2562579" y="4972194"/>
            <a:ext cx="4999075" cy="361809"/>
          </a:xfrm>
        </p:spPr>
        <p:txBody>
          <a:bodyPr/>
          <a:lstStyle/>
          <a:p>
            <a:r>
              <a:rPr lang="en-US" smtClean="0"/>
              <a:t>Vol. 2, Sec.4, Chap 4: IPC in Blood Bank and Transfusion Services</a:t>
            </a:r>
            <a:endParaRPr lang="en-US"/>
          </a:p>
        </p:txBody>
      </p:sp>
      <p:sp>
        <p:nvSpPr>
          <p:cNvPr id="6" name="Slide Number Placeholder 5"/>
          <p:cNvSpPr>
            <a:spLocks noGrp="1"/>
          </p:cNvSpPr>
          <p:nvPr>
            <p:ph type="sldNum" sz="quarter" idx="12"/>
          </p:nvPr>
        </p:nvSpPr>
        <p:spPr>
          <a:xfrm>
            <a:off x="9081797" y="4972193"/>
            <a:ext cx="968201" cy="361809"/>
          </a:xfrm>
        </p:spPr>
        <p:txBody>
          <a:bodyPr/>
          <a:lstStyle/>
          <a:p>
            <a:fld id="{152743B3-639B-4115-8757-963852785863}" type="slidenum">
              <a:rPr lang="en-US" smtClean="0"/>
              <a:pPr/>
              <a:t>‹#›</a:t>
            </a:fld>
            <a:endParaRPr lang="en-US"/>
          </a:p>
        </p:txBody>
      </p:sp>
      <p:cxnSp>
        <p:nvCxnSpPr>
          <p:cNvPr id="15" name="Straight Connector 14"/>
          <p:cNvCxnSpPr/>
          <p:nvPr/>
        </p:nvCxnSpPr>
        <p:spPr>
          <a:xfrm>
            <a:off x="2693101" y="3471329"/>
            <a:ext cx="6817444" cy="0"/>
          </a:xfrm>
          <a:prstGeom prst="line">
            <a:avLst/>
          </a:prstGeom>
          <a:ln w="15875"/>
        </p:spPr>
        <p:style>
          <a:lnRef idx="2">
            <a:schemeClr val="accent1"/>
          </a:lnRef>
          <a:fillRef idx="0">
            <a:schemeClr val="accent1"/>
          </a:fillRef>
          <a:effectRef idx="1">
            <a:schemeClr val="accent1"/>
          </a:effectRef>
          <a:fontRef idx="minor">
            <a:schemeClr val="tx1"/>
          </a:fontRef>
        </p:style>
      </p:cxnSp>
      <p:grpSp>
        <p:nvGrpSpPr>
          <p:cNvPr id="9" name="Group 8"/>
          <p:cNvGrpSpPr/>
          <p:nvPr/>
        </p:nvGrpSpPr>
        <p:grpSpPr>
          <a:xfrm>
            <a:off x="3972920" y="76751"/>
            <a:ext cx="4038801" cy="1229383"/>
            <a:chOff x="2823850" y="0"/>
            <a:chExt cx="3344655" cy="1558429"/>
          </a:xfrm>
        </p:grpSpPr>
        <p:pic>
          <p:nvPicPr>
            <p:cNvPr id="16" name="Picture 15" descr="Ethiopia_MOH"/>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3954364" y="0"/>
              <a:ext cx="1083629" cy="1033072"/>
            </a:xfrm>
            <a:prstGeom prst="ellipse">
              <a:avLst/>
            </a:prstGeom>
            <a:noFill/>
            <a:ln w="9525">
              <a:noFill/>
              <a:miter lim="800000"/>
              <a:headEnd/>
              <a:tailEnd/>
            </a:ln>
          </p:spPr>
        </p:pic>
        <p:sp>
          <p:nvSpPr>
            <p:cNvPr id="7" name="TextBox 6"/>
            <p:cNvSpPr txBox="1"/>
            <p:nvPr userDrawn="1"/>
          </p:nvSpPr>
          <p:spPr>
            <a:xfrm>
              <a:off x="2823850" y="1037574"/>
              <a:ext cx="3344655" cy="520855"/>
            </a:xfrm>
            <a:prstGeom prst="rect">
              <a:avLst/>
            </a:prstGeom>
            <a:noFill/>
          </p:spPr>
          <p:txBody>
            <a:bodyPr wrap="square" rtlCol="0">
              <a:spAutoFit/>
            </a:bodyPr>
            <a:lstStyle/>
            <a:p>
              <a:pPr algn="ctr">
                <a:lnSpc>
                  <a:spcPct val="115000"/>
                </a:lnSpc>
                <a:spcAft>
                  <a:spcPts val="1000"/>
                </a:spcAft>
              </a:pPr>
              <a:r>
                <a:rPr lang="en-US" sz="1800" smtClean="0">
                  <a:solidFill>
                    <a:srgbClr val="0066FF"/>
                  </a:solidFill>
                  <a:effectLst/>
                  <a:latin typeface="Britannic Bold" charset="0"/>
                  <a:ea typeface="Calibri" charset="0"/>
                  <a:cs typeface="Times New Roman" charset="0"/>
                </a:rPr>
                <a:t>Federal Ministry of Health</a:t>
              </a:r>
              <a:endParaRPr lang="en-US" sz="1600" smtClean="0">
                <a:effectLst/>
                <a:latin typeface="Calibri" charset="0"/>
                <a:ea typeface="Calibri" charset="0"/>
                <a:cs typeface="Times New Roman" charset="0"/>
              </a:endParaRPr>
            </a:p>
          </p:txBody>
        </p:sp>
      </p:grpSp>
    </p:spTree>
    <p:extLst>
      <p:ext uri="{BB962C8B-B14F-4D97-AF65-F5344CB8AC3E}">
        <p14:creationId xmlns:p14="http://schemas.microsoft.com/office/powerpoint/2010/main" val="17164388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gradFill flip="none" rotWithShape="1">
          <a:gsLst>
            <a:gs pos="23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cxnSp>
        <p:nvCxnSpPr>
          <p:cNvPr id="7" name="Straight Connector 6"/>
          <p:cNvCxnSpPr/>
          <p:nvPr/>
        </p:nvCxnSpPr>
        <p:spPr>
          <a:xfrm>
            <a:off x="1704620" y="2356260"/>
            <a:ext cx="8794045"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569155" y="1030778"/>
            <a:ext cx="9064979" cy="1188426"/>
          </a:xfrm>
        </p:spPr>
        <p:txBody>
          <a:bodyPr>
            <a:noAutofit/>
          </a:bodyPr>
          <a:lstStyle>
            <a:lvl1pPr>
              <a:defRPr sz="4800" b="1" u="none"/>
            </a:lvl1pPr>
          </a:lstStyle>
          <a:p>
            <a:r>
              <a:rPr lang="en-US" smtClean="0"/>
              <a:t>Click to edit Master title style</a:t>
            </a:r>
            <a:endParaRPr lang="en-US" dirty="0"/>
          </a:p>
        </p:txBody>
      </p:sp>
      <p:sp>
        <p:nvSpPr>
          <p:cNvPr id="3" name="Content Placeholder 2"/>
          <p:cNvSpPr>
            <a:spLocks noGrp="1"/>
          </p:cNvSpPr>
          <p:nvPr>
            <p:ph idx="1"/>
          </p:nvPr>
        </p:nvSpPr>
        <p:spPr/>
        <p:txBody>
          <a:bodyPr>
            <a:normAutofit/>
          </a:bodyPr>
          <a:lstStyle>
            <a:lvl1pPr>
              <a:defRPr sz="3200"/>
            </a:lvl1pPr>
            <a:lvl2pPr>
              <a:defRPr sz="2800"/>
            </a:lvl2pPr>
            <a:lvl3pPr>
              <a:defRPr sz="2400"/>
            </a:lvl3pPr>
            <a:lvl4pPr>
              <a:defRPr sz="20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8475561" y="5960533"/>
            <a:ext cx="1133600" cy="279400"/>
          </a:xfrm>
        </p:spPr>
        <p:txBody>
          <a:bodyPr/>
          <a:lstStyle/>
          <a:p>
            <a:fld id="{F437540E-C773-474F-A3A4-EB93411BB130}" type="datetime1">
              <a:rPr lang="en-US" smtClean="0"/>
              <a:t>28-Feb-24</a:t>
            </a:fld>
            <a:endParaRPr lang="en-US"/>
          </a:p>
        </p:txBody>
      </p:sp>
      <p:sp>
        <p:nvSpPr>
          <p:cNvPr id="5" name="Footer Placeholder 4"/>
          <p:cNvSpPr>
            <a:spLocks noGrp="1"/>
          </p:cNvSpPr>
          <p:nvPr>
            <p:ph type="ftr" sz="quarter" idx="11"/>
          </p:nvPr>
        </p:nvSpPr>
        <p:spPr/>
        <p:txBody>
          <a:bodyPr/>
          <a:lstStyle/>
          <a:p>
            <a:r>
              <a:rPr lang="en-US" smtClean="0"/>
              <a:t>Vol. 2, Sec.4, Chap 4: IPC in Blood Bank and Transfusion Services</a:t>
            </a:r>
            <a:endParaRPr lang="en-US"/>
          </a:p>
        </p:txBody>
      </p:sp>
      <p:sp>
        <p:nvSpPr>
          <p:cNvPr id="6" name="Slide Number Placeholder 5"/>
          <p:cNvSpPr>
            <a:spLocks noGrp="1"/>
          </p:cNvSpPr>
          <p:nvPr>
            <p:ph type="sldNum" sz="quarter" idx="12"/>
          </p:nvPr>
        </p:nvSpPr>
        <p:spPr>
          <a:xfrm>
            <a:off x="9609161" y="5960533"/>
            <a:ext cx="965539" cy="279400"/>
          </a:xfrm>
        </p:spPr>
        <p:txBody>
          <a:bodyPr/>
          <a:lstStyle/>
          <a:p>
            <a:fld id="{152743B3-639B-4115-8757-963852785863}" type="slidenum">
              <a:rPr lang="en-US" smtClean="0"/>
              <a:pPr/>
              <a:t>‹#›</a:t>
            </a:fld>
            <a:endParaRPr lang="en-US"/>
          </a:p>
        </p:txBody>
      </p:sp>
    </p:spTree>
    <p:extLst>
      <p:ext uri="{BB962C8B-B14F-4D97-AF65-F5344CB8AC3E}">
        <p14:creationId xmlns:p14="http://schemas.microsoft.com/office/powerpoint/2010/main" val="10405604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gradFill flip="none" rotWithShape="1">
          <a:gsLst>
            <a:gs pos="0">
              <a:schemeClr val="accent3">
                <a:lumMod val="0"/>
                <a:lumOff val="100000"/>
                <a:alpha val="93000"/>
              </a:schemeClr>
            </a:gs>
            <a:gs pos="35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704620" y="1641413"/>
            <a:ext cx="8794045" cy="1822514"/>
          </a:xfrm>
        </p:spPr>
        <p:txBody>
          <a:bodyPr anchor="b">
            <a:normAutofit/>
          </a:bodyPr>
          <a:lstStyle>
            <a:lvl1pPr algn="ct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704620" y="3734860"/>
            <a:ext cx="8794045"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E113171-B219-4175-9714-1EB7164C305E}" type="datetime1">
              <a:rPr lang="en-US" smtClean="0"/>
              <a:t>28-Feb-24</a:t>
            </a:fld>
            <a:endParaRPr lang="en-US"/>
          </a:p>
        </p:txBody>
      </p:sp>
      <p:sp>
        <p:nvSpPr>
          <p:cNvPr id="5" name="Footer Placeholder 4"/>
          <p:cNvSpPr>
            <a:spLocks noGrp="1"/>
          </p:cNvSpPr>
          <p:nvPr>
            <p:ph type="ftr" sz="quarter" idx="11"/>
          </p:nvPr>
        </p:nvSpPr>
        <p:spPr/>
        <p:txBody>
          <a:bodyPr/>
          <a:lstStyle/>
          <a:p>
            <a:r>
              <a:rPr lang="en-US" smtClean="0"/>
              <a:t>Vol. 2, Sec.4, Chap 4: IPC in Blood Bank and Transfusion Services</a:t>
            </a:r>
            <a:endParaRPr lang="en-US"/>
          </a:p>
        </p:txBody>
      </p:sp>
      <p:sp>
        <p:nvSpPr>
          <p:cNvPr id="6" name="Slide Number Placeholder 5"/>
          <p:cNvSpPr>
            <a:spLocks noGrp="1"/>
          </p:cNvSpPr>
          <p:nvPr>
            <p:ph type="sldNum" sz="quarter" idx="12"/>
          </p:nvPr>
        </p:nvSpPr>
        <p:spPr>
          <a:xfrm>
            <a:off x="10106788" y="5960533"/>
            <a:ext cx="1154187" cy="279400"/>
          </a:xfrm>
        </p:spPr>
        <p:txBody>
          <a:bodyPr/>
          <a:lstStyle/>
          <a:p>
            <a:fld id="{152743B3-639B-4115-8757-963852785863}" type="slidenum">
              <a:rPr lang="en-US" smtClean="0"/>
              <a:pPr/>
              <a:t>‹#›</a:t>
            </a:fld>
            <a:endParaRPr lang="en-US"/>
          </a:p>
        </p:txBody>
      </p:sp>
      <p:cxnSp>
        <p:nvCxnSpPr>
          <p:cNvPr id="31" name="Straight Connector 30"/>
          <p:cNvCxnSpPr/>
          <p:nvPr/>
        </p:nvCxnSpPr>
        <p:spPr>
          <a:xfrm>
            <a:off x="1704622" y="3599392"/>
            <a:ext cx="879404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0397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cxnSp>
        <p:nvCxnSpPr>
          <p:cNvPr id="8" name="Straight Connector 7"/>
          <p:cNvCxnSpPr/>
          <p:nvPr/>
        </p:nvCxnSpPr>
        <p:spPr>
          <a:xfrm>
            <a:off x="1704620" y="2356260"/>
            <a:ext cx="8794045"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569153" y="1052394"/>
            <a:ext cx="9064979" cy="130386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569155" y="2487168"/>
            <a:ext cx="4450080" cy="344728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93536" y="2487168"/>
            <a:ext cx="4450080" cy="344728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353A5C7-7F83-4727-99D8-4F1FF9AB67C0}" type="datetime1">
              <a:rPr lang="en-US" smtClean="0"/>
              <a:t>28-Feb-24</a:t>
            </a:fld>
            <a:endParaRPr lang="en-US"/>
          </a:p>
        </p:txBody>
      </p:sp>
      <p:sp>
        <p:nvSpPr>
          <p:cNvPr id="6" name="Footer Placeholder 5"/>
          <p:cNvSpPr>
            <a:spLocks noGrp="1"/>
          </p:cNvSpPr>
          <p:nvPr>
            <p:ph type="ftr" sz="quarter" idx="11"/>
          </p:nvPr>
        </p:nvSpPr>
        <p:spPr/>
        <p:txBody>
          <a:bodyPr/>
          <a:lstStyle/>
          <a:p>
            <a:r>
              <a:rPr lang="en-US" smtClean="0"/>
              <a:t>Vol. 2, Sec.4, Chap 4: IPC in Blood Bank and Transfusion Services</a:t>
            </a:r>
            <a:endParaRPr lang="en-US"/>
          </a:p>
        </p:txBody>
      </p:sp>
      <p:sp>
        <p:nvSpPr>
          <p:cNvPr id="7" name="Slide Number Placeholder 6"/>
          <p:cNvSpPr>
            <a:spLocks noGrp="1"/>
          </p:cNvSpPr>
          <p:nvPr>
            <p:ph type="sldNum" sz="quarter" idx="12"/>
          </p:nvPr>
        </p:nvSpPr>
        <p:spPr>
          <a:xfrm>
            <a:off x="10106788" y="5934457"/>
            <a:ext cx="1021184" cy="305477"/>
          </a:xfrm>
        </p:spPr>
        <p:txBody>
          <a:bodyPr/>
          <a:lstStyle/>
          <a:p>
            <a:fld id="{152743B3-639B-4115-8757-963852785863}" type="slidenum">
              <a:rPr lang="en-US" smtClean="0"/>
              <a:pPr/>
              <a:t>‹#›</a:t>
            </a:fld>
            <a:endParaRPr lang="en-US"/>
          </a:p>
        </p:txBody>
      </p:sp>
    </p:spTree>
    <p:extLst>
      <p:ext uri="{BB962C8B-B14F-4D97-AF65-F5344CB8AC3E}">
        <p14:creationId xmlns:p14="http://schemas.microsoft.com/office/powerpoint/2010/main" val="2137443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569157" y="2658533"/>
            <a:ext cx="44500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569157" y="3243263"/>
            <a:ext cx="4450080" cy="270662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9109" y="2658533"/>
            <a:ext cx="44500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89109" y="3243263"/>
            <a:ext cx="4450080" cy="270662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D0ED4DF-4106-484F-9306-4DCFE12FFEDF}" type="datetime1">
              <a:rPr lang="en-US" smtClean="0"/>
              <a:t>28-Feb-24</a:t>
            </a:fld>
            <a:endParaRPr lang="en-US"/>
          </a:p>
        </p:txBody>
      </p:sp>
      <p:sp>
        <p:nvSpPr>
          <p:cNvPr id="8" name="Footer Placeholder 7"/>
          <p:cNvSpPr>
            <a:spLocks noGrp="1"/>
          </p:cNvSpPr>
          <p:nvPr>
            <p:ph type="ftr" sz="quarter" idx="11"/>
          </p:nvPr>
        </p:nvSpPr>
        <p:spPr/>
        <p:txBody>
          <a:bodyPr/>
          <a:lstStyle/>
          <a:p>
            <a:r>
              <a:rPr lang="en-US" smtClean="0"/>
              <a:t>Vol. 2, Sec.4, Chap 4: IPC in Blood Bank and Transfusion Services</a:t>
            </a:r>
            <a:endParaRPr lang="en-US"/>
          </a:p>
        </p:txBody>
      </p:sp>
      <p:sp>
        <p:nvSpPr>
          <p:cNvPr id="9" name="Slide Number Placeholder 8"/>
          <p:cNvSpPr>
            <a:spLocks noGrp="1"/>
          </p:cNvSpPr>
          <p:nvPr>
            <p:ph type="sldNum" sz="quarter" idx="12"/>
          </p:nvPr>
        </p:nvSpPr>
        <p:spPr/>
        <p:txBody>
          <a:bodyPr/>
          <a:lstStyle/>
          <a:p>
            <a:fld id="{152743B3-639B-4115-8757-963852785863}" type="slidenum">
              <a:rPr lang="en-US" smtClean="0"/>
              <a:pPr/>
              <a:t>‹#›</a:t>
            </a:fld>
            <a:endParaRPr lang="en-US"/>
          </a:p>
        </p:txBody>
      </p:sp>
      <p:cxnSp>
        <p:nvCxnSpPr>
          <p:cNvPr id="41" name="Straight Connector 40"/>
          <p:cNvCxnSpPr/>
          <p:nvPr/>
        </p:nvCxnSpPr>
        <p:spPr>
          <a:xfrm>
            <a:off x="1704622" y="2354670"/>
            <a:ext cx="879404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013817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9154" y="915338"/>
            <a:ext cx="9064980" cy="1303867"/>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D101EED-59BD-42A4-99B5-E2F52D384813}" type="datetime1">
              <a:rPr lang="en-US" smtClean="0"/>
              <a:t>28-Feb-24</a:t>
            </a:fld>
            <a:endParaRPr lang="en-US"/>
          </a:p>
        </p:txBody>
      </p:sp>
      <p:sp>
        <p:nvSpPr>
          <p:cNvPr id="4" name="Footer Placeholder 3"/>
          <p:cNvSpPr>
            <a:spLocks noGrp="1"/>
          </p:cNvSpPr>
          <p:nvPr>
            <p:ph type="ftr" sz="quarter" idx="11"/>
          </p:nvPr>
        </p:nvSpPr>
        <p:spPr/>
        <p:txBody>
          <a:bodyPr/>
          <a:lstStyle/>
          <a:p>
            <a:r>
              <a:rPr lang="en-US" smtClean="0"/>
              <a:t>Vol. 2, Sec.4, Chap 4: IPC in Blood Bank and Transfusion Services</a:t>
            </a:r>
            <a:endParaRPr lang="en-US"/>
          </a:p>
        </p:txBody>
      </p:sp>
      <p:sp>
        <p:nvSpPr>
          <p:cNvPr id="5" name="Slide Number Placeholder 4"/>
          <p:cNvSpPr>
            <a:spLocks noGrp="1"/>
          </p:cNvSpPr>
          <p:nvPr>
            <p:ph type="sldNum" sz="quarter" idx="12"/>
          </p:nvPr>
        </p:nvSpPr>
        <p:spPr/>
        <p:txBody>
          <a:bodyPr/>
          <a:lstStyle/>
          <a:p>
            <a:fld id="{152743B3-639B-4115-8757-963852785863}" type="slidenum">
              <a:rPr lang="en-US" smtClean="0"/>
              <a:pPr/>
              <a:t>‹#›</a:t>
            </a:fld>
            <a:endParaRPr lang="en-US"/>
          </a:p>
        </p:txBody>
      </p:sp>
      <p:cxnSp>
        <p:nvCxnSpPr>
          <p:cNvPr id="14" name="Straight Connector 13"/>
          <p:cNvCxnSpPr/>
          <p:nvPr/>
        </p:nvCxnSpPr>
        <p:spPr>
          <a:xfrm>
            <a:off x="1704622" y="2354670"/>
            <a:ext cx="879404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737624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FA8FD7-ABC8-40C6-B988-049B0AE77E0A}" type="datetime1">
              <a:rPr lang="en-US" smtClean="0"/>
              <a:t>28-Feb-24</a:t>
            </a:fld>
            <a:endParaRPr lang="en-US"/>
          </a:p>
        </p:txBody>
      </p:sp>
      <p:sp>
        <p:nvSpPr>
          <p:cNvPr id="3" name="Footer Placeholder 2"/>
          <p:cNvSpPr>
            <a:spLocks noGrp="1"/>
          </p:cNvSpPr>
          <p:nvPr>
            <p:ph type="ftr" sz="quarter" idx="11"/>
          </p:nvPr>
        </p:nvSpPr>
        <p:spPr/>
        <p:txBody>
          <a:bodyPr/>
          <a:lstStyle/>
          <a:p>
            <a:r>
              <a:rPr lang="en-US" smtClean="0"/>
              <a:t>Vol. 2, Sec.4, Chap 4: IPC in Blood Bank and Transfusion Services</a:t>
            </a:r>
            <a:endParaRPr lang="en-US"/>
          </a:p>
        </p:txBody>
      </p:sp>
      <p:sp>
        <p:nvSpPr>
          <p:cNvPr id="4" name="Slide Number Placeholder 3"/>
          <p:cNvSpPr>
            <a:spLocks noGrp="1"/>
          </p:cNvSpPr>
          <p:nvPr>
            <p:ph type="sldNum" sz="quarter" idx="12"/>
          </p:nvPr>
        </p:nvSpPr>
        <p:spPr/>
        <p:txBody>
          <a:bodyPr/>
          <a:lstStyle/>
          <a:p>
            <a:fld id="{152743B3-639B-4115-8757-963852785863}" type="slidenum">
              <a:rPr lang="en-US" smtClean="0"/>
              <a:pPr/>
              <a:t>‹#›</a:t>
            </a:fld>
            <a:endParaRPr lang="en-US"/>
          </a:p>
        </p:txBody>
      </p:sp>
    </p:spTree>
    <p:extLst>
      <p:ext uri="{BB962C8B-B14F-4D97-AF65-F5344CB8AC3E}">
        <p14:creationId xmlns:p14="http://schemas.microsoft.com/office/powerpoint/2010/main" val="640749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9153" y="1388534"/>
            <a:ext cx="3382397"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93417" y="982133"/>
            <a:ext cx="5140719" cy="4893735"/>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569153" y="3031065"/>
            <a:ext cx="3382397"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E7595F2-3ABA-4834-AE97-2C8D70A5462B}" type="datetime1">
              <a:rPr lang="en-US" smtClean="0"/>
              <a:t>28-Feb-24</a:t>
            </a:fld>
            <a:endParaRPr lang="en-US"/>
          </a:p>
        </p:txBody>
      </p:sp>
      <p:sp>
        <p:nvSpPr>
          <p:cNvPr id="6" name="Footer Placeholder 5"/>
          <p:cNvSpPr>
            <a:spLocks noGrp="1"/>
          </p:cNvSpPr>
          <p:nvPr>
            <p:ph type="ftr" sz="quarter" idx="11"/>
          </p:nvPr>
        </p:nvSpPr>
        <p:spPr/>
        <p:txBody>
          <a:bodyPr/>
          <a:lstStyle/>
          <a:p>
            <a:r>
              <a:rPr lang="en-US" smtClean="0"/>
              <a:t>Vol. 2, Sec.4, Chap 4: IPC in Blood Bank and Transfusion Services</a:t>
            </a:r>
            <a:endParaRPr lang="en-US"/>
          </a:p>
        </p:txBody>
      </p:sp>
      <p:sp>
        <p:nvSpPr>
          <p:cNvPr id="7" name="Slide Number Placeholder 6"/>
          <p:cNvSpPr>
            <a:spLocks noGrp="1"/>
          </p:cNvSpPr>
          <p:nvPr>
            <p:ph type="sldNum" sz="quarter" idx="12"/>
          </p:nvPr>
        </p:nvSpPr>
        <p:spPr/>
        <p:txBody>
          <a:bodyPr/>
          <a:lstStyle/>
          <a:p>
            <a:fld id="{152743B3-639B-4115-8757-963852785863}" type="slidenum">
              <a:rPr lang="en-US" smtClean="0"/>
              <a:pPr/>
              <a:t>‹#›</a:t>
            </a:fld>
            <a:endParaRPr lang="en-US"/>
          </a:p>
        </p:txBody>
      </p:sp>
      <p:cxnSp>
        <p:nvCxnSpPr>
          <p:cNvPr id="16" name="Straight Connector 15"/>
          <p:cNvCxnSpPr/>
          <p:nvPr/>
        </p:nvCxnSpPr>
        <p:spPr>
          <a:xfrm>
            <a:off x="1704621" y="2912533"/>
            <a:ext cx="3111459"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92529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9153" y="1883832"/>
            <a:ext cx="4842936" cy="1371600"/>
          </a:xfrm>
        </p:spPr>
        <p:txBody>
          <a:bodyPr anchor="b">
            <a:normAutofit/>
          </a:bodyPr>
          <a:lstStyle>
            <a:lvl1pPr algn="ctr">
              <a:defRPr sz="24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6910759" y="1032933"/>
            <a:ext cx="3905951"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569154" y="3255432"/>
            <a:ext cx="4842935"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CEA67DA-B926-43EC-BB91-441207FC2C4F}" type="datetime1">
              <a:rPr lang="en-US" smtClean="0"/>
              <a:t>28-Feb-24</a:t>
            </a:fld>
            <a:endParaRPr lang="en-US"/>
          </a:p>
        </p:txBody>
      </p:sp>
      <p:sp>
        <p:nvSpPr>
          <p:cNvPr id="6" name="Footer Placeholder 5"/>
          <p:cNvSpPr>
            <a:spLocks noGrp="1"/>
          </p:cNvSpPr>
          <p:nvPr>
            <p:ph type="ftr" sz="quarter" idx="11"/>
          </p:nvPr>
        </p:nvSpPr>
        <p:spPr/>
        <p:txBody>
          <a:bodyPr/>
          <a:lstStyle/>
          <a:p>
            <a:r>
              <a:rPr lang="en-US" smtClean="0"/>
              <a:t>Vol. 2, Sec.4, Chap 4: IPC in Blood Bank and Transfusion Services</a:t>
            </a:r>
            <a:endParaRPr lang="en-US"/>
          </a:p>
        </p:txBody>
      </p:sp>
      <p:sp>
        <p:nvSpPr>
          <p:cNvPr id="7" name="Slide Number Placeholder 6"/>
          <p:cNvSpPr>
            <a:spLocks noGrp="1"/>
          </p:cNvSpPr>
          <p:nvPr>
            <p:ph type="sldNum" sz="quarter" idx="12"/>
          </p:nvPr>
        </p:nvSpPr>
        <p:spPr/>
        <p:txBody>
          <a:bodyPr/>
          <a:lstStyle/>
          <a:p>
            <a:fld id="{152743B3-639B-4115-8757-963852785863}" type="slidenum">
              <a:rPr lang="en-US" smtClean="0"/>
              <a:pPr/>
              <a:t>‹#›</a:t>
            </a:fld>
            <a:endParaRPr lang="en-US"/>
          </a:p>
        </p:txBody>
      </p:sp>
    </p:spTree>
    <p:extLst>
      <p:ext uri="{BB962C8B-B14F-4D97-AF65-F5344CB8AC3E}">
        <p14:creationId xmlns:p14="http://schemas.microsoft.com/office/powerpoint/2010/main" val="1554546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9155" y="4815415"/>
            <a:ext cx="9064979"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368347" y="1032934"/>
            <a:ext cx="9455309"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569155" y="5382153"/>
            <a:ext cx="9064979"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2E5C18D-84C6-463C-85E5-00E10D15F5B1}" type="datetime1">
              <a:rPr lang="en-US" smtClean="0"/>
              <a:t>28-Feb-24</a:t>
            </a:fld>
            <a:endParaRPr lang="en-US"/>
          </a:p>
        </p:txBody>
      </p:sp>
      <p:sp>
        <p:nvSpPr>
          <p:cNvPr id="6" name="Footer Placeholder 5"/>
          <p:cNvSpPr>
            <a:spLocks noGrp="1"/>
          </p:cNvSpPr>
          <p:nvPr>
            <p:ph type="ftr" sz="quarter" idx="11"/>
          </p:nvPr>
        </p:nvSpPr>
        <p:spPr/>
        <p:txBody>
          <a:bodyPr/>
          <a:lstStyle/>
          <a:p>
            <a:r>
              <a:rPr lang="en-US" smtClean="0"/>
              <a:t>Vol. 2, Sec.4, Chap 4: IPC in Blood Bank and Transfusion Services</a:t>
            </a:r>
            <a:endParaRPr lang="en-US"/>
          </a:p>
        </p:txBody>
      </p:sp>
      <p:sp>
        <p:nvSpPr>
          <p:cNvPr id="7" name="Slide Number Placeholder 6"/>
          <p:cNvSpPr>
            <a:spLocks noGrp="1"/>
          </p:cNvSpPr>
          <p:nvPr>
            <p:ph type="sldNum" sz="quarter" idx="12"/>
          </p:nvPr>
        </p:nvSpPr>
        <p:spPr/>
        <p:txBody>
          <a:bodyPr/>
          <a:lstStyle/>
          <a:p>
            <a:fld id="{152743B3-639B-4115-8757-963852785863}" type="slidenum">
              <a:rPr lang="en-US" smtClean="0"/>
              <a:pPr/>
              <a:t>‹#›</a:t>
            </a:fld>
            <a:endParaRPr lang="en-US"/>
          </a:p>
        </p:txBody>
      </p:sp>
    </p:spTree>
    <p:extLst>
      <p:ext uri="{BB962C8B-B14F-4D97-AF65-F5344CB8AC3E}">
        <p14:creationId xmlns:p14="http://schemas.microsoft.com/office/powerpoint/2010/main" val="9805223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9155" y="906873"/>
            <a:ext cx="9064979" cy="3097860"/>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569154" y="4275666"/>
            <a:ext cx="9064981"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B54FF13-B2F6-4D54-AAC8-66F0BF9974FF}" type="datetime1">
              <a:rPr lang="en-US" smtClean="0"/>
              <a:t>28-Feb-24</a:t>
            </a:fld>
            <a:endParaRPr lang="en-US"/>
          </a:p>
        </p:txBody>
      </p:sp>
      <p:sp>
        <p:nvSpPr>
          <p:cNvPr id="5" name="Footer Placeholder 4"/>
          <p:cNvSpPr>
            <a:spLocks noGrp="1"/>
          </p:cNvSpPr>
          <p:nvPr>
            <p:ph type="ftr" sz="quarter" idx="11"/>
          </p:nvPr>
        </p:nvSpPr>
        <p:spPr/>
        <p:txBody>
          <a:bodyPr/>
          <a:lstStyle/>
          <a:p>
            <a:r>
              <a:rPr lang="en-US" smtClean="0"/>
              <a:t>Vol. 2, Sec.4, Chap 4: IPC in Blood Bank and Transfusion Services</a:t>
            </a:r>
            <a:endParaRPr lang="en-US"/>
          </a:p>
        </p:txBody>
      </p:sp>
      <p:sp>
        <p:nvSpPr>
          <p:cNvPr id="6" name="Slide Number Placeholder 5"/>
          <p:cNvSpPr>
            <a:spLocks noGrp="1"/>
          </p:cNvSpPr>
          <p:nvPr>
            <p:ph type="sldNum" sz="quarter" idx="12"/>
          </p:nvPr>
        </p:nvSpPr>
        <p:spPr/>
        <p:txBody>
          <a:bodyPr/>
          <a:lstStyle/>
          <a:p>
            <a:fld id="{152743B3-639B-4115-8757-963852785863}" type="slidenum">
              <a:rPr lang="en-US" smtClean="0"/>
              <a:pPr/>
              <a:t>‹#›</a:t>
            </a:fld>
            <a:endParaRPr lang="en-US"/>
          </a:p>
        </p:txBody>
      </p:sp>
      <p:cxnSp>
        <p:nvCxnSpPr>
          <p:cNvPr id="15" name="Straight Connector 14"/>
          <p:cNvCxnSpPr/>
          <p:nvPr/>
        </p:nvCxnSpPr>
        <p:spPr>
          <a:xfrm>
            <a:off x="1704621" y="4140199"/>
            <a:ext cx="8808567"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975331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779111" y="982132"/>
            <a:ext cx="8533667"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2133600" y="3352800"/>
            <a:ext cx="7857064"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569151" y="4343401"/>
            <a:ext cx="9064984"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17031D1-560C-45B6-A959-62E67814832C}" type="datetime1">
              <a:rPr lang="en-US" smtClean="0"/>
              <a:t>28-Feb-24</a:t>
            </a:fld>
            <a:endParaRPr lang="en-US"/>
          </a:p>
        </p:txBody>
      </p:sp>
      <p:sp>
        <p:nvSpPr>
          <p:cNvPr id="5" name="Footer Placeholder 4"/>
          <p:cNvSpPr>
            <a:spLocks noGrp="1"/>
          </p:cNvSpPr>
          <p:nvPr>
            <p:ph type="ftr" sz="quarter" idx="11"/>
          </p:nvPr>
        </p:nvSpPr>
        <p:spPr/>
        <p:txBody>
          <a:bodyPr/>
          <a:lstStyle/>
          <a:p>
            <a:r>
              <a:rPr lang="en-US" smtClean="0"/>
              <a:t>Vol. 2, Sec.4, Chap 4: IPC in Blood Bank and Transfusion Services</a:t>
            </a:r>
            <a:endParaRPr lang="en-US"/>
          </a:p>
        </p:txBody>
      </p:sp>
      <p:sp>
        <p:nvSpPr>
          <p:cNvPr id="6" name="Slide Number Placeholder 5"/>
          <p:cNvSpPr>
            <a:spLocks noGrp="1"/>
          </p:cNvSpPr>
          <p:nvPr>
            <p:ph type="sldNum" sz="quarter" idx="12"/>
          </p:nvPr>
        </p:nvSpPr>
        <p:spPr/>
        <p:txBody>
          <a:bodyPr/>
          <a:lstStyle/>
          <a:p>
            <a:fld id="{152743B3-639B-4115-8757-963852785863}" type="slidenum">
              <a:rPr lang="en-US" smtClean="0"/>
              <a:pPr/>
              <a:t>‹#›</a:t>
            </a:fld>
            <a:endParaRPr lang="en-US"/>
          </a:p>
        </p:txBody>
      </p:sp>
      <p:sp>
        <p:nvSpPr>
          <p:cNvPr id="14" name="TextBox 13"/>
          <p:cNvSpPr txBox="1"/>
          <p:nvPr/>
        </p:nvSpPr>
        <p:spPr>
          <a:xfrm>
            <a:off x="1133293" y="905362"/>
            <a:ext cx="609759"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10178005" y="2827870"/>
            <a:ext cx="609759"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704622" y="4140199"/>
            <a:ext cx="879404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285380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9159" y="3308581"/>
            <a:ext cx="9064971"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569158" y="4777381"/>
            <a:ext cx="9064973"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389238F-691D-43DB-9603-D94BAEDDE80A}" type="datetime1">
              <a:rPr lang="en-US" smtClean="0"/>
              <a:t>28-Feb-24</a:t>
            </a:fld>
            <a:endParaRPr lang="en-US"/>
          </a:p>
        </p:txBody>
      </p:sp>
      <p:sp>
        <p:nvSpPr>
          <p:cNvPr id="5" name="Footer Placeholder 4"/>
          <p:cNvSpPr>
            <a:spLocks noGrp="1"/>
          </p:cNvSpPr>
          <p:nvPr>
            <p:ph type="ftr" sz="quarter" idx="11"/>
          </p:nvPr>
        </p:nvSpPr>
        <p:spPr/>
        <p:txBody>
          <a:bodyPr/>
          <a:lstStyle/>
          <a:p>
            <a:r>
              <a:rPr lang="en-US" smtClean="0"/>
              <a:t>Vol. 2, Sec.4, Chap 4: IPC in Blood Bank and Transfusion Services</a:t>
            </a:r>
            <a:endParaRPr lang="en-US"/>
          </a:p>
        </p:txBody>
      </p:sp>
      <p:sp>
        <p:nvSpPr>
          <p:cNvPr id="6" name="Slide Number Placeholder 5"/>
          <p:cNvSpPr>
            <a:spLocks noGrp="1"/>
          </p:cNvSpPr>
          <p:nvPr>
            <p:ph type="sldNum" sz="quarter" idx="12"/>
          </p:nvPr>
        </p:nvSpPr>
        <p:spPr/>
        <p:txBody>
          <a:bodyPr/>
          <a:lstStyle/>
          <a:p>
            <a:fld id="{152743B3-639B-4115-8757-963852785863}" type="slidenum">
              <a:rPr lang="en-US" smtClean="0"/>
              <a:pPr/>
              <a:t>‹#›</a:t>
            </a:fld>
            <a:endParaRPr lang="en-US"/>
          </a:p>
        </p:txBody>
      </p:sp>
    </p:spTree>
    <p:extLst>
      <p:ext uri="{BB962C8B-B14F-4D97-AF65-F5344CB8AC3E}">
        <p14:creationId xmlns:p14="http://schemas.microsoft.com/office/powerpoint/2010/main" val="1746209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879222" y="982132"/>
            <a:ext cx="8433557"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8" name="Text Placeholder 2"/>
          <p:cNvSpPr>
            <a:spLocks noGrp="1"/>
          </p:cNvSpPr>
          <p:nvPr>
            <p:ph type="body" idx="13"/>
          </p:nvPr>
        </p:nvSpPr>
        <p:spPr>
          <a:xfrm>
            <a:off x="1569158" y="3639312"/>
            <a:ext cx="9064973"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569154" y="4529667"/>
            <a:ext cx="9064981"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459B3FC-A0D0-4DFC-B8AD-9DF655764DB0}" type="datetime1">
              <a:rPr lang="en-US" smtClean="0"/>
              <a:t>28-Feb-24</a:t>
            </a:fld>
            <a:endParaRPr lang="en-US"/>
          </a:p>
        </p:txBody>
      </p:sp>
      <p:sp>
        <p:nvSpPr>
          <p:cNvPr id="5" name="Footer Placeholder 4"/>
          <p:cNvSpPr>
            <a:spLocks noGrp="1"/>
          </p:cNvSpPr>
          <p:nvPr>
            <p:ph type="ftr" sz="quarter" idx="11"/>
          </p:nvPr>
        </p:nvSpPr>
        <p:spPr/>
        <p:txBody>
          <a:bodyPr/>
          <a:lstStyle/>
          <a:p>
            <a:r>
              <a:rPr lang="en-US" smtClean="0"/>
              <a:t>Vol. 2, Sec.4, Chap 4: IPC in Blood Bank and Transfusion Services</a:t>
            </a:r>
            <a:endParaRPr lang="en-US"/>
          </a:p>
        </p:txBody>
      </p:sp>
      <p:sp>
        <p:nvSpPr>
          <p:cNvPr id="6" name="Slide Number Placeholder 5"/>
          <p:cNvSpPr>
            <a:spLocks noGrp="1"/>
          </p:cNvSpPr>
          <p:nvPr>
            <p:ph type="sldNum" sz="quarter" idx="12"/>
          </p:nvPr>
        </p:nvSpPr>
        <p:spPr/>
        <p:txBody>
          <a:bodyPr/>
          <a:lstStyle/>
          <a:p>
            <a:fld id="{152743B3-639B-4115-8757-963852785863}" type="slidenum">
              <a:rPr lang="en-US" smtClean="0"/>
              <a:pPr/>
              <a:t>‹#›</a:t>
            </a:fld>
            <a:endParaRPr lang="en-US"/>
          </a:p>
        </p:txBody>
      </p:sp>
      <p:sp>
        <p:nvSpPr>
          <p:cNvPr id="12" name="TextBox 11"/>
          <p:cNvSpPr txBox="1"/>
          <p:nvPr/>
        </p:nvSpPr>
        <p:spPr>
          <a:xfrm>
            <a:off x="1170747" y="896895"/>
            <a:ext cx="60975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199729" y="2607728"/>
            <a:ext cx="60975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704622" y="3429000"/>
            <a:ext cx="879404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908044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9153" y="982132"/>
            <a:ext cx="9064979" cy="2294467"/>
          </a:xfrm>
        </p:spPr>
        <p:txBody>
          <a:bodyPr vert="horz" lIns="91440" tIns="45720" rIns="91440" bIns="45720" rtlCol="0" anchor="ctr">
            <a:normAutofit/>
          </a:bodyPr>
          <a:lstStyle>
            <a:lvl1pPr>
              <a:defRPr lang="en-US" sz="3200" b="0" dirty="0"/>
            </a:lvl1pPr>
          </a:lstStyle>
          <a:p>
            <a:pPr marL="0" lvl="0"/>
            <a:r>
              <a:rPr lang="en-US" smtClean="0"/>
              <a:t>Click to edit Master title style</a:t>
            </a:r>
            <a:endParaRPr lang="en-US" dirty="0"/>
          </a:p>
        </p:txBody>
      </p:sp>
      <p:sp>
        <p:nvSpPr>
          <p:cNvPr id="14" name="Text Placeholder 2"/>
          <p:cNvSpPr>
            <a:spLocks noGrp="1"/>
          </p:cNvSpPr>
          <p:nvPr>
            <p:ph type="body" idx="13"/>
          </p:nvPr>
        </p:nvSpPr>
        <p:spPr>
          <a:xfrm>
            <a:off x="1569158" y="3566160"/>
            <a:ext cx="9064973"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569155" y="4470401"/>
            <a:ext cx="9064979"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2A9B18A-8F50-45FE-A2FF-235A9DAD1AAA}" type="datetime1">
              <a:rPr lang="en-US" smtClean="0"/>
              <a:t>28-Feb-24</a:t>
            </a:fld>
            <a:endParaRPr lang="en-US"/>
          </a:p>
        </p:txBody>
      </p:sp>
      <p:sp>
        <p:nvSpPr>
          <p:cNvPr id="5" name="Footer Placeholder 4"/>
          <p:cNvSpPr>
            <a:spLocks noGrp="1"/>
          </p:cNvSpPr>
          <p:nvPr>
            <p:ph type="ftr" sz="quarter" idx="11"/>
          </p:nvPr>
        </p:nvSpPr>
        <p:spPr/>
        <p:txBody>
          <a:bodyPr/>
          <a:lstStyle/>
          <a:p>
            <a:r>
              <a:rPr lang="en-US" smtClean="0"/>
              <a:t>Vol. 2, Sec.4, Chap 4: IPC in Blood Bank and Transfusion Services</a:t>
            </a:r>
            <a:endParaRPr lang="en-US"/>
          </a:p>
        </p:txBody>
      </p:sp>
      <p:sp>
        <p:nvSpPr>
          <p:cNvPr id="6" name="Slide Number Placeholder 5"/>
          <p:cNvSpPr>
            <a:spLocks noGrp="1"/>
          </p:cNvSpPr>
          <p:nvPr>
            <p:ph type="sldNum" sz="quarter" idx="12"/>
          </p:nvPr>
        </p:nvSpPr>
        <p:spPr/>
        <p:txBody>
          <a:bodyPr/>
          <a:lstStyle/>
          <a:p>
            <a:fld id="{152743B3-639B-4115-8757-963852785863}" type="slidenum">
              <a:rPr lang="en-US" smtClean="0"/>
              <a:pPr/>
              <a:t>‹#›</a:t>
            </a:fld>
            <a:endParaRPr lang="en-US"/>
          </a:p>
        </p:txBody>
      </p:sp>
      <p:cxnSp>
        <p:nvCxnSpPr>
          <p:cNvPr id="15" name="Straight Connector 14"/>
          <p:cNvCxnSpPr/>
          <p:nvPr/>
        </p:nvCxnSpPr>
        <p:spPr>
          <a:xfrm>
            <a:off x="1704626" y="3429000"/>
            <a:ext cx="880856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391839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569154" y="2490136"/>
            <a:ext cx="9064981" cy="3385733"/>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FDFE076-E106-4A34-9D53-F4E54B4AADDE}" type="datetime1">
              <a:rPr lang="en-US" smtClean="0"/>
              <a:t>28-Feb-24</a:t>
            </a:fld>
            <a:endParaRPr lang="en-US"/>
          </a:p>
        </p:txBody>
      </p:sp>
      <p:sp>
        <p:nvSpPr>
          <p:cNvPr id="5" name="Footer Placeholder 4"/>
          <p:cNvSpPr>
            <a:spLocks noGrp="1"/>
          </p:cNvSpPr>
          <p:nvPr>
            <p:ph type="ftr" sz="quarter" idx="11"/>
          </p:nvPr>
        </p:nvSpPr>
        <p:spPr/>
        <p:txBody>
          <a:bodyPr/>
          <a:lstStyle/>
          <a:p>
            <a:r>
              <a:rPr lang="en-US" smtClean="0"/>
              <a:t>Vol. 2, Sec.4, Chap 4: IPC in Blood Bank and Transfusion Services</a:t>
            </a:r>
            <a:endParaRPr lang="en-US"/>
          </a:p>
        </p:txBody>
      </p:sp>
      <p:sp>
        <p:nvSpPr>
          <p:cNvPr id="6" name="Slide Number Placeholder 5"/>
          <p:cNvSpPr>
            <a:spLocks noGrp="1"/>
          </p:cNvSpPr>
          <p:nvPr>
            <p:ph type="sldNum" sz="quarter" idx="12"/>
          </p:nvPr>
        </p:nvSpPr>
        <p:spPr/>
        <p:txBody>
          <a:bodyPr/>
          <a:lstStyle/>
          <a:p>
            <a:fld id="{152743B3-639B-4115-8757-963852785863}" type="slidenum">
              <a:rPr lang="en-US" smtClean="0"/>
              <a:pPr/>
              <a:t>‹#›</a:t>
            </a:fld>
            <a:endParaRPr lang="en-US"/>
          </a:p>
        </p:txBody>
      </p:sp>
      <p:cxnSp>
        <p:nvCxnSpPr>
          <p:cNvPr id="14" name="Straight Connector 13"/>
          <p:cNvCxnSpPr/>
          <p:nvPr/>
        </p:nvCxnSpPr>
        <p:spPr>
          <a:xfrm>
            <a:off x="1704622" y="2354670"/>
            <a:ext cx="880856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729234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475556" y="906874"/>
            <a:ext cx="2158573" cy="496899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569157" y="906874"/>
            <a:ext cx="6554012" cy="4968993"/>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DA163C3-F875-4E12-8A95-6BB7A5638D45}" type="datetime1">
              <a:rPr lang="en-US" smtClean="0"/>
              <a:t>28-Feb-24</a:t>
            </a:fld>
            <a:endParaRPr lang="en-US"/>
          </a:p>
        </p:txBody>
      </p:sp>
      <p:sp>
        <p:nvSpPr>
          <p:cNvPr id="5" name="Footer Placeholder 4"/>
          <p:cNvSpPr>
            <a:spLocks noGrp="1"/>
          </p:cNvSpPr>
          <p:nvPr>
            <p:ph type="ftr" sz="quarter" idx="11"/>
          </p:nvPr>
        </p:nvSpPr>
        <p:spPr/>
        <p:txBody>
          <a:bodyPr/>
          <a:lstStyle/>
          <a:p>
            <a:r>
              <a:rPr lang="en-US" smtClean="0"/>
              <a:t>Vol. 2, Sec.4, Chap 4: IPC in Blood Bank and Transfusion Services</a:t>
            </a:r>
            <a:endParaRPr lang="en-US"/>
          </a:p>
        </p:txBody>
      </p:sp>
      <p:sp>
        <p:nvSpPr>
          <p:cNvPr id="6" name="Slide Number Placeholder 5"/>
          <p:cNvSpPr>
            <a:spLocks noGrp="1"/>
          </p:cNvSpPr>
          <p:nvPr>
            <p:ph type="sldNum" sz="quarter" idx="12"/>
          </p:nvPr>
        </p:nvSpPr>
        <p:spPr/>
        <p:txBody>
          <a:bodyPr/>
          <a:lstStyle/>
          <a:p>
            <a:fld id="{152743B3-639B-4115-8757-963852785863}" type="slidenum">
              <a:rPr lang="en-US" smtClean="0"/>
              <a:pPr/>
              <a:t>‹#›</a:t>
            </a:fld>
            <a:endParaRPr lang="en-US"/>
          </a:p>
        </p:txBody>
      </p:sp>
      <p:cxnSp>
        <p:nvCxnSpPr>
          <p:cNvPr id="14" name="Straight Connector 13"/>
          <p:cNvCxnSpPr/>
          <p:nvPr/>
        </p:nvCxnSpPr>
        <p:spPr>
          <a:xfrm>
            <a:off x="8327349" y="906874"/>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643541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5.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grpSp>
        <p:nvGrpSpPr>
          <p:cNvPr id="7" name="Group 6"/>
          <p:cNvGrpSpPr/>
          <p:nvPr/>
        </p:nvGrpSpPr>
        <p:grpSpPr>
          <a:xfrm>
            <a:off x="1" y="0"/>
            <a:ext cx="12203289" cy="6858000"/>
            <a:chOff x="0" y="0"/>
            <a:chExt cx="9152467" cy="6858000"/>
          </a:xfrm>
        </p:grpSpPr>
        <p:pic>
          <p:nvPicPr>
            <p:cNvPr id="8" name="Picture 7" descr="SD-PanelContent.png"/>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cstate="print">
              <a:extLst>
                <a:ext uri="{28A0092B-C50C-407E-A947-70E740481C1C}">
                  <a14:useLocalDpi xmlns:a14="http://schemas.microsoft.com/office/drawing/2010/main" val="0"/>
                </a:ext>
              </a:extLst>
            </a:blip>
            <a:srcRect l="1" r="14240"/>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20" cstate="print">
              <a:extLst>
                <a:ext uri="{28A0092B-C50C-407E-A947-70E740481C1C}">
                  <a14:useLocalDpi xmlns:a14="http://schemas.microsoft.com/office/drawing/2010/main" val="0"/>
                </a:ext>
              </a:extLst>
            </a:blip>
            <a:srcRect l="1" r="14240"/>
            <a:stretch/>
          </p:blipFill>
          <p:spPr>
            <a:xfrm>
              <a:off x="8466667" y="3128434"/>
              <a:ext cx="685800" cy="606425"/>
            </a:xfrm>
            <a:prstGeom prst="rect">
              <a:avLst/>
            </a:prstGeom>
          </p:spPr>
        </p:pic>
      </p:grpSp>
      <p:sp>
        <p:nvSpPr>
          <p:cNvPr id="2" name="Title Placeholder 1"/>
          <p:cNvSpPr>
            <a:spLocks noGrp="1"/>
          </p:cNvSpPr>
          <p:nvPr>
            <p:ph type="title"/>
          </p:nvPr>
        </p:nvSpPr>
        <p:spPr>
          <a:xfrm>
            <a:off x="1569155" y="915338"/>
            <a:ext cx="9064979"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569154" y="2490136"/>
            <a:ext cx="9064981" cy="3444997"/>
          </a:xfrm>
          <a:prstGeom prst="rect">
            <a:avLst/>
          </a:prstGeom>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475561" y="5935133"/>
            <a:ext cx="897447" cy="304801"/>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3D6B00C-D077-4AD5-8738-B302C783152B}" type="datetime1">
              <a:rPr lang="en-US" smtClean="0"/>
              <a:t>28-Feb-24</a:t>
            </a:fld>
            <a:endParaRPr lang="en-US"/>
          </a:p>
        </p:txBody>
      </p:sp>
      <p:sp>
        <p:nvSpPr>
          <p:cNvPr id="5" name="Footer Placeholder 4"/>
          <p:cNvSpPr>
            <a:spLocks noGrp="1"/>
          </p:cNvSpPr>
          <p:nvPr>
            <p:ph type="ftr" sz="quarter" idx="3"/>
          </p:nvPr>
        </p:nvSpPr>
        <p:spPr>
          <a:xfrm>
            <a:off x="1569154" y="5960533"/>
            <a:ext cx="6806223"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r>
              <a:rPr lang="en-US" smtClean="0"/>
              <a:t>Vol. 2, Sec.4, Chap 4: IPC in Blood Bank and Transfusion Services</a:t>
            </a:r>
            <a:endParaRPr lang="en-US"/>
          </a:p>
        </p:txBody>
      </p:sp>
      <p:sp>
        <p:nvSpPr>
          <p:cNvPr id="6" name="Slide Number Placeholder 5"/>
          <p:cNvSpPr>
            <a:spLocks noGrp="1"/>
          </p:cNvSpPr>
          <p:nvPr>
            <p:ph type="sldNum" sz="quarter" idx="4"/>
          </p:nvPr>
        </p:nvSpPr>
        <p:spPr>
          <a:xfrm>
            <a:off x="9373007" y="5960533"/>
            <a:ext cx="1261128"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52743B3-639B-4115-8757-963852785863}" type="slidenum">
              <a:rPr lang="en-US" smtClean="0"/>
              <a:pPr/>
              <a:t>‹#›</a:t>
            </a:fld>
            <a:endParaRPr lang="en-US"/>
          </a:p>
        </p:txBody>
      </p:sp>
      <p:grpSp>
        <p:nvGrpSpPr>
          <p:cNvPr id="12" name="Group 11"/>
          <p:cNvGrpSpPr/>
          <p:nvPr/>
        </p:nvGrpSpPr>
        <p:grpSpPr>
          <a:xfrm>
            <a:off x="4496777" y="4072"/>
            <a:ext cx="3209731" cy="981605"/>
            <a:chOff x="2823850" y="0"/>
            <a:chExt cx="3344655" cy="1466289"/>
          </a:xfrm>
        </p:grpSpPr>
        <p:pic>
          <p:nvPicPr>
            <p:cNvPr id="13" name="Picture 12" descr="Ethiopia_MOH"/>
            <p:cNvPicPr/>
            <p:nvPr userDrawn="1"/>
          </p:nvPicPr>
          <p:blipFill>
            <a:blip r:embed="rId21" cstate="print">
              <a:extLst>
                <a:ext uri="{28A0092B-C50C-407E-A947-70E740481C1C}">
                  <a14:useLocalDpi xmlns:a14="http://schemas.microsoft.com/office/drawing/2010/main" val="0"/>
                </a:ext>
              </a:extLst>
            </a:blip>
            <a:srcRect/>
            <a:stretch>
              <a:fillRect/>
            </a:stretch>
          </p:blipFill>
          <p:spPr bwMode="auto">
            <a:xfrm>
              <a:off x="3954364" y="0"/>
              <a:ext cx="1083629" cy="1033072"/>
            </a:xfrm>
            <a:prstGeom prst="ellipse">
              <a:avLst/>
            </a:prstGeom>
            <a:noFill/>
            <a:ln w="9525">
              <a:noFill/>
              <a:miter lim="800000"/>
              <a:headEnd/>
              <a:tailEnd/>
            </a:ln>
          </p:spPr>
        </p:pic>
        <p:sp>
          <p:nvSpPr>
            <p:cNvPr id="14" name="TextBox 13"/>
            <p:cNvSpPr txBox="1"/>
            <p:nvPr userDrawn="1"/>
          </p:nvSpPr>
          <p:spPr>
            <a:xfrm>
              <a:off x="2823850" y="1037575"/>
              <a:ext cx="3344655" cy="428714"/>
            </a:xfrm>
            <a:prstGeom prst="rect">
              <a:avLst/>
            </a:prstGeom>
            <a:noFill/>
          </p:spPr>
          <p:txBody>
            <a:bodyPr wrap="square" rtlCol="0">
              <a:spAutoFit/>
            </a:bodyPr>
            <a:lstStyle/>
            <a:p>
              <a:pPr algn="ctr">
                <a:lnSpc>
                  <a:spcPct val="115000"/>
                </a:lnSpc>
                <a:spcAft>
                  <a:spcPts val="1000"/>
                </a:spcAft>
              </a:pPr>
              <a:r>
                <a:rPr lang="en-US" sz="1100" dirty="0" smtClean="0">
                  <a:solidFill>
                    <a:srgbClr val="0066FF"/>
                  </a:solidFill>
                  <a:effectLst/>
                  <a:latin typeface="Britannic Bold" charset="0"/>
                  <a:ea typeface="Calibri" charset="0"/>
                  <a:cs typeface="Times New Roman" charset="0"/>
                </a:rPr>
                <a:t>Federal Ministry of Health</a:t>
              </a:r>
              <a:endParaRPr lang="en-US" sz="1100" dirty="0" smtClean="0">
                <a:effectLst/>
                <a:latin typeface="Calibri" charset="0"/>
                <a:ea typeface="Calibri" charset="0"/>
                <a:cs typeface="Times New Roman" charset="0"/>
              </a:endParaRPr>
            </a:p>
          </p:txBody>
        </p:sp>
      </p:grpSp>
    </p:spTree>
    <p:extLst>
      <p:ext uri="{BB962C8B-B14F-4D97-AF65-F5344CB8AC3E}">
        <p14:creationId xmlns:p14="http://schemas.microsoft.com/office/powerpoint/2010/main" val="1155299345"/>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Lst>
  <p:hf hdr="0"/>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2208884" y="2460821"/>
            <a:ext cx="7760513" cy="1877628"/>
          </a:xfrm>
        </p:spPr>
        <p:txBody>
          <a:bodyPr/>
          <a:lstStyle/>
          <a:p>
            <a:r>
              <a:rPr lang="en-US" sz="3200" dirty="0" smtClean="0"/>
              <a:t>Volume 2_Section 4</a:t>
            </a:r>
            <a:br>
              <a:rPr lang="en-US" sz="3200" dirty="0" smtClean="0"/>
            </a:br>
            <a:r>
              <a:rPr lang="en-US" sz="2800" dirty="0" smtClean="0">
                <a:cs typeface="Arial" panose="020B0604020202020204" pitchFamily="34" charset="0"/>
              </a:rPr>
              <a:t>CHAPTER 4: </a:t>
            </a:r>
            <a:r>
              <a:rPr lang="en-US" sz="2800" dirty="0" smtClean="0"/>
              <a:t>IPC In Blood Bank and transfusion</a:t>
            </a:r>
            <a:br>
              <a:rPr lang="en-US" sz="2800" dirty="0" smtClean="0"/>
            </a:br>
            <a:r>
              <a:rPr lang="en-US" sz="2800" dirty="0" smtClean="0"/>
              <a:t>                    Services </a:t>
            </a:r>
            <a:br>
              <a:rPr lang="en-US" sz="2800" dirty="0" smtClean="0"/>
            </a:br>
            <a:r>
              <a:rPr lang="en-US" sz="2800" dirty="0" smtClean="0"/>
              <a:t/>
            </a:r>
            <a:br>
              <a:rPr lang="en-US" sz="2800" dirty="0" smtClean="0"/>
            </a:br>
            <a:endParaRPr lang="en-US" sz="2800" dirty="0"/>
          </a:p>
        </p:txBody>
      </p:sp>
      <p:sp>
        <p:nvSpPr>
          <p:cNvPr id="3" name="Content Placeholder 2"/>
          <p:cNvSpPr>
            <a:spLocks noGrp="1"/>
          </p:cNvSpPr>
          <p:nvPr>
            <p:ph type="subTitle" idx="1"/>
          </p:nvPr>
        </p:nvSpPr>
        <p:spPr>
          <a:xfrm>
            <a:off x="2427890" y="5281047"/>
            <a:ext cx="7677807" cy="1012902"/>
          </a:xfrm>
        </p:spPr>
        <p:txBody>
          <a:bodyPr>
            <a:normAutofit fontScale="55000" lnSpcReduction="20000"/>
          </a:bodyPr>
          <a:lstStyle/>
          <a:p>
            <a:pPr marL="0" indent="0">
              <a:buNone/>
            </a:pPr>
            <a:r>
              <a:rPr lang="en-US" dirty="0" smtClean="0"/>
              <a:t>                                         </a:t>
            </a:r>
            <a:r>
              <a:rPr lang="en-US" dirty="0"/>
              <a:t/>
            </a:r>
            <a:br>
              <a:rPr lang="en-US" dirty="0"/>
            </a:br>
            <a:r>
              <a:rPr lang="en-US" dirty="0"/>
              <a:t>      </a:t>
            </a:r>
            <a:r>
              <a:rPr lang="en-US" sz="5100" b="1" dirty="0">
                <a:ln w="3175" cmpd="sng">
                  <a:noFill/>
                </a:ln>
                <a:solidFill>
                  <a:schemeClr val="tx1">
                    <a:lumMod val="85000"/>
                    <a:lumOff val="15000"/>
                  </a:schemeClr>
                </a:solidFill>
                <a:latin typeface="+mj-lt"/>
                <a:ea typeface="+mj-ea"/>
                <a:cs typeface="+mj-cs"/>
              </a:rPr>
              <a:t>Infection Prevention and Control </a:t>
            </a:r>
            <a:r>
              <a:rPr lang="en-US" sz="5100" b="1" dirty="0" smtClean="0">
                <a:ln w="3175" cmpd="sng">
                  <a:noFill/>
                </a:ln>
                <a:solidFill>
                  <a:schemeClr val="tx1">
                    <a:lumMod val="85000"/>
                    <a:lumOff val="15000"/>
                  </a:schemeClr>
                </a:solidFill>
                <a:latin typeface="+mj-lt"/>
                <a:ea typeface="+mj-ea"/>
                <a:cs typeface="+mj-cs"/>
              </a:rPr>
              <a:t>in special </a:t>
            </a:r>
            <a:r>
              <a:rPr lang="en-US" sz="5100" b="1" dirty="0">
                <a:ln w="3175" cmpd="sng">
                  <a:noFill/>
                </a:ln>
                <a:solidFill>
                  <a:schemeClr val="tx1">
                    <a:lumMod val="85000"/>
                    <a:lumOff val="15000"/>
                  </a:schemeClr>
                </a:solidFill>
                <a:latin typeface="+mj-lt"/>
                <a:ea typeface="+mj-ea"/>
                <a:cs typeface="+mj-cs"/>
              </a:rPr>
              <a:t>setting</a:t>
            </a:r>
          </a:p>
        </p:txBody>
      </p:sp>
    </p:spTree>
    <p:extLst>
      <p:ext uri="{BB962C8B-B14F-4D97-AF65-F5344CB8AC3E}">
        <p14:creationId xmlns:p14="http://schemas.microsoft.com/office/powerpoint/2010/main" val="350658403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297" y="873760"/>
            <a:ext cx="10515600" cy="807403"/>
          </a:xfrm>
        </p:spPr>
        <p:txBody>
          <a:bodyPr/>
          <a:lstStyle/>
          <a:p>
            <a:r>
              <a:rPr lang="en-US" b="1" dirty="0" smtClean="0"/>
              <a:t/>
            </a:r>
            <a:br>
              <a:rPr lang="en-US" b="1" dirty="0" smtClean="0"/>
            </a:br>
            <a:r>
              <a:rPr lang="en-US" b="1" dirty="0" smtClean="0"/>
              <a:t>Chapter contents</a:t>
            </a:r>
            <a:r>
              <a:rPr lang="en-US" dirty="0" smtClean="0"/>
              <a:t> </a:t>
            </a:r>
            <a:br>
              <a:rPr lang="en-US" dirty="0" smtClean="0"/>
            </a:br>
            <a:endParaRPr lang="en-US" dirty="0"/>
          </a:p>
        </p:txBody>
      </p:sp>
      <p:sp>
        <p:nvSpPr>
          <p:cNvPr id="3" name="Content Placeholder 2"/>
          <p:cNvSpPr>
            <a:spLocks noGrp="1"/>
          </p:cNvSpPr>
          <p:nvPr>
            <p:ph idx="1"/>
          </p:nvPr>
        </p:nvSpPr>
        <p:spPr>
          <a:xfrm>
            <a:off x="838200" y="1849120"/>
            <a:ext cx="10515600" cy="4327843"/>
          </a:xfrm>
        </p:spPr>
        <p:txBody>
          <a:bodyPr>
            <a:normAutofit/>
          </a:bodyPr>
          <a:lstStyle/>
          <a:p>
            <a:pPr marL="514350" lvl="0" indent="-514350">
              <a:buFont typeface="+mj-lt"/>
              <a:buAutoNum type="arabicPeriod"/>
            </a:pPr>
            <a:r>
              <a:rPr lang="en-GB" dirty="0" smtClean="0"/>
              <a:t>Over view   </a:t>
            </a:r>
            <a:endParaRPr lang="en-US" dirty="0" smtClean="0"/>
          </a:p>
          <a:p>
            <a:pPr marL="514350" lvl="0" indent="-514350">
              <a:buFont typeface="+mj-lt"/>
              <a:buAutoNum type="arabicPeriod"/>
            </a:pPr>
            <a:r>
              <a:rPr lang="en-GB" dirty="0" smtClean="0"/>
              <a:t>Risks of blood transfusion services to donors, health care workers and recipients</a:t>
            </a:r>
            <a:endParaRPr lang="en-US" dirty="0" smtClean="0"/>
          </a:p>
          <a:p>
            <a:pPr marL="514350" lvl="0" indent="-514350">
              <a:buFont typeface="+mj-lt"/>
              <a:buAutoNum type="arabicPeriod"/>
            </a:pPr>
            <a:r>
              <a:rPr lang="en-GB" dirty="0" smtClean="0"/>
              <a:t>Preventing donors, health care workers and recipients</a:t>
            </a:r>
            <a:endParaRPr lang="en-US" dirty="0" smtClean="0"/>
          </a:p>
          <a:p>
            <a:pPr marL="514350" lvl="0" indent="-514350">
              <a:buFont typeface="+mj-lt"/>
              <a:buAutoNum type="arabicPeriod"/>
            </a:pPr>
            <a:r>
              <a:rPr lang="en-GB" dirty="0" smtClean="0"/>
              <a:t>Components of safe blood bank services, from donation to Transfusion  </a:t>
            </a:r>
            <a:endParaRPr lang="en-US" dirty="0"/>
          </a:p>
        </p:txBody>
      </p:sp>
      <p:sp>
        <p:nvSpPr>
          <p:cNvPr id="4" name="Date Placeholder 3"/>
          <p:cNvSpPr>
            <a:spLocks noGrp="1"/>
          </p:cNvSpPr>
          <p:nvPr>
            <p:ph type="dt" sz="half" idx="10"/>
          </p:nvPr>
        </p:nvSpPr>
        <p:spPr/>
        <p:txBody>
          <a:bodyPr/>
          <a:lstStyle/>
          <a:p>
            <a:fld id="{5D2AE5B5-1B85-4D6B-B233-A1E13A4EDA63}" type="datetime1">
              <a:rPr lang="en-US" smtClean="0"/>
              <a:t>28-Feb-24</a:t>
            </a:fld>
            <a:endParaRPr lang="en-US"/>
          </a:p>
        </p:txBody>
      </p:sp>
      <p:sp>
        <p:nvSpPr>
          <p:cNvPr id="5" name="Slide Number Placeholder 4"/>
          <p:cNvSpPr>
            <a:spLocks noGrp="1"/>
          </p:cNvSpPr>
          <p:nvPr>
            <p:ph type="sldNum" sz="quarter" idx="12"/>
          </p:nvPr>
        </p:nvSpPr>
        <p:spPr/>
        <p:txBody>
          <a:bodyPr/>
          <a:lstStyle/>
          <a:p>
            <a:fld id="{152743B3-639B-4115-8757-963852785863}" type="slidenum">
              <a:rPr lang="en-US" smtClean="0"/>
              <a:pPr/>
              <a:t>2</a:t>
            </a:fld>
            <a:endParaRPr lang="en-US"/>
          </a:p>
        </p:txBody>
      </p:sp>
      <p:sp>
        <p:nvSpPr>
          <p:cNvPr id="6" name="Footer Placeholder 5"/>
          <p:cNvSpPr>
            <a:spLocks noGrp="1"/>
          </p:cNvSpPr>
          <p:nvPr>
            <p:ph type="ftr" sz="quarter" idx="11"/>
          </p:nvPr>
        </p:nvSpPr>
        <p:spPr/>
        <p:txBody>
          <a:bodyPr/>
          <a:lstStyle/>
          <a:p>
            <a:r>
              <a:rPr lang="en-US" smtClean="0"/>
              <a:t>Vol. 2, Sec.4, Chap 4: IPC in Blood Bank and Transfusion Services</a:t>
            </a:r>
            <a:endParaRPr lang="en-US"/>
          </a:p>
        </p:txBody>
      </p:sp>
    </p:spTree>
    <p:extLst>
      <p:ext uri="{BB962C8B-B14F-4D97-AF65-F5344CB8AC3E}">
        <p14:creationId xmlns:p14="http://schemas.microsoft.com/office/powerpoint/2010/main" val="3879936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Learning Objective</a:t>
            </a:r>
            <a:endParaRPr lang="en-US" dirty="0"/>
          </a:p>
        </p:txBody>
      </p:sp>
      <p:sp>
        <p:nvSpPr>
          <p:cNvPr id="3" name="Content Placeholder 2"/>
          <p:cNvSpPr>
            <a:spLocks noGrp="1"/>
          </p:cNvSpPr>
          <p:nvPr>
            <p:ph idx="1"/>
          </p:nvPr>
        </p:nvSpPr>
        <p:spPr>
          <a:xfrm>
            <a:off x="792480" y="1960880"/>
            <a:ext cx="10464800" cy="4318000"/>
          </a:xfrm>
        </p:spPr>
        <p:txBody>
          <a:bodyPr>
            <a:normAutofit fontScale="92500" lnSpcReduction="20000"/>
          </a:bodyPr>
          <a:lstStyle/>
          <a:p>
            <a:r>
              <a:rPr lang="en-US" dirty="0" smtClean="0"/>
              <a:t>By the end of this chapter, participants will be able to:</a:t>
            </a:r>
          </a:p>
          <a:p>
            <a:pPr marL="457200" lvl="0" indent="-457200">
              <a:buFont typeface="Arial" panose="020B0604020202020204" pitchFamily="34" charset="0"/>
              <a:buChar char="•"/>
            </a:pPr>
            <a:r>
              <a:rPr lang="en-US" dirty="0" smtClean="0"/>
              <a:t>Identify risks of blood transfusion service to donors, health care workers (HCWs), and blood transfusion recipients</a:t>
            </a:r>
          </a:p>
          <a:p>
            <a:pPr marL="457200" lvl="0" indent="-457200">
              <a:buFont typeface="Arial" panose="020B0604020202020204" pitchFamily="34" charset="0"/>
              <a:buChar char="•"/>
            </a:pPr>
            <a:r>
              <a:rPr lang="en-US" dirty="0" smtClean="0"/>
              <a:t>Identify how to Prevent donors, HCWs, and blood transfusion recipients</a:t>
            </a:r>
          </a:p>
          <a:p>
            <a:pPr marL="457200" lvl="0" indent="-457200">
              <a:buFont typeface="Arial" panose="020B0604020202020204" pitchFamily="34" charset="0"/>
              <a:buChar char="•"/>
            </a:pPr>
            <a:r>
              <a:rPr lang="en-US" dirty="0" smtClean="0"/>
              <a:t>Identify Components of safe blood bank services, from donation to transfusion</a:t>
            </a:r>
          </a:p>
          <a:p>
            <a:pPr marL="457200" lvl="0" indent="-457200">
              <a:buFont typeface="Arial" panose="020B0604020202020204" pitchFamily="34" charset="0"/>
              <a:buChar char="•"/>
            </a:pPr>
            <a:r>
              <a:rPr lang="en-US" dirty="0" smtClean="0"/>
              <a:t>Explain activities at Blood bank and transfusion services and infection prevention  and patient safety practice</a:t>
            </a:r>
          </a:p>
          <a:p>
            <a:endParaRPr lang="en-US" dirty="0"/>
          </a:p>
        </p:txBody>
      </p:sp>
      <p:sp>
        <p:nvSpPr>
          <p:cNvPr id="4" name="Date Placeholder 3"/>
          <p:cNvSpPr>
            <a:spLocks noGrp="1"/>
          </p:cNvSpPr>
          <p:nvPr>
            <p:ph type="dt" sz="half" idx="10"/>
          </p:nvPr>
        </p:nvSpPr>
        <p:spPr/>
        <p:txBody>
          <a:bodyPr/>
          <a:lstStyle/>
          <a:p>
            <a:fld id="{5BA1D27B-7747-4BB6-82AB-C7204BF4ADE0}" type="datetime1">
              <a:rPr lang="en-US" smtClean="0"/>
              <a:t>28-Feb-24</a:t>
            </a:fld>
            <a:endParaRPr lang="en-US"/>
          </a:p>
        </p:txBody>
      </p:sp>
      <p:sp>
        <p:nvSpPr>
          <p:cNvPr id="5" name="Slide Number Placeholder 4"/>
          <p:cNvSpPr>
            <a:spLocks noGrp="1"/>
          </p:cNvSpPr>
          <p:nvPr>
            <p:ph type="sldNum" sz="quarter" idx="12"/>
          </p:nvPr>
        </p:nvSpPr>
        <p:spPr/>
        <p:txBody>
          <a:bodyPr/>
          <a:lstStyle/>
          <a:p>
            <a:fld id="{152743B3-639B-4115-8757-963852785863}" type="slidenum">
              <a:rPr lang="en-US" smtClean="0"/>
              <a:pPr/>
              <a:t>3</a:t>
            </a:fld>
            <a:endParaRPr lang="en-US"/>
          </a:p>
        </p:txBody>
      </p:sp>
      <p:sp>
        <p:nvSpPr>
          <p:cNvPr id="6" name="Footer Placeholder 5"/>
          <p:cNvSpPr>
            <a:spLocks noGrp="1"/>
          </p:cNvSpPr>
          <p:nvPr>
            <p:ph type="ftr" sz="quarter" idx="11"/>
          </p:nvPr>
        </p:nvSpPr>
        <p:spPr/>
        <p:txBody>
          <a:bodyPr/>
          <a:lstStyle/>
          <a:p>
            <a:r>
              <a:rPr lang="en-US" smtClean="0"/>
              <a:t>Vol. 2, Sec.4, Chap 4: IPC in Blood Bank and Transfusion Services</a:t>
            </a:r>
            <a:endParaRPr lang="en-US"/>
          </a:p>
        </p:txBody>
      </p:sp>
    </p:spTree>
    <p:extLst>
      <p:ext uri="{BB962C8B-B14F-4D97-AF65-F5344CB8AC3E}">
        <p14:creationId xmlns:p14="http://schemas.microsoft.com/office/powerpoint/2010/main" val="29024856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smtClean="0"/>
              <a:t>1. Overview (1/1) </a:t>
            </a:r>
            <a:r>
              <a:rPr lang="en-US" sz="4000" dirty="0"/>
              <a:t/>
            </a:r>
            <a:br>
              <a:rPr lang="en-US" sz="4000" dirty="0"/>
            </a:br>
            <a:endParaRPr lang="en-US" sz="4000" dirty="0"/>
          </a:p>
        </p:txBody>
      </p:sp>
      <p:sp>
        <p:nvSpPr>
          <p:cNvPr id="3" name="Content Placeholder 2"/>
          <p:cNvSpPr>
            <a:spLocks noGrp="1"/>
          </p:cNvSpPr>
          <p:nvPr>
            <p:ph idx="1"/>
          </p:nvPr>
        </p:nvSpPr>
        <p:spPr>
          <a:xfrm>
            <a:off x="838200" y="2033751"/>
            <a:ext cx="10515600" cy="4143211"/>
          </a:xfrm>
        </p:spPr>
        <p:txBody>
          <a:bodyPr>
            <a:normAutofit/>
          </a:bodyPr>
          <a:lstStyle/>
          <a:p>
            <a:pPr algn="just"/>
            <a:endParaRPr lang="en-US" sz="2800" dirty="0" smtClean="0"/>
          </a:p>
          <a:p>
            <a:pPr algn="just"/>
            <a:r>
              <a:rPr lang="en-US" sz="2800" dirty="0" smtClean="0"/>
              <a:t>When </a:t>
            </a:r>
            <a:r>
              <a:rPr lang="en-US" sz="2800" dirty="0"/>
              <a:t>blood transfusions occur safely, they can save lives and are important medical treatment. </a:t>
            </a:r>
            <a:endParaRPr lang="en-US" sz="2800" dirty="0" smtClean="0"/>
          </a:p>
          <a:p>
            <a:pPr algn="just"/>
            <a:r>
              <a:rPr lang="en-US" sz="2800" dirty="0" smtClean="0"/>
              <a:t>However</a:t>
            </a:r>
            <a:r>
              <a:rPr lang="en-US" sz="2800" dirty="0"/>
              <a:t>, overuse or inappropriate management can lead to acute or delayed complications and transmission of infectious diseases. </a:t>
            </a:r>
          </a:p>
        </p:txBody>
      </p:sp>
      <p:sp>
        <p:nvSpPr>
          <p:cNvPr id="4" name="Date Placeholder 3"/>
          <p:cNvSpPr>
            <a:spLocks noGrp="1"/>
          </p:cNvSpPr>
          <p:nvPr>
            <p:ph type="dt" sz="half" idx="10"/>
          </p:nvPr>
        </p:nvSpPr>
        <p:spPr/>
        <p:txBody>
          <a:bodyPr/>
          <a:lstStyle/>
          <a:p>
            <a:fld id="{ECB54E99-D03D-46B0-9FEF-68F0D4268CF2}" type="datetime1">
              <a:rPr lang="en-US" smtClean="0"/>
              <a:t>28-Feb-24</a:t>
            </a:fld>
            <a:endParaRPr lang="en-US"/>
          </a:p>
        </p:txBody>
      </p:sp>
      <p:sp>
        <p:nvSpPr>
          <p:cNvPr id="5" name="Slide Number Placeholder 4"/>
          <p:cNvSpPr>
            <a:spLocks noGrp="1"/>
          </p:cNvSpPr>
          <p:nvPr>
            <p:ph type="sldNum" sz="quarter" idx="12"/>
          </p:nvPr>
        </p:nvSpPr>
        <p:spPr/>
        <p:txBody>
          <a:bodyPr/>
          <a:lstStyle/>
          <a:p>
            <a:fld id="{152743B3-639B-4115-8757-963852785863}" type="slidenum">
              <a:rPr lang="en-US" smtClean="0"/>
              <a:pPr/>
              <a:t>4</a:t>
            </a:fld>
            <a:endParaRPr lang="en-US"/>
          </a:p>
        </p:txBody>
      </p:sp>
      <p:sp>
        <p:nvSpPr>
          <p:cNvPr id="6" name="Footer Placeholder 5"/>
          <p:cNvSpPr>
            <a:spLocks noGrp="1"/>
          </p:cNvSpPr>
          <p:nvPr>
            <p:ph type="ftr" sz="quarter" idx="11"/>
          </p:nvPr>
        </p:nvSpPr>
        <p:spPr/>
        <p:txBody>
          <a:bodyPr/>
          <a:lstStyle/>
          <a:p>
            <a:r>
              <a:rPr lang="en-US" smtClean="0"/>
              <a:t>Vol. 2, Sec.4, Chap 4: IPC in Blood Bank and Transfusion Services</a:t>
            </a:r>
            <a:endParaRPr lang="en-US"/>
          </a:p>
        </p:txBody>
      </p:sp>
    </p:spTree>
    <p:extLst>
      <p:ext uri="{BB962C8B-B14F-4D97-AF65-F5344CB8AC3E}">
        <p14:creationId xmlns:p14="http://schemas.microsoft.com/office/powerpoint/2010/main" val="19348199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b="1" dirty="0" smtClean="0"/>
              <a:t>2. Risks Of Blood Transfusion Services (1/1)</a:t>
            </a:r>
            <a:endParaRPr lang="en-US" sz="4000" dirty="0"/>
          </a:p>
        </p:txBody>
      </p:sp>
      <p:sp>
        <p:nvSpPr>
          <p:cNvPr id="3" name="Content Placeholder 2"/>
          <p:cNvSpPr>
            <a:spLocks noGrp="1"/>
          </p:cNvSpPr>
          <p:nvPr>
            <p:ph idx="1"/>
          </p:nvPr>
        </p:nvSpPr>
        <p:spPr>
          <a:xfrm>
            <a:off x="721360" y="2459421"/>
            <a:ext cx="10632440" cy="3717542"/>
          </a:xfrm>
        </p:spPr>
        <p:txBody>
          <a:bodyPr/>
          <a:lstStyle/>
          <a:p>
            <a:pPr algn="just"/>
            <a:r>
              <a:rPr lang="en-US" dirty="0"/>
              <a:t>During the process of blood collection, storage and transfusion, there is a risk of infection for the donor, the recipient and for HCWs who handle the blood and blood components.</a:t>
            </a:r>
          </a:p>
          <a:p>
            <a:pPr marL="0" lvl="0" indent="0" algn="just">
              <a:buNone/>
            </a:pPr>
            <a:endParaRPr lang="en-US" dirty="0"/>
          </a:p>
        </p:txBody>
      </p:sp>
      <p:sp>
        <p:nvSpPr>
          <p:cNvPr id="4" name="Date Placeholder 3"/>
          <p:cNvSpPr>
            <a:spLocks noGrp="1"/>
          </p:cNvSpPr>
          <p:nvPr>
            <p:ph type="dt" sz="half" idx="10"/>
          </p:nvPr>
        </p:nvSpPr>
        <p:spPr/>
        <p:txBody>
          <a:bodyPr/>
          <a:lstStyle/>
          <a:p>
            <a:fld id="{416986EB-BDC1-4778-A51C-943C13837E2A}" type="datetime1">
              <a:rPr lang="en-US" smtClean="0"/>
              <a:t>28-Feb-24</a:t>
            </a:fld>
            <a:endParaRPr lang="en-US"/>
          </a:p>
        </p:txBody>
      </p:sp>
      <p:sp>
        <p:nvSpPr>
          <p:cNvPr id="5" name="Slide Number Placeholder 4"/>
          <p:cNvSpPr>
            <a:spLocks noGrp="1"/>
          </p:cNvSpPr>
          <p:nvPr>
            <p:ph type="sldNum" sz="quarter" idx="12"/>
          </p:nvPr>
        </p:nvSpPr>
        <p:spPr/>
        <p:txBody>
          <a:bodyPr/>
          <a:lstStyle/>
          <a:p>
            <a:fld id="{152743B3-639B-4115-8757-963852785863}" type="slidenum">
              <a:rPr lang="en-US" smtClean="0"/>
              <a:pPr/>
              <a:t>5</a:t>
            </a:fld>
            <a:endParaRPr lang="en-US"/>
          </a:p>
        </p:txBody>
      </p:sp>
      <p:sp>
        <p:nvSpPr>
          <p:cNvPr id="6" name="Footer Placeholder 5"/>
          <p:cNvSpPr>
            <a:spLocks noGrp="1"/>
          </p:cNvSpPr>
          <p:nvPr>
            <p:ph type="ftr" sz="quarter" idx="11"/>
          </p:nvPr>
        </p:nvSpPr>
        <p:spPr/>
        <p:txBody>
          <a:bodyPr/>
          <a:lstStyle/>
          <a:p>
            <a:r>
              <a:rPr lang="en-US" smtClean="0"/>
              <a:t>Vol. 2, Sec.4, Chap 4: IPC in Blood Bank and Transfusion Services</a:t>
            </a:r>
            <a:endParaRPr lang="en-US"/>
          </a:p>
        </p:txBody>
      </p:sp>
    </p:spTree>
    <p:extLst>
      <p:ext uri="{BB962C8B-B14F-4D97-AF65-F5344CB8AC3E}">
        <p14:creationId xmlns:p14="http://schemas.microsoft.com/office/powerpoint/2010/main" val="13651022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360" y="883920"/>
            <a:ext cx="10632440" cy="924560"/>
          </a:xfrm>
        </p:spPr>
        <p:txBody>
          <a:bodyPr/>
          <a:lstStyle/>
          <a:p>
            <a:r>
              <a:rPr lang="en-US" sz="4000" dirty="0" smtClean="0"/>
              <a:t>3. Preventing Donors, Health Care Workers And Recipients (1/4)</a:t>
            </a:r>
            <a:endParaRPr lang="en-US" sz="4000" dirty="0"/>
          </a:p>
        </p:txBody>
      </p:sp>
      <p:sp>
        <p:nvSpPr>
          <p:cNvPr id="3" name="Content Placeholder 2"/>
          <p:cNvSpPr>
            <a:spLocks noGrp="1"/>
          </p:cNvSpPr>
          <p:nvPr>
            <p:ph idx="1"/>
          </p:nvPr>
        </p:nvSpPr>
        <p:spPr>
          <a:xfrm>
            <a:off x="711200" y="2254469"/>
            <a:ext cx="10789920" cy="3922494"/>
          </a:xfrm>
        </p:spPr>
        <p:txBody>
          <a:bodyPr>
            <a:normAutofit/>
          </a:bodyPr>
          <a:lstStyle/>
          <a:p>
            <a:pPr algn="just"/>
            <a:r>
              <a:rPr lang="en-US" sz="2800" dirty="0"/>
              <a:t>The responsibility for safety at blood donor sessions and in the laboratory rests with everyone who works there even if a particular person is assigned for overall responsibility to ensuring safety. </a:t>
            </a:r>
            <a:endParaRPr lang="en-US" sz="2800" dirty="0" smtClean="0"/>
          </a:p>
          <a:p>
            <a:pPr algn="just"/>
            <a:r>
              <a:rPr lang="en-US" sz="2800" dirty="0" smtClean="0"/>
              <a:t>It </a:t>
            </a:r>
            <a:r>
              <a:rPr lang="en-US" sz="2800" dirty="0"/>
              <a:t>is the duty of every member of staff to carryout procedures in a responsible way in order to avoid endangering the safety of themselves or anyone else </a:t>
            </a:r>
          </a:p>
        </p:txBody>
      </p:sp>
      <p:sp>
        <p:nvSpPr>
          <p:cNvPr id="4" name="Date Placeholder 3"/>
          <p:cNvSpPr>
            <a:spLocks noGrp="1"/>
          </p:cNvSpPr>
          <p:nvPr>
            <p:ph type="dt" sz="half" idx="10"/>
          </p:nvPr>
        </p:nvSpPr>
        <p:spPr/>
        <p:txBody>
          <a:bodyPr/>
          <a:lstStyle/>
          <a:p>
            <a:fld id="{B331D176-515A-4DF5-924B-E1A916A42BE2}" type="datetime1">
              <a:rPr lang="en-US" smtClean="0"/>
              <a:t>28-Feb-24</a:t>
            </a:fld>
            <a:endParaRPr lang="en-US"/>
          </a:p>
        </p:txBody>
      </p:sp>
      <p:sp>
        <p:nvSpPr>
          <p:cNvPr id="5" name="Slide Number Placeholder 4"/>
          <p:cNvSpPr>
            <a:spLocks noGrp="1"/>
          </p:cNvSpPr>
          <p:nvPr>
            <p:ph type="sldNum" sz="quarter" idx="12"/>
          </p:nvPr>
        </p:nvSpPr>
        <p:spPr/>
        <p:txBody>
          <a:bodyPr/>
          <a:lstStyle/>
          <a:p>
            <a:fld id="{152743B3-639B-4115-8757-963852785863}" type="slidenum">
              <a:rPr lang="en-US" smtClean="0"/>
              <a:pPr/>
              <a:t>6</a:t>
            </a:fld>
            <a:endParaRPr lang="en-US"/>
          </a:p>
        </p:txBody>
      </p:sp>
      <p:sp>
        <p:nvSpPr>
          <p:cNvPr id="6" name="Footer Placeholder 5"/>
          <p:cNvSpPr>
            <a:spLocks noGrp="1"/>
          </p:cNvSpPr>
          <p:nvPr>
            <p:ph type="ftr" sz="quarter" idx="11"/>
          </p:nvPr>
        </p:nvSpPr>
        <p:spPr/>
        <p:txBody>
          <a:bodyPr/>
          <a:lstStyle/>
          <a:p>
            <a:r>
              <a:rPr lang="en-US" smtClean="0"/>
              <a:t>Vol. 2, Sec.4, Chap 4: IPC in Blood Bank and Transfusion Services</a:t>
            </a:r>
            <a:endParaRPr lang="en-US"/>
          </a:p>
        </p:txBody>
      </p:sp>
    </p:spTree>
    <p:extLst>
      <p:ext uri="{BB962C8B-B14F-4D97-AF65-F5344CB8AC3E}">
        <p14:creationId xmlns:p14="http://schemas.microsoft.com/office/powerpoint/2010/main" val="4434263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40080"/>
            <a:ext cx="10515600" cy="826114"/>
          </a:xfrm>
        </p:spPr>
        <p:txBody>
          <a:bodyPr>
            <a:normAutofit/>
          </a:bodyPr>
          <a:lstStyle/>
          <a:p>
            <a:r>
              <a:rPr lang="en-US" sz="4000" dirty="0" smtClean="0"/>
              <a:t>3. Preventing Donors … (2/4)</a:t>
            </a:r>
            <a:endParaRPr lang="en-US" sz="4000" dirty="0"/>
          </a:p>
        </p:txBody>
      </p:sp>
      <p:sp>
        <p:nvSpPr>
          <p:cNvPr id="3" name="Content Placeholder 2"/>
          <p:cNvSpPr>
            <a:spLocks noGrp="1"/>
          </p:cNvSpPr>
          <p:nvPr>
            <p:ph idx="1"/>
          </p:nvPr>
        </p:nvSpPr>
        <p:spPr>
          <a:xfrm>
            <a:off x="838200" y="2128345"/>
            <a:ext cx="10515600" cy="4048618"/>
          </a:xfrm>
        </p:spPr>
        <p:txBody>
          <a:bodyPr/>
          <a:lstStyle/>
          <a:p>
            <a:pPr marL="0" indent="0">
              <a:buNone/>
            </a:pPr>
            <a:r>
              <a:rPr lang="en-US" b="1" dirty="0" smtClean="0"/>
              <a:t>   Protecting Donors</a:t>
            </a:r>
          </a:p>
          <a:p>
            <a:pPr algn="just"/>
            <a:r>
              <a:rPr lang="en-US" sz="2800" dirty="0" smtClean="0"/>
              <a:t>Risk </a:t>
            </a:r>
            <a:r>
              <a:rPr lang="en-US" sz="2800" dirty="0"/>
              <a:t>to the donors can be reduced by following best practices for infection prevention and control (IPC) to prevent infection at the blood collection site and exposure to blood-borne pathogens </a:t>
            </a:r>
          </a:p>
        </p:txBody>
      </p:sp>
      <p:sp>
        <p:nvSpPr>
          <p:cNvPr id="4" name="Date Placeholder 3"/>
          <p:cNvSpPr>
            <a:spLocks noGrp="1"/>
          </p:cNvSpPr>
          <p:nvPr>
            <p:ph type="dt" sz="half" idx="10"/>
          </p:nvPr>
        </p:nvSpPr>
        <p:spPr/>
        <p:txBody>
          <a:bodyPr/>
          <a:lstStyle/>
          <a:p>
            <a:fld id="{B5BA6184-B756-4BA4-A58C-E9F92C9E58C3}" type="datetime1">
              <a:rPr lang="en-US" smtClean="0"/>
              <a:t>28-Feb-24</a:t>
            </a:fld>
            <a:endParaRPr lang="en-US"/>
          </a:p>
        </p:txBody>
      </p:sp>
      <p:sp>
        <p:nvSpPr>
          <p:cNvPr id="5" name="Slide Number Placeholder 4"/>
          <p:cNvSpPr>
            <a:spLocks noGrp="1"/>
          </p:cNvSpPr>
          <p:nvPr>
            <p:ph type="sldNum" sz="quarter" idx="12"/>
          </p:nvPr>
        </p:nvSpPr>
        <p:spPr/>
        <p:txBody>
          <a:bodyPr/>
          <a:lstStyle/>
          <a:p>
            <a:fld id="{152743B3-639B-4115-8757-963852785863}" type="slidenum">
              <a:rPr lang="en-US" smtClean="0"/>
              <a:pPr/>
              <a:t>7</a:t>
            </a:fld>
            <a:endParaRPr lang="en-US"/>
          </a:p>
        </p:txBody>
      </p:sp>
      <p:sp>
        <p:nvSpPr>
          <p:cNvPr id="6" name="Footer Placeholder 5"/>
          <p:cNvSpPr>
            <a:spLocks noGrp="1"/>
          </p:cNvSpPr>
          <p:nvPr>
            <p:ph type="ftr" sz="quarter" idx="11"/>
          </p:nvPr>
        </p:nvSpPr>
        <p:spPr/>
        <p:txBody>
          <a:bodyPr/>
          <a:lstStyle/>
          <a:p>
            <a:r>
              <a:rPr lang="en-US" smtClean="0"/>
              <a:t>Vol. 2, Sec.4, Chap 4: IPC in Blood Bank and Transfusion Services</a:t>
            </a:r>
            <a:endParaRPr lang="en-US"/>
          </a:p>
        </p:txBody>
      </p:sp>
    </p:spTree>
    <p:extLst>
      <p:ext uri="{BB962C8B-B14F-4D97-AF65-F5344CB8AC3E}">
        <p14:creationId xmlns:p14="http://schemas.microsoft.com/office/powerpoint/2010/main" val="320132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12800"/>
            <a:ext cx="10515600" cy="778816"/>
          </a:xfrm>
        </p:spPr>
        <p:txBody>
          <a:bodyPr/>
          <a:lstStyle/>
          <a:p>
            <a:r>
              <a:rPr lang="en-US" sz="4000" dirty="0" smtClean="0"/>
              <a:t>3. Preventing Donors … (3/4)</a:t>
            </a:r>
            <a:endParaRPr lang="en-US" sz="4000" dirty="0"/>
          </a:p>
        </p:txBody>
      </p:sp>
      <p:sp>
        <p:nvSpPr>
          <p:cNvPr id="3" name="Content Placeholder 2"/>
          <p:cNvSpPr>
            <a:spLocks noGrp="1"/>
          </p:cNvSpPr>
          <p:nvPr>
            <p:ph idx="1"/>
          </p:nvPr>
        </p:nvSpPr>
        <p:spPr>
          <a:xfrm>
            <a:off x="924560" y="2490136"/>
            <a:ext cx="10332720" cy="3444997"/>
          </a:xfrm>
        </p:spPr>
        <p:txBody>
          <a:bodyPr>
            <a:normAutofit/>
          </a:bodyPr>
          <a:lstStyle/>
          <a:p>
            <a:pPr marL="0" indent="0">
              <a:buNone/>
            </a:pPr>
            <a:r>
              <a:rPr lang="en-US" b="1" dirty="0" smtClean="0"/>
              <a:t>   Protecting </a:t>
            </a:r>
            <a:r>
              <a:rPr lang="en-US" b="1" dirty="0"/>
              <a:t>Health Care </a:t>
            </a:r>
            <a:r>
              <a:rPr lang="en-US" b="1" dirty="0" smtClean="0"/>
              <a:t>Workers</a:t>
            </a:r>
          </a:p>
          <a:p>
            <a:pPr algn="just"/>
            <a:r>
              <a:rPr lang="en-US" sz="2800" dirty="0" smtClean="0"/>
              <a:t>Any </a:t>
            </a:r>
            <a:r>
              <a:rPr lang="en-US" sz="2800" dirty="0"/>
              <a:t>Staff working in blood banks and transfusion services are at risk of exposure to pathogens in blood in a number of ways, including while </a:t>
            </a:r>
            <a:r>
              <a:rPr lang="en-US" sz="2800" b="1" dirty="0"/>
              <a:t>collecting the donor specimen</a:t>
            </a:r>
            <a:r>
              <a:rPr lang="en-US" sz="2800" dirty="0"/>
              <a:t>, during </a:t>
            </a:r>
            <a:r>
              <a:rPr lang="en-US" sz="2800" b="1" dirty="0"/>
              <a:t>testing,</a:t>
            </a:r>
            <a:r>
              <a:rPr lang="en-US" sz="2800" dirty="0"/>
              <a:t> when </a:t>
            </a:r>
            <a:r>
              <a:rPr lang="en-US" sz="2800" b="1" dirty="0"/>
              <a:t>infusing blood/blood components</a:t>
            </a:r>
            <a:r>
              <a:rPr lang="en-US" sz="2800" dirty="0"/>
              <a:t>, and when </a:t>
            </a:r>
            <a:r>
              <a:rPr lang="en-US" sz="2800" b="1" dirty="0"/>
              <a:t>disposing wastes of  blood collection and transfusion materials.</a:t>
            </a:r>
          </a:p>
          <a:p>
            <a:endParaRPr lang="en-US" dirty="0"/>
          </a:p>
        </p:txBody>
      </p:sp>
      <p:sp>
        <p:nvSpPr>
          <p:cNvPr id="4" name="Date Placeholder 3"/>
          <p:cNvSpPr>
            <a:spLocks noGrp="1"/>
          </p:cNvSpPr>
          <p:nvPr>
            <p:ph type="dt" sz="half" idx="10"/>
          </p:nvPr>
        </p:nvSpPr>
        <p:spPr/>
        <p:txBody>
          <a:bodyPr/>
          <a:lstStyle/>
          <a:p>
            <a:fld id="{72151FBB-7811-43E6-851C-B9AFC13421D4}" type="datetime1">
              <a:rPr lang="en-US" smtClean="0"/>
              <a:t>28-Feb-24</a:t>
            </a:fld>
            <a:endParaRPr lang="en-US"/>
          </a:p>
        </p:txBody>
      </p:sp>
      <p:sp>
        <p:nvSpPr>
          <p:cNvPr id="5" name="Slide Number Placeholder 4"/>
          <p:cNvSpPr>
            <a:spLocks noGrp="1"/>
          </p:cNvSpPr>
          <p:nvPr>
            <p:ph type="sldNum" sz="quarter" idx="12"/>
          </p:nvPr>
        </p:nvSpPr>
        <p:spPr/>
        <p:txBody>
          <a:bodyPr/>
          <a:lstStyle/>
          <a:p>
            <a:fld id="{152743B3-639B-4115-8757-963852785863}" type="slidenum">
              <a:rPr lang="en-US" smtClean="0"/>
              <a:pPr/>
              <a:t>8</a:t>
            </a:fld>
            <a:endParaRPr lang="en-US"/>
          </a:p>
        </p:txBody>
      </p:sp>
      <p:sp>
        <p:nvSpPr>
          <p:cNvPr id="6" name="Footer Placeholder 5"/>
          <p:cNvSpPr>
            <a:spLocks noGrp="1"/>
          </p:cNvSpPr>
          <p:nvPr>
            <p:ph type="ftr" sz="quarter" idx="11"/>
          </p:nvPr>
        </p:nvSpPr>
        <p:spPr/>
        <p:txBody>
          <a:bodyPr/>
          <a:lstStyle/>
          <a:p>
            <a:r>
              <a:rPr lang="en-US" smtClean="0"/>
              <a:t>Vol. 2, Sec.4, Chap 4: IPC in Blood Bank and Transfusion Services</a:t>
            </a:r>
            <a:endParaRPr lang="en-US"/>
          </a:p>
        </p:txBody>
      </p:sp>
    </p:spTree>
    <p:extLst>
      <p:ext uri="{BB962C8B-B14F-4D97-AF65-F5344CB8AC3E}">
        <p14:creationId xmlns:p14="http://schemas.microsoft.com/office/powerpoint/2010/main" val="18401200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24560"/>
            <a:ext cx="10515600" cy="650240"/>
          </a:xfrm>
        </p:spPr>
        <p:txBody>
          <a:bodyPr/>
          <a:lstStyle/>
          <a:p>
            <a:r>
              <a:rPr lang="en-US" sz="4000" dirty="0" smtClean="0"/>
              <a:t>3. Preventing Donors … (4/4)</a:t>
            </a:r>
            <a:endParaRPr lang="en-US" sz="4000" dirty="0"/>
          </a:p>
        </p:txBody>
      </p:sp>
      <p:sp>
        <p:nvSpPr>
          <p:cNvPr id="3" name="Content Placeholder 2"/>
          <p:cNvSpPr>
            <a:spLocks noGrp="1"/>
          </p:cNvSpPr>
          <p:nvPr>
            <p:ph idx="1"/>
          </p:nvPr>
        </p:nvSpPr>
        <p:spPr>
          <a:xfrm>
            <a:off x="1016000" y="2490136"/>
            <a:ext cx="10200640" cy="3444997"/>
          </a:xfrm>
        </p:spPr>
        <p:txBody>
          <a:bodyPr/>
          <a:lstStyle/>
          <a:p>
            <a:pPr marL="0" indent="0">
              <a:buNone/>
            </a:pPr>
            <a:r>
              <a:rPr lang="en-US" b="1" dirty="0" smtClean="0"/>
              <a:t>  Protecting </a:t>
            </a:r>
            <a:r>
              <a:rPr lang="en-US" b="1" dirty="0"/>
              <a:t>Transfusion </a:t>
            </a:r>
            <a:r>
              <a:rPr lang="en-US" b="1" dirty="0" smtClean="0"/>
              <a:t>Recipients</a:t>
            </a:r>
          </a:p>
          <a:p>
            <a:r>
              <a:rPr lang="en-US" sz="2800" dirty="0" smtClean="0"/>
              <a:t>Risk </a:t>
            </a:r>
            <a:r>
              <a:rPr lang="en-US" sz="2800" dirty="0"/>
              <a:t>to the transfusion recipient can be reduced by following best practices in IPC to prevent infection of the blood components and infection acquired from intravascular devices.</a:t>
            </a:r>
          </a:p>
          <a:p>
            <a:endParaRPr lang="en-US" dirty="0"/>
          </a:p>
        </p:txBody>
      </p:sp>
      <p:sp>
        <p:nvSpPr>
          <p:cNvPr id="4" name="Date Placeholder 3"/>
          <p:cNvSpPr>
            <a:spLocks noGrp="1"/>
          </p:cNvSpPr>
          <p:nvPr>
            <p:ph type="dt" sz="half" idx="10"/>
          </p:nvPr>
        </p:nvSpPr>
        <p:spPr/>
        <p:txBody>
          <a:bodyPr/>
          <a:lstStyle/>
          <a:p>
            <a:fld id="{5F0BFB82-388E-45B6-AD1B-9BDCB6758523}" type="datetime1">
              <a:rPr lang="en-US" smtClean="0"/>
              <a:t>28-Feb-24</a:t>
            </a:fld>
            <a:endParaRPr lang="en-US"/>
          </a:p>
        </p:txBody>
      </p:sp>
      <p:sp>
        <p:nvSpPr>
          <p:cNvPr id="5" name="Slide Number Placeholder 4"/>
          <p:cNvSpPr>
            <a:spLocks noGrp="1"/>
          </p:cNvSpPr>
          <p:nvPr>
            <p:ph type="sldNum" sz="quarter" idx="12"/>
          </p:nvPr>
        </p:nvSpPr>
        <p:spPr/>
        <p:txBody>
          <a:bodyPr/>
          <a:lstStyle/>
          <a:p>
            <a:fld id="{152743B3-639B-4115-8757-963852785863}" type="slidenum">
              <a:rPr lang="en-US" smtClean="0"/>
              <a:pPr/>
              <a:t>9</a:t>
            </a:fld>
            <a:endParaRPr lang="en-US"/>
          </a:p>
        </p:txBody>
      </p:sp>
      <p:sp>
        <p:nvSpPr>
          <p:cNvPr id="6" name="Footer Placeholder 5"/>
          <p:cNvSpPr>
            <a:spLocks noGrp="1"/>
          </p:cNvSpPr>
          <p:nvPr>
            <p:ph type="ftr" sz="quarter" idx="11"/>
          </p:nvPr>
        </p:nvSpPr>
        <p:spPr/>
        <p:txBody>
          <a:bodyPr/>
          <a:lstStyle/>
          <a:p>
            <a:r>
              <a:rPr lang="en-US" smtClean="0"/>
              <a:t>Vol. 2, Sec.4, Chap 4: IPC in Blood Bank and Transfusion Services</a:t>
            </a:r>
            <a:endParaRPr lang="en-US"/>
          </a:p>
        </p:txBody>
      </p:sp>
    </p:spTree>
    <p:extLst>
      <p:ext uri="{BB962C8B-B14F-4D97-AF65-F5344CB8AC3E}">
        <p14:creationId xmlns:p14="http://schemas.microsoft.com/office/powerpoint/2010/main" val="17756624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1680" y="760313"/>
            <a:ext cx="10877505" cy="1325563"/>
          </a:xfrm>
        </p:spPr>
        <p:txBody>
          <a:bodyPr>
            <a:noAutofit/>
          </a:bodyPr>
          <a:lstStyle/>
          <a:p>
            <a:pPr algn="just"/>
            <a:r>
              <a:rPr lang="en-US" sz="4000" dirty="0" smtClean="0"/>
              <a:t>4. Components of Safe Blood Bank Services , From Donation To Transfusion (1/2)</a:t>
            </a:r>
            <a:endParaRPr lang="en-US" sz="4000" dirty="0"/>
          </a:p>
        </p:txBody>
      </p:sp>
      <p:sp>
        <p:nvSpPr>
          <p:cNvPr id="3" name="Content Placeholder 2"/>
          <p:cNvSpPr>
            <a:spLocks noGrp="1"/>
          </p:cNvSpPr>
          <p:nvPr>
            <p:ph idx="1"/>
          </p:nvPr>
        </p:nvSpPr>
        <p:spPr>
          <a:xfrm>
            <a:off x="751840" y="2554013"/>
            <a:ext cx="10601960" cy="3622949"/>
          </a:xfrm>
        </p:spPr>
        <p:txBody>
          <a:bodyPr>
            <a:normAutofit/>
          </a:bodyPr>
          <a:lstStyle/>
          <a:p>
            <a:pPr lvl="0"/>
            <a:r>
              <a:rPr lang="en-US" dirty="0"/>
              <a:t>Screening and informing blood donors and obtaining their consent</a:t>
            </a:r>
          </a:p>
          <a:p>
            <a:pPr lvl="0"/>
            <a:r>
              <a:rPr lang="en-US" dirty="0"/>
              <a:t>Collecting blood from screened donors</a:t>
            </a:r>
          </a:p>
          <a:p>
            <a:pPr lvl="0"/>
            <a:r>
              <a:rPr lang="en-US" dirty="0"/>
              <a:t>Quarantining blood and blood components</a:t>
            </a:r>
          </a:p>
          <a:p>
            <a:pPr lvl="0"/>
            <a:r>
              <a:rPr lang="en-US" dirty="0"/>
              <a:t>Performing screening tests for infectious diseases on blood components</a:t>
            </a:r>
          </a:p>
          <a:p>
            <a:endParaRPr lang="en-US" dirty="0"/>
          </a:p>
        </p:txBody>
      </p:sp>
      <p:sp>
        <p:nvSpPr>
          <p:cNvPr id="4" name="Date Placeholder 3"/>
          <p:cNvSpPr>
            <a:spLocks noGrp="1"/>
          </p:cNvSpPr>
          <p:nvPr>
            <p:ph type="dt" sz="half" idx="10"/>
          </p:nvPr>
        </p:nvSpPr>
        <p:spPr/>
        <p:txBody>
          <a:bodyPr/>
          <a:lstStyle/>
          <a:p>
            <a:fld id="{79C632E6-D66F-495E-9DC4-ACC2426821FB}" type="datetime1">
              <a:rPr lang="en-US" smtClean="0"/>
              <a:t>28-Feb-24</a:t>
            </a:fld>
            <a:endParaRPr lang="en-US"/>
          </a:p>
        </p:txBody>
      </p:sp>
      <p:sp>
        <p:nvSpPr>
          <p:cNvPr id="5" name="Slide Number Placeholder 4"/>
          <p:cNvSpPr>
            <a:spLocks noGrp="1"/>
          </p:cNvSpPr>
          <p:nvPr>
            <p:ph type="sldNum" sz="quarter" idx="12"/>
          </p:nvPr>
        </p:nvSpPr>
        <p:spPr/>
        <p:txBody>
          <a:bodyPr/>
          <a:lstStyle/>
          <a:p>
            <a:fld id="{152743B3-639B-4115-8757-963852785863}" type="slidenum">
              <a:rPr lang="en-US" smtClean="0"/>
              <a:pPr/>
              <a:t>10</a:t>
            </a:fld>
            <a:endParaRPr lang="en-US"/>
          </a:p>
        </p:txBody>
      </p:sp>
      <p:sp>
        <p:nvSpPr>
          <p:cNvPr id="6" name="Footer Placeholder 5"/>
          <p:cNvSpPr>
            <a:spLocks noGrp="1"/>
          </p:cNvSpPr>
          <p:nvPr>
            <p:ph type="ftr" sz="quarter" idx="11"/>
          </p:nvPr>
        </p:nvSpPr>
        <p:spPr/>
        <p:txBody>
          <a:bodyPr/>
          <a:lstStyle/>
          <a:p>
            <a:r>
              <a:rPr lang="en-US" smtClean="0"/>
              <a:t>Vol. 2, Sec.4, Chap 4: IPC in Blood Bank and Transfusion Services</a:t>
            </a:r>
            <a:endParaRPr lang="en-US"/>
          </a:p>
        </p:txBody>
      </p:sp>
    </p:spTree>
    <p:extLst>
      <p:ext uri="{BB962C8B-B14F-4D97-AF65-F5344CB8AC3E}">
        <p14:creationId xmlns:p14="http://schemas.microsoft.com/office/powerpoint/2010/main" val="1716626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95349"/>
            <a:ext cx="10515600" cy="817289"/>
          </a:xfrm>
        </p:spPr>
        <p:txBody>
          <a:bodyPr/>
          <a:lstStyle/>
          <a:p>
            <a:r>
              <a:rPr lang="en-US" sz="4000" dirty="0" smtClean="0"/>
              <a:t>4. Components of Safe Blood … (2/2)</a:t>
            </a:r>
            <a:endParaRPr lang="en-US" sz="4000" dirty="0"/>
          </a:p>
        </p:txBody>
      </p:sp>
      <p:sp>
        <p:nvSpPr>
          <p:cNvPr id="3" name="Content Placeholder 2"/>
          <p:cNvSpPr>
            <a:spLocks noGrp="1"/>
          </p:cNvSpPr>
          <p:nvPr>
            <p:ph idx="1"/>
          </p:nvPr>
        </p:nvSpPr>
        <p:spPr>
          <a:xfrm>
            <a:off x="838200" y="2317531"/>
            <a:ext cx="10515600" cy="3859432"/>
          </a:xfrm>
        </p:spPr>
        <p:txBody>
          <a:bodyPr/>
          <a:lstStyle/>
          <a:p>
            <a:pPr lvl="0"/>
            <a:r>
              <a:rPr lang="en-US" sz="2800" dirty="0"/>
              <a:t>Releasing blood and blood components from quarantine</a:t>
            </a:r>
          </a:p>
          <a:p>
            <a:pPr lvl="0"/>
            <a:r>
              <a:rPr lang="en-US" sz="2800" dirty="0"/>
              <a:t>Storing and transporting donated blood</a:t>
            </a:r>
          </a:p>
          <a:p>
            <a:pPr lvl="0"/>
            <a:r>
              <a:rPr lang="en-US" sz="2800" dirty="0"/>
              <a:t>Testing and cross-matching recipients’ blood prior to transfusion</a:t>
            </a:r>
          </a:p>
          <a:p>
            <a:pPr lvl="0"/>
            <a:r>
              <a:rPr lang="en-US" sz="2800" dirty="0"/>
              <a:t>Transfusing blood and blood components</a:t>
            </a:r>
          </a:p>
          <a:p>
            <a:endParaRPr lang="en-US" dirty="0"/>
          </a:p>
        </p:txBody>
      </p:sp>
      <p:sp>
        <p:nvSpPr>
          <p:cNvPr id="4" name="Date Placeholder 3"/>
          <p:cNvSpPr>
            <a:spLocks noGrp="1"/>
          </p:cNvSpPr>
          <p:nvPr>
            <p:ph type="dt" sz="half" idx="10"/>
          </p:nvPr>
        </p:nvSpPr>
        <p:spPr/>
        <p:txBody>
          <a:bodyPr/>
          <a:lstStyle/>
          <a:p>
            <a:fld id="{B86914B8-0FCC-4AE6-955D-889A10F607B3}" type="datetime1">
              <a:rPr lang="en-US" smtClean="0"/>
              <a:t>28-Feb-24</a:t>
            </a:fld>
            <a:endParaRPr lang="en-US"/>
          </a:p>
        </p:txBody>
      </p:sp>
      <p:sp>
        <p:nvSpPr>
          <p:cNvPr id="5" name="Slide Number Placeholder 4"/>
          <p:cNvSpPr>
            <a:spLocks noGrp="1"/>
          </p:cNvSpPr>
          <p:nvPr>
            <p:ph type="sldNum" sz="quarter" idx="12"/>
          </p:nvPr>
        </p:nvSpPr>
        <p:spPr/>
        <p:txBody>
          <a:bodyPr/>
          <a:lstStyle/>
          <a:p>
            <a:fld id="{152743B3-639B-4115-8757-963852785863}" type="slidenum">
              <a:rPr lang="en-US" smtClean="0"/>
              <a:pPr/>
              <a:t>11</a:t>
            </a:fld>
            <a:endParaRPr lang="en-US"/>
          </a:p>
        </p:txBody>
      </p:sp>
      <p:sp>
        <p:nvSpPr>
          <p:cNvPr id="6" name="Footer Placeholder 5"/>
          <p:cNvSpPr>
            <a:spLocks noGrp="1"/>
          </p:cNvSpPr>
          <p:nvPr>
            <p:ph type="ftr" sz="quarter" idx="11"/>
          </p:nvPr>
        </p:nvSpPr>
        <p:spPr/>
        <p:txBody>
          <a:bodyPr/>
          <a:lstStyle/>
          <a:p>
            <a:r>
              <a:rPr lang="en-US" smtClean="0"/>
              <a:t>Vol. 2, Sec.4, Chap 4: IPC in Blood Bank and Transfusion Services</a:t>
            </a:r>
            <a:endParaRPr lang="en-US"/>
          </a:p>
        </p:txBody>
      </p:sp>
    </p:spTree>
    <p:extLst>
      <p:ext uri="{BB962C8B-B14F-4D97-AF65-F5344CB8AC3E}">
        <p14:creationId xmlns:p14="http://schemas.microsoft.com/office/powerpoint/2010/main" val="41385946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1520" y="1030778"/>
            <a:ext cx="10708639" cy="1188426"/>
          </a:xfrm>
        </p:spPr>
        <p:txBody>
          <a:bodyPr>
            <a:normAutofit fontScale="90000"/>
          </a:bodyPr>
          <a:lstStyle/>
          <a:p>
            <a:r>
              <a:rPr lang="en-US" sz="4400" b="1" dirty="0" smtClean="0"/>
              <a:t/>
            </a:r>
            <a:br>
              <a:rPr lang="en-US" sz="4400" b="1" dirty="0" smtClean="0"/>
            </a:br>
            <a:r>
              <a:rPr lang="en-US" sz="4400" b="1" dirty="0" smtClean="0"/>
              <a:t>Screening and Informing Blood Donors and Obtaining Their Consent (1/2)</a:t>
            </a:r>
            <a:r>
              <a:rPr lang="en-US" dirty="0" smtClean="0"/>
              <a:t/>
            </a:r>
            <a:br>
              <a:rPr lang="en-US" dirty="0" smtClean="0"/>
            </a:br>
            <a:endParaRPr lang="en-US" dirty="0"/>
          </a:p>
        </p:txBody>
      </p:sp>
      <p:sp>
        <p:nvSpPr>
          <p:cNvPr id="3" name="Content Placeholder 2"/>
          <p:cNvSpPr>
            <a:spLocks noGrp="1"/>
          </p:cNvSpPr>
          <p:nvPr>
            <p:ph idx="1"/>
          </p:nvPr>
        </p:nvSpPr>
        <p:spPr>
          <a:xfrm>
            <a:off x="751840" y="2081047"/>
            <a:ext cx="10728960" cy="4524705"/>
          </a:xfrm>
        </p:spPr>
        <p:txBody>
          <a:bodyPr>
            <a:normAutofit/>
          </a:bodyPr>
          <a:lstStyle/>
          <a:p>
            <a:pPr marL="0" indent="0">
              <a:buNone/>
            </a:pPr>
            <a:r>
              <a:rPr lang="en-US" dirty="0" smtClean="0"/>
              <a:t>Effective </a:t>
            </a:r>
            <a:r>
              <a:rPr lang="en-US" dirty="0"/>
              <a:t>blood transfusion begins with collection of safe blood from healthy blood donors</a:t>
            </a:r>
            <a:r>
              <a:rPr lang="en-US" dirty="0" smtClean="0"/>
              <a:t>:</a:t>
            </a:r>
          </a:p>
          <a:p>
            <a:pPr lvl="0"/>
            <a:r>
              <a:rPr lang="en-US" sz="2800" dirty="0" smtClean="0"/>
              <a:t>Collecting </a:t>
            </a:r>
            <a:r>
              <a:rPr lang="en-US" sz="2800" dirty="0"/>
              <a:t>blood from screened donors</a:t>
            </a:r>
          </a:p>
          <a:p>
            <a:pPr lvl="0"/>
            <a:r>
              <a:rPr lang="en-US" sz="2800" dirty="0"/>
              <a:t>Avoid Contamination of Collected Blood:</a:t>
            </a:r>
          </a:p>
          <a:p>
            <a:pPr lvl="0"/>
            <a:r>
              <a:rPr lang="en-US" sz="2800" dirty="0"/>
              <a:t>Quarantining blood and blood components</a:t>
            </a:r>
          </a:p>
          <a:p>
            <a:pPr lvl="0"/>
            <a:r>
              <a:rPr lang="en-US" sz="2800" dirty="0"/>
              <a:t>Performing screening tests for infectious diseases on blood components</a:t>
            </a:r>
          </a:p>
          <a:p>
            <a:endParaRPr lang="en-US" sz="2800" dirty="0"/>
          </a:p>
        </p:txBody>
      </p:sp>
      <p:sp>
        <p:nvSpPr>
          <p:cNvPr id="4" name="Date Placeholder 3"/>
          <p:cNvSpPr>
            <a:spLocks noGrp="1"/>
          </p:cNvSpPr>
          <p:nvPr>
            <p:ph type="dt" sz="half" idx="10"/>
          </p:nvPr>
        </p:nvSpPr>
        <p:spPr/>
        <p:txBody>
          <a:bodyPr/>
          <a:lstStyle/>
          <a:p>
            <a:fld id="{F33117B8-80F5-454C-AF11-21DC2C70635E}" type="datetime1">
              <a:rPr lang="en-US" smtClean="0"/>
              <a:t>28-Feb-24</a:t>
            </a:fld>
            <a:endParaRPr lang="en-US"/>
          </a:p>
        </p:txBody>
      </p:sp>
      <p:sp>
        <p:nvSpPr>
          <p:cNvPr id="5" name="Slide Number Placeholder 4"/>
          <p:cNvSpPr>
            <a:spLocks noGrp="1"/>
          </p:cNvSpPr>
          <p:nvPr>
            <p:ph type="sldNum" sz="quarter" idx="12"/>
          </p:nvPr>
        </p:nvSpPr>
        <p:spPr/>
        <p:txBody>
          <a:bodyPr/>
          <a:lstStyle/>
          <a:p>
            <a:fld id="{152743B3-639B-4115-8757-963852785863}" type="slidenum">
              <a:rPr lang="en-US" smtClean="0"/>
              <a:pPr/>
              <a:t>12</a:t>
            </a:fld>
            <a:endParaRPr lang="en-US"/>
          </a:p>
        </p:txBody>
      </p:sp>
      <p:sp>
        <p:nvSpPr>
          <p:cNvPr id="6" name="Footer Placeholder 5"/>
          <p:cNvSpPr>
            <a:spLocks noGrp="1"/>
          </p:cNvSpPr>
          <p:nvPr>
            <p:ph type="ftr" sz="quarter" idx="11"/>
          </p:nvPr>
        </p:nvSpPr>
        <p:spPr/>
        <p:txBody>
          <a:bodyPr/>
          <a:lstStyle/>
          <a:p>
            <a:r>
              <a:rPr lang="en-US" smtClean="0"/>
              <a:t>Vol. 2, Sec.4, Chap 4: IPC in Blood Bank and Transfusion Services</a:t>
            </a:r>
            <a:endParaRPr lang="en-US"/>
          </a:p>
        </p:txBody>
      </p:sp>
    </p:spTree>
    <p:extLst>
      <p:ext uri="{BB962C8B-B14F-4D97-AF65-F5344CB8AC3E}">
        <p14:creationId xmlns:p14="http://schemas.microsoft.com/office/powerpoint/2010/main" val="41964527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83920" y="488731"/>
            <a:ext cx="10566400" cy="5647909"/>
          </a:xfrm>
        </p:spPr>
        <p:txBody>
          <a:bodyPr>
            <a:normAutofit/>
          </a:bodyPr>
          <a:lstStyle/>
          <a:p>
            <a:pPr marL="0" indent="0">
              <a:buNone/>
            </a:pPr>
            <a:r>
              <a:rPr lang="en-US" b="1" dirty="0" smtClean="0"/>
              <a:t>Screening…(2/2)</a:t>
            </a:r>
            <a:endParaRPr lang="en-US" dirty="0" smtClean="0"/>
          </a:p>
          <a:p>
            <a:pPr marL="0" indent="0"/>
            <a:r>
              <a:rPr lang="en-US" sz="2800" dirty="0" smtClean="0"/>
              <a:t>Laboratory </a:t>
            </a:r>
            <a:r>
              <a:rPr lang="en-US" sz="2800" dirty="0"/>
              <a:t>staff should always adhere to the national screening strategy when conducting screening tests on blood. </a:t>
            </a:r>
            <a:endParaRPr lang="en-US" sz="2800" dirty="0" smtClean="0"/>
          </a:p>
          <a:p>
            <a:pPr marL="0" indent="0"/>
            <a:r>
              <a:rPr lang="en-US" sz="2800" dirty="0" smtClean="0"/>
              <a:t> </a:t>
            </a:r>
            <a:r>
              <a:rPr lang="en-GB" sz="2800" dirty="0" smtClean="0"/>
              <a:t>WHO (2010) recommends that all blood be tested for at least the following:</a:t>
            </a:r>
            <a:endParaRPr lang="en-US" sz="2800" dirty="0" smtClean="0"/>
          </a:p>
          <a:p>
            <a:pPr lvl="1"/>
            <a:r>
              <a:rPr lang="en-US" sz="2400" b="1" dirty="0" smtClean="0"/>
              <a:t>HIV-1 </a:t>
            </a:r>
            <a:r>
              <a:rPr lang="en-US" sz="2400" b="1" dirty="0"/>
              <a:t>and HIV-2</a:t>
            </a:r>
            <a:endParaRPr lang="en-US" sz="2400" dirty="0"/>
          </a:p>
          <a:p>
            <a:pPr lvl="1"/>
            <a:r>
              <a:rPr lang="en-US" sz="2400" b="1" dirty="0"/>
              <a:t>Hepatitis B</a:t>
            </a:r>
            <a:endParaRPr lang="en-US" sz="2400" dirty="0"/>
          </a:p>
          <a:p>
            <a:pPr lvl="1"/>
            <a:r>
              <a:rPr lang="en-US" sz="2400" b="1" dirty="0"/>
              <a:t>Hepatitis C</a:t>
            </a:r>
            <a:endParaRPr lang="en-US" sz="2400" dirty="0"/>
          </a:p>
          <a:p>
            <a:pPr lvl="1"/>
            <a:r>
              <a:rPr lang="en-US" sz="2400" b="1" dirty="0"/>
              <a:t>Syphilis </a:t>
            </a:r>
            <a:endParaRPr lang="en-US" sz="2400" dirty="0"/>
          </a:p>
          <a:p>
            <a:pPr lvl="1"/>
            <a:r>
              <a:rPr lang="en-US" sz="2400" b="1" dirty="0"/>
              <a:t>Other screening</a:t>
            </a:r>
            <a:r>
              <a:rPr lang="en-US" sz="2400" dirty="0"/>
              <a:t>:</a:t>
            </a:r>
            <a:r>
              <a:rPr lang="en-US" sz="2400" b="1" dirty="0"/>
              <a:t> Malaria</a:t>
            </a:r>
            <a:endParaRPr lang="en-US" sz="2400" dirty="0"/>
          </a:p>
          <a:p>
            <a:pPr marL="0" indent="0">
              <a:buNone/>
            </a:pPr>
            <a:endParaRPr lang="en-US" dirty="0"/>
          </a:p>
        </p:txBody>
      </p:sp>
      <p:sp>
        <p:nvSpPr>
          <p:cNvPr id="4" name="Date Placeholder 3"/>
          <p:cNvSpPr>
            <a:spLocks noGrp="1"/>
          </p:cNvSpPr>
          <p:nvPr>
            <p:ph type="dt" sz="half" idx="10"/>
          </p:nvPr>
        </p:nvSpPr>
        <p:spPr/>
        <p:txBody>
          <a:bodyPr/>
          <a:lstStyle/>
          <a:p>
            <a:fld id="{74B227C6-C356-4F06-8382-0901A8A8414B}" type="datetime1">
              <a:rPr lang="en-US" smtClean="0"/>
              <a:t>28-Feb-24</a:t>
            </a:fld>
            <a:endParaRPr lang="en-US"/>
          </a:p>
        </p:txBody>
      </p:sp>
      <p:sp>
        <p:nvSpPr>
          <p:cNvPr id="5" name="Slide Number Placeholder 4"/>
          <p:cNvSpPr>
            <a:spLocks noGrp="1"/>
          </p:cNvSpPr>
          <p:nvPr>
            <p:ph type="sldNum" sz="quarter" idx="12"/>
          </p:nvPr>
        </p:nvSpPr>
        <p:spPr/>
        <p:txBody>
          <a:bodyPr/>
          <a:lstStyle/>
          <a:p>
            <a:fld id="{152743B3-639B-4115-8757-963852785863}" type="slidenum">
              <a:rPr lang="en-US" smtClean="0"/>
              <a:pPr/>
              <a:t>13</a:t>
            </a:fld>
            <a:endParaRPr lang="en-US"/>
          </a:p>
        </p:txBody>
      </p:sp>
      <p:sp>
        <p:nvSpPr>
          <p:cNvPr id="6" name="Footer Placeholder 5"/>
          <p:cNvSpPr>
            <a:spLocks noGrp="1"/>
          </p:cNvSpPr>
          <p:nvPr>
            <p:ph type="ftr" sz="quarter" idx="11"/>
          </p:nvPr>
        </p:nvSpPr>
        <p:spPr/>
        <p:txBody>
          <a:bodyPr/>
          <a:lstStyle/>
          <a:p>
            <a:r>
              <a:rPr lang="en-US" smtClean="0"/>
              <a:t>Vol. 2, Sec.4, Chap 4: IPC in Blood Bank and Transfusion Services</a:t>
            </a:r>
            <a:endParaRPr lang="en-US"/>
          </a:p>
        </p:txBody>
      </p:sp>
    </p:spTree>
    <p:extLst>
      <p:ext uri="{BB962C8B-B14F-4D97-AF65-F5344CB8AC3E}">
        <p14:creationId xmlns:p14="http://schemas.microsoft.com/office/powerpoint/2010/main" val="15072117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360" y="640080"/>
            <a:ext cx="10728960" cy="1341120"/>
          </a:xfrm>
        </p:spPr>
        <p:txBody>
          <a:bodyPr>
            <a:normAutofit fontScale="90000"/>
          </a:bodyPr>
          <a:lstStyle/>
          <a:p>
            <a:r>
              <a:rPr lang="en-US" dirty="0" smtClean="0"/>
              <a:t/>
            </a:r>
            <a:br>
              <a:rPr lang="en-US" dirty="0" smtClean="0"/>
            </a:br>
            <a:r>
              <a:rPr lang="en-US" dirty="0" smtClean="0"/>
              <a:t/>
            </a:r>
            <a:br>
              <a:rPr lang="en-US" dirty="0" smtClean="0"/>
            </a:br>
            <a:r>
              <a:rPr lang="en-US" sz="4400" dirty="0" smtClean="0"/>
              <a:t>Releasing </a:t>
            </a:r>
            <a:r>
              <a:rPr lang="en-US" sz="4400" dirty="0"/>
              <a:t>Blood and Blood Components from </a:t>
            </a:r>
            <a:r>
              <a:rPr lang="en-US" sz="4400" dirty="0" smtClean="0"/>
              <a:t>Quarantine (1/1)</a:t>
            </a:r>
            <a:r>
              <a:rPr lang="en-US" dirty="0"/>
              <a:t/>
            </a:r>
            <a:br>
              <a:rPr lang="en-US" dirty="0"/>
            </a:br>
            <a:endParaRPr lang="en-US" dirty="0"/>
          </a:p>
        </p:txBody>
      </p:sp>
      <p:sp>
        <p:nvSpPr>
          <p:cNvPr id="3" name="Content Placeholder 2"/>
          <p:cNvSpPr>
            <a:spLocks noGrp="1"/>
          </p:cNvSpPr>
          <p:nvPr>
            <p:ph idx="1"/>
          </p:nvPr>
        </p:nvSpPr>
        <p:spPr>
          <a:xfrm>
            <a:off x="711200" y="2554014"/>
            <a:ext cx="10759440" cy="4051737"/>
          </a:xfrm>
        </p:spPr>
        <p:txBody>
          <a:bodyPr>
            <a:normAutofit/>
          </a:bodyPr>
          <a:lstStyle/>
          <a:p>
            <a:pPr lvl="0" algn="just"/>
            <a:r>
              <a:rPr lang="en-US" sz="2800" dirty="0"/>
              <a:t>When blood is determined to be negative for all screening tests, it can be released from quarantine for clinical use. </a:t>
            </a:r>
          </a:p>
          <a:p>
            <a:pPr lvl="0" algn="just"/>
            <a:r>
              <a:rPr lang="en-US" sz="2800" dirty="0"/>
              <a:t>Label released blood component as “ready for clinical use” according to the facility procedures.</a:t>
            </a:r>
          </a:p>
          <a:p>
            <a:pPr algn="just"/>
            <a:r>
              <a:rPr lang="en-US" sz="2800" dirty="0"/>
              <a:t>Once the blood is released from quarantine, the label should contain relevant details </a:t>
            </a:r>
          </a:p>
        </p:txBody>
      </p:sp>
      <p:sp>
        <p:nvSpPr>
          <p:cNvPr id="4" name="Date Placeholder 3"/>
          <p:cNvSpPr>
            <a:spLocks noGrp="1"/>
          </p:cNvSpPr>
          <p:nvPr>
            <p:ph type="dt" sz="half" idx="10"/>
          </p:nvPr>
        </p:nvSpPr>
        <p:spPr/>
        <p:txBody>
          <a:bodyPr/>
          <a:lstStyle/>
          <a:p>
            <a:fld id="{A1A1EB93-BFC9-488F-83AC-74C3630DFC38}" type="datetime1">
              <a:rPr lang="en-US" smtClean="0"/>
              <a:t>28-Feb-24</a:t>
            </a:fld>
            <a:endParaRPr lang="en-US"/>
          </a:p>
        </p:txBody>
      </p:sp>
      <p:sp>
        <p:nvSpPr>
          <p:cNvPr id="5" name="Slide Number Placeholder 4"/>
          <p:cNvSpPr>
            <a:spLocks noGrp="1"/>
          </p:cNvSpPr>
          <p:nvPr>
            <p:ph type="sldNum" sz="quarter" idx="12"/>
          </p:nvPr>
        </p:nvSpPr>
        <p:spPr/>
        <p:txBody>
          <a:bodyPr/>
          <a:lstStyle/>
          <a:p>
            <a:fld id="{152743B3-639B-4115-8757-963852785863}" type="slidenum">
              <a:rPr lang="en-US" smtClean="0"/>
              <a:pPr/>
              <a:t>14</a:t>
            </a:fld>
            <a:endParaRPr lang="en-US"/>
          </a:p>
        </p:txBody>
      </p:sp>
      <p:sp>
        <p:nvSpPr>
          <p:cNvPr id="6" name="Footer Placeholder 5"/>
          <p:cNvSpPr>
            <a:spLocks noGrp="1"/>
          </p:cNvSpPr>
          <p:nvPr>
            <p:ph type="ftr" sz="quarter" idx="11"/>
          </p:nvPr>
        </p:nvSpPr>
        <p:spPr/>
        <p:txBody>
          <a:bodyPr/>
          <a:lstStyle/>
          <a:p>
            <a:r>
              <a:rPr lang="en-US" smtClean="0"/>
              <a:t>Vol. 2, Sec.4, Chap 4: IPC in Blood Bank and Transfusion Services</a:t>
            </a:r>
            <a:endParaRPr lang="en-US"/>
          </a:p>
        </p:txBody>
      </p:sp>
    </p:spTree>
    <p:extLst>
      <p:ext uri="{BB962C8B-B14F-4D97-AF65-F5344CB8AC3E}">
        <p14:creationId xmlns:p14="http://schemas.microsoft.com/office/powerpoint/2010/main" val="27833874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1841" y="1030778"/>
            <a:ext cx="9882294" cy="1188426"/>
          </a:xfrm>
        </p:spPr>
        <p:txBody>
          <a:bodyPr/>
          <a:lstStyle/>
          <a:p>
            <a:r>
              <a:rPr lang="en-US" sz="4000" b="1" dirty="0"/>
              <a:t>Blood Storage and Short Distance </a:t>
            </a:r>
            <a:r>
              <a:rPr lang="en-US" sz="4000" b="1" dirty="0" smtClean="0"/>
              <a:t>Transport (1/1)</a:t>
            </a:r>
            <a:r>
              <a:rPr lang="en-US" dirty="0"/>
              <a:t/>
            </a:r>
            <a:br>
              <a:rPr lang="en-US" dirty="0"/>
            </a:br>
            <a:endParaRPr lang="en-US" dirty="0"/>
          </a:p>
        </p:txBody>
      </p:sp>
      <p:sp>
        <p:nvSpPr>
          <p:cNvPr id="3" name="Content Placeholder 2"/>
          <p:cNvSpPr>
            <a:spLocks noGrp="1"/>
          </p:cNvSpPr>
          <p:nvPr>
            <p:ph idx="1"/>
          </p:nvPr>
        </p:nvSpPr>
        <p:spPr>
          <a:xfrm>
            <a:off x="838200" y="2317531"/>
            <a:ext cx="10515600" cy="3859432"/>
          </a:xfrm>
        </p:spPr>
        <p:txBody>
          <a:bodyPr>
            <a:normAutofit/>
          </a:bodyPr>
          <a:lstStyle/>
          <a:p>
            <a:pPr lvl="2"/>
            <a:r>
              <a:rPr lang="en-US" sz="2800" dirty="0"/>
              <a:t>Blood units must be stored in a refrigerator at a temperature ranging from 1 to </a:t>
            </a:r>
            <a:r>
              <a:rPr lang="en-US" sz="2800" dirty="0" smtClean="0"/>
              <a:t>6</a:t>
            </a:r>
            <a:r>
              <a:rPr lang="en-US" sz="2800" dirty="0"/>
              <a:t> </a:t>
            </a:r>
            <a:r>
              <a:rPr lang="en-US" sz="2800" dirty="0" smtClean="0"/>
              <a:t>degree C </a:t>
            </a:r>
            <a:endParaRPr lang="en-US" sz="2800" dirty="0"/>
          </a:p>
          <a:p>
            <a:pPr marL="914400" lvl="2" indent="0">
              <a:buNone/>
            </a:pPr>
            <a:endParaRPr lang="en-US" sz="2800" dirty="0" smtClean="0"/>
          </a:p>
          <a:p>
            <a:pPr lvl="2"/>
            <a:r>
              <a:rPr lang="en-US" sz="2800" dirty="0" smtClean="0"/>
              <a:t>There </a:t>
            </a:r>
            <a:r>
              <a:rPr lang="en-US" sz="2800" dirty="0"/>
              <a:t>must be a system to monitor temperatures continuously and record them at least every 4 hours</a:t>
            </a:r>
          </a:p>
          <a:p>
            <a:pPr algn="just"/>
            <a:endParaRPr lang="en-US" dirty="0"/>
          </a:p>
        </p:txBody>
      </p:sp>
      <p:sp>
        <p:nvSpPr>
          <p:cNvPr id="4" name="Date Placeholder 3"/>
          <p:cNvSpPr>
            <a:spLocks noGrp="1"/>
          </p:cNvSpPr>
          <p:nvPr>
            <p:ph type="dt" sz="half" idx="10"/>
          </p:nvPr>
        </p:nvSpPr>
        <p:spPr/>
        <p:txBody>
          <a:bodyPr/>
          <a:lstStyle/>
          <a:p>
            <a:fld id="{368C6B6F-E2BC-4AD5-88F9-B94137A748D6}" type="datetime1">
              <a:rPr lang="en-US" smtClean="0"/>
              <a:t>28-Feb-24</a:t>
            </a:fld>
            <a:endParaRPr lang="en-US"/>
          </a:p>
        </p:txBody>
      </p:sp>
      <p:sp>
        <p:nvSpPr>
          <p:cNvPr id="5" name="Slide Number Placeholder 4"/>
          <p:cNvSpPr>
            <a:spLocks noGrp="1"/>
          </p:cNvSpPr>
          <p:nvPr>
            <p:ph type="sldNum" sz="quarter" idx="12"/>
          </p:nvPr>
        </p:nvSpPr>
        <p:spPr/>
        <p:txBody>
          <a:bodyPr/>
          <a:lstStyle/>
          <a:p>
            <a:fld id="{152743B3-639B-4115-8757-963852785863}" type="slidenum">
              <a:rPr lang="en-US" smtClean="0"/>
              <a:pPr/>
              <a:t>15</a:t>
            </a:fld>
            <a:endParaRPr lang="en-US"/>
          </a:p>
        </p:txBody>
      </p:sp>
      <p:sp>
        <p:nvSpPr>
          <p:cNvPr id="6" name="Footer Placeholder 5"/>
          <p:cNvSpPr>
            <a:spLocks noGrp="1"/>
          </p:cNvSpPr>
          <p:nvPr>
            <p:ph type="ftr" sz="quarter" idx="11"/>
          </p:nvPr>
        </p:nvSpPr>
        <p:spPr/>
        <p:txBody>
          <a:bodyPr/>
          <a:lstStyle/>
          <a:p>
            <a:r>
              <a:rPr lang="en-US" smtClean="0"/>
              <a:t>Vol. 2, Sec.4, Chap 4: IPC in Blood Bank and Transfusion Services</a:t>
            </a:r>
            <a:endParaRPr lang="en-US"/>
          </a:p>
        </p:txBody>
      </p:sp>
    </p:spTree>
    <p:extLst>
      <p:ext uri="{BB962C8B-B14F-4D97-AF65-F5344CB8AC3E}">
        <p14:creationId xmlns:p14="http://schemas.microsoft.com/office/powerpoint/2010/main" val="36337643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1520" y="508000"/>
            <a:ext cx="10739120" cy="1422400"/>
          </a:xfrm>
        </p:spPr>
        <p:txBody>
          <a:bodyPr>
            <a:normAutofit fontScale="90000"/>
          </a:bodyPr>
          <a:lstStyle/>
          <a:p>
            <a:r>
              <a:rPr lang="en-US" sz="4400" dirty="0" smtClean="0"/>
              <a:t/>
            </a:r>
            <a:br>
              <a:rPr lang="en-US" sz="4400" dirty="0" smtClean="0"/>
            </a:br>
            <a:r>
              <a:rPr lang="en-US" sz="4400" dirty="0" smtClean="0"/>
              <a:t/>
            </a:r>
            <a:br>
              <a:rPr lang="en-US" sz="4400" dirty="0" smtClean="0"/>
            </a:br>
            <a:r>
              <a:rPr lang="en-US" sz="4400" dirty="0" smtClean="0"/>
              <a:t>Steps of Discarding Blood Exposed to Higher Temperature (1/1)</a:t>
            </a:r>
            <a:r>
              <a:rPr lang="en-US" dirty="0"/>
              <a:t/>
            </a:r>
            <a:br>
              <a:rPr lang="en-US" dirty="0"/>
            </a:br>
            <a:endParaRPr lang="en-US" dirty="0"/>
          </a:p>
        </p:txBody>
      </p:sp>
      <p:sp>
        <p:nvSpPr>
          <p:cNvPr id="3" name="Content Placeholder 2"/>
          <p:cNvSpPr>
            <a:spLocks noGrp="1"/>
          </p:cNvSpPr>
          <p:nvPr>
            <p:ph idx="1"/>
          </p:nvPr>
        </p:nvSpPr>
        <p:spPr>
          <a:xfrm>
            <a:off x="873760" y="2490136"/>
            <a:ext cx="10434320" cy="3444997"/>
          </a:xfrm>
        </p:spPr>
        <p:txBody>
          <a:bodyPr>
            <a:normAutofit/>
          </a:bodyPr>
          <a:lstStyle/>
          <a:p>
            <a:r>
              <a:rPr lang="en-US" sz="2800" dirty="0"/>
              <a:t>Wear examination or utility gloves and protective eyewear</a:t>
            </a:r>
          </a:p>
          <a:p>
            <a:r>
              <a:rPr lang="en-US" sz="2800" dirty="0"/>
              <a:t>Pour content down a utility sink or drain onto a flushable toilet or latrine</a:t>
            </a:r>
          </a:p>
          <a:p>
            <a:r>
              <a:rPr lang="en-US" sz="2800" dirty="0"/>
              <a:t>Place empty blood bags and tubing in a leak-proof </a:t>
            </a:r>
            <a:r>
              <a:rPr lang="en-US" sz="2800" dirty="0" smtClean="0"/>
              <a:t>container</a:t>
            </a:r>
          </a:p>
          <a:p>
            <a:r>
              <a:rPr lang="en-US" sz="2800" dirty="0" smtClean="0"/>
              <a:t>Burn </a:t>
            </a:r>
            <a:r>
              <a:rPr lang="en-US" sz="2800" dirty="0"/>
              <a:t>or bury them for disposal</a:t>
            </a:r>
          </a:p>
        </p:txBody>
      </p:sp>
      <p:sp>
        <p:nvSpPr>
          <p:cNvPr id="4" name="Date Placeholder 3"/>
          <p:cNvSpPr>
            <a:spLocks noGrp="1"/>
          </p:cNvSpPr>
          <p:nvPr>
            <p:ph type="dt" sz="half" idx="10"/>
          </p:nvPr>
        </p:nvSpPr>
        <p:spPr/>
        <p:txBody>
          <a:bodyPr/>
          <a:lstStyle/>
          <a:p>
            <a:fld id="{CB36A38A-2B92-44D5-8624-32D195E29D6C}" type="datetime1">
              <a:rPr lang="en-US" smtClean="0"/>
              <a:t>28-Feb-24</a:t>
            </a:fld>
            <a:endParaRPr lang="en-US"/>
          </a:p>
        </p:txBody>
      </p:sp>
      <p:sp>
        <p:nvSpPr>
          <p:cNvPr id="5" name="Slide Number Placeholder 4"/>
          <p:cNvSpPr>
            <a:spLocks noGrp="1"/>
          </p:cNvSpPr>
          <p:nvPr>
            <p:ph type="sldNum" sz="quarter" idx="12"/>
          </p:nvPr>
        </p:nvSpPr>
        <p:spPr/>
        <p:txBody>
          <a:bodyPr/>
          <a:lstStyle/>
          <a:p>
            <a:fld id="{152743B3-639B-4115-8757-963852785863}" type="slidenum">
              <a:rPr lang="en-US" smtClean="0"/>
              <a:pPr/>
              <a:t>16</a:t>
            </a:fld>
            <a:endParaRPr lang="en-US"/>
          </a:p>
        </p:txBody>
      </p:sp>
      <p:sp>
        <p:nvSpPr>
          <p:cNvPr id="6" name="Footer Placeholder 5"/>
          <p:cNvSpPr>
            <a:spLocks noGrp="1"/>
          </p:cNvSpPr>
          <p:nvPr>
            <p:ph type="ftr" sz="quarter" idx="11"/>
          </p:nvPr>
        </p:nvSpPr>
        <p:spPr/>
        <p:txBody>
          <a:bodyPr/>
          <a:lstStyle/>
          <a:p>
            <a:r>
              <a:rPr lang="en-US" smtClean="0"/>
              <a:t>Vol. 2, Sec.4, Chap 4: IPC in Blood Bank and Transfusion Services</a:t>
            </a:r>
            <a:endParaRPr lang="en-US"/>
          </a:p>
        </p:txBody>
      </p:sp>
    </p:spTree>
    <p:extLst>
      <p:ext uri="{BB962C8B-B14F-4D97-AF65-F5344CB8AC3E}">
        <p14:creationId xmlns:p14="http://schemas.microsoft.com/office/powerpoint/2010/main" val="2666015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1040" y="883920"/>
            <a:ext cx="10789920" cy="806768"/>
          </a:xfrm>
        </p:spPr>
        <p:txBody>
          <a:bodyPr>
            <a:normAutofit fontScale="90000"/>
          </a:bodyPr>
          <a:lstStyle/>
          <a:p>
            <a:r>
              <a:rPr lang="en-US" dirty="0" smtClean="0"/>
              <a:t/>
            </a:r>
            <a:br>
              <a:rPr lang="en-US" dirty="0" smtClean="0"/>
            </a:br>
            <a:r>
              <a:rPr lang="en-US" sz="4400" dirty="0" smtClean="0"/>
              <a:t>Testing and Cross-matching Recipients’ Blood Prior to Transfusion (1/1)</a:t>
            </a:r>
            <a:r>
              <a:rPr lang="en-US" dirty="0"/>
              <a:t/>
            </a:r>
            <a:br>
              <a:rPr lang="en-US" dirty="0"/>
            </a:br>
            <a:endParaRPr lang="en-US" dirty="0"/>
          </a:p>
        </p:txBody>
      </p:sp>
      <p:sp>
        <p:nvSpPr>
          <p:cNvPr id="3" name="Content Placeholder 2"/>
          <p:cNvSpPr>
            <a:spLocks noGrp="1"/>
          </p:cNvSpPr>
          <p:nvPr>
            <p:ph idx="1"/>
          </p:nvPr>
        </p:nvSpPr>
        <p:spPr>
          <a:xfrm>
            <a:off x="751840" y="2380593"/>
            <a:ext cx="10637520" cy="3796370"/>
          </a:xfrm>
        </p:spPr>
        <p:txBody>
          <a:bodyPr/>
          <a:lstStyle/>
          <a:p>
            <a:pPr marL="0" indent="0">
              <a:buNone/>
            </a:pPr>
            <a:r>
              <a:rPr lang="en-US" dirty="0" smtClean="0"/>
              <a:t> The </a:t>
            </a:r>
            <a:r>
              <a:rPr lang="en-US" dirty="0"/>
              <a:t>purpose of pre-transfusion </a:t>
            </a:r>
            <a:r>
              <a:rPr lang="en-US" dirty="0" smtClean="0"/>
              <a:t>testing:</a:t>
            </a:r>
          </a:p>
          <a:p>
            <a:pPr lvl="1"/>
            <a:r>
              <a:rPr lang="en-US" dirty="0" smtClean="0"/>
              <a:t>To </a:t>
            </a:r>
            <a:r>
              <a:rPr lang="en-US" dirty="0"/>
              <a:t>select blood/blood components that will not cause harm to the recipient </a:t>
            </a:r>
            <a:endParaRPr lang="en-US" dirty="0" smtClean="0"/>
          </a:p>
          <a:p>
            <a:pPr lvl="1"/>
            <a:r>
              <a:rPr lang="en-US" dirty="0" smtClean="0"/>
              <a:t>To </a:t>
            </a:r>
            <a:r>
              <a:rPr lang="en-US" dirty="0"/>
              <a:t>ensure that the red cells will survive (not be destroyed too rapidly) when transfused. </a:t>
            </a:r>
          </a:p>
          <a:p>
            <a:endParaRPr lang="en-US" dirty="0"/>
          </a:p>
        </p:txBody>
      </p:sp>
      <p:sp>
        <p:nvSpPr>
          <p:cNvPr id="4" name="Date Placeholder 3"/>
          <p:cNvSpPr>
            <a:spLocks noGrp="1"/>
          </p:cNvSpPr>
          <p:nvPr>
            <p:ph type="dt" sz="half" idx="10"/>
          </p:nvPr>
        </p:nvSpPr>
        <p:spPr/>
        <p:txBody>
          <a:bodyPr/>
          <a:lstStyle/>
          <a:p>
            <a:fld id="{8C3E1474-1B65-429A-A5D5-DBB40A46CB34}" type="datetime1">
              <a:rPr lang="en-US" smtClean="0"/>
              <a:t>28-Feb-24</a:t>
            </a:fld>
            <a:endParaRPr lang="en-US"/>
          </a:p>
        </p:txBody>
      </p:sp>
      <p:sp>
        <p:nvSpPr>
          <p:cNvPr id="5" name="Slide Number Placeholder 4"/>
          <p:cNvSpPr>
            <a:spLocks noGrp="1"/>
          </p:cNvSpPr>
          <p:nvPr>
            <p:ph type="sldNum" sz="quarter" idx="12"/>
          </p:nvPr>
        </p:nvSpPr>
        <p:spPr/>
        <p:txBody>
          <a:bodyPr/>
          <a:lstStyle/>
          <a:p>
            <a:fld id="{152743B3-639B-4115-8757-963852785863}" type="slidenum">
              <a:rPr lang="en-US" smtClean="0"/>
              <a:pPr/>
              <a:t>17</a:t>
            </a:fld>
            <a:endParaRPr lang="en-US"/>
          </a:p>
        </p:txBody>
      </p:sp>
      <p:sp>
        <p:nvSpPr>
          <p:cNvPr id="6" name="Footer Placeholder 5"/>
          <p:cNvSpPr>
            <a:spLocks noGrp="1"/>
          </p:cNvSpPr>
          <p:nvPr>
            <p:ph type="ftr" sz="quarter" idx="11"/>
          </p:nvPr>
        </p:nvSpPr>
        <p:spPr/>
        <p:txBody>
          <a:bodyPr/>
          <a:lstStyle/>
          <a:p>
            <a:r>
              <a:rPr lang="en-US" smtClean="0"/>
              <a:t>Vol. 2, Sec.4, Chap 4: IPC in Blood Bank and Transfusion Services</a:t>
            </a:r>
            <a:endParaRPr lang="en-US"/>
          </a:p>
        </p:txBody>
      </p:sp>
    </p:spTree>
    <p:extLst>
      <p:ext uri="{BB962C8B-B14F-4D97-AF65-F5344CB8AC3E}">
        <p14:creationId xmlns:p14="http://schemas.microsoft.com/office/powerpoint/2010/main" val="42034993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1520" y="1030778"/>
            <a:ext cx="10586719" cy="1188426"/>
          </a:xfrm>
        </p:spPr>
        <p:txBody>
          <a:bodyPr/>
          <a:lstStyle/>
          <a:p>
            <a:r>
              <a:rPr lang="en-US" sz="4000" dirty="0"/>
              <a:t>Transfusion of Blood or Blood </a:t>
            </a:r>
            <a:r>
              <a:rPr lang="en-US" sz="4000" dirty="0" smtClean="0"/>
              <a:t>Components (1/1)</a:t>
            </a:r>
            <a:r>
              <a:rPr lang="en-US" dirty="0"/>
              <a:t/>
            </a:r>
            <a:br>
              <a:rPr lang="en-US" dirty="0"/>
            </a:br>
            <a:endParaRPr lang="en-US" dirty="0"/>
          </a:p>
        </p:txBody>
      </p:sp>
      <p:sp>
        <p:nvSpPr>
          <p:cNvPr id="3" name="Content Placeholder 2"/>
          <p:cNvSpPr>
            <a:spLocks noGrp="1"/>
          </p:cNvSpPr>
          <p:nvPr>
            <p:ph idx="1"/>
          </p:nvPr>
        </p:nvSpPr>
        <p:spPr>
          <a:xfrm>
            <a:off x="838200" y="2128345"/>
            <a:ext cx="10561320" cy="4048617"/>
          </a:xfrm>
        </p:spPr>
        <p:txBody>
          <a:bodyPr>
            <a:normAutofit fontScale="92500" lnSpcReduction="10000"/>
          </a:bodyPr>
          <a:lstStyle/>
          <a:p>
            <a:pPr marL="0" indent="0">
              <a:buNone/>
            </a:pPr>
            <a:r>
              <a:rPr lang="en-US" dirty="0" smtClean="0"/>
              <a:t>   </a:t>
            </a:r>
          </a:p>
          <a:p>
            <a:pPr marL="0" indent="0">
              <a:buNone/>
            </a:pPr>
            <a:r>
              <a:rPr lang="en-US" dirty="0" smtClean="0"/>
              <a:t>Indications </a:t>
            </a:r>
            <a:r>
              <a:rPr lang="en-US" dirty="0"/>
              <a:t>for blood transfusion are</a:t>
            </a:r>
            <a:r>
              <a:rPr lang="en-US" dirty="0" smtClean="0"/>
              <a:t>:</a:t>
            </a:r>
          </a:p>
          <a:p>
            <a:pPr lvl="2" algn="just"/>
            <a:r>
              <a:rPr lang="en-US" sz="3000" dirty="0" smtClean="0"/>
              <a:t>Actively </a:t>
            </a:r>
            <a:r>
              <a:rPr lang="en-US" sz="3000" dirty="0"/>
              <a:t>bleeding patients and</a:t>
            </a:r>
          </a:p>
          <a:p>
            <a:pPr lvl="2" algn="just"/>
            <a:r>
              <a:rPr lang="en-US" sz="3000" dirty="0"/>
              <a:t>Patients with chronic or symptomatic anemia.</a:t>
            </a:r>
          </a:p>
          <a:p>
            <a:pPr lvl="2" algn="just"/>
            <a:r>
              <a:rPr lang="en-US" sz="3000" dirty="0"/>
              <a:t>The generally accepted Hemoglobin level for transfusing patients with acute blood loss is 7 </a:t>
            </a:r>
            <a:r>
              <a:rPr lang="en-US" sz="3000" dirty="0" err="1"/>
              <a:t>gm</a:t>
            </a:r>
            <a:r>
              <a:rPr lang="en-US" sz="3000" dirty="0"/>
              <a:t>%; those patients having a level of 6 </a:t>
            </a:r>
            <a:r>
              <a:rPr lang="en-US" sz="3000" dirty="0" err="1"/>
              <a:t>gm</a:t>
            </a:r>
            <a:r>
              <a:rPr lang="en-US" sz="3000" dirty="0"/>
              <a:t>%, almost always require transfusion but those with a level of ≥10 </a:t>
            </a:r>
            <a:r>
              <a:rPr lang="en-US" sz="3000" dirty="0" err="1"/>
              <a:t>gm</a:t>
            </a:r>
            <a:r>
              <a:rPr lang="en-US" sz="3000" dirty="0"/>
              <a:t>% rarely need it.</a:t>
            </a:r>
          </a:p>
          <a:p>
            <a:pPr algn="just"/>
            <a:endParaRPr lang="en-US" dirty="0"/>
          </a:p>
        </p:txBody>
      </p:sp>
      <p:sp>
        <p:nvSpPr>
          <p:cNvPr id="4" name="Date Placeholder 3"/>
          <p:cNvSpPr>
            <a:spLocks noGrp="1"/>
          </p:cNvSpPr>
          <p:nvPr>
            <p:ph type="dt" sz="half" idx="10"/>
          </p:nvPr>
        </p:nvSpPr>
        <p:spPr/>
        <p:txBody>
          <a:bodyPr/>
          <a:lstStyle/>
          <a:p>
            <a:fld id="{247AC91E-C00B-48D6-9C43-9C2977A2D12B}" type="datetime1">
              <a:rPr lang="en-US" smtClean="0"/>
              <a:t>28-Feb-24</a:t>
            </a:fld>
            <a:endParaRPr lang="en-US"/>
          </a:p>
        </p:txBody>
      </p:sp>
      <p:sp>
        <p:nvSpPr>
          <p:cNvPr id="5" name="Slide Number Placeholder 4"/>
          <p:cNvSpPr>
            <a:spLocks noGrp="1"/>
          </p:cNvSpPr>
          <p:nvPr>
            <p:ph type="sldNum" sz="quarter" idx="12"/>
          </p:nvPr>
        </p:nvSpPr>
        <p:spPr/>
        <p:txBody>
          <a:bodyPr/>
          <a:lstStyle/>
          <a:p>
            <a:fld id="{152743B3-639B-4115-8757-963852785863}" type="slidenum">
              <a:rPr lang="en-US" smtClean="0"/>
              <a:pPr/>
              <a:t>18</a:t>
            </a:fld>
            <a:endParaRPr lang="en-US"/>
          </a:p>
        </p:txBody>
      </p:sp>
      <p:sp>
        <p:nvSpPr>
          <p:cNvPr id="6" name="Footer Placeholder 5"/>
          <p:cNvSpPr>
            <a:spLocks noGrp="1"/>
          </p:cNvSpPr>
          <p:nvPr>
            <p:ph type="ftr" sz="quarter" idx="11"/>
          </p:nvPr>
        </p:nvSpPr>
        <p:spPr/>
        <p:txBody>
          <a:bodyPr/>
          <a:lstStyle/>
          <a:p>
            <a:r>
              <a:rPr lang="en-US" smtClean="0"/>
              <a:t>Vol. 2, Sec.4, Chap 4: IPC in Blood Bank and Transfusion Services</a:t>
            </a:r>
            <a:endParaRPr lang="en-US"/>
          </a:p>
        </p:txBody>
      </p:sp>
    </p:spTree>
    <p:extLst>
      <p:ext uri="{BB962C8B-B14F-4D97-AF65-F5344CB8AC3E}">
        <p14:creationId xmlns:p14="http://schemas.microsoft.com/office/powerpoint/2010/main" val="26484651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1520" y="568960"/>
            <a:ext cx="10622280" cy="1121728"/>
          </a:xfrm>
        </p:spPr>
        <p:txBody>
          <a:bodyPr>
            <a:normAutofit/>
          </a:bodyPr>
          <a:lstStyle/>
          <a:p>
            <a:r>
              <a:rPr lang="en-US" sz="4000" dirty="0" smtClean="0"/>
              <a:t>Before starting the transfusion (1/1)</a:t>
            </a:r>
            <a:endParaRPr lang="en-US" sz="4000" dirty="0"/>
          </a:p>
        </p:txBody>
      </p:sp>
      <p:sp>
        <p:nvSpPr>
          <p:cNvPr id="3" name="Content Placeholder 2"/>
          <p:cNvSpPr>
            <a:spLocks noGrp="1"/>
          </p:cNvSpPr>
          <p:nvPr>
            <p:ph idx="1"/>
          </p:nvPr>
        </p:nvSpPr>
        <p:spPr>
          <a:xfrm>
            <a:off x="792480" y="1981200"/>
            <a:ext cx="10637520" cy="3953933"/>
          </a:xfrm>
        </p:spPr>
        <p:txBody>
          <a:bodyPr>
            <a:normAutofit fontScale="85000" lnSpcReduction="20000"/>
          </a:bodyPr>
          <a:lstStyle/>
          <a:p>
            <a:pPr marL="0" indent="0">
              <a:buNone/>
            </a:pPr>
            <a:endParaRPr lang="en-US" sz="2400" dirty="0"/>
          </a:p>
          <a:p>
            <a:pPr lvl="2" algn="just"/>
            <a:r>
              <a:rPr lang="en-US" sz="3300" dirty="0"/>
              <a:t>Explain the procedure to the patient if he/she is conscious.</a:t>
            </a:r>
          </a:p>
          <a:p>
            <a:pPr lvl="2" algn="just"/>
            <a:r>
              <a:rPr lang="en-US" sz="3300" dirty="0"/>
              <a:t>Correctly identify  the  blood  product  and  the  patient:  confirm  patient’s  name,  check compatibility information attached to the blood bag and expiry date, check the ABO and Rhesus factor status of the patient on the patient chart, double check blood or type of blood product with the physician’s order and check blood for clots.</a:t>
            </a:r>
          </a:p>
          <a:p>
            <a:pPr lvl="2" algn="just"/>
            <a:r>
              <a:rPr lang="en-US" sz="3300" dirty="0"/>
              <a:t>Record baseline pulse and blood pressure.</a:t>
            </a:r>
          </a:p>
          <a:p>
            <a:pPr algn="just"/>
            <a:endParaRPr lang="en-US" dirty="0"/>
          </a:p>
        </p:txBody>
      </p:sp>
      <p:sp>
        <p:nvSpPr>
          <p:cNvPr id="4" name="Date Placeholder 3"/>
          <p:cNvSpPr>
            <a:spLocks noGrp="1"/>
          </p:cNvSpPr>
          <p:nvPr>
            <p:ph type="dt" sz="half" idx="10"/>
          </p:nvPr>
        </p:nvSpPr>
        <p:spPr/>
        <p:txBody>
          <a:bodyPr/>
          <a:lstStyle/>
          <a:p>
            <a:fld id="{C2BA631F-4F6F-49CE-A4FD-B8075FB82866}" type="datetime1">
              <a:rPr lang="en-US" smtClean="0"/>
              <a:t>28-Feb-24</a:t>
            </a:fld>
            <a:endParaRPr lang="en-US"/>
          </a:p>
        </p:txBody>
      </p:sp>
      <p:sp>
        <p:nvSpPr>
          <p:cNvPr id="5" name="Slide Number Placeholder 4"/>
          <p:cNvSpPr>
            <a:spLocks noGrp="1"/>
          </p:cNvSpPr>
          <p:nvPr>
            <p:ph type="sldNum" sz="quarter" idx="12"/>
          </p:nvPr>
        </p:nvSpPr>
        <p:spPr/>
        <p:txBody>
          <a:bodyPr/>
          <a:lstStyle/>
          <a:p>
            <a:fld id="{152743B3-639B-4115-8757-963852785863}" type="slidenum">
              <a:rPr lang="en-US" smtClean="0"/>
              <a:pPr/>
              <a:t>19</a:t>
            </a:fld>
            <a:endParaRPr lang="en-US"/>
          </a:p>
        </p:txBody>
      </p:sp>
      <p:sp>
        <p:nvSpPr>
          <p:cNvPr id="6" name="Footer Placeholder 5"/>
          <p:cNvSpPr>
            <a:spLocks noGrp="1"/>
          </p:cNvSpPr>
          <p:nvPr>
            <p:ph type="ftr" sz="quarter" idx="11"/>
          </p:nvPr>
        </p:nvSpPr>
        <p:spPr/>
        <p:txBody>
          <a:bodyPr/>
          <a:lstStyle/>
          <a:p>
            <a:r>
              <a:rPr lang="en-US" smtClean="0"/>
              <a:t>Vol. 2, Sec.4, Chap 4: IPC in Blood Bank and Transfusion Services</a:t>
            </a:r>
            <a:endParaRPr lang="en-US"/>
          </a:p>
        </p:txBody>
      </p:sp>
    </p:spTree>
    <p:extLst>
      <p:ext uri="{BB962C8B-B14F-4D97-AF65-F5344CB8AC3E}">
        <p14:creationId xmlns:p14="http://schemas.microsoft.com/office/powerpoint/2010/main" val="306110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9155" y="471978"/>
            <a:ext cx="9064979" cy="1188426"/>
          </a:xfrm>
        </p:spPr>
        <p:txBody>
          <a:bodyPr/>
          <a:lstStyle/>
          <a:p>
            <a:r>
              <a:rPr lang="en-US" dirty="0" smtClean="0"/>
              <a:t>Summary (1/1)</a:t>
            </a:r>
            <a:endParaRPr lang="en-US" dirty="0"/>
          </a:p>
        </p:txBody>
      </p:sp>
      <p:sp>
        <p:nvSpPr>
          <p:cNvPr id="3" name="Content Placeholder 2"/>
          <p:cNvSpPr>
            <a:spLocks noGrp="1"/>
          </p:cNvSpPr>
          <p:nvPr>
            <p:ph idx="1"/>
          </p:nvPr>
        </p:nvSpPr>
        <p:spPr>
          <a:xfrm>
            <a:off x="782320" y="1706880"/>
            <a:ext cx="10607040" cy="4228253"/>
          </a:xfrm>
        </p:spPr>
        <p:txBody>
          <a:bodyPr>
            <a:normAutofit lnSpcReduction="10000"/>
          </a:bodyPr>
          <a:lstStyle/>
          <a:p>
            <a:r>
              <a:rPr lang="en-GB" dirty="0" smtClean="0"/>
              <a:t>When blood transfusions occur safely, they can save lives and are important medical treatment.</a:t>
            </a:r>
          </a:p>
          <a:p>
            <a:r>
              <a:rPr lang="en-GB" dirty="0" smtClean="0"/>
              <a:t>During the process of blood collection, storage and transfusion, there is a risk of infection for the donor, the recipient and for HCWs who handle the blood and blood components</a:t>
            </a:r>
          </a:p>
          <a:p>
            <a:r>
              <a:rPr lang="en-GB" dirty="0" smtClean="0"/>
              <a:t>Preventing Donors, Healthcare workers and Recipients.</a:t>
            </a:r>
          </a:p>
          <a:p>
            <a:r>
              <a:rPr lang="en-GB" dirty="0" smtClean="0"/>
              <a:t>Components of safe blood bank services, from donation to transfusion.</a:t>
            </a:r>
            <a:endParaRPr lang="en-US" dirty="0"/>
          </a:p>
        </p:txBody>
      </p:sp>
      <p:sp>
        <p:nvSpPr>
          <p:cNvPr id="4" name="Date Placeholder 3"/>
          <p:cNvSpPr>
            <a:spLocks noGrp="1"/>
          </p:cNvSpPr>
          <p:nvPr>
            <p:ph type="dt" sz="half" idx="10"/>
          </p:nvPr>
        </p:nvSpPr>
        <p:spPr/>
        <p:txBody>
          <a:bodyPr/>
          <a:lstStyle/>
          <a:p>
            <a:fld id="{890AD4D6-2FAA-4802-BF6B-F957985BCD28}" type="datetime1">
              <a:rPr lang="en-US" smtClean="0"/>
              <a:t>28-Feb-24</a:t>
            </a:fld>
            <a:endParaRPr lang="en-US"/>
          </a:p>
        </p:txBody>
      </p:sp>
      <p:sp>
        <p:nvSpPr>
          <p:cNvPr id="5" name="Footer Placeholder 4"/>
          <p:cNvSpPr>
            <a:spLocks noGrp="1"/>
          </p:cNvSpPr>
          <p:nvPr>
            <p:ph type="ftr" sz="quarter" idx="11"/>
          </p:nvPr>
        </p:nvSpPr>
        <p:spPr/>
        <p:txBody>
          <a:bodyPr/>
          <a:lstStyle/>
          <a:p>
            <a:r>
              <a:rPr lang="en-US" smtClean="0"/>
              <a:t>Vol. 2, Sec.4, Chap 4: IPC in Blood Bank and Transfusion Services</a:t>
            </a:r>
            <a:endParaRPr lang="en-US"/>
          </a:p>
        </p:txBody>
      </p:sp>
      <p:sp>
        <p:nvSpPr>
          <p:cNvPr id="6" name="Slide Number Placeholder 5"/>
          <p:cNvSpPr>
            <a:spLocks noGrp="1"/>
          </p:cNvSpPr>
          <p:nvPr>
            <p:ph type="sldNum" sz="quarter" idx="12"/>
          </p:nvPr>
        </p:nvSpPr>
        <p:spPr/>
        <p:txBody>
          <a:bodyPr/>
          <a:lstStyle/>
          <a:p>
            <a:fld id="{152743B3-639B-4115-8757-963852785863}" type="slidenum">
              <a:rPr lang="en-US" smtClean="0"/>
              <a:pPr/>
              <a:t>20</a:t>
            </a:fld>
            <a:endParaRPr lang="en-US"/>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Theme7">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Presentation1" id="{FF8D033B-E2B8-2549-8206-D2592AE46FED}" vid="{E3C3ECE2-B6B8-A844-8217-32346E25080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Theme7</Template>
  <TotalTime>1527</TotalTime>
  <Words>1410</Words>
  <Application>Microsoft Office PowerPoint</Application>
  <PresentationFormat>Widescreen</PresentationFormat>
  <Paragraphs>145</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Britannic Bold</vt:lpstr>
      <vt:lpstr>Calibri</vt:lpstr>
      <vt:lpstr>Garamond</vt:lpstr>
      <vt:lpstr>Times New Roman</vt:lpstr>
      <vt:lpstr>Theme7</vt:lpstr>
      <vt:lpstr>Volume 2_Section 4 CHAPTER 4: IPC In Blood Bank and transfusion                     Services   </vt:lpstr>
      <vt:lpstr> Chapter contents  </vt:lpstr>
      <vt:lpstr>Learning Objective</vt:lpstr>
      <vt:lpstr>1. Overview (1/1)  </vt:lpstr>
      <vt:lpstr>2. Risks Of Blood Transfusion Services (1/1)</vt:lpstr>
      <vt:lpstr>3. Preventing Donors, Health Care Workers And Recipients (1/4)</vt:lpstr>
      <vt:lpstr>3. Preventing Donors … (2/4)</vt:lpstr>
      <vt:lpstr>3. Preventing Donors … (3/4)</vt:lpstr>
      <vt:lpstr>3. Preventing Donors … (4/4)</vt:lpstr>
      <vt:lpstr>4. Components of Safe Blood Bank Services , From Donation To Transfusion (1/2)</vt:lpstr>
      <vt:lpstr>4. Components of Safe Blood … (2/2)</vt:lpstr>
      <vt:lpstr> Screening and Informing Blood Donors and Obtaining Their Consent (1/2) </vt:lpstr>
      <vt:lpstr>PowerPoint Presentation</vt:lpstr>
      <vt:lpstr>  Releasing Blood and Blood Components from Quarantine (1/1) </vt:lpstr>
      <vt:lpstr>Blood Storage and Short Distance Transport (1/1) </vt:lpstr>
      <vt:lpstr>  Steps of Discarding Blood Exposed to Higher Temperature (1/1) </vt:lpstr>
      <vt:lpstr> Testing and Cross-matching Recipients’ Blood Prior to Transfusion (1/1) </vt:lpstr>
      <vt:lpstr>Transfusion of Blood or Blood Components (1/1) </vt:lpstr>
      <vt:lpstr>Before starting the transfusion (1/1)</vt:lpstr>
      <vt:lpstr>Summary (1/1)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6. Mortuary IPC for Handling Human Remains</dc:title>
  <dc:creator>yayene Tad</dc:creator>
  <cp:lastModifiedBy>Ibrahim</cp:lastModifiedBy>
  <cp:revision>53</cp:revision>
  <dcterms:created xsi:type="dcterms:W3CDTF">2018-12-11T15:00:38Z</dcterms:created>
  <dcterms:modified xsi:type="dcterms:W3CDTF">2024-02-28T15:29:12Z</dcterms:modified>
</cp:coreProperties>
</file>