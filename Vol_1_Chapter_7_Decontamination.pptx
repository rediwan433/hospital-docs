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9"/>
  </p:notesMasterIdLst>
  <p:sldIdLst>
    <p:sldId id="256" r:id="rId2"/>
    <p:sldId id="258" r:id="rId3"/>
    <p:sldId id="257" r:id="rId4"/>
    <p:sldId id="259" r:id="rId5"/>
    <p:sldId id="260" r:id="rId6"/>
    <p:sldId id="265" r:id="rId7"/>
    <p:sldId id="262" r:id="rId8"/>
    <p:sldId id="263" r:id="rId9"/>
    <p:sldId id="264" r:id="rId10"/>
    <p:sldId id="342" r:id="rId11"/>
    <p:sldId id="261" r:id="rId12"/>
    <p:sldId id="270" r:id="rId13"/>
    <p:sldId id="266" r:id="rId14"/>
    <p:sldId id="267" r:id="rId15"/>
    <p:sldId id="343" r:id="rId16"/>
    <p:sldId id="268" r:id="rId17"/>
    <p:sldId id="269" r:id="rId18"/>
    <p:sldId id="271" r:id="rId19"/>
    <p:sldId id="272" r:id="rId20"/>
    <p:sldId id="273" r:id="rId21"/>
    <p:sldId id="274" r:id="rId22"/>
    <p:sldId id="275" r:id="rId23"/>
    <p:sldId id="276" r:id="rId24"/>
    <p:sldId id="277" r:id="rId25"/>
    <p:sldId id="279" r:id="rId26"/>
    <p:sldId id="278" r:id="rId27"/>
    <p:sldId id="280" r:id="rId28"/>
    <p:sldId id="281" r:id="rId29"/>
    <p:sldId id="282" r:id="rId30"/>
    <p:sldId id="283" r:id="rId31"/>
    <p:sldId id="284" r:id="rId32"/>
    <p:sldId id="285" r:id="rId33"/>
    <p:sldId id="286" r:id="rId34"/>
    <p:sldId id="287" r:id="rId35"/>
    <p:sldId id="289" r:id="rId36"/>
    <p:sldId id="288" r:id="rId37"/>
    <p:sldId id="290" r:id="rId38"/>
    <p:sldId id="291" r:id="rId39"/>
    <p:sldId id="292" r:id="rId40"/>
    <p:sldId id="294" r:id="rId41"/>
    <p:sldId id="293" r:id="rId42"/>
    <p:sldId id="295" r:id="rId43"/>
    <p:sldId id="296" r:id="rId44"/>
    <p:sldId id="297" r:id="rId45"/>
    <p:sldId id="304" r:id="rId46"/>
    <p:sldId id="335" r:id="rId47"/>
    <p:sldId id="303" r:id="rId48"/>
    <p:sldId id="302" r:id="rId49"/>
    <p:sldId id="305" r:id="rId50"/>
    <p:sldId id="299" r:id="rId51"/>
    <p:sldId id="300" r:id="rId52"/>
    <p:sldId id="306" r:id="rId53"/>
    <p:sldId id="301" r:id="rId54"/>
    <p:sldId id="307" r:id="rId55"/>
    <p:sldId id="311" r:id="rId56"/>
    <p:sldId id="308" r:id="rId57"/>
    <p:sldId id="309" r:id="rId58"/>
    <p:sldId id="310"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6" r:id="rId83"/>
    <p:sldId id="337" r:id="rId84"/>
    <p:sldId id="338" r:id="rId85"/>
    <p:sldId id="339" r:id="rId86"/>
    <p:sldId id="340" r:id="rId87"/>
    <p:sldId id="341"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88" autoAdjust="0"/>
    <p:restoredTop sz="94671" autoAdjust="0"/>
  </p:normalViewPr>
  <p:slideViewPr>
    <p:cSldViewPr>
      <p:cViewPr varScale="1">
        <p:scale>
          <a:sx n="70" d="100"/>
          <a:sy n="70" d="100"/>
        </p:scale>
        <p:origin x="1182"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34" d="100"/>
          <a:sy n="34" d="100"/>
        </p:scale>
        <p:origin x="-113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963A6C-EC69-4641-93E5-AED22DCE55D8}" type="datetimeFigureOut">
              <a:rPr lang="en-US" smtClean="0"/>
              <a:t>16-Dec-20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322985-A8A5-422E-8805-0C97C571C5E4}" type="slidenum">
              <a:rPr lang="en-US" smtClean="0"/>
              <a:t>‹#›</a:t>
            </a:fld>
            <a:endParaRPr lang="en-US"/>
          </a:p>
        </p:txBody>
      </p:sp>
    </p:spTree>
    <p:extLst>
      <p:ext uri="{BB962C8B-B14F-4D97-AF65-F5344CB8AC3E}">
        <p14:creationId xmlns:p14="http://schemas.microsoft.com/office/powerpoint/2010/main" val="3538003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322985-A8A5-422E-8805-0C97C571C5E4}" type="slidenum">
              <a:rPr lang="en-US" smtClean="0"/>
              <a:t>1</a:t>
            </a:fld>
            <a:endParaRPr lang="en-US"/>
          </a:p>
        </p:txBody>
      </p:sp>
    </p:spTree>
    <p:extLst>
      <p:ext uri="{BB962C8B-B14F-4D97-AF65-F5344CB8AC3E}">
        <p14:creationId xmlns:p14="http://schemas.microsoft.com/office/powerpoint/2010/main" val="385009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322985-A8A5-422E-8805-0C97C571C5E4}" type="slidenum">
              <a:rPr lang="en-US" smtClean="0"/>
              <a:t>6</a:t>
            </a:fld>
            <a:endParaRPr lang="en-US" dirty="0"/>
          </a:p>
        </p:txBody>
      </p:sp>
    </p:spTree>
    <p:extLst>
      <p:ext uri="{BB962C8B-B14F-4D97-AF65-F5344CB8AC3E}">
        <p14:creationId xmlns:p14="http://schemas.microsoft.com/office/powerpoint/2010/main" val="488237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322985-A8A5-422E-8805-0C97C571C5E4}" type="slidenum">
              <a:rPr lang="en-US" smtClean="0"/>
              <a:t>22</a:t>
            </a:fld>
            <a:endParaRPr lang="en-US"/>
          </a:p>
        </p:txBody>
      </p:sp>
    </p:spTree>
    <p:extLst>
      <p:ext uri="{BB962C8B-B14F-4D97-AF65-F5344CB8AC3E}">
        <p14:creationId xmlns:p14="http://schemas.microsoft.com/office/powerpoint/2010/main" val="1079358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322985-A8A5-422E-8805-0C97C571C5E4}" type="slidenum">
              <a:rPr lang="en-US" smtClean="0"/>
              <a:t>36</a:t>
            </a:fld>
            <a:endParaRPr lang="en-US"/>
          </a:p>
        </p:txBody>
      </p:sp>
    </p:spTree>
    <p:extLst>
      <p:ext uri="{BB962C8B-B14F-4D97-AF65-F5344CB8AC3E}">
        <p14:creationId xmlns:p14="http://schemas.microsoft.com/office/powerpoint/2010/main" val="67078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322985-A8A5-422E-8805-0C97C571C5E4}" type="slidenum">
              <a:rPr lang="en-US" smtClean="0"/>
              <a:t>72</a:t>
            </a:fld>
            <a:endParaRPr lang="en-US"/>
          </a:p>
        </p:txBody>
      </p:sp>
    </p:spTree>
    <p:extLst>
      <p:ext uri="{BB962C8B-B14F-4D97-AF65-F5344CB8AC3E}">
        <p14:creationId xmlns:p14="http://schemas.microsoft.com/office/powerpoint/2010/main" val="3007890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322985-A8A5-422E-8805-0C97C571C5E4}" type="slidenum">
              <a:rPr lang="en-US" smtClean="0"/>
              <a:t>85</a:t>
            </a:fld>
            <a:endParaRPr lang="en-US"/>
          </a:p>
        </p:txBody>
      </p:sp>
    </p:spTree>
    <p:extLst>
      <p:ext uri="{BB962C8B-B14F-4D97-AF65-F5344CB8AC3E}">
        <p14:creationId xmlns:p14="http://schemas.microsoft.com/office/powerpoint/2010/main" val="173793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a:xfrm>
            <a:off x="1921934" y="4972193"/>
            <a:ext cx="3749306" cy="361809"/>
          </a:xfrm>
        </p:spPr>
        <p:txBody>
          <a:bodyPr/>
          <a:lstStyle/>
          <a:p>
            <a:endParaRPr lang="en-US"/>
          </a:p>
        </p:txBody>
      </p:sp>
      <p:sp>
        <p:nvSpPr>
          <p:cNvPr id="6" name="Slide Number Placeholder 5"/>
          <p:cNvSpPr>
            <a:spLocks noGrp="1"/>
          </p:cNvSpPr>
          <p:nvPr>
            <p:ph type="sldNum" sz="quarter" idx="12"/>
          </p:nvPr>
        </p:nvSpPr>
        <p:spPr>
          <a:xfrm>
            <a:off x="6811347" y="4972192"/>
            <a:ext cx="726151" cy="361809"/>
          </a:xfrm>
        </p:spPr>
        <p:txBody>
          <a:bodyPr/>
          <a:lstStyle/>
          <a:p>
            <a:fld id="{5D61F4BC-139B-4C0A-8634-B5D2DE0C863A}"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206871" y="5960533"/>
            <a:ext cx="724154" cy="279400"/>
          </a:xfrm>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580091" y="5960533"/>
            <a:ext cx="865640" cy="279400"/>
          </a:xfrm>
        </p:spPr>
        <p:txBody>
          <a:bodyPr/>
          <a:lstStyle/>
          <a:p>
            <a:fld id="{5D61F4BC-139B-4C0A-8634-B5D2DE0C863A}"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052393"/>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0CDFB43-B696-45F8-A580-2DE34CFDE36C}" type="datetimeFigureOut">
              <a:rPr lang="en-US" smtClean="0"/>
              <a:t>16-Dec-20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580091" y="5934456"/>
            <a:ext cx="765888" cy="305477"/>
          </a:xfrm>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CDFB43-B696-45F8-A580-2DE34CFDE36C}" type="datetimeFigureOut">
              <a:rPr lang="en-US" smtClean="0"/>
              <a:t>16-Dec-20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61F4BC-139B-4C0A-8634-B5D2DE0C863A}"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CDFB43-B696-45F8-A580-2DE34CFDE36C}" type="datetimeFigureOut">
              <a:rPr lang="en-US" smtClean="0"/>
              <a:t>16-Dec-20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61F4BC-139B-4C0A-8634-B5D2DE0C863A}"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CDFB43-B696-45F8-A580-2DE34CFDE36C}" type="datetimeFigureOut">
              <a:rPr lang="en-US" smtClean="0"/>
              <a:t>16-Dec-20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CDFB43-B696-45F8-A580-2DE34CFDE36C}" type="datetimeFigureOut">
              <a:rPr lang="en-US" smtClean="0"/>
              <a:t>16-Dec-20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61F4BC-139B-4C0A-8634-B5D2DE0C863A}"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CDFB43-B696-45F8-A580-2DE34CFDE36C}" type="datetimeFigureOut">
              <a:rPr lang="en-US" smtClean="0"/>
              <a:t>16-Dec-20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CDFB43-B696-45F8-A580-2DE34CFDE36C}" type="datetimeFigureOut">
              <a:rPr lang="en-US" smtClean="0"/>
              <a:t>16-Dec-20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CDFB43-B696-45F8-A580-2DE34CFDE36C}" type="datetimeFigureOut">
              <a:rPr lang="en-US" smtClean="0"/>
              <a:t>16-Dec-20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1F4BC-139B-4C0A-8634-B5D2DE0C863A}"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35132"/>
            <a:ext cx="673085"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0CDFB43-B696-45F8-A580-2DE34CFDE36C}" type="datetimeFigureOut">
              <a:rPr lang="en-US" smtClean="0"/>
              <a:t>16-Dec-20</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029755" y="5960533"/>
            <a:ext cx="94584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61F4BC-139B-4C0A-8634-B5D2DE0C863A}" type="slidenum">
              <a:rPr lang="en-US" smtClean="0"/>
              <a:t>‹#›</a:t>
            </a:fld>
            <a:endParaRPr lang="en-US"/>
          </a:p>
        </p:txBody>
      </p:sp>
      <p:grpSp>
        <p:nvGrpSpPr>
          <p:cNvPr id="12" name="Group 11"/>
          <p:cNvGrpSpPr/>
          <p:nvPr/>
        </p:nvGrpSpPr>
        <p:grpSpPr>
          <a:xfrm>
            <a:off x="3372583" y="4072"/>
            <a:ext cx="2407298" cy="1306286"/>
            <a:chOff x="2823850" y="0"/>
            <a:chExt cx="3344655" cy="1951286"/>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6662" y="1524000"/>
            <a:ext cx="5820385" cy="1884254"/>
          </a:xfrm>
        </p:spPr>
        <p:txBody>
          <a:bodyPr/>
          <a:lstStyle/>
          <a:p>
            <a:r>
              <a:rPr lang="en-US" sz="2800" dirty="0"/>
              <a:t>Volume 1_Section 1</a:t>
            </a:r>
            <a:br>
              <a:rPr lang="en-US" sz="2800" dirty="0"/>
            </a:br>
            <a:r>
              <a:rPr lang="en-US" sz="2800" dirty="0"/>
              <a:t/>
            </a:r>
            <a:br>
              <a:rPr lang="en-US" sz="2800" dirty="0"/>
            </a:br>
            <a:r>
              <a:rPr lang="en-US" sz="2800" dirty="0"/>
              <a:t>Chapter 8: Decontamination and Reprocessing of Medical Devices </a:t>
            </a:r>
          </a:p>
        </p:txBody>
      </p:sp>
      <p:sp>
        <p:nvSpPr>
          <p:cNvPr id="3" name="Subtitle 2"/>
          <p:cNvSpPr>
            <a:spLocks noGrp="1"/>
          </p:cNvSpPr>
          <p:nvPr>
            <p:ph type="subTitle" idx="1"/>
          </p:nvPr>
        </p:nvSpPr>
        <p:spPr/>
        <p:txBody>
          <a:bodyPr>
            <a:normAutofit fontScale="85000" lnSpcReduction="10000"/>
          </a:bodyPr>
          <a:lstStyle/>
          <a:p>
            <a:r>
              <a:rPr lang="en-US" b="1" dirty="0">
                <a:ln w="3175" cmpd="sng">
                  <a:noFill/>
                </a:ln>
                <a:solidFill>
                  <a:schemeClr val="tx1">
                    <a:lumMod val="85000"/>
                    <a:lumOff val="15000"/>
                  </a:schemeClr>
                </a:solidFill>
                <a:latin typeface="+mj-lt"/>
              </a:rPr>
              <a:t>IPC and PS for Healthcare Setting in Ethiopia</a:t>
            </a:r>
            <a:endParaRPr lang="en-US" b="1" dirty="0">
              <a:latin typeface="+mj-lt"/>
            </a:endParaRPr>
          </a:p>
        </p:txBody>
      </p:sp>
    </p:spTree>
    <p:extLst>
      <p:ext uri="{BB962C8B-B14F-4D97-AF65-F5344CB8AC3E}">
        <p14:creationId xmlns:p14="http://schemas.microsoft.com/office/powerpoint/2010/main" val="23113505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Outline</a:t>
            </a:r>
            <a:endParaRPr lang="en-US" dirty="0"/>
          </a:p>
        </p:txBody>
      </p:sp>
      <p:sp>
        <p:nvSpPr>
          <p:cNvPr id="3" name="Content Placeholder 2"/>
          <p:cNvSpPr>
            <a:spLocks noGrp="1"/>
          </p:cNvSpPr>
          <p:nvPr>
            <p:ph idx="1"/>
          </p:nvPr>
        </p:nvSpPr>
        <p:spPr/>
        <p:txBody>
          <a:bodyPr>
            <a:normAutofit fontScale="70000" lnSpcReduction="20000"/>
          </a:bodyPr>
          <a:lstStyle/>
          <a:p>
            <a:pPr lvl="0"/>
            <a:r>
              <a:rPr lang="en-US" dirty="0" smtClean="0"/>
              <a:t>PPP 8.1: Overview </a:t>
            </a:r>
            <a:endParaRPr lang="en-US" dirty="0"/>
          </a:p>
          <a:p>
            <a:pPr lvl="0"/>
            <a:r>
              <a:rPr lang="en-US" dirty="0" smtClean="0"/>
              <a:t>PPP 8.2: Level </a:t>
            </a:r>
            <a:r>
              <a:rPr lang="en-US" dirty="0"/>
              <a:t>of disinfection or serialization required </a:t>
            </a:r>
          </a:p>
          <a:p>
            <a:pPr lvl="0"/>
            <a:r>
              <a:rPr lang="en-US" dirty="0" smtClean="0"/>
              <a:t>PPP 8.3: Introduction to chemical disinfectants</a:t>
            </a:r>
            <a:endParaRPr lang="en-US" dirty="0"/>
          </a:p>
          <a:p>
            <a:pPr lvl="0"/>
            <a:r>
              <a:rPr lang="en-US" dirty="0"/>
              <a:t>Description of steps in processing item</a:t>
            </a:r>
          </a:p>
          <a:p>
            <a:pPr lvl="0"/>
            <a:r>
              <a:rPr lang="en-US" dirty="0"/>
              <a:t>Monitoring sterilization procedure</a:t>
            </a:r>
          </a:p>
          <a:p>
            <a:pPr lvl="0"/>
            <a:r>
              <a:rPr lang="en-US" dirty="0"/>
              <a:t>Safe storage and transport of sterile/ HLD Instrument</a:t>
            </a:r>
          </a:p>
          <a:p>
            <a:pPr lvl="0"/>
            <a:r>
              <a:rPr lang="en-US" dirty="0"/>
              <a:t>Summery</a:t>
            </a:r>
          </a:p>
          <a:p>
            <a:endParaRPr lang="en-US" dirty="0"/>
          </a:p>
        </p:txBody>
      </p:sp>
    </p:spTree>
    <p:extLst>
      <p:ext uri="{BB962C8B-B14F-4D97-AF65-F5344CB8AC3E}">
        <p14:creationId xmlns:p14="http://schemas.microsoft.com/office/powerpoint/2010/main" val="1867953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a:t>
            </a:r>
            <a:endParaRPr lang="en-US" dirty="0"/>
          </a:p>
        </p:txBody>
      </p:sp>
      <p:sp>
        <p:nvSpPr>
          <p:cNvPr id="3" name="Content Placeholder 2"/>
          <p:cNvSpPr>
            <a:spLocks noGrp="1"/>
          </p:cNvSpPr>
          <p:nvPr>
            <p:ph idx="1"/>
          </p:nvPr>
        </p:nvSpPr>
        <p:spPr>
          <a:xfrm>
            <a:off x="1066800" y="2490135"/>
            <a:ext cx="7086600" cy="3682065"/>
          </a:xfrm>
        </p:spPr>
        <p:txBody>
          <a:bodyPr>
            <a:normAutofit fontScale="85000" lnSpcReduction="20000"/>
          </a:bodyPr>
          <a:lstStyle/>
          <a:p>
            <a:pPr lvl="0" algn="just"/>
            <a:r>
              <a:rPr lang="en-US" dirty="0"/>
              <a:t>Understand General overview of sterile services</a:t>
            </a:r>
          </a:p>
          <a:p>
            <a:pPr lvl="0" algn="just"/>
            <a:r>
              <a:rPr lang="en-US" dirty="0"/>
              <a:t>Describe the steps of instruments and other items processing </a:t>
            </a:r>
          </a:p>
          <a:p>
            <a:pPr lvl="0" algn="just"/>
            <a:r>
              <a:rPr lang="en-US" dirty="0"/>
              <a:t>List  commonly used disinfectants </a:t>
            </a:r>
          </a:p>
          <a:p>
            <a:pPr lvl="0" algn="just"/>
            <a:r>
              <a:rPr lang="en-US" dirty="0"/>
              <a:t>Elucidate the steps of cleaning process, sterilization and HLD</a:t>
            </a:r>
          </a:p>
          <a:p>
            <a:pPr lvl="0" algn="just"/>
            <a:r>
              <a:rPr lang="en-US" dirty="0"/>
              <a:t>Explain how to store safely sterilized and high level disinfected instrument and other items</a:t>
            </a:r>
          </a:p>
          <a:p>
            <a:pPr algn="just"/>
            <a:endParaRPr lang="en-US" dirty="0"/>
          </a:p>
        </p:txBody>
      </p:sp>
    </p:spTree>
    <p:extLst>
      <p:ext uri="{BB962C8B-B14F-4D97-AF65-F5344CB8AC3E}">
        <p14:creationId xmlns:p14="http://schemas.microsoft.com/office/powerpoint/2010/main" val="4787348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6600" b="1" dirty="0" smtClean="0"/>
              <a:t>PPP 8.1: </a:t>
            </a:r>
            <a:br>
              <a:rPr lang="en-US" sz="6600" b="1" dirty="0" smtClean="0"/>
            </a:br>
            <a:r>
              <a:rPr lang="en-US" sz="6600" b="1" dirty="0" smtClean="0"/>
              <a:t>Overview</a:t>
            </a:r>
            <a:endParaRPr lang="en-US" sz="6600" b="1" dirty="0"/>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35347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Overview</a:t>
            </a:r>
            <a:endParaRPr lang="en-US" dirty="0"/>
          </a:p>
        </p:txBody>
      </p:sp>
      <p:sp>
        <p:nvSpPr>
          <p:cNvPr id="5" name="Content Placeholder 4"/>
          <p:cNvSpPr>
            <a:spLocks noGrp="1"/>
          </p:cNvSpPr>
          <p:nvPr>
            <p:ph idx="1"/>
          </p:nvPr>
        </p:nvSpPr>
        <p:spPr>
          <a:xfrm>
            <a:off x="838200" y="2362201"/>
            <a:ext cx="7391400" cy="3962400"/>
          </a:xfrm>
        </p:spPr>
        <p:txBody>
          <a:bodyPr>
            <a:normAutofit fontScale="62500" lnSpcReduction="20000"/>
          </a:bodyPr>
          <a:lstStyle/>
          <a:p>
            <a:pPr lvl="0" algn="just"/>
            <a:r>
              <a:rPr lang="en-US" dirty="0"/>
              <a:t>Instruments which are reused without being properly processed and made safe are one of the causes of infections in developing countries.</a:t>
            </a:r>
          </a:p>
          <a:p>
            <a:pPr lvl="0" algn="just"/>
            <a:r>
              <a:rPr lang="en-US" b="1" dirty="0"/>
              <a:t>Healthcare workers </a:t>
            </a:r>
            <a:r>
              <a:rPr lang="en-US" dirty="0"/>
              <a:t>are increasingly at risk of becoming infected with serious blood borne viruses such as </a:t>
            </a:r>
            <a:r>
              <a:rPr lang="en-US" b="1" dirty="0"/>
              <a:t>HBV, HCV and HIV</a:t>
            </a:r>
            <a:r>
              <a:rPr lang="en-US" dirty="0"/>
              <a:t>. </a:t>
            </a:r>
          </a:p>
          <a:p>
            <a:pPr algn="just"/>
            <a:r>
              <a:rPr lang="en-US" dirty="0"/>
              <a:t>The basic infection prevention processes recommended to reduce disease transmission from soiled instruments; surgical gloves and other reusable items are by way of </a:t>
            </a:r>
            <a:r>
              <a:rPr lang="en-US" b="1" dirty="0"/>
              <a:t>cleaning and either sterilization or high-level disinfection (HLD). </a:t>
            </a:r>
            <a:endParaRPr lang="en-US" b="1" dirty="0" smtClean="0"/>
          </a:p>
          <a:p>
            <a:pPr lvl="0" algn="just"/>
            <a:r>
              <a:rPr lang="en-US" dirty="0"/>
              <a:t>In all steps, special attention should be given to proper handling of the instruments and other items to </a:t>
            </a:r>
            <a:endParaRPr lang="en-US" dirty="0" smtClean="0"/>
          </a:p>
          <a:p>
            <a:pPr lvl="1" algn="just"/>
            <a:r>
              <a:rPr lang="en-US" dirty="0"/>
              <a:t>M</a:t>
            </a:r>
            <a:r>
              <a:rPr lang="en-US" dirty="0" smtClean="0"/>
              <a:t>inimize </a:t>
            </a:r>
            <a:r>
              <a:rPr lang="en-US" dirty="0"/>
              <a:t>the risk of accidental injury or exposure to blood and other body fluids of the sterile processing staff and </a:t>
            </a:r>
            <a:endParaRPr lang="en-US" dirty="0" smtClean="0"/>
          </a:p>
          <a:p>
            <a:pPr lvl="1" algn="just"/>
            <a:r>
              <a:rPr lang="en-US" dirty="0"/>
              <a:t>T</a:t>
            </a:r>
            <a:r>
              <a:rPr lang="en-US" dirty="0" smtClean="0"/>
              <a:t>o </a:t>
            </a:r>
            <a:r>
              <a:rPr lang="en-US" dirty="0"/>
              <a:t>attain high quality end result.</a:t>
            </a:r>
          </a:p>
          <a:p>
            <a:pPr algn="just"/>
            <a:endParaRPr lang="en-US" dirty="0"/>
          </a:p>
        </p:txBody>
      </p:sp>
    </p:spTree>
    <p:extLst>
      <p:ext uri="{BB962C8B-B14F-4D97-AF65-F5344CB8AC3E}">
        <p14:creationId xmlns:p14="http://schemas.microsoft.com/office/powerpoint/2010/main" val="12974049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800" b="1" dirty="0" smtClean="0"/>
              <a:t>PPP 8.2: </a:t>
            </a:r>
            <a:br>
              <a:rPr lang="en-US" sz="4800" b="1" dirty="0" smtClean="0"/>
            </a:br>
            <a:r>
              <a:rPr lang="en-US" sz="4800" b="1" dirty="0" smtClean="0"/>
              <a:t>Level of Disinfection or Sterilization</a:t>
            </a:r>
            <a:endParaRPr lang="en-US" sz="4800" b="1" dirty="0"/>
          </a:p>
        </p:txBody>
      </p:sp>
      <p:sp>
        <p:nvSpPr>
          <p:cNvPr id="4" name="Text Placeholder 3"/>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34104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1030778"/>
            <a:ext cx="6798734" cy="874222"/>
          </a:xfrm>
        </p:spPr>
        <p:txBody>
          <a:bodyPr/>
          <a:lstStyle/>
          <a:p>
            <a:pPr lvl="0"/>
            <a:r>
              <a:rPr lang="en-US" dirty="0" smtClean="0"/>
              <a:t/>
            </a:r>
            <a:br>
              <a:rPr lang="en-US" dirty="0" smtClean="0"/>
            </a:br>
            <a:r>
              <a:rPr lang="en-US" sz="3200" dirty="0" smtClean="0"/>
              <a:t>Level </a:t>
            </a:r>
            <a:r>
              <a:rPr lang="en-US" sz="3200" dirty="0"/>
              <a:t>of Disinfection or Sterilization Required</a:t>
            </a:r>
            <a:r>
              <a:rPr lang="en-US" dirty="0"/>
              <a:t/>
            </a:r>
            <a:br>
              <a:rPr lang="en-US" dirty="0"/>
            </a:br>
            <a:endParaRPr lang="en-US" dirty="0"/>
          </a:p>
        </p:txBody>
      </p:sp>
      <p:sp>
        <p:nvSpPr>
          <p:cNvPr id="4" name="Content Placeholder 3"/>
          <p:cNvSpPr>
            <a:spLocks noGrp="1"/>
          </p:cNvSpPr>
          <p:nvPr>
            <p:ph idx="1"/>
          </p:nvPr>
        </p:nvSpPr>
        <p:spPr>
          <a:xfrm>
            <a:off x="762000" y="2490135"/>
            <a:ext cx="7619999" cy="3444997"/>
          </a:xfrm>
        </p:spPr>
        <p:txBody>
          <a:bodyPr>
            <a:normAutofit/>
          </a:bodyPr>
          <a:lstStyle/>
          <a:p>
            <a:pPr algn="just"/>
            <a:r>
              <a:rPr lang="en-US" sz="3000" dirty="0"/>
              <a:t>A rational approach for processing medical devices and surgical instruments for patient care was first described by Earle H. </a:t>
            </a:r>
            <a:r>
              <a:rPr lang="en-US" sz="3000" dirty="0" smtClean="0"/>
              <a:t>Spaulding in 1968.</a:t>
            </a:r>
          </a:p>
          <a:p>
            <a:pPr lvl="0" algn="just"/>
            <a:r>
              <a:rPr lang="en-US" sz="3000" dirty="0"/>
              <a:t>I</a:t>
            </a:r>
            <a:r>
              <a:rPr lang="en-US" sz="3000" dirty="0" smtClean="0"/>
              <a:t>t </a:t>
            </a:r>
            <a:r>
              <a:rPr lang="en-US" sz="3000" dirty="0"/>
              <a:t>is still relevant in making decisions about the final approach to instrument processing. </a:t>
            </a:r>
            <a:endParaRPr lang="en-US" sz="3000" dirty="0" smtClean="0"/>
          </a:p>
          <a:p>
            <a:pPr lvl="0"/>
            <a:endParaRPr lang="en-US" dirty="0"/>
          </a:p>
          <a:p>
            <a:endParaRPr lang="en-US" dirty="0"/>
          </a:p>
        </p:txBody>
      </p:sp>
    </p:spTree>
    <p:extLst>
      <p:ext uri="{BB962C8B-B14F-4D97-AF65-F5344CB8AC3E}">
        <p14:creationId xmlns:p14="http://schemas.microsoft.com/office/powerpoint/2010/main" val="35299944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Spaulding’s category of potential infection risk</a:t>
            </a:r>
            <a:endParaRPr lang="en-US" sz="3200" dirty="0"/>
          </a:p>
        </p:txBody>
      </p:sp>
      <p:sp>
        <p:nvSpPr>
          <p:cNvPr id="3" name="Content Placeholder 2"/>
          <p:cNvSpPr>
            <a:spLocks noGrp="1"/>
          </p:cNvSpPr>
          <p:nvPr>
            <p:ph idx="1"/>
          </p:nvPr>
        </p:nvSpPr>
        <p:spPr>
          <a:xfrm>
            <a:off x="914400" y="2285999"/>
            <a:ext cx="7061201" cy="3649133"/>
          </a:xfrm>
        </p:spPr>
        <p:txBody>
          <a:bodyPr>
            <a:normAutofit fontScale="77500" lnSpcReduction="20000"/>
          </a:bodyPr>
          <a:lstStyle/>
          <a:p>
            <a:pPr lvl="0"/>
            <a:r>
              <a:rPr lang="en-US" sz="3300" b="1" dirty="0"/>
              <a:t>Spaulding</a:t>
            </a:r>
            <a:r>
              <a:rPr lang="en-US" sz="3300" dirty="0"/>
              <a:t> classified instruments and patient care devices into </a:t>
            </a:r>
            <a:r>
              <a:rPr lang="en-US" sz="3300" b="1" dirty="0"/>
              <a:t>three categories</a:t>
            </a:r>
            <a:r>
              <a:rPr lang="en-US" sz="3300" dirty="0"/>
              <a:t>, based upon how the device is used. Items are classified as:</a:t>
            </a:r>
          </a:p>
          <a:p>
            <a:pPr lvl="1"/>
            <a:r>
              <a:rPr lang="en-US" sz="3300" b="1" dirty="0"/>
              <a:t>Non-critical</a:t>
            </a:r>
            <a:r>
              <a:rPr lang="en-US" sz="3300" dirty="0"/>
              <a:t>—come in contact with intact skin but not mucous membranes</a:t>
            </a:r>
          </a:p>
          <a:p>
            <a:pPr lvl="1"/>
            <a:r>
              <a:rPr lang="en-US" sz="3300" b="1" dirty="0"/>
              <a:t>Semi-critical</a:t>
            </a:r>
            <a:r>
              <a:rPr lang="en-US" sz="3300" dirty="0"/>
              <a:t>—come in contact with mucous membranes or non-intact skin</a:t>
            </a:r>
          </a:p>
          <a:p>
            <a:pPr lvl="1"/>
            <a:r>
              <a:rPr lang="en-US" sz="3300" b="1" dirty="0"/>
              <a:t>Critical</a:t>
            </a:r>
            <a:r>
              <a:rPr lang="en-US" sz="3300" dirty="0"/>
              <a:t>—come in contact with sterile areas of the body including the vascular system</a:t>
            </a:r>
          </a:p>
          <a:p>
            <a:endParaRPr lang="en-US" dirty="0"/>
          </a:p>
        </p:txBody>
      </p:sp>
    </p:spTree>
    <p:extLst>
      <p:ext uri="{BB962C8B-B14F-4D97-AF65-F5344CB8AC3E}">
        <p14:creationId xmlns:p14="http://schemas.microsoft.com/office/powerpoint/2010/main" val="9804852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b="1" dirty="0"/>
              <a:t>Spaulding’s Risk Classification and Level of Processing	</a:t>
            </a:r>
          </a:p>
        </p:txBody>
      </p:sp>
      <p:graphicFrame>
        <p:nvGraphicFramePr>
          <p:cNvPr id="5" name="Table 4"/>
          <p:cNvGraphicFramePr>
            <a:graphicFrameLocks noGrp="1"/>
          </p:cNvGraphicFramePr>
          <p:nvPr>
            <p:extLst>
              <p:ext uri="{D42A27DB-BD31-4B8C-83A1-F6EECF244321}">
                <p14:modId xmlns:p14="http://schemas.microsoft.com/office/powerpoint/2010/main" val="3740859623"/>
              </p:ext>
            </p:extLst>
          </p:nvPr>
        </p:nvGraphicFramePr>
        <p:xfrm>
          <a:off x="762000" y="2590800"/>
          <a:ext cx="7543799" cy="3124200"/>
        </p:xfrm>
        <a:graphic>
          <a:graphicData uri="http://schemas.openxmlformats.org/drawingml/2006/table">
            <a:tbl>
              <a:tblPr firstRow="1" firstCol="1">
                <a:tableStyleId>{00A15C55-8517-42AA-B614-E9B94910E393}</a:tableStyleId>
              </a:tblPr>
              <a:tblGrid>
                <a:gridCol w="1524000"/>
                <a:gridCol w="1600200"/>
                <a:gridCol w="4419599"/>
              </a:tblGrid>
              <a:tr h="1124811">
                <a:tc>
                  <a:txBody>
                    <a:bodyPr/>
                    <a:lstStyle/>
                    <a:p>
                      <a:pPr marL="0" marR="0" algn="ctr">
                        <a:lnSpc>
                          <a:spcPct val="115000"/>
                        </a:lnSpc>
                        <a:spcBef>
                          <a:spcPts val="0"/>
                        </a:spcBef>
                        <a:spcAft>
                          <a:spcPts val="600"/>
                        </a:spcAft>
                      </a:pPr>
                      <a:r>
                        <a:rPr lang="en-US" sz="2000" dirty="0">
                          <a:effectLst/>
                        </a:rPr>
                        <a:t>Risk category</a:t>
                      </a:r>
                      <a:endParaRPr lang="en-US" sz="1400" dirty="0">
                        <a:effectLst/>
                        <a:latin typeface="Times New Roman"/>
                        <a:ea typeface="Times New Roman"/>
                      </a:endParaRPr>
                    </a:p>
                  </a:txBody>
                  <a:tcPr marL="68580" marR="68580" marT="0" marB="0"/>
                </a:tc>
                <a:tc>
                  <a:txBody>
                    <a:bodyPr/>
                    <a:lstStyle/>
                    <a:p>
                      <a:pPr marL="0" marR="0" algn="ctr">
                        <a:lnSpc>
                          <a:spcPct val="115000"/>
                        </a:lnSpc>
                        <a:spcBef>
                          <a:spcPts val="0"/>
                        </a:spcBef>
                        <a:spcAft>
                          <a:spcPts val="600"/>
                        </a:spcAft>
                      </a:pPr>
                      <a:r>
                        <a:rPr lang="en-US" sz="2000" dirty="0">
                          <a:effectLst/>
                        </a:rPr>
                        <a:t>Level of disinfection/sterilization</a:t>
                      </a:r>
                      <a:endParaRPr lang="en-US" sz="1400" dirty="0">
                        <a:effectLst/>
                        <a:latin typeface="Times New Roman"/>
                        <a:ea typeface="Times New Roman"/>
                      </a:endParaRPr>
                    </a:p>
                  </a:txBody>
                  <a:tcPr marL="68580" marR="68580" marT="0" marB="0"/>
                </a:tc>
                <a:tc>
                  <a:txBody>
                    <a:bodyPr/>
                    <a:lstStyle/>
                    <a:p>
                      <a:pPr marL="0" marR="0" algn="ctr">
                        <a:lnSpc>
                          <a:spcPct val="115000"/>
                        </a:lnSpc>
                        <a:spcBef>
                          <a:spcPts val="0"/>
                        </a:spcBef>
                        <a:spcAft>
                          <a:spcPts val="600"/>
                        </a:spcAft>
                      </a:pPr>
                      <a:r>
                        <a:rPr lang="en-US" sz="2000" dirty="0">
                          <a:effectLst/>
                        </a:rPr>
                        <a:t>Examples</a:t>
                      </a:r>
                      <a:endParaRPr lang="en-US" sz="1400" dirty="0">
                        <a:effectLst/>
                        <a:latin typeface="Times New Roman"/>
                        <a:ea typeface="Times New Roman"/>
                      </a:endParaRPr>
                    </a:p>
                  </a:txBody>
                  <a:tcPr marL="68580" marR="68580" marT="0" marB="0"/>
                </a:tc>
              </a:tr>
              <a:tr h="499641">
                <a:tc>
                  <a:txBody>
                    <a:bodyPr/>
                    <a:lstStyle/>
                    <a:p>
                      <a:pPr marL="0" marR="0">
                        <a:lnSpc>
                          <a:spcPct val="115000"/>
                        </a:lnSpc>
                        <a:spcBef>
                          <a:spcPts val="0"/>
                        </a:spcBef>
                        <a:spcAft>
                          <a:spcPts val="600"/>
                        </a:spcAft>
                      </a:pPr>
                      <a:r>
                        <a:rPr lang="en-US" sz="2000" dirty="0">
                          <a:effectLst/>
                        </a:rPr>
                        <a:t>Critical </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Sterilization</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Reusable surgical instruments </a:t>
                      </a:r>
                      <a:endParaRPr lang="en-US" sz="1400" dirty="0">
                        <a:effectLst/>
                        <a:latin typeface="Times New Roman"/>
                        <a:ea typeface="Times New Roman"/>
                      </a:endParaRPr>
                    </a:p>
                  </a:txBody>
                  <a:tcPr marL="68580" marR="68580" marT="0" marB="0"/>
                </a:tc>
              </a:tr>
              <a:tr h="749874">
                <a:tc>
                  <a:txBody>
                    <a:bodyPr/>
                    <a:lstStyle/>
                    <a:p>
                      <a:pPr marL="0" marR="0">
                        <a:lnSpc>
                          <a:spcPct val="115000"/>
                        </a:lnSpc>
                        <a:spcBef>
                          <a:spcPts val="0"/>
                        </a:spcBef>
                        <a:spcAft>
                          <a:spcPts val="600"/>
                        </a:spcAft>
                      </a:pPr>
                      <a:r>
                        <a:rPr lang="en-US" sz="2000" dirty="0">
                          <a:effectLst/>
                        </a:rPr>
                        <a:t>Semi-critical</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High-level disinfection</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Respiratory instruments, specula used for vaginal examination ,endoscopes</a:t>
                      </a:r>
                      <a:endParaRPr lang="en-US" sz="1400" dirty="0">
                        <a:effectLst/>
                        <a:latin typeface="Times New Roman"/>
                        <a:ea typeface="Times New Roman"/>
                      </a:endParaRPr>
                    </a:p>
                  </a:txBody>
                  <a:tcPr marL="68580" marR="68580" marT="0" marB="0"/>
                </a:tc>
              </a:tr>
              <a:tr h="749874">
                <a:tc>
                  <a:txBody>
                    <a:bodyPr/>
                    <a:lstStyle/>
                    <a:p>
                      <a:pPr marL="0" marR="0">
                        <a:lnSpc>
                          <a:spcPct val="115000"/>
                        </a:lnSpc>
                        <a:spcBef>
                          <a:spcPts val="0"/>
                        </a:spcBef>
                        <a:spcAft>
                          <a:spcPts val="600"/>
                        </a:spcAft>
                      </a:pPr>
                      <a:r>
                        <a:rPr lang="en-US" sz="2000" dirty="0">
                          <a:effectLst/>
                        </a:rPr>
                        <a:t>Non-critical</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Cleaning</a:t>
                      </a:r>
                      <a:endParaRPr lang="en-US" sz="1400" dirty="0">
                        <a:effectLst/>
                        <a:latin typeface="Times New Roman"/>
                        <a:ea typeface="Times New Roman"/>
                      </a:endParaRPr>
                    </a:p>
                  </a:txBody>
                  <a:tcPr marL="68580" marR="68580" marT="0" marB="0"/>
                </a:tc>
                <a:tc>
                  <a:txBody>
                    <a:bodyPr/>
                    <a:lstStyle/>
                    <a:p>
                      <a:pPr marL="0" marR="0">
                        <a:lnSpc>
                          <a:spcPct val="115000"/>
                        </a:lnSpc>
                        <a:spcBef>
                          <a:spcPts val="0"/>
                        </a:spcBef>
                        <a:spcAft>
                          <a:spcPts val="600"/>
                        </a:spcAft>
                      </a:pPr>
                      <a:r>
                        <a:rPr lang="en-US" sz="2000" dirty="0">
                          <a:effectLst/>
                        </a:rPr>
                        <a:t>Blood pressure cuffs, stethoscopes </a:t>
                      </a:r>
                      <a:endParaRPr lang="en-US" sz="1400" dirty="0">
                        <a:effectLst/>
                        <a:latin typeface="Times New Roman"/>
                        <a:ea typeface="Times New Roman"/>
                      </a:endParaRPr>
                    </a:p>
                  </a:txBody>
                  <a:tcPr marL="68580" marR="68580" marT="0" marB="0"/>
                </a:tc>
              </a:tr>
            </a:tbl>
          </a:graphicData>
        </a:graphic>
      </p:graphicFrame>
    </p:spTree>
    <p:extLst>
      <p:ext uri="{BB962C8B-B14F-4D97-AF65-F5344CB8AC3E}">
        <p14:creationId xmlns:p14="http://schemas.microsoft.com/office/powerpoint/2010/main" val="21890827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400" b="1" dirty="0" smtClean="0"/>
              <a:t>PPP 8.3: </a:t>
            </a:r>
            <a:br>
              <a:rPr lang="en-US" sz="4400" b="1" dirty="0" smtClean="0"/>
            </a:br>
            <a:r>
              <a:rPr lang="en-US" sz="4400" b="1" dirty="0" smtClean="0"/>
              <a:t>Guideline for Instrument Processing</a:t>
            </a:r>
            <a:endParaRPr lang="en-US" sz="4400" b="1" dirty="0"/>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38405383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6865" y="915337"/>
            <a:ext cx="6798735" cy="989663"/>
          </a:xfrm>
        </p:spPr>
        <p:txBody>
          <a:bodyPr>
            <a:noAutofit/>
          </a:bodyPr>
          <a:lstStyle/>
          <a:p>
            <a:r>
              <a:rPr lang="en-US" sz="3200" b="1" dirty="0" smtClean="0"/>
              <a:t/>
            </a:r>
            <a:br>
              <a:rPr lang="en-US" sz="3200" b="1" dirty="0" smtClean="0"/>
            </a:br>
            <a:r>
              <a:rPr lang="en-US" sz="3200" b="1" dirty="0" smtClean="0"/>
              <a:t>Work </a:t>
            </a:r>
            <a:r>
              <a:rPr lang="en-US" sz="3200" b="1" dirty="0"/>
              <a:t>flow for instrument processing and other medical devices</a:t>
            </a:r>
            <a:br>
              <a:rPr lang="en-US" sz="3200" b="1" dirty="0"/>
            </a:br>
            <a:endParaRPr lang="en-US" sz="3200"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981200"/>
            <a:ext cx="6858000"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92352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Overview cont’d…</a:t>
            </a:r>
            <a:endParaRPr lang="en-US" dirty="0"/>
          </a:p>
        </p:txBody>
      </p:sp>
      <p:sp>
        <p:nvSpPr>
          <p:cNvPr id="4" name="Content Placeholder 3"/>
          <p:cNvSpPr>
            <a:spLocks noGrp="1"/>
          </p:cNvSpPr>
          <p:nvPr>
            <p:ph idx="1"/>
          </p:nvPr>
        </p:nvSpPr>
        <p:spPr>
          <a:xfrm>
            <a:off x="762000" y="2438400"/>
            <a:ext cx="7620000" cy="4038599"/>
          </a:xfrm>
        </p:spPr>
        <p:txBody>
          <a:bodyPr>
            <a:normAutofit fontScale="70000" lnSpcReduction="20000"/>
          </a:bodyPr>
          <a:lstStyle/>
          <a:p>
            <a:pPr marL="0" indent="0" algn="just">
              <a:buNone/>
            </a:pPr>
            <a:r>
              <a:rPr lang="en-US" b="1" u="sng" dirty="0"/>
              <a:t>Soaking of instruments in disinfectant prior to cleaning</a:t>
            </a:r>
            <a:endParaRPr lang="en-US" dirty="0"/>
          </a:p>
          <a:p>
            <a:pPr algn="just"/>
            <a:r>
              <a:rPr lang="en-US" dirty="0"/>
              <a:t>According to the WHO and PHAO, soaking of instruments in 0.5% chlorine solution or any other disinfectant prior to cleaning </a:t>
            </a:r>
            <a:r>
              <a:rPr lang="en-US" dirty="0">
                <a:solidFill>
                  <a:srgbClr val="0070C0"/>
                </a:solidFill>
              </a:rPr>
              <a:t>is not recommended </a:t>
            </a:r>
            <a:r>
              <a:rPr lang="en-US" dirty="0"/>
              <a:t>for the following reasons:</a:t>
            </a:r>
          </a:p>
          <a:p>
            <a:pPr lvl="1" algn="just"/>
            <a:r>
              <a:rPr lang="en-US" dirty="0"/>
              <a:t>It may </a:t>
            </a:r>
            <a:r>
              <a:rPr lang="en-US" dirty="0">
                <a:solidFill>
                  <a:srgbClr val="0070C0"/>
                </a:solidFill>
              </a:rPr>
              <a:t>damage/corrode</a:t>
            </a:r>
            <a:r>
              <a:rPr lang="en-US" dirty="0"/>
              <a:t> the instruments</a:t>
            </a:r>
          </a:p>
          <a:p>
            <a:pPr lvl="1" algn="just"/>
            <a:r>
              <a:rPr lang="en-US" dirty="0"/>
              <a:t>The disinfectant may be </a:t>
            </a:r>
            <a:r>
              <a:rPr lang="en-US" dirty="0">
                <a:solidFill>
                  <a:srgbClr val="0070C0"/>
                </a:solidFill>
              </a:rPr>
              <a:t>inactivated by blood and body fluids</a:t>
            </a:r>
            <a:r>
              <a:rPr lang="en-US" dirty="0"/>
              <a:t>, which could become a source of microbial contamination and formation of biofilm</a:t>
            </a:r>
          </a:p>
          <a:p>
            <a:pPr lvl="1" algn="just"/>
            <a:r>
              <a:rPr lang="en-US" dirty="0"/>
              <a:t>Transportation of contaminated items soaked in chemical disinfectant to the decontamination area may pose a risk to health care workers and result in inappropriate handling and accidental damage May contribute to the development of </a:t>
            </a:r>
            <a:r>
              <a:rPr lang="en-US" dirty="0">
                <a:solidFill>
                  <a:srgbClr val="0070C0"/>
                </a:solidFill>
              </a:rPr>
              <a:t>antimicrobial resistance to disinfectants</a:t>
            </a:r>
            <a:r>
              <a:rPr lang="en-US" dirty="0"/>
              <a:t>.</a:t>
            </a:r>
          </a:p>
          <a:p>
            <a:pPr algn="just"/>
            <a:endParaRPr lang="en-US" dirty="0"/>
          </a:p>
        </p:txBody>
      </p:sp>
    </p:spTree>
    <p:extLst>
      <p:ext uri="{BB962C8B-B14F-4D97-AF65-F5344CB8AC3E}">
        <p14:creationId xmlns:p14="http://schemas.microsoft.com/office/powerpoint/2010/main" val="3506172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800" b="1" dirty="0" smtClean="0"/>
              <a:t>PPP 8.4:</a:t>
            </a:r>
            <a:br>
              <a:rPr lang="en-US" sz="4800" b="1" dirty="0" smtClean="0"/>
            </a:br>
            <a:r>
              <a:rPr lang="en-US" sz="4800" b="1" dirty="0" smtClean="0"/>
              <a:t>Introduction to Chemical Disinfectants </a:t>
            </a:r>
            <a:endParaRPr lang="en-US" sz="4800" b="1" dirty="0"/>
          </a:p>
        </p:txBody>
      </p:sp>
      <p:sp>
        <p:nvSpPr>
          <p:cNvPr id="4" name="Text Placeholder 3"/>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41554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smtClean="0"/>
              <a:t>What are Disinfectants?</a:t>
            </a:r>
            <a:endParaRPr lang="en-US" dirty="0"/>
          </a:p>
        </p:txBody>
      </p:sp>
      <p:sp>
        <p:nvSpPr>
          <p:cNvPr id="5" name="Content Placeholder 4"/>
          <p:cNvSpPr>
            <a:spLocks noGrp="1"/>
          </p:cNvSpPr>
          <p:nvPr>
            <p:ph idx="1"/>
          </p:nvPr>
        </p:nvSpPr>
        <p:spPr>
          <a:xfrm>
            <a:off x="762000" y="2490135"/>
            <a:ext cx="7213601" cy="3529665"/>
          </a:xfrm>
        </p:spPr>
        <p:txBody>
          <a:bodyPr>
            <a:normAutofit/>
          </a:bodyPr>
          <a:lstStyle/>
          <a:p>
            <a:pPr lvl="0" algn="just"/>
            <a:r>
              <a:rPr lang="en-US" dirty="0"/>
              <a:t>Disinfectants are chemicals that destroy or </a:t>
            </a:r>
            <a:r>
              <a:rPr lang="en-US" dirty="0" smtClean="0"/>
              <a:t>Inactivate microorganisms </a:t>
            </a:r>
            <a:r>
              <a:rPr lang="en-US" dirty="0"/>
              <a:t>in inanimate objects</a:t>
            </a:r>
            <a:r>
              <a:rPr lang="en-US" dirty="0" smtClean="0"/>
              <a:t>.</a:t>
            </a:r>
          </a:p>
        </p:txBody>
      </p:sp>
    </p:spTree>
    <p:extLst>
      <p:ext uri="{BB962C8B-B14F-4D97-AF65-F5344CB8AC3E}">
        <p14:creationId xmlns:p14="http://schemas.microsoft.com/office/powerpoint/2010/main" val="1387785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Commonly Used Chemical </a:t>
            </a:r>
            <a:r>
              <a:rPr lang="en-US" dirty="0" smtClean="0"/>
              <a:t>Disinfectants</a:t>
            </a:r>
            <a:endParaRPr lang="en-US" dirty="0"/>
          </a:p>
        </p:txBody>
      </p:sp>
      <p:sp>
        <p:nvSpPr>
          <p:cNvPr id="5" name="Content Placeholder 4"/>
          <p:cNvSpPr>
            <a:spLocks noGrp="1"/>
          </p:cNvSpPr>
          <p:nvPr>
            <p:ph idx="1"/>
          </p:nvPr>
        </p:nvSpPr>
        <p:spPr>
          <a:xfrm>
            <a:off x="762000" y="2490135"/>
            <a:ext cx="7620000" cy="4139265"/>
          </a:xfrm>
        </p:spPr>
        <p:txBody>
          <a:bodyPr>
            <a:normAutofit fontScale="62500" lnSpcReduction="20000"/>
          </a:bodyPr>
          <a:lstStyle/>
          <a:p>
            <a:pPr lvl="1"/>
            <a:r>
              <a:rPr lang="en-US" sz="3200" dirty="0"/>
              <a:t>Alcohols</a:t>
            </a:r>
          </a:p>
          <a:p>
            <a:pPr lvl="1"/>
            <a:r>
              <a:rPr lang="en-US" sz="3200" dirty="0"/>
              <a:t>Chlorine and chlorine releasing compounds</a:t>
            </a:r>
          </a:p>
          <a:p>
            <a:pPr lvl="2"/>
            <a:r>
              <a:rPr lang="en-US" sz="3200" dirty="0"/>
              <a:t>Sodium hypochlorite (Chlorine bleach)</a:t>
            </a:r>
          </a:p>
          <a:p>
            <a:pPr lvl="2"/>
            <a:r>
              <a:rPr lang="en-US" sz="3200" dirty="0"/>
              <a:t>Calcium hypochlorite or chlorinated lime</a:t>
            </a:r>
          </a:p>
          <a:p>
            <a:pPr lvl="2"/>
            <a:r>
              <a:rPr lang="en-US" sz="3200" dirty="0"/>
              <a:t>Sodium </a:t>
            </a:r>
            <a:r>
              <a:rPr lang="en-US" sz="3200" dirty="0" err="1"/>
              <a:t>dichloroisocyanurate</a:t>
            </a:r>
            <a:endParaRPr lang="en-US" sz="3200" dirty="0"/>
          </a:p>
          <a:p>
            <a:pPr lvl="1"/>
            <a:r>
              <a:rPr lang="en-US" sz="3200" dirty="0" err="1" smtClean="0"/>
              <a:t>Glutaraldehyde</a:t>
            </a:r>
            <a:endParaRPr lang="en-US" sz="3200" dirty="0" smtClean="0"/>
          </a:p>
          <a:p>
            <a:pPr lvl="1"/>
            <a:r>
              <a:rPr lang="en-US" sz="3600" dirty="0"/>
              <a:t>Formaldehyde </a:t>
            </a:r>
          </a:p>
          <a:p>
            <a:pPr lvl="1"/>
            <a:r>
              <a:rPr lang="en-US" sz="3200" dirty="0"/>
              <a:t>Iodine and </a:t>
            </a:r>
            <a:r>
              <a:rPr lang="en-US" sz="3200" dirty="0" err="1"/>
              <a:t>Iodophor</a:t>
            </a:r>
            <a:r>
              <a:rPr lang="en-US" sz="3200" dirty="0"/>
              <a:t> solutions</a:t>
            </a:r>
            <a:endParaRPr lang="en-US" sz="2000" dirty="0"/>
          </a:p>
          <a:p>
            <a:pPr lvl="1"/>
            <a:r>
              <a:rPr lang="en-US" sz="3200" dirty="0"/>
              <a:t>Hydrogen </a:t>
            </a:r>
            <a:r>
              <a:rPr lang="en-US" sz="3200" dirty="0" smtClean="0"/>
              <a:t>Peroxide</a:t>
            </a:r>
          </a:p>
          <a:p>
            <a:pPr lvl="1"/>
            <a:r>
              <a:rPr lang="en-US" sz="3200" dirty="0" err="1" smtClean="0"/>
              <a:t>Orthophthalaldehyde</a:t>
            </a:r>
            <a:r>
              <a:rPr lang="en-US" sz="3200" dirty="0" smtClean="0"/>
              <a:t> </a:t>
            </a:r>
            <a:r>
              <a:rPr lang="en-US" sz="3200" dirty="0"/>
              <a:t>(OPA)</a:t>
            </a:r>
          </a:p>
          <a:p>
            <a:pPr lvl="1"/>
            <a:endParaRPr lang="en-US" sz="1600" dirty="0"/>
          </a:p>
          <a:p>
            <a:pPr lvl="0"/>
            <a:endParaRPr lang="en-US" dirty="0"/>
          </a:p>
        </p:txBody>
      </p:sp>
    </p:spTree>
    <p:extLst>
      <p:ext uri="{BB962C8B-B14F-4D97-AF65-F5344CB8AC3E}">
        <p14:creationId xmlns:p14="http://schemas.microsoft.com/office/powerpoint/2010/main" val="1387785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a:r>
              <a:rPr lang="en-US" sz="4400" b="1" dirty="0" smtClean="0">
                <a:latin typeface="+mj-lt"/>
              </a:rPr>
              <a:t>Properties of an Ideal Disinfectant</a:t>
            </a:r>
            <a:endParaRPr lang="en-US" sz="3200" dirty="0">
              <a:latin typeface="+mj-lt"/>
            </a:endParaRPr>
          </a:p>
        </p:txBody>
      </p:sp>
      <p:sp>
        <p:nvSpPr>
          <p:cNvPr id="4" name="Content Placeholder 3"/>
          <p:cNvSpPr>
            <a:spLocks noGrp="1"/>
          </p:cNvSpPr>
          <p:nvPr>
            <p:ph sz="half" idx="1"/>
          </p:nvPr>
        </p:nvSpPr>
        <p:spPr>
          <a:xfrm>
            <a:off x="1176866" y="2362200"/>
            <a:ext cx="3337560" cy="4142232"/>
          </a:xfrm>
        </p:spPr>
        <p:txBody>
          <a:bodyPr>
            <a:normAutofit fontScale="85000" lnSpcReduction="20000"/>
          </a:bodyPr>
          <a:lstStyle/>
          <a:p>
            <a:pPr lvl="0"/>
            <a:r>
              <a:rPr lang="en-US" dirty="0"/>
              <a:t>Wide antimicrobial spectrum</a:t>
            </a:r>
          </a:p>
          <a:p>
            <a:pPr lvl="0"/>
            <a:r>
              <a:rPr lang="en-US" dirty="0"/>
              <a:t> Rapidly kills microorganisms</a:t>
            </a:r>
          </a:p>
          <a:p>
            <a:pPr lvl="0"/>
            <a:r>
              <a:rPr lang="en-US" dirty="0"/>
              <a:t>Active in the presence of organic matter and compatible with soaps, detergents, and other chemicals encountered in use</a:t>
            </a:r>
          </a:p>
          <a:p>
            <a:pPr lvl="0"/>
            <a:r>
              <a:rPr lang="en-US" dirty="0"/>
              <a:t>Non-toxic</a:t>
            </a:r>
          </a:p>
          <a:p>
            <a:pPr lvl="0"/>
            <a:r>
              <a:rPr lang="en-US" dirty="0"/>
              <a:t>Does not cause the deterioration of cloth, rubber, plastics, and other </a:t>
            </a:r>
            <a:r>
              <a:rPr lang="en-US" dirty="0" smtClean="0"/>
              <a:t>materials.</a:t>
            </a:r>
            <a:endParaRPr lang="en-US" dirty="0"/>
          </a:p>
        </p:txBody>
      </p:sp>
      <p:sp>
        <p:nvSpPr>
          <p:cNvPr id="5" name="Content Placeholder 4"/>
          <p:cNvSpPr>
            <a:spLocks noGrp="1"/>
          </p:cNvSpPr>
          <p:nvPr>
            <p:ph sz="half" idx="2"/>
          </p:nvPr>
        </p:nvSpPr>
        <p:spPr>
          <a:xfrm>
            <a:off x="4645152" y="2487168"/>
            <a:ext cx="3337560" cy="4142232"/>
          </a:xfrm>
        </p:spPr>
        <p:txBody>
          <a:bodyPr>
            <a:normAutofit fontScale="85000" lnSpcReduction="20000"/>
          </a:bodyPr>
          <a:lstStyle/>
          <a:p>
            <a:pPr lvl="0"/>
            <a:r>
              <a:rPr lang="en-US" dirty="0"/>
              <a:t>Easy to use with clear label </a:t>
            </a:r>
            <a:r>
              <a:rPr lang="en-US" dirty="0" smtClean="0"/>
              <a:t>instructions</a:t>
            </a:r>
          </a:p>
          <a:p>
            <a:pPr lvl="0"/>
            <a:r>
              <a:rPr lang="en-US" dirty="0" smtClean="0"/>
              <a:t>Pleasant </a:t>
            </a:r>
            <a:r>
              <a:rPr lang="en-US" dirty="0"/>
              <a:t>odor or no odor to facilitate its routine use</a:t>
            </a:r>
          </a:p>
          <a:p>
            <a:pPr lvl="0"/>
            <a:r>
              <a:rPr lang="en-US" dirty="0"/>
              <a:t>Not prohibitively high in cost</a:t>
            </a:r>
          </a:p>
          <a:p>
            <a:pPr lvl="0"/>
            <a:r>
              <a:rPr lang="en-US" dirty="0"/>
              <a:t>Soluble in water</a:t>
            </a:r>
          </a:p>
          <a:p>
            <a:pPr lvl="0"/>
            <a:r>
              <a:rPr lang="en-US" dirty="0"/>
              <a:t>Stable in concentrate and at use-dilution</a:t>
            </a:r>
          </a:p>
          <a:p>
            <a:pPr lvl="0"/>
            <a:r>
              <a:rPr lang="en-US" dirty="0"/>
              <a:t>Good cleaning properties</a:t>
            </a:r>
          </a:p>
          <a:p>
            <a:pPr lvl="0"/>
            <a:r>
              <a:rPr lang="en-US" dirty="0"/>
              <a:t>Environmentally friendly on disposal</a:t>
            </a:r>
          </a:p>
          <a:p>
            <a:endParaRPr lang="en-US" dirty="0"/>
          </a:p>
        </p:txBody>
      </p:sp>
    </p:spTree>
    <p:extLst>
      <p:ext uri="{BB962C8B-B14F-4D97-AF65-F5344CB8AC3E}">
        <p14:creationId xmlns:p14="http://schemas.microsoft.com/office/powerpoint/2010/main" val="32249602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dirty="0" smtClean="0"/>
              <a:t/>
            </a:r>
            <a:br>
              <a:rPr lang="en-US" dirty="0" smtClean="0"/>
            </a:br>
            <a:r>
              <a:rPr lang="en-US" sz="5300" b="1" dirty="0" smtClean="0"/>
              <a:t>PPP 8.5: </a:t>
            </a:r>
            <a:br>
              <a:rPr lang="en-US" sz="5300" b="1" dirty="0" smtClean="0"/>
            </a:br>
            <a:r>
              <a:rPr lang="en-US" sz="5300" b="1" dirty="0"/>
              <a:t>Description of  Steps in Processing </a:t>
            </a:r>
            <a:r>
              <a:rPr lang="en-US" sz="5300" b="1" dirty="0" smtClean="0"/>
              <a:t>Items </a:t>
            </a:r>
            <a:endParaRPr lang="en-US" b="1" dirty="0"/>
          </a:p>
        </p:txBody>
      </p:sp>
      <p:sp>
        <p:nvSpPr>
          <p:cNvPr id="6" name="Text Placeholder 5"/>
          <p:cNvSpPr>
            <a:spLocks noGrp="1"/>
          </p:cNvSpPr>
          <p:nvPr>
            <p:ph type="body" idx="1"/>
          </p:nvPr>
        </p:nvSpPr>
        <p:spPr/>
        <p:txBody>
          <a:bodyPr>
            <a:normAutofit/>
          </a:bodyPr>
          <a:lstStyle/>
          <a:p>
            <a:r>
              <a:rPr lang="en-US" sz="5400" b="1" dirty="0" smtClean="0"/>
              <a:t>1. Cleaning </a:t>
            </a:r>
            <a:endParaRPr lang="en-US" sz="5400" dirty="0"/>
          </a:p>
        </p:txBody>
      </p:sp>
    </p:spTree>
    <p:extLst>
      <p:ext uri="{BB962C8B-B14F-4D97-AF65-F5344CB8AC3E}">
        <p14:creationId xmlns:p14="http://schemas.microsoft.com/office/powerpoint/2010/main" val="26728717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lgn="ctr" defTabSz="457200" rtl="0">
              <a:spcBef>
                <a:spcPct val="0"/>
              </a:spcBef>
            </a:pPr>
            <a:r>
              <a:rPr lang="en-US" sz="4000" b="1" dirty="0">
                <a:latin typeface="+mj-lt"/>
              </a:rPr>
              <a:t>Cleaning </a:t>
            </a:r>
            <a:endParaRPr lang="en-US" sz="4000" dirty="0">
              <a:latin typeface="+mj-lt"/>
            </a:endParaRPr>
          </a:p>
        </p:txBody>
      </p:sp>
      <p:sp>
        <p:nvSpPr>
          <p:cNvPr id="5" name="Content Placeholder 4"/>
          <p:cNvSpPr>
            <a:spLocks noGrp="1"/>
          </p:cNvSpPr>
          <p:nvPr>
            <p:ph idx="1"/>
          </p:nvPr>
        </p:nvSpPr>
        <p:spPr>
          <a:xfrm>
            <a:off x="685800" y="2362200"/>
            <a:ext cx="7772400" cy="4267200"/>
          </a:xfrm>
        </p:spPr>
        <p:txBody>
          <a:bodyPr>
            <a:normAutofit fontScale="70000" lnSpcReduction="20000"/>
          </a:bodyPr>
          <a:lstStyle/>
          <a:p>
            <a:pPr lvl="0" algn="just"/>
            <a:r>
              <a:rPr lang="en-US" dirty="0"/>
              <a:t>Cleaning is a process of </a:t>
            </a:r>
            <a:r>
              <a:rPr lang="en-US" dirty="0">
                <a:solidFill>
                  <a:srgbClr val="0070C0"/>
                </a:solidFill>
              </a:rPr>
              <a:t>physically removing </a:t>
            </a:r>
            <a:r>
              <a:rPr lang="en-US" dirty="0"/>
              <a:t>infectious agents and other organic matters on which they live and thrive but does not necessarily destroy infectious agents. </a:t>
            </a:r>
            <a:endParaRPr lang="en-US" dirty="0" smtClean="0"/>
          </a:p>
          <a:p>
            <a:pPr algn="just"/>
            <a:r>
              <a:rPr lang="en-US" dirty="0"/>
              <a:t>It is an </a:t>
            </a:r>
            <a:r>
              <a:rPr lang="en-US" dirty="0">
                <a:solidFill>
                  <a:srgbClr val="0070C0"/>
                </a:solidFill>
              </a:rPr>
              <a:t>essential pre-requisite to </a:t>
            </a:r>
            <a:r>
              <a:rPr lang="en-US" dirty="0"/>
              <a:t>ensure effective disinfection or sterilization by reducing the number of microorganisms, especially endospores causing </a:t>
            </a:r>
            <a:r>
              <a:rPr lang="en-US" dirty="0" smtClean="0"/>
              <a:t>tetanus.</a:t>
            </a:r>
          </a:p>
          <a:p>
            <a:pPr algn="just"/>
            <a:r>
              <a:rPr lang="en-US" b="1" dirty="0" smtClean="0"/>
              <a:t>Cleaning </a:t>
            </a:r>
            <a:r>
              <a:rPr lang="en-US" b="1" dirty="0">
                <a:solidFill>
                  <a:srgbClr val="0070C0"/>
                </a:solidFill>
              </a:rPr>
              <a:t>is the </a:t>
            </a:r>
            <a:r>
              <a:rPr lang="en-US" b="1" dirty="0" smtClean="0">
                <a:solidFill>
                  <a:srgbClr val="0070C0"/>
                </a:solidFill>
              </a:rPr>
              <a:t>first and </a:t>
            </a:r>
            <a:r>
              <a:rPr lang="en-US" b="1" dirty="0">
                <a:solidFill>
                  <a:srgbClr val="0070C0"/>
                </a:solidFill>
              </a:rPr>
              <a:t>a critical</a:t>
            </a:r>
            <a:r>
              <a:rPr lang="en-US" b="1" dirty="0" smtClean="0">
                <a:solidFill>
                  <a:srgbClr val="0070C0"/>
                </a:solidFill>
              </a:rPr>
              <a:t> </a:t>
            </a:r>
            <a:r>
              <a:rPr lang="en-US" b="1" dirty="0">
                <a:solidFill>
                  <a:srgbClr val="0070C0"/>
                </a:solidFill>
              </a:rPr>
              <a:t>step </a:t>
            </a:r>
            <a:r>
              <a:rPr lang="en-US" b="1" dirty="0"/>
              <a:t>in reprocessing a device after </a:t>
            </a:r>
            <a:r>
              <a:rPr lang="en-US" b="1" dirty="0" smtClean="0"/>
              <a:t>use.</a:t>
            </a:r>
            <a:r>
              <a:rPr lang="en-US" dirty="0" smtClean="0"/>
              <a:t>.</a:t>
            </a:r>
          </a:p>
          <a:p>
            <a:pPr algn="just"/>
            <a:r>
              <a:rPr lang="en-US" dirty="0"/>
              <a:t>It reduces damage to </a:t>
            </a:r>
            <a:r>
              <a:rPr lang="en-US" dirty="0" smtClean="0"/>
              <a:t>instruments.</a:t>
            </a:r>
          </a:p>
          <a:p>
            <a:pPr algn="just"/>
            <a:r>
              <a:rPr lang="en-US" dirty="0"/>
              <a:t>It makes instruments easier to </a:t>
            </a:r>
            <a:r>
              <a:rPr lang="en-US" dirty="0" smtClean="0"/>
              <a:t>process.</a:t>
            </a:r>
          </a:p>
          <a:p>
            <a:pPr lvl="0" algn="just"/>
            <a:r>
              <a:rPr lang="en-US" b="1" i="1" dirty="0"/>
              <a:t>One can clean without sterilizing, but one cannot sterilize without cleaning!</a:t>
            </a:r>
            <a:endParaRPr lang="en-US" i="1" dirty="0"/>
          </a:p>
          <a:p>
            <a:pPr algn="just"/>
            <a:endParaRPr lang="en-US" dirty="0" smtClean="0"/>
          </a:p>
          <a:p>
            <a:pPr algn="just"/>
            <a:endParaRPr lang="en-US" dirty="0"/>
          </a:p>
        </p:txBody>
      </p:sp>
    </p:spTree>
    <p:extLst>
      <p:ext uri="{BB962C8B-B14F-4D97-AF65-F5344CB8AC3E}">
        <p14:creationId xmlns:p14="http://schemas.microsoft.com/office/powerpoint/2010/main" val="2168466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 instruments are not properly cleaned: </a:t>
            </a:r>
            <a:endParaRPr lang="en-US" dirty="0"/>
          </a:p>
        </p:txBody>
      </p:sp>
      <p:sp>
        <p:nvSpPr>
          <p:cNvPr id="3" name="Content Placeholder 2"/>
          <p:cNvSpPr>
            <a:spLocks noGrp="1"/>
          </p:cNvSpPr>
          <p:nvPr>
            <p:ph idx="1"/>
          </p:nvPr>
        </p:nvSpPr>
        <p:spPr>
          <a:xfrm>
            <a:off x="685800" y="2490135"/>
            <a:ext cx="7772400" cy="3758265"/>
          </a:xfrm>
        </p:spPr>
        <p:txBody>
          <a:bodyPr>
            <a:normAutofit fontScale="62500" lnSpcReduction="20000"/>
          </a:bodyPr>
          <a:lstStyle/>
          <a:p>
            <a:pPr lvl="0" algn="just"/>
            <a:r>
              <a:rPr lang="en-US" dirty="0" err="1"/>
              <a:t>Bioburden</a:t>
            </a:r>
            <a:r>
              <a:rPr lang="en-US" dirty="0"/>
              <a:t> and residual cleaning agents remaining on an item can </a:t>
            </a:r>
            <a:r>
              <a:rPr lang="en-US" dirty="0">
                <a:solidFill>
                  <a:srgbClr val="0070C0"/>
                </a:solidFill>
              </a:rPr>
              <a:t>inactivate chemical disinfectants or </a:t>
            </a:r>
            <a:r>
              <a:rPr lang="en-US" dirty="0" err="1">
                <a:solidFill>
                  <a:srgbClr val="0070C0"/>
                </a:solidFill>
              </a:rPr>
              <a:t>sterilants</a:t>
            </a:r>
            <a:r>
              <a:rPr lang="en-US" dirty="0">
                <a:solidFill>
                  <a:srgbClr val="0070C0"/>
                </a:solidFill>
              </a:rPr>
              <a:t> </a:t>
            </a:r>
            <a:r>
              <a:rPr lang="en-US" dirty="0"/>
              <a:t>and protect microorganisms from destruction, which can result in disinfection and sterilization failures.</a:t>
            </a:r>
          </a:p>
          <a:p>
            <a:pPr lvl="0" algn="just"/>
            <a:r>
              <a:rPr lang="en-US" dirty="0"/>
              <a:t>And also instruments and materials used during an operation that are covered with blood and tissue remains may also have been in touch also with chemicals and fluids, dirt and dust. </a:t>
            </a:r>
          </a:p>
          <a:p>
            <a:pPr lvl="0" algn="just"/>
            <a:r>
              <a:rPr lang="en-US" dirty="0"/>
              <a:t>Hinged instruments may have remnants of blood and tissue from the operation. The tubing of hollow instruments may be also full of these soiled materials.</a:t>
            </a:r>
          </a:p>
          <a:p>
            <a:pPr lvl="0" algn="just"/>
            <a:r>
              <a:rPr lang="en-US" dirty="0"/>
              <a:t>Therefore, it is important to follow all the necessary steps to properly clean instruments prior to high-level disinfection or sterilization. </a:t>
            </a:r>
          </a:p>
        </p:txBody>
      </p:sp>
    </p:spTree>
    <p:extLst>
      <p:ext uri="{BB962C8B-B14F-4D97-AF65-F5344CB8AC3E}">
        <p14:creationId xmlns:p14="http://schemas.microsoft.com/office/powerpoint/2010/main" val="28130698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Effectiveness of Methods of Processing Instruments</a:t>
            </a:r>
          </a:p>
        </p:txBody>
      </p:sp>
      <p:graphicFrame>
        <p:nvGraphicFramePr>
          <p:cNvPr id="5" name="Table 4"/>
          <p:cNvGraphicFramePr>
            <a:graphicFrameLocks noGrp="1"/>
          </p:cNvGraphicFramePr>
          <p:nvPr>
            <p:extLst>
              <p:ext uri="{D42A27DB-BD31-4B8C-83A1-F6EECF244321}">
                <p14:modId xmlns:p14="http://schemas.microsoft.com/office/powerpoint/2010/main" val="1048951704"/>
              </p:ext>
            </p:extLst>
          </p:nvPr>
        </p:nvGraphicFramePr>
        <p:xfrm>
          <a:off x="762000" y="2514600"/>
          <a:ext cx="7619999" cy="3664268"/>
        </p:xfrm>
        <a:graphic>
          <a:graphicData uri="http://schemas.openxmlformats.org/drawingml/2006/table">
            <a:tbl>
              <a:tblPr firstRow="1" firstCol="1">
                <a:tableStyleId>{00A15C55-8517-42AA-B614-E9B94910E393}</a:tableStyleId>
              </a:tblPr>
              <a:tblGrid>
                <a:gridCol w="2201478"/>
                <a:gridCol w="2675322"/>
                <a:gridCol w="2743199"/>
              </a:tblGrid>
              <a:tr h="713913">
                <a:tc>
                  <a:txBody>
                    <a:bodyPr/>
                    <a:lstStyle/>
                    <a:p>
                      <a:pPr marL="0" marR="0">
                        <a:lnSpc>
                          <a:spcPts val="1000"/>
                        </a:lnSpc>
                        <a:spcBef>
                          <a:spcPts val="0"/>
                        </a:spcBef>
                        <a:spcAft>
                          <a:spcPts val="0"/>
                        </a:spcAft>
                      </a:pPr>
                      <a:r>
                        <a:rPr lang="en-US" sz="1600" dirty="0">
                          <a:effectLst/>
                        </a:rPr>
                        <a:t> </a:t>
                      </a:r>
                    </a:p>
                    <a:p>
                      <a:pPr marL="506730" marR="0">
                        <a:lnSpc>
                          <a:spcPct val="150000"/>
                        </a:lnSpc>
                        <a:spcBef>
                          <a:spcPts val="0"/>
                        </a:spcBef>
                        <a:spcAft>
                          <a:spcPts val="0"/>
                        </a:spcAft>
                      </a:pPr>
                      <a:r>
                        <a:rPr lang="en-US" sz="1600" dirty="0">
                          <a:effectLst/>
                        </a:rPr>
                        <a:t>METHOD</a:t>
                      </a:r>
                      <a:endParaRPr lang="en-US" sz="1600" dirty="0">
                        <a:effectLst/>
                        <a:latin typeface="Times New Roman"/>
                        <a:ea typeface="Calibri"/>
                        <a:cs typeface="Times New Roman"/>
                      </a:endParaRPr>
                    </a:p>
                  </a:txBody>
                  <a:tcPr marL="0" marR="0" marT="0" marB="0"/>
                </a:tc>
                <a:tc>
                  <a:txBody>
                    <a:bodyPr/>
                    <a:lstStyle/>
                    <a:p>
                      <a:pPr marL="0" marR="0">
                        <a:lnSpc>
                          <a:spcPts val="500"/>
                        </a:lnSpc>
                        <a:spcBef>
                          <a:spcPts val="0"/>
                        </a:spcBef>
                        <a:spcAft>
                          <a:spcPts val="0"/>
                        </a:spcAft>
                      </a:pPr>
                      <a:r>
                        <a:rPr lang="en-US" sz="700" dirty="0">
                          <a:effectLst/>
                        </a:rPr>
                        <a:t> </a:t>
                      </a:r>
                      <a:endParaRPr lang="en-US" sz="1600" dirty="0">
                        <a:effectLst/>
                      </a:endParaRPr>
                    </a:p>
                    <a:p>
                      <a:pPr marL="393065" marR="393700" algn="ctr">
                        <a:lnSpc>
                          <a:spcPct val="107000"/>
                        </a:lnSpc>
                        <a:spcBef>
                          <a:spcPts val="0"/>
                        </a:spcBef>
                        <a:spcAft>
                          <a:spcPts val="0"/>
                        </a:spcAft>
                      </a:pPr>
                      <a:r>
                        <a:rPr lang="en-US" sz="1400" dirty="0">
                          <a:effectLst/>
                        </a:rPr>
                        <a:t>EFFEC</a:t>
                      </a:r>
                      <a:r>
                        <a:rPr lang="en-US" sz="1400" spc="5" dirty="0">
                          <a:effectLst/>
                        </a:rPr>
                        <a:t>T</a:t>
                      </a:r>
                      <a:r>
                        <a:rPr lang="en-US" sz="1400" dirty="0">
                          <a:effectLst/>
                        </a:rPr>
                        <a:t>IVENESS (kill</a:t>
                      </a:r>
                      <a:r>
                        <a:rPr lang="en-US" sz="1400" spc="-20" dirty="0">
                          <a:effectLst/>
                        </a:rPr>
                        <a:t> </a:t>
                      </a:r>
                      <a:r>
                        <a:rPr lang="en-US" sz="1400" dirty="0">
                          <a:effectLst/>
                        </a:rPr>
                        <a:t>or</a:t>
                      </a:r>
                      <a:r>
                        <a:rPr lang="en-US" sz="1400" spc="-10" dirty="0">
                          <a:effectLst/>
                        </a:rPr>
                        <a:t> </a:t>
                      </a:r>
                      <a:r>
                        <a:rPr lang="en-US" sz="1400" dirty="0">
                          <a:effectLst/>
                        </a:rPr>
                        <a:t>rem</a:t>
                      </a:r>
                      <a:r>
                        <a:rPr lang="en-US" sz="1400" spc="10" dirty="0">
                          <a:effectLst/>
                        </a:rPr>
                        <a:t>o</a:t>
                      </a:r>
                      <a:r>
                        <a:rPr lang="en-US" sz="1400" spc="5" dirty="0">
                          <a:effectLst/>
                        </a:rPr>
                        <a:t>v</a:t>
                      </a:r>
                      <a:r>
                        <a:rPr lang="en-US" sz="1400" dirty="0">
                          <a:effectLst/>
                        </a:rPr>
                        <a:t>e </a:t>
                      </a:r>
                      <a:r>
                        <a:rPr lang="en-US" sz="1400" spc="-5" dirty="0">
                          <a:effectLst/>
                        </a:rPr>
                        <a:t>m</a:t>
                      </a:r>
                      <a:r>
                        <a:rPr lang="en-US" sz="1400" dirty="0">
                          <a:effectLst/>
                        </a:rPr>
                        <a:t>icroorganis</a:t>
                      </a:r>
                      <a:r>
                        <a:rPr lang="en-US" sz="1400" spc="-5" dirty="0">
                          <a:effectLst/>
                        </a:rPr>
                        <a:t>m</a:t>
                      </a:r>
                      <a:r>
                        <a:rPr lang="en-US" sz="1400" dirty="0">
                          <a:effectLst/>
                        </a:rPr>
                        <a:t>s)</a:t>
                      </a:r>
                      <a:endParaRPr lang="en-US" sz="1600" dirty="0">
                        <a:effectLst/>
                        <a:latin typeface="Times New Roman"/>
                        <a:ea typeface="Calibri"/>
                        <a:cs typeface="Times New Roman"/>
                      </a:endParaRPr>
                    </a:p>
                  </a:txBody>
                  <a:tcPr marL="0" marR="0" marT="0" marB="0"/>
                </a:tc>
                <a:tc>
                  <a:txBody>
                    <a:bodyPr/>
                    <a:lstStyle/>
                    <a:p>
                      <a:pPr marL="0" marR="0">
                        <a:lnSpc>
                          <a:spcPts val="900"/>
                        </a:lnSpc>
                        <a:spcBef>
                          <a:spcPts val="0"/>
                        </a:spcBef>
                        <a:spcAft>
                          <a:spcPts val="0"/>
                        </a:spcAft>
                      </a:pPr>
                      <a:r>
                        <a:rPr lang="en-US" sz="1050">
                          <a:effectLst/>
                        </a:rPr>
                        <a:t> </a:t>
                      </a:r>
                      <a:endParaRPr lang="en-US" sz="1600">
                        <a:effectLst/>
                      </a:endParaRPr>
                    </a:p>
                    <a:p>
                      <a:pPr marL="0" marR="0">
                        <a:lnSpc>
                          <a:spcPts val="1000"/>
                        </a:lnSpc>
                        <a:spcBef>
                          <a:spcPts val="0"/>
                        </a:spcBef>
                        <a:spcAft>
                          <a:spcPts val="0"/>
                        </a:spcAft>
                      </a:pPr>
                      <a:r>
                        <a:rPr lang="en-US" sz="1600">
                          <a:effectLst/>
                        </a:rPr>
                        <a:t> </a:t>
                      </a:r>
                    </a:p>
                    <a:p>
                      <a:pPr marL="735965" marR="0">
                        <a:lnSpc>
                          <a:spcPct val="150000"/>
                        </a:lnSpc>
                        <a:spcBef>
                          <a:spcPts val="0"/>
                        </a:spcBef>
                        <a:spcAft>
                          <a:spcPts val="0"/>
                        </a:spcAft>
                      </a:pPr>
                      <a:r>
                        <a:rPr lang="en-US" sz="1400">
                          <a:effectLst/>
                        </a:rPr>
                        <a:t>END</a:t>
                      </a:r>
                      <a:r>
                        <a:rPr lang="en-US" sz="1400" spc="-25">
                          <a:effectLst/>
                        </a:rPr>
                        <a:t> </a:t>
                      </a:r>
                      <a:r>
                        <a:rPr lang="en-US" sz="1400">
                          <a:effectLst/>
                        </a:rPr>
                        <a:t>POINT</a:t>
                      </a:r>
                      <a:endParaRPr lang="en-US" sz="1600">
                        <a:effectLst/>
                        <a:latin typeface="Times New Roman"/>
                        <a:ea typeface="Calibri"/>
                        <a:cs typeface="Times New Roman"/>
                      </a:endParaRPr>
                    </a:p>
                  </a:txBody>
                  <a:tcPr marL="0" marR="0" marT="0" marB="0"/>
                </a:tc>
              </a:tr>
              <a:tr h="625724">
                <a:tc>
                  <a:txBody>
                    <a:bodyPr/>
                    <a:lstStyle/>
                    <a:p>
                      <a:pPr marL="80010" marR="424815">
                        <a:lnSpc>
                          <a:spcPct val="150000"/>
                        </a:lnSpc>
                        <a:spcBef>
                          <a:spcPts val="0"/>
                        </a:spcBef>
                        <a:spcAft>
                          <a:spcPts val="0"/>
                        </a:spcAft>
                      </a:pPr>
                      <a:r>
                        <a:rPr lang="en-US" sz="1600">
                          <a:effectLst/>
                        </a:rPr>
                        <a:t>Cleaning (soap and rinsing with water)</a:t>
                      </a:r>
                      <a:endParaRPr lang="en-US" sz="1600">
                        <a:effectLst/>
                        <a:latin typeface="Times New Roman"/>
                        <a:ea typeface="Calibri"/>
                        <a:cs typeface="Times New Roman"/>
                      </a:endParaRPr>
                    </a:p>
                  </a:txBody>
                  <a:tcPr marL="0" marR="0" marT="0" marB="0"/>
                </a:tc>
                <a:tc>
                  <a:txBody>
                    <a:bodyPr/>
                    <a:lstStyle/>
                    <a:p>
                      <a:pPr marL="0" marR="0">
                        <a:lnSpc>
                          <a:spcPts val="1100"/>
                        </a:lnSpc>
                        <a:spcBef>
                          <a:spcPts val="0"/>
                        </a:spcBef>
                        <a:spcAft>
                          <a:spcPts val="0"/>
                        </a:spcAft>
                      </a:pPr>
                      <a:r>
                        <a:rPr lang="en-US" sz="1600" dirty="0">
                          <a:effectLst/>
                        </a:rPr>
                        <a:t> </a:t>
                      </a:r>
                      <a:endParaRPr lang="en-US" sz="1800" dirty="0">
                        <a:effectLst/>
                      </a:endParaRPr>
                    </a:p>
                    <a:p>
                      <a:pPr marL="80010" marR="0">
                        <a:lnSpc>
                          <a:spcPct val="150000"/>
                        </a:lnSpc>
                        <a:spcBef>
                          <a:spcPts val="0"/>
                        </a:spcBef>
                        <a:spcAft>
                          <a:spcPts val="0"/>
                        </a:spcAft>
                      </a:pPr>
                      <a:r>
                        <a:rPr lang="en-US" sz="1800" dirty="0">
                          <a:effectLst/>
                        </a:rPr>
                        <a:t>Up to 80%</a:t>
                      </a:r>
                      <a:endParaRPr lang="en-US" sz="1800" dirty="0">
                        <a:effectLst/>
                        <a:latin typeface="Times New Roman"/>
                        <a:ea typeface="Calibri"/>
                        <a:cs typeface="Times New Roman"/>
                      </a:endParaRPr>
                    </a:p>
                  </a:txBody>
                  <a:tcPr marL="0" marR="0" marT="0" marB="0"/>
                </a:tc>
                <a:tc>
                  <a:txBody>
                    <a:bodyPr/>
                    <a:lstStyle/>
                    <a:p>
                      <a:pPr marL="0" marR="0">
                        <a:lnSpc>
                          <a:spcPts val="1100"/>
                        </a:lnSpc>
                        <a:spcBef>
                          <a:spcPts val="0"/>
                        </a:spcBef>
                        <a:spcAft>
                          <a:spcPts val="0"/>
                        </a:spcAft>
                      </a:pPr>
                      <a:r>
                        <a:rPr lang="en-US" sz="1600" dirty="0">
                          <a:effectLst/>
                        </a:rPr>
                        <a:t> </a:t>
                      </a:r>
                      <a:endParaRPr lang="en-US" sz="1800" dirty="0">
                        <a:effectLst/>
                      </a:endParaRPr>
                    </a:p>
                    <a:p>
                      <a:pPr marL="80645" marR="0">
                        <a:lnSpc>
                          <a:spcPct val="150000"/>
                        </a:lnSpc>
                        <a:spcBef>
                          <a:spcPts val="0"/>
                        </a:spcBef>
                        <a:spcAft>
                          <a:spcPts val="0"/>
                        </a:spcAft>
                      </a:pPr>
                      <a:r>
                        <a:rPr lang="en-US" sz="1800" dirty="0">
                          <a:effectLst/>
                        </a:rPr>
                        <a:t>Until vi</a:t>
                      </a:r>
                      <a:r>
                        <a:rPr lang="en-US" sz="1800" spc="-5" dirty="0">
                          <a:effectLst/>
                        </a:rPr>
                        <a:t>s</a:t>
                      </a:r>
                      <a:r>
                        <a:rPr lang="en-US" sz="1800" spc="5" dirty="0">
                          <a:effectLst/>
                        </a:rPr>
                        <a:t>i</a:t>
                      </a:r>
                      <a:r>
                        <a:rPr lang="en-US" sz="1800" dirty="0">
                          <a:effectLst/>
                        </a:rPr>
                        <a:t>bly</a:t>
                      </a:r>
                      <a:r>
                        <a:rPr lang="en-US" sz="1800" spc="-5" dirty="0">
                          <a:effectLst/>
                        </a:rPr>
                        <a:t> </a:t>
                      </a:r>
                      <a:r>
                        <a:rPr lang="en-US" sz="1800" dirty="0">
                          <a:effectLst/>
                        </a:rPr>
                        <a:t>clean</a:t>
                      </a:r>
                      <a:endParaRPr lang="en-US" sz="1800" dirty="0">
                        <a:effectLst/>
                        <a:latin typeface="Times New Roman"/>
                        <a:ea typeface="Calibri"/>
                        <a:cs typeface="Times New Roman"/>
                      </a:endParaRPr>
                    </a:p>
                  </a:txBody>
                  <a:tcPr marL="0" marR="0" marT="0" marB="0"/>
                </a:tc>
              </a:tr>
              <a:tr h="644552">
                <a:tc>
                  <a:txBody>
                    <a:bodyPr/>
                    <a:lstStyle/>
                    <a:p>
                      <a:pPr marL="0" marR="0">
                        <a:lnSpc>
                          <a:spcPts val="500"/>
                        </a:lnSpc>
                        <a:spcBef>
                          <a:spcPts val="0"/>
                        </a:spcBef>
                        <a:spcAft>
                          <a:spcPts val="0"/>
                        </a:spcAft>
                      </a:pPr>
                      <a:r>
                        <a:rPr lang="en-US" sz="700">
                          <a:effectLst/>
                        </a:rPr>
                        <a:t> </a:t>
                      </a:r>
                      <a:endParaRPr lang="en-US" sz="1600">
                        <a:effectLst/>
                      </a:endParaRPr>
                    </a:p>
                    <a:p>
                      <a:pPr marL="80010" marR="0">
                        <a:lnSpc>
                          <a:spcPct val="150000"/>
                        </a:lnSpc>
                        <a:spcBef>
                          <a:spcPts val="0"/>
                        </a:spcBef>
                        <a:spcAft>
                          <a:spcPts val="0"/>
                        </a:spcAft>
                      </a:pPr>
                      <a:r>
                        <a:rPr lang="en-US" sz="1600">
                          <a:effectLst/>
                        </a:rPr>
                        <a:t>High-Level</a:t>
                      </a:r>
                      <a:r>
                        <a:rPr lang="en-US" sz="1600" spc="-5">
                          <a:effectLst/>
                        </a:rPr>
                        <a:t> </a:t>
                      </a:r>
                      <a:r>
                        <a:rPr lang="en-US" sz="1600">
                          <a:effectLst/>
                        </a:rPr>
                        <a:t>Disinfection</a:t>
                      </a:r>
                      <a:endParaRPr lang="en-US" sz="1600">
                        <a:effectLst/>
                        <a:latin typeface="Times New Roman"/>
                        <a:ea typeface="Calibri"/>
                        <a:cs typeface="Times New Roman"/>
                      </a:endParaRPr>
                    </a:p>
                  </a:txBody>
                  <a:tcPr marL="0" marR="0" marT="0" marB="0"/>
                </a:tc>
                <a:tc>
                  <a:txBody>
                    <a:bodyPr/>
                    <a:lstStyle/>
                    <a:p>
                      <a:pPr marL="0" marR="0">
                        <a:lnSpc>
                          <a:spcPts val="500"/>
                        </a:lnSpc>
                        <a:spcBef>
                          <a:spcPts val="0"/>
                        </a:spcBef>
                        <a:spcAft>
                          <a:spcPts val="0"/>
                        </a:spcAft>
                      </a:pPr>
                      <a:r>
                        <a:rPr lang="en-US" sz="800" dirty="0">
                          <a:effectLst/>
                        </a:rPr>
                        <a:t> </a:t>
                      </a:r>
                      <a:endParaRPr lang="en-US" sz="1800" dirty="0">
                        <a:effectLst/>
                      </a:endParaRPr>
                    </a:p>
                    <a:p>
                      <a:pPr marL="80010" marR="349885">
                        <a:lnSpc>
                          <a:spcPct val="150000"/>
                        </a:lnSpc>
                        <a:spcBef>
                          <a:spcPts val="0"/>
                        </a:spcBef>
                        <a:spcAft>
                          <a:spcPts val="0"/>
                        </a:spcAft>
                      </a:pPr>
                      <a:r>
                        <a:rPr lang="en-US" sz="1800" dirty="0">
                          <a:effectLst/>
                        </a:rPr>
                        <a:t>95% (does not </a:t>
                      </a:r>
                      <a:r>
                        <a:rPr lang="en-US" sz="1800" dirty="0" smtClean="0">
                          <a:effectLst/>
                        </a:rPr>
                        <a:t>inactivate endo</a:t>
                      </a:r>
                      <a:r>
                        <a:rPr lang="en-US" sz="1800" spc="5" dirty="0" smtClean="0">
                          <a:effectLst/>
                        </a:rPr>
                        <a:t>s</a:t>
                      </a:r>
                      <a:r>
                        <a:rPr lang="en-US" sz="1800" dirty="0" smtClean="0">
                          <a:effectLst/>
                        </a:rPr>
                        <a:t>pores</a:t>
                      </a:r>
                      <a:r>
                        <a:rPr lang="en-US" sz="1800" dirty="0">
                          <a:effectLst/>
                        </a:rPr>
                        <a:t>)</a:t>
                      </a:r>
                      <a:endParaRPr lang="en-US" sz="1800" dirty="0">
                        <a:effectLst/>
                        <a:latin typeface="Times New Roman"/>
                        <a:ea typeface="Calibri"/>
                        <a:cs typeface="Times New Roman"/>
                      </a:endParaRPr>
                    </a:p>
                  </a:txBody>
                  <a:tcPr marL="0" marR="0" marT="0" marB="0"/>
                </a:tc>
                <a:tc>
                  <a:txBody>
                    <a:bodyPr/>
                    <a:lstStyle/>
                    <a:p>
                      <a:pPr marL="0" marR="0">
                        <a:lnSpc>
                          <a:spcPts val="500"/>
                        </a:lnSpc>
                        <a:spcBef>
                          <a:spcPts val="0"/>
                        </a:spcBef>
                        <a:spcAft>
                          <a:spcPts val="0"/>
                        </a:spcAft>
                      </a:pPr>
                      <a:r>
                        <a:rPr lang="en-US" sz="800" dirty="0">
                          <a:effectLst/>
                        </a:rPr>
                        <a:t> </a:t>
                      </a:r>
                      <a:endParaRPr lang="en-US" sz="1800" dirty="0">
                        <a:effectLst/>
                      </a:endParaRPr>
                    </a:p>
                    <a:p>
                      <a:pPr marL="80010" marR="0">
                        <a:lnSpc>
                          <a:spcPct val="150000"/>
                        </a:lnSpc>
                        <a:spcBef>
                          <a:spcPts val="0"/>
                        </a:spcBef>
                        <a:spcAft>
                          <a:spcPts val="0"/>
                        </a:spcAft>
                      </a:pPr>
                      <a:r>
                        <a:rPr lang="en-US" sz="1800" dirty="0">
                          <a:effectLst/>
                        </a:rPr>
                        <a:t>Boiling or che</a:t>
                      </a:r>
                      <a:r>
                        <a:rPr lang="en-US" sz="1800" spc="-10" dirty="0">
                          <a:effectLst/>
                        </a:rPr>
                        <a:t>m</a:t>
                      </a:r>
                      <a:r>
                        <a:rPr lang="en-US" sz="1800" dirty="0">
                          <a:effectLst/>
                        </a:rPr>
                        <a:t>ical for</a:t>
                      </a:r>
                    </a:p>
                    <a:p>
                      <a:pPr marL="80010" marR="0">
                        <a:lnSpc>
                          <a:spcPct val="150000"/>
                        </a:lnSpc>
                        <a:spcBef>
                          <a:spcPts val="0"/>
                        </a:spcBef>
                        <a:spcAft>
                          <a:spcPts val="0"/>
                        </a:spcAft>
                      </a:pPr>
                      <a:r>
                        <a:rPr lang="en-US" sz="1800" dirty="0">
                          <a:effectLst/>
                        </a:rPr>
                        <a:t>20</a:t>
                      </a:r>
                      <a:r>
                        <a:rPr lang="en-US" sz="1800" spc="5" dirty="0">
                          <a:effectLst/>
                        </a:rPr>
                        <a:t> </a:t>
                      </a:r>
                      <a:r>
                        <a:rPr lang="en-US" sz="1800" spc="-10" dirty="0">
                          <a:effectLst/>
                        </a:rPr>
                        <a:t>m</a:t>
                      </a:r>
                      <a:r>
                        <a:rPr lang="en-US" sz="1800" spc="5" dirty="0">
                          <a:effectLst/>
                        </a:rPr>
                        <a:t>i</a:t>
                      </a:r>
                      <a:r>
                        <a:rPr lang="en-US" sz="1800" dirty="0">
                          <a:effectLst/>
                        </a:rPr>
                        <a:t>nutes</a:t>
                      </a:r>
                      <a:endParaRPr lang="en-US" sz="1800" dirty="0">
                        <a:effectLst/>
                        <a:latin typeface="Times New Roman"/>
                        <a:ea typeface="Calibri"/>
                        <a:cs typeface="Times New Roman"/>
                      </a:endParaRPr>
                    </a:p>
                  </a:txBody>
                  <a:tcPr marL="0" marR="0" marT="0" marB="0"/>
                </a:tc>
              </a:tr>
              <a:tr h="877693">
                <a:tc>
                  <a:txBody>
                    <a:bodyPr/>
                    <a:lstStyle/>
                    <a:p>
                      <a:pPr marL="0" marR="0">
                        <a:lnSpc>
                          <a:spcPts val="900"/>
                        </a:lnSpc>
                        <a:spcBef>
                          <a:spcPts val="0"/>
                        </a:spcBef>
                        <a:spcAft>
                          <a:spcPts val="0"/>
                        </a:spcAft>
                      </a:pPr>
                      <a:r>
                        <a:rPr lang="en-US" sz="1050">
                          <a:effectLst/>
                        </a:rPr>
                        <a:t> </a:t>
                      </a:r>
                      <a:endParaRPr lang="en-US" sz="1600">
                        <a:effectLst/>
                      </a:endParaRPr>
                    </a:p>
                    <a:p>
                      <a:pPr marL="0" marR="0">
                        <a:lnSpc>
                          <a:spcPts val="1000"/>
                        </a:lnSpc>
                        <a:spcBef>
                          <a:spcPts val="0"/>
                        </a:spcBef>
                        <a:spcAft>
                          <a:spcPts val="0"/>
                        </a:spcAft>
                      </a:pPr>
                      <a:r>
                        <a:rPr lang="en-US" sz="1600">
                          <a:effectLst/>
                        </a:rPr>
                        <a:t> </a:t>
                      </a:r>
                    </a:p>
                    <a:p>
                      <a:pPr marL="80010" marR="0">
                        <a:lnSpc>
                          <a:spcPct val="150000"/>
                        </a:lnSpc>
                        <a:spcBef>
                          <a:spcPts val="0"/>
                        </a:spcBef>
                        <a:spcAft>
                          <a:spcPts val="0"/>
                        </a:spcAft>
                      </a:pPr>
                      <a:r>
                        <a:rPr lang="en-US" sz="1600">
                          <a:effectLst/>
                        </a:rPr>
                        <a:t>Sterilization</a:t>
                      </a:r>
                      <a:endParaRPr lang="en-US" sz="1600">
                        <a:effectLst/>
                        <a:latin typeface="Times New Roman"/>
                        <a:ea typeface="Calibri"/>
                        <a:cs typeface="Times New Roman"/>
                      </a:endParaRPr>
                    </a:p>
                  </a:txBody>
                  <a:tcPr marL="0" marR="0" marT="0" marB="0"/>
                </a:tc>
                <a:tc>
                  <a:txBody>
                    <a:bodyPr/>
                    <a:lstStyle/>
                    <a:p>
                      <a:pPr marL="0" marR="0">
                        <a:lnSpc>
                          <a:spcPts val="900"/>
                        </a:lnSpc>
                        <a:spcBef>
                          <a:spcPts val="0"/>
                        </a:spcBef>
                        <a:spcAft>
                          <a:spcPts val="0"/>
                        </a:spcAft>
                      </a:pPr>
                      <a:r>
                        <a:rPr lang="en-US" sz="1100" dirty="0">
                          <a:effectLst/>
                        </a:rPr>
                        <a:t> </a:t>
                      </a:r>
                      <a:endParaRPr lang="en-US" sz="1800" dirty="0">
                        <a:effectLst/>
                      </a:endParaRPr>
                    </a:p>
                    <a:p>
                      <a:pPr marL="0" marR="0">
                        <a:lnSpc>
                          <a:spcPts val="1000"/>
                        </a:lnSpc>
                        <a:spcBef>
                          <a:spcPts val="0"/>
                        </a:spcBef>
                        <a:spcAft>
                          <a:spcPts val="0"/>
                        </a:spcAft>
                      </a:pPr>
                      <a:r>
                        <a:rPr lang="en-US" sz="1800" dirty="0">
                          <a:effectLst/>
                        </a:rPr>
                        <a:t> </a:t>
                      </a:r>
                    </a:p>
                    <a:p>
                      <a:pPr marL="80010" marR="0">
                        <a:lnSpc>
                          <a:spcPct val="150000"/>
                        </a:lnSpc>
                        <a:spcBef>
                          <a:spcPts val="0"/>
                        </a:spcBef>
                        <a:spcAft>
                          <a:spcPts val="0"/>
                        </a:spcAft>
                      </a:pPr>
                      <a:r>
                        <a:rPr lang="en-US" sz="1800" dirty="0">
                          <a:effectLst/>
                        </a:rPr>
                        <a:t>100%</a:t>
                      </a:r>
                      <a:endParaRPr lang="en-US" sz="1800" dirty="0">
                        <a:effectLst/>
                        <a:latin typeface="Times New Roman"/>
                        <a:ea typeface="Calibri"/>
                        <a:cs typeface="Times New Roman"/>
                      </a:endParaRPr>
                    </a:p>
                  </a:txBody>
                  <a:tcPr marL="0" marR="0" marT="0" marB="0"/>
                </a:tc>
                <a:tc>
                  <a:txBody>
                    <a:bodyPr/>
                    <a:lstStyle/>
                    <a:p>
                      <a:pPr marL="0" marR="0">
                        <a:lnSpc>
                          <a:spcPts val="500"/>
                        </a:lnSpc>
                        <a:spcBef>
                          <a:spcPts val="0"/>
                        </a:spcBef>
                        <a:spcAft>
                          <a:spcPts val="0"/>
                        </a:spcAft>
                      </a:pPr>
                      <a:r>
                        <a:rPr lang="en-US" sz="900" dirty="0">
                          <a:effectLst/>
                        </a:rPr>
                        <a:t> </a:t>
                      </a:r>
                      <a:endParaRPr lang="en-US" sz="1800" dirty="0">
                        <a:effectLst/>
                      </a:endParaRPr>
                    </a:p>
                    <a:p>
                      <a:pPr marL="80010" marR="139700">
                        <a:lnSpc>
                          <a:spcPct val="150000"/>
                        </a:lnSpc>
                        <a:spcBef>
                          <a:spcPts val="0"/>
                        </a:spcBef>
                        <a:spcAft>
                          <a:spcPts val="1000"/>
                        </a:spcAft>
                      </a:pPr>
                      <a:r>
                        <a:rPr lang="en-US" sz="1800" dirty="0">
                          <a:effectLst/>
                        </a:rPr>
                        <a:t>High-pressure stea</a:t>
                      </a:r>
                      <a:r>
                        <a:rPr lang="en-US" sz="1800" spc="-10" dirty="0">
                          <a:effectLst/>
                        </a:rPr>
                        <a:t>m</a:t>
                      </a:r>
                      <a:r>
                        <a:rPr lang="en-US" sz="1800" dirty="0">
                          <a:effectLst/>
                        </a:rPr>
                        <a:t>, dry heat or che</a:t>
                      </a:r>
                      <a:r>
                        <a:rPr lang="en-US" sz="1800" spc="-10" dirty="0">
                          <a:effectLst/>
                        </a:rPr>
                        <a:t>m</a:t>
                      </a:r>
                      <a:r>
                        <a:rPr lang="en-US" sz="1800" dirty="0">
                          <a:effectLst/>
                        </a:rPr>
                        <a:t>ical for the recommended ti</a:t>
                      </a:r>
                      <a:r>
                        <a:rPr lang="en-US" sz="1800" spc="-10" dirty="0">
                          <a:effectLst/>
                        </a:rPr>
                        <a:t>m</a:t>
                      </a:r>
                      <a:r>
                        <a:rPr lang="en-US" sz="1800" dirty="0">
                          <a:effectLst/>
                        </a:rPr>
                        <a:t>e</a:t>
                      </a:r>
                      <a:endParaRPr lang="en-US" sz="1800" dirty="0">
                        <a:effectLst/>
                        <a:latin typeface="Times New Roman"/>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3973915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Steps of manual cleaning</a:t>
            </a:r>
            <a:r>
              <a:rPr lang="en-US" dirty="0" smtClean="0"/>
              <a:t>:</a:t>
            </a:r>
            <a:endParaRPr lang="en-US" dirty="0"/>
          </a:p>
        </p:txBody>
      </p:sp>
      <p:sp>
        <p:nvSpPr>
          <p:cNvPr id="4" name="Content Placeholder 3"/>
          <p:cNvSpPr>
            <a:spLocks noGrp="1"/>
          </p:cNvSpPr>
          <p:nvPr>
            <p:ph idx="1"/>
          </p:nvPr>
        </p:nvSpPr>
        <p:spPr>
          <a:xfrm>
            <a:off x="762000" y="2490135"/>
            <a:ext cx="7696200" cy="3834465"/>
          </a:xfrm>
        </p:spPr>
        <p:txBody>
          <a:bodyPr>
            <a:normAutofit fontScale="55000" lnSpcReduction="20000"/>
          </a:bodyPr>
          <a:lstStyle/>
          <a:p>
            <a:pPr lvl="0"/>
            <a:r>
              <a:rPr lang="en-US" dirty="0"/>
              <a:t>Put on </a:t>
            </a:r>
            <a:r>
              <a:rPr lang="en-US" b="1" dirty="0"/>
              <a:t>Personal Protective Equipment (PPE) </a:t>
            </a:r>
            <a:r>
              <a:rPr lang="en-US" dirty="0"/>
              <a:t>including a water resistant gown, gloves, face mask and head cover. </a:t>
            </a:r>
          </a:p>
          <a:p>
            <a:pPr lvl="1"/>
            <a:r>
              <a:rPr lang="en-US" dirty="0"/>
              <a:t>If gloves are torn or damaged, they should be discarded; otherwise, they should be cleaned and left to dry for re-use in the following day. </a:t>
            </a:r>
          </a:p>
          <a:p>
            <a:pPr lvl="1"/>
            <a:r>
              <a:rPr lang="en-US" dirty="0"/>
              <a:t>Even when wearing heavy-duty utility gloves, care should be taken to prevent needle sticks or cuts when washing sharps.</a:t>
            </a:r>
          </a:p>
          <a:p>
            <a:pPr lvl="0"/>
            <a:r>
              <a:rPr lang="en-US" b="1" dirty="0"/>
              <a:t>Fill sink or appropriate basin </a:t>
            </a:r>
            <a:r>
              <a:rPr lang="en-US" dirty="0"/>
              <a:t>with sufficient warm water for </a:t>
            </a:r>
            <a:r>
              <a:rPr lang="en-US" b="1" dirty="0"/>
              <a:t>complete immersion </a:t>
            </a:r>
            <a:r>
              <a:rPr lang="en-US" dirty="0"/>
              <a:t>of the devices being cleaned.</a:t>
            </a:r>
          </a:p>
          <a:p>
            <a:pPr lvl="0"/>
            <a:r>
              <a:rPr lang="en-US" dirty="0"/>
              <a:t>Add the appropriate quantity of detergent following the manufacturer’s instructions for dosage.</a:t>
            </a:r>
          </a:p>
          <a:p>
            <a:pPr lvl="0"/>
            <a:r>
              <a:rPr lang="en-US" b="1" dirty="0"/>
              <a:t>Clean the device under the surface of the water </a:t>
            </a:r>
            <a:r>
              <a:rPr lang="en-US" dirty="0"/>
              <a:t>so that aerosols are not produced. </a:t>
            </a:r>
          </a:p>
          <a:p>
            <a:pPr lvl="0"/>
            <a:r>
              <a:rPr lang="en-US" b="1" dirty="0"/>
              <a:t>All devices be disassembled </a:t>
            </a:r>
            <a:r>
              <a:rPr lang="en-US" dirty="0"/>
              <a:t>so that all surfaces may be cleaned and disinfected, irrespective of the cleaning method chose</a:t>
            </a:r>
            <a:r>
              <a:rPr lang="en-US" dirty="0" smtClean="0"/>
              <a:t>.</a:t>
            </a:r>
            <a:endParaRPr lang="en-US" dirty="0"/>
          </a:p>
        </p:txBody>
      </p:sp>
    </p:spTree>
    <p:extLst>
      <p:ext uri="{BB962C8B-B14F-4D97-AF65-F5344CB8AC3E}">
        <p14:creationId xmlns:p14="http://schemas.microsoft.com/office/powerpoint/2010/main" val="559877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Steps of manual </a:t>
            </a:r>
            <a:r>
              <a:rPr lang="en-US" dirty="0" smtClean="0"/>
              <a:t>cleaning</a:t>
            </a:r>
            <a:r>
              <a:rPr lang="en-US" dirty="0"/>
              <a:t> </a:t>
            </a:r>
            <a:r>
              <a:rPr lang="en-US" dirty="0" smtClean="0"/>
              <a:t>cont’d… </a:t>
            </a:r>
            <a:endParaRPr lang="en-US" dirty="0"/>
          </a:p>
        </p:txBody>
      </p:sp>
      <p:sp>
        <p:nvSpPr>
          <p:cNvPr id="4" name="Content Placeholder 3"/>
          <p:cNvSpPr>
            <a:spLocks noGrp="1"/>
          </p:cNvSpPr>
          <p:nvPr>
            <p:ph idx="1"/>
          </p:nvPr>
        </p:nvSpPr>
        <p:spPr>
          <a:xfrm>
            <a:off x="762000" y="2490135"/>
            <a:ext cx="7620000" cy="3986865"/>
          </a:xfrm>
        </p:spPr>
        <p:txBody>
          <a:bodyPr>
            <a:normAutofit fontScale="55000" lnSpcReduction="20000"/>
          </a:bodyPr>
          <a:lstStyle/>
          <a:p>
            <a:pPr lvl="0"/>
            <a:r>
              <a:rPr lang="en-US" dirty="0" smtClean="0"/>
              <a:t>Use </a:t>
            </a:r>
            <a:r>
              <a:rPr lang="en-US" b="1" dirty="0"/>
              <a:t>appropriate brushes </a:t>
            </a:r>
            <a:r>
              <a:rPr lang="en-US" dirty="0"/>
              <a:t>to properly clean box locks, lumens and other hard-to-clean areas</a:t>
            </a:r>
          </a:p>
          <a:p>
            <a:pPr lvl="1"/>
            <a:r>
              <a:rPr lang="en-US" dirty="0"/>
              <a:t>Use soft (nylon) bristle brushes so that the surface of the instrument is not damaged.</a:t>
            </a:r>
          </a:p>
          <a:p>
            <a:pPr lvl="1"/>
            <a:r>
              <a:rPr lang="en-US" dirty="0"/>
              <a:t>Brushes used to clean lumens must be the same diameter as the instrument to ensure that all internal surfaces can be reached. </a:t>
            </a:r>
          </a:p>
          <a:p>
            <a:pPr lvl="1"/>
            <a:r>
              <a:rPr lang="en-US" dirty="0"/>
              <a:t>Brushes must also be long enough to exit the distal end of the </a:t>
            </a:r>
            <a:r>
              <a:rPr lang="en-US" dirty="0" smtClean="0"/>
              <a:t>instrument</a:t>
            </a:r>
          </a:p>
          <a:p>
            <a:pPr lvl="1"/>
            <a:r>
              <a:rPr lang="en-US" dirty="0"/>
              <a:t>Brushes should be thermally or chemically disinfected at the end of the </a:t>
            </a:r>
            <a:r>
              <a:rPr lang="en-US" dirty="0" smtClean="0"/>
              <a:t>day, if </a:t>
            </a:r>
            <a:r>
              <a:rPr lang="en-US" dirty="0"/>
              <a:t>this is not possible, they should be cleaned and left to dry. </a:t>
            </a:r>
            <a:endParaRPr lang="en-US" dirty="0" smtClean="0"/>
          </a:p>
          <a:p>
            <a:pPr lvl="1"/>
            <a:r>
              <a:rPr lang="en-US" dirty="0" smtClean="0"/>
              <a:t>Brushes </a:t>
            </a:r>
            <a:r>
              <a:rPr lang="en-US" dirty="0"/>
              <a:t>should be replaced when damaged</a:t>
            </a:r>
            <a:r>
              <a:rPr lang="en-US" dirty="0" smtClean="0"/>
              <a:t>.</a:t>
            </a:r>
            <a:endParaRPr lang="en-US" dirty="0"/>
          </a:p>
          <a:p>
            <a:pPr lvl="0"/>
            <a:r>
              <a:rPr lang="en-US" dirty="0"/>
              <a:t>In another sink or basin, completely immerse the device in clean purified water and rinse the device thoroughly.</a:t>
            </a:r>
          </a:p>
          <a:p>
            <a:pPr lvl="0"/>
            <a:r>
              <a:rPr lang="en-US" dirty="0"/>
              <a:t>Air-dry or hand-dry using a disposable clean, non-</a:t>
            </a:r>
            <a:r>
              <a:rPr lang="en-US" dirty="0" err="1"/>
              <a:t>linting</a:t>
            </a:r>
            <a:r>
              <a:rPr lang="en-US" dirty="0"/>
              <a:t> cloth.</a:t>
            </a:r>
          </a:p>
          <a:p>
            <a:pPr lvl="0"/>
            <a:r>
              <a:rPr lang="en-US" b="1" dirty="0"/>
              <a:t>Items that cannot be cleaned thoroughly should not be reused, but be discarded after use.</a:t>
            </a:r>
            <a:endParaRPr lang="en-US" dirty="0"/>
          </a:p>
          <a:p>
            <a:endParaRPr lang="en-US" dirty="0"/>
          </a:p>
        </p:txBody>
      </p:sp>
    </p:spTree>
    <p:extLst>
      <p:ext uri="{BB962C8B-B14F-4D97-AF65-F5344CB8AC3E}">
        <p14:creationId xmlns:p14="http://schemas.microsoft.com/office/powerpoint/2010/main" val="559877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a:t>
            </a:r>
            <a:r>
              <a:rPr lang="en-US" dirty="0" smtClean="0"/>
              <a:t>Products and their properties</a:t>
            </a:r>
            <a:endParaRPr lang="en-US" dirty="0"/>
          </a:p>
        </p:txBody>
      </p:sp>
      <p:sp>
        <p:nvSpPr>
          <p:cNvPr id="3" name="Content Placeholder 2"/>
          <p:cNvSpPr>
            <a:spLocks noGrp="1"/>
          </p:cNvSpPr>
          <p:nvPr>
            <p:ph idx="1"/>
          </p:nvPr>
        </p:nvSpPr>
        <p:spPr>
          <a:xfrm>
            <a:off x="685800" y="2642535"/>
            <a:ext cx="7772400" cy="3758265"/>
          </a:xfrm>
        </p:spPr>
        <p:txBody>
          <a:bodyPr>
            <a:normAutofit fontScale="62500" lnSpcReduction="20000"/>
          </a:bodyPr>
          <a:lstStyle/>
          <a:p>
            <a:pPr lvl="0" algn="just"/>
            <a:r>
              <a:rPr lang="en-US" dirty="0" smtClean="0"/>
              <a:t>There </a:t>
            </a:r>
            <a:r>
              <a:rPr lang="en-US" dirty="0"/>
              <a:t>is no single cleaning agent that removes all types of </a:t>
            </a:r>
            <a:r>
              <a:rPr lang="en-US" dirty="0" err="1"/>
              <a:t>bioburden</a:t>
            </a:r>
            <a:r>
              <a:rPr lang="en-US" dirty="0"/>
              <a:t>. </a:t>
            </a:r>
          </a:p>
          <a:p>
            <a:pPr lvl="0" algn="just"/>
            <a:r>
              <a:rPr lang="en-US" dirty="0" err="1"/>
              <a:t>Bioburden</a:t>
            </a:r>
            <a:r>
              <a:rPr lang="en-US" dirty="0"/>
              <a:t> is made up of a variety of matter, which may be soluble or insoluble in water and can be organic or inorganic. </a:t>
            </a:r>
          </a:p>
          <a:p>
            <a:pPr algn="just"/>
            <a:r>
              <a:rPr lang="en-US" b="1" dirty="0"/>
              <a:t>Properties associated with ideal cleaning agents:</a:t>
            </a:r>
            <a:endParaRPr lang="en-US" dirty="0"/>
          </a:p>
          <a:p>
            <a:pPr lvl="1" algn="just"/>
            <a:r>
              <a:rPr lang="en-US" sz="3200" dirty="0"/>
              <a:t>Emulsification</a:t>
            </a:r>
          </a:p>
          <a:p>
            <a:pPr lvl="1" algn="just"/>
            <a:r>
              <a:rPr lang="en-US" sz="3200" dirty="0" err="1"/>
              <a:t>Surfactation</a:t>
            </a:r>
            <a:endParaRPr lang="en-US" sz="3200" dirty="0"/>
          </a:p>
          <a:p>
            <a:pPr lvl="1" algn="just"/>
            <a:r>
              <a:rPr lang="en-US" sz="3200" dirty="0"/>
              <a:t>Dispersion and suspension</a:t>
            </a:r>
          </a:p>
          <a:p>
            <a:pPr lvl="1" algn="just"/>
            <a:r>
              <a:rPr lang="en-US" sz="3200" dirty="0"/>
              <a:t>Water softening</a:t>
            </a:r>
          </a:p>
          <a:p>
            <a:pPr lvl="1" algn="just"/>
            <a:r>
              <a:rPr lang="en-US" sz="3200" dirty="0"/>
              <a:t>Free rinsing</a:t>
            </a:r>
          </a:p>
          <a:p>
            <a:pPr lvl="1" algn="just"/>
            <a:r>
              <a:rPr lang="en-US" sz="3200" dirty="0"/>
              <a:t>Non-toxic</a:t>
            </a:r>
          </a:p>
          <a:p>
            <a:pPr algn="just"/>
            <a:endParaRPr lang="en-US" dirty="0"/>
          </a:p>
        </p:txBody>
      </p:sp>
    </p:spTree>
    <p:extLst>
      <p:ext uri="{BB962C8B-B14F-4D97-AF65-F5344CB8AC3E}">
        <p14:creationId xmlns:p14="http://schemas.microsoft.com/office/powerpoint/2010/main" val="40844655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Selection </a:t>
            </a:r>
            <a:r>
              <a:rPr lang="en-US" dirty="0"/>
              <a:t>of cleaning agents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lvl="0" algn="just"/>
            <a:r>
              <a:rPr lang="en-US" dirty="0"/>
              <a:t>Deposits of dust, soil and microbial residue on equipment can contribute to healthcare-associated infections. </a:t>
            </a:r>
            <a:endParaRPr lang="en-US" dirty="0" smtClean="0"/>
          </a:p>
          <a:p>
            <a:pPr lvl="0" algn="just"/>
            <a:r>
              <a:rPr lang="en-US" dirty="0" smtClean="0"/>
              <a:t>Cleaning </a:t>
            </a:r>
            <a:r>
              <a:rPr lang="en-US" dirty="0"/>
              <a:t>agents remove organic, inorganic and microbial contaminants. </a:t>
            </a:r>
          </a:p>
          <a:p>
            <a:pPr lvl="0" algn="just"/>
            <a:r>
              <a:rPr lang="en-US" dirty="0" smtClean="0"/>
              <a:t>No </a:t>
            </a:r>
            <a:r>
              <a:rPr lang="en-US" dirty="0"/>
              <a:t>single compound has all the properties that are required to remove all soil deposits. </a:t>
            </a:r>
            <a:endParaRPr lang="en-US" dirty="0" smtClean="0"/>
          </a:p>
          <a:p>
            <a:pPr lvl="0" algn="just"/>
            <a:r>
              <a:rPr lang="en-US" dirty="0" smtClean="0"/>
              <a:t>The </a:t>
            </a:r>
            <a:r>
              <a:rPr lang="en-US" dirty="0"/>
              <a:t>first step in cleaning is the use of surfactants or surface-active agents to reduce tension, which assists in soil being held in the cleaning solution.</a:t>
            </a:r>
          </a:p>
          <a:p>
            <a:pPr algn="just"/>
            <a:endParaRPr lang="en-US" dirty="0"/>
          </a:p>
        </p:txBody>
      </p:sp>
    </p:spTree>
    <p:extLst>
      <p:ext uri="{BB962C8B-B14F-4D97-AF65-F5344CB8AC3E}">
        <p14:creationId xmlns:p14="http://schemas.microsoft.com/office/powerpoint/2010/main" val="19466063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dirty="0" smtClean="0"/>
              <a:t/>
            </a:r>
            <a:br>
              <a:rPr lang="en-US" dirty="0" smtClean="0"/>
            </a:br>
            <a:r>
              <a:rPr lang="en-US" sz="5300" b="1" dirty="0" smtClean="0"/>
              <a:t>PPP 8.5: </a:t>
            </a:r>
            <a:br>
              <a:rPr lang="en-US" sz="5300" b="1" dirty="0" smtClean="0"/>
            </a:br>
            <a:r>
              <a:rPr lang="en-US" sz="5300" b="1" dirty="0"/>
              <a:t>Description of  Steps in Processing </a:t>
            </a:r>
            <a:r>
              <a:rPr lang="en-US" sz="5300" b="1" dirty="0" smtClean="0"/>
              <a:t>Items </a:t>
            </a:r>
            <a:endParaRPr lang="en-US" b="1" dirty="0"/>
          </a:p>
        </p:txBody>
      </p:sp>
      <p:sp>
        <p:nvSpPr>
          <p:cNvPr id="6" name="Text Placeholder 5"/>
          <p:cNvSpPr>
            <a:spLocks noGrp="1"/>
          </p:cNvSpPr>
          <p:nvPr>
            <p:ph type="body" idx="1"/>
          </p:nvPr>
        </p:nvSpPr>
        <p:spPr/>
        <p:txBody>
          <a:bodyPr>
            <a:normAutofit fontScale="85000" lnSpcReduction="10000"/>
          </a:bodyPr>
          <a:lstStyle/>
          <a:p>
            <a:r>
              <a:rPr lang="en-US" sz="5400" b="1" dirty="0" smtClean="0"/>
              <a:t>2. Packing and Wrapping </a:t>
            </a:r>
            <a:endParaRPr lang="en-US" sz="5400" dirty="0"/>
          </a:p>
        </p:txBody>
      </p:sp>
    </p:spTree>
    <p:extLst>
      <p:ext uri="{BB962C8B-B14F-4D97-AF65-F5344CB8AC3E}">
        <p14:creationId xmlns:p14="http://schemas.microsoft.com/office/powerpoint/2010/main" val="2202283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000" b="1" dirty="0">
                <a:latin typeface="+mj-lt"/>
              </a:rPr>
              <a:t>Packing and Wrapping </a:t>
            </a:r>
            <a:endParaRPr lang="en-US" sz="4000" dirty="0">
              <a:latin typeface="+mj-lt"/>
            </a:endParaRPr>
          </a:p>
        </p:txBody>
      </p:sp>
      <p:sp>
        <p:nvSpPr>
          <p:cNvPr id="3" name="Content Placeholder 2"/>
          <p:cNvSpPr>
            <a:spLocks noGrp="1"/>
          </p:cNvSpPr>
          <p:nvPr>
            <p:ph idx="1"/>
          </p:nvPr>
        </p:nvSpPr>
        <p:spPr>
          <a:xfrm>
            <a:off x="762000" y="2490135"/>
            <a:ext cx="7620000" cy="3758265"/>
          </a:xfrm>
        </p:spPr>
        <p:txBody>
          <a:bodyPr>
            <a:normAutofit fontScale="70000" lnSpcReduction="20000"/>
          </a:bodyPr>
          <a:lstStyle/>
          <a:p>
            <a:pPr lvl="0" algn="just"/>
            <a:r>
              <a:rPr lang="en-US" dirty="0"/>
              <a:t>The </a:t>
            </a:r>
            <a:r>
              <a:rPr lang="en-US" b="1" dirty="0"/>
              <a:t>inspection</a:t>
            </a:r>
            <a:r>
              <a:rPr lang="en-US" dirty="0"/>
              <a:t>, </a:t>
            </a:r>
            <a:r>
              <a:rPr lang="en-US" b="1" dirty="0"/>
              <a:t>assembly</a:t>
            </a:r>
            <a:r>
              <a:rPr lang="en-US" dirty="0"/>
              <a:t> and </a:t>
            </a:r>
            <a:r>
              <a:rPr lang="en-US" b="1" dirty="0"/>
              <a:t>packaging</a:t>
            </a:r>
            <a:r>
              <a:rPr lang="en-US" dirty="0"/>
              <a:t> of reusable surgical instruments and medical devices is a </a:t>
            </a:r>
            <a:r>
              <a:rPr lang="en-US" dirty="0">
                <a:solidFill>
                  <a:srgbClr val="0070C0"/>
                </a:solidFill>
              </a:rPr>
              <a:t>crucial part</a:t>
            </a:r>
            <a:r>
              <a:rPr lang="en-US" dirty="0"/>
              <a:t> of the reprocessing cycle. </a:t>
            </a:r>
          </a:p>
          <a:p>
            <a:pPr lvl="0" algn="just"/>
            <a:r>
              <a:rPr lang="en-US" dirty="0"/>
              <a:t>All instruments and other items should be thoroughly </a:t>
            </a:r>
            <a:r>
              <a:rPr lang="en-US" b="1" dirty="0">
                <a:solidFill>
                  <a:srgbClr val="0070C0"/>
                </a:solidFill>
              </a:rPr>
              <a:t>cleaned and dried </a:t>
            </a:r>
            <a:r>
              <a:rPr lang="en-US" dirty="0"/>
              <a:t>before being disinfected or prepared for sterilization. </a:t>
            </a:r>
          </a:p>
          <a:p>
            <a:pPr lvl="0" algn="just"/>
            <a:r>
              <a:rPr lang="en-US" dirty="0"/>
              <a:t>In some cases, it is </a:t>
            </a:r>
            <a:r>
              <a:rPr lang="en-US" dirty="0">
                <a:solidFill>
                  <a:srgbClr val="0070C0"/>
                </a:solidFill>
              </a:rPr>
              <a:t>not necessary to completely dry the items </a:t>
            </a:r>
            <a:r>
              <a:rPr lang="en-US" dirty="0"/>
              <a:t>(needles or the like which have small openings) being sterilized for the small amount of water left inside these openings help in the steam sterilization process.  </a:t>
            </a:r>
          </a:p>
          <a:p>
            <a:pPr lvl="0" algn="just"/>
            <a:r>
              <a:rPr lang="en-US" dirty="0"/>
              <a:t>For such items, flushing them  with distilled or boiled water just prior to packaging for steam sterilization should be done after cleaning. </a:t>
            </a:r>
          </a:p>
        </p:txBody>
      </p:sp>
    </p:spTree>
    <p:extLst>
      <p:ext uri="{BB962C8B-B14F-4D97-AF65-F5344CB8AC3E}">
        <p14:creationId xmlns:p14="http://schemas.microsoft.com/office/powerpoint/2010/main" val="28997271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000" b="1" dirty="0">
                <a:latin typeface="+mj-lt"/>
              </a:rPr>
              <a:t>Packing and </a:t>
            </a:r>
            <a:r>
              <a:rPr lang="en-US" sz="4000" b="1" dirty="0" smtClean="0">
                <a:latin typeface="+mj-lt"/>
              </a:rPr>
              <a:t>Wrapping cont’d… </a:t>
            </a:r>
            <a:endParaRPr lang="en-US" sz="4000" dirty="0">
              <a:latin typeface="+mj-lt"/>
            </a:endParaRPr>
          </a:p>
        </p:txBody>
      </p:sp>
      <p:sp>
        <p:nvSpPr>
          <p:cNvPr id="3" name="Content Placeholder 2"/>
          <p:cNvSpPr>
            <a:spLocks noGrp="1"/>
          </p:cNvSpPr>
          <p:nvPr>
            <p:ph idx="1"/>
          </p:nvPr>
        </p:nvSpPr>
        <p:spPr/>
        <p:txBody>
          <a:bodyPr>
            <a:normAutofit fontScale="85000" lnSpcReduction="20000"/>
          </a:bodyPr>
          <a:lstStyle/>
          <a:p>
            <a:pPr lvl="0"/>
            <a:r>
              <a:rPr lang="en-US" dirty="0" smtClean="0"/>
              <a:t>Finally</a:t>
            </a:r>
            <a:r>
              <a:rPr lang="en-US" dirty="0"/>
              <a:t>, </a:t>
            </a:r>
            <a:r>
              <a:rPr lang="en-US" b="1" dirty="0"/>
              <a:t>all jointed instruments should be open (or be unlocked) and disassembled. </a:t>
            </a:r>
            <a:endParaRPr lang="en-US" b="1" dirty="0" smtClean="0"/>
          </a:p>
          <a:p>
            <a:pPr lvl="0"/>
            <a:r>
              <a:rPr lang="en-US" dirty="0" smtClean="0"/>
              <a:t>Reusable </a:t>
            </a:r>
            <a:r>
              <a:rPr lang="en-US" dirty="0"/>
              <a:t>cloth items should be laundered and dried after use or prior to sterilization in order to:</a:t>
            </a:r>
          </a:p>
          <a:p>
            <a:pPr lvl="1"/>
            <a:r>
              <a:rPr lang="en-US" dirty="0"/>
              <a:t>Remove organic matter, and</a:t>
            </a:r>
          </a:p>
          <a:p>
            <a:pPr lvl="1"/>
            <a:r>
              <a:rPr lang="en-US" dirty="0"/>
              <a:t>Prolong the life of the cloth by restoring the fabric’s normal moisture (water) content.</a:t>
            </a:r>
          </a:p>
          <a:p>
            <a:endParaRPr lang="en-US" dirty="0"/>
          </a:p>
        </p:txBody>
      </p:sp>
    </p:spTree>
    <p:extLst>
      <p:ext uri="{BB962C8B-B14F-4D97-AF65-F5344CB8AC3E}">
        <p14:creationId xmlns:p14="http://schemas.microsoft.com/office/powerpoint/2010/main" val="2899727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Inspection and function testing (post-cleaning)</a:t>
            </a:r>
            <a:endParaRPr lang="en-US" dirty="0"/>
          </a:p>
        </p:txBody>
      </p:sp>
      <p:sp>
        <p:nvSpPr>
          <p:cNvPr id="3" name="Content Placeholder 2"/>
          <p:cNvSpPr>
            <a:spLocks noGrp="1"/>
          </p:cNvSpPr>
          <p:nvPr>
            <p:ph idx="1"/>
          </p:nvPr>
        </p:nvSpPr>
        <p:spPr>
          <a:xfrm>
            <a:off x="685800" y="2490135"/>
            <a:ext cx="7772400" cy="3758265"/>
          </a:xfrm>
        </p:spPr>
        <p:txBody>
          <a:bodyPr>
            <a:normAutofit fontScale="77500" lnSpcReduction="20000"/>
          </a:bodyPr>
          <a:lstStyle/>
          <a:p>
            <a:pPr lvl="0" algn="just"/>
            <a:r>
              <a:rPr lang="en-US" dirty="0"/>
              <a:t>Each set should be </a:t>
            </a:r>
            <a:r>
              <a:rPr lang="en-US" dirty="0">
                <a:solidFill>
                  <a:srgbClr val="0070C0"/>
                </a:solidFill>
              </a:rPr>
              <a:t>inspected separately</a:t>
            </a:r>
          </a:p>
          <a:p>
            <a:pPr lvl="0" algn="just"/>
            <a:r>
              <a:rPr lang="en-US" dirty="0"/>
              <a:t>Box joints, serrations and crevices should be </a:t>
            </a:r>
            <a:r>
              <a:rPr lang="en-US" dirty="0">
                <a:solidFill>
                  <a:srgbClr val="0070C0"/>
                </a:solidFill>
              </a:rPr>
              <a:t>critically inspected for cleanliness</a:t>
            </a:r>
          </a:p>
          <a:p>
            <a:pPr lvl="0" algn="just"/>
            <a:r>
              <a:rPr lang="en-US" dirty="0"/>
              <a:t>Hinges on devices, such as artery forceps and clamps, should </a:t>
            </a:r>
            <a:r>
              <a:rPr lang="en-US" dirty="0">
                <a:solidFill>
                  <a:srgbClr val="0070C0"/>
                </a:solidFill>
              </a:rPr>
              <a:t>be checked for ease of movement</a:t>
            </a:r>
          </a:p>
          <a:p>
            <a:pPr lvl="0" algn="just"/>
            <a:r>
              <a:rPr lang="en-US" dirty="0"/>
              <a:t>Jaws and teeth should be checked </a:t>
            </a:r>
            <a:r>
              <a:rPr lang="en-US" dirty="0">
                <a:solidFill>
                  <a:srgbClr val="0070C0"/>
                </a:solidFill>
              </a:rPr>
              <a:t>for alignment</a:t>
            </a:r>
          </a:p>
          <a:p>
            <a:pPr lvl="0" algn="just"/>
            <a:r>
              <a:rPr lang="en-US" dirty="0"/>
              <a:t>Ratchets should be checked </a:t>
            </a:r>
            <a:r>
              <a:rPr lang="en-US" dirty="0">
                <a:solidFill>
                  <a:srgbClr val="0070C0"/>
                </a:solidFill>
              </a:rPr>
              <a:t>for </a:t>
            </a:r>
            <a:r>
              <a:rPr lang="en-US" dirty="0" smtClean="0">
                <a:solidFill>
                  <a:srgbClr val="0070C0"/>
                </a:solidFill>
              </a:rPr>
              <a:t>security</a:t>
            </a:r>
          </a:p>
          <a:p>
            <a:pPr algn="just"/>
            <a:r>
              <a:rPr lang="en-US" dirty="0"/>
              <a:t>Multi-part instruments should be </a:t>
            </a:r>
            <a:r>
              <a:rPr lang="en-US" dirty="0">
                <a:solidFill>
                  <a:srgbClr val="0070C0"/>
                </a:solidFill>
              </a:rPr>
              <a:t>assembled to ensure </a:t>
            </a:r>
            <a:r>
              <a:rPr lang="en-US" dirty="0"/>
              <a:t>that all parts are complete and working</a:t>
            </a:r>
          </a:p>
          <a:p>
            <a:pPr lvl="0" algn="just"/>
            <a:endParaRPr lang="en-US" dirty="0"/>
          </a:p>
        </p:txBody>
      </p:sp>
    </p:spTree>
    <p:extLst>
      <p:ext uri="{BB962C8B-B14F-4D97-AF65-F5344CB8AC3E}">
        <p14:creationId xmlns:p14="http://schemas.microsoft.com/office/powerpoint/2010/main" val="3009412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88426"/>
          </a:xfrm>
        </p:spPr>
        <p:txBody>
          <a:bodyPr/>
          <a:lstStyle/>
          <a:p>
            <a:r>
              <a:rPr lang="en-US" sz="4400" dirty="0" smtClean="0"/>
              <a:t>Inspection and function testing (post-cleaning) cont’d… </a:t>
            </a:r>
            <a:endParaRPr lang="en-US" sz="4400" dirty="0"/>
          </a:p>
        </p:txBody>
      </p:sp>
      <p:sp>
        <p:nvSpPr>
          <p:cNvPr id="3" name="Content Placeholder 2"/>
          <p:cNvSpPr>
            <a:spLocks noGrp="1"/>
          </p:cNvSpPr>
          <p:nvPr>
            <p:ph idx="1"/>
          </p:nvPr>
        </p:nvSpPr>
        <p:spPr>
          <a:xfrm>
            <a:off x="762000" y="2490135"/>
            <a:ext cx="7213601" cy="3758265"/>
          </a:xfrm>
        </p:spPr>
        <p:txBody>
          <a:bodyPr>
            <a:normAutofit fontScale="70000" lnSpcReduction="20000"/>
          </a:bodyPr>
          <a:lstStyle/>
          <a:p>
            <a:pPr lvl="0" algn="just"/>
            <a:r>
              <a:rPr lang="en-US" dirty="0" smtClean="0"/>
              <a:t>Multi-part </a:t>
            </a:r>
            <a:r>
              <a:rPr lang="en-US" dirty="0"/>
              <a:t>instruments should be assembled or disassembled for sterilization per manufacturers’ instructions.</a:t>
            </a:r>
          </a:p>
          <a:p>
            <a:pPr lvl="0" algn="just"/>
            <a:r>
              <a:rPr lang="en-US" dirty="0"/>
              <a:t>Any damaged, incomplete or malfunctioning devices should be reported immediately to the supervisor.</a:t>
            </a:r>
          </a:p>
          <a:p>
            <a:pPr lvl="0" algn="just"/>
            <a:r>
              <a:rPr lang="en-US" dirty="0"/>
              <a:t>Cutting edges on devices, such as scissors, </a:t>
            </a:r>
            <a:r>
              <a:rPr lang="en-US" dirty="0" err="1"/>
              <a:t>rongeurs</a:t>
            </a:r>
            <a:r>
              <a:rPr lang="en-US" dirty="0"/>
              <a:t>, chisels and curettes, should be checked for sharpness.</a:t>
            </a:r>
          </a:p>
          <a:p>
            <a:pPr lvl="0" algn="just"/>
            <a:r>
              <a:rPr lang="en-US" dirty="0"/>
              <a:t>Hinges on devices, such as artery forceps and clamps, should be checked for ease of movement.</a:t>
            </a:r>
          </a:p>
          <a:p>
            <a:pPr lvl="0" algn="just"/>
            <a:r>
              <a:rPr lang="en-US" dirty="0"/>
              <a:t>Each device should be checked after each cleaning cycle to ensure that all screws on jointed devices are tight and have not become loose during the cleaning process</a:t>
            </a:r>
            <a:r>
              <a:rPr lang="en-US" dirty="0" smtClean="0"/>
              <a:t>.</a:t>
            </a:r>
            <a:endParaRPr lang="en-US" dirty="0"/>
          </a:p>
        </p:txBody>
      </p:sp>
    </p:spTree>
    <p:extLst>
      <p:ext uri="{BB962C8B-B14F-4D97-AF65-F5344CB8AC3E}">
        <p14:creationId xmlns:p14="http://schemas.microsoft.com/office/powerpoint/2010/main" val="3009412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Packing and wrapping for steam sterilization</a:t>
            </a:r>
            <a:endParaRPr lang="en-US" dirty="0"/>
          </a:p>
        </p:txBody>
      </p:sp>
      <p:sp>
        <p:nvSpPr>
          <p:cNvPr id="3" name="Content Placeholder 2"/>
          <p:cNvSpPr>
            <a:spLocks noGrp="1"/>
          </p:cNvSpPr>
          <p:nvPr>
            <p:ph idx="1"/>
          </p:nvPr>
        </p:nvSpPr>
        <p:spPr>
          <a:xfrm>
            <a:off x="685800" y="2490135"/>
            <a:ext cx="7772400" cy="3758265"/>
          </a:xfrm>
        </p:spPr>
        <p:txBody>
          <a:bodyPr>
            <a:normAutofit fontScale="77500" lnSpcReduction="20000"/>
          </a:bodyPr>
          <a:lstStyle/>
          <a:p>
            <a:r>
              <a:rPr lang="en-US" dirty="0"/>
              <a:t>Wrapping items to be sterilized permit sterile items to be handled and stored without being contaminated </a:t>
            </a:r>
          </a:p>
          <a:p>
            <a:r>
              <a:rPr lang="en-US" dirty="0"/>
              <a:t>Materials used for wrappers should:</a:t>
            </a:r>
          </a:p>
          <a:p>
            <a:pPr lvl="1"/>
            <a:r>
              <a:rPr lang="en-US" dirty="0"/>
              <a:t>Allow air removal and steam penetration</a:t>
            </a:r>
          </a:p>
          <a:p>
            <a:pPr lvl="1"/>
            <a:r>
              <a:rPr lang="en-US" dirty="0"/>
              <a:t>Act as a barrier to microorganisms and fluids</a:t>
            </a:r>
          </a:p>
          <a:p>
            <a:pPr lvl="1"/>
            <a:r>
              <a:rPr lang="en-US" dirty="0"/>
              <a:t>Capable of withstanding high temperatures </a:t>
            </a:r>
          </a:p>
          <a:p>
            <a:pPr lvl="1"/>
            <a:r>
              <a:rPr lang="en-US" dirty="0"/>
              <a:t>Resist tears and punctures and be free of holes</a:t>
            </a:r>
          </a:p>
          <a:p>
            <a:pPr lvl="1"/>
            <a:r>
              <a:rPr lang="en-US" dirty="0"/>
              <a:t>Be nontoxic and low-lint</a:t>
            </a:r>
          </a:p>
          <a:p>
            <a:pPr lvl="1"/>
            <a:r>
              <a:rPr lang="en-US" dirty="0"/>
              <a:t>Not be costly</a:t>
            </a:r>
          </a:p>
          <a:p>
            <a:endParaRPr lang="en-US" dirty="0"/>
          </a:p>
        </p:txBody>
      </p:sp>
    </p:spTree>
    <p:extLst>
      <p:ext uri="{BB962C8B-B14F-4D97-AF65-F5344CB8AC3E}">
        <p14:creationId xmlns:p14="http://schemas.microsoft.com/office/powerpoint/2010/main" val="1281960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5" y="991537"/>
            <a:ext cx="6798735" cy="989663"/>
          </a:xfrm>
        </p:spPr>
        <p:txBody>
          <a:bodyPr>
            <a:normAutofit fontScale="90000"/>
          </a:bodyPr>
          <a:lstStyle/>
          <a:p>
            <a:r>
              <a:rPr lang="en-US" b="1" dirty="0"/>
              <a:t>Typical Wrapping </a:t>
            </a:r>
            <a:r>
              <a:rPr lang="en-US" b="1" dirty="0" smtClean="0"/>
              <a:t>Techniques</a:t>
            </a:r>
            <a:br>
              <a:rPr lang="en-US" b="1" dirty="0" smtClean="0"/>
            </a:br>
            <a:endParaRPr lang="en-US" b="1"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76400"/>
            <a:ext cx="6705600" cy="4648200"/>
          </a:xfrm>
          <a:prstGeom prst="rect">
            <a:avLst/>
          </a:prstGeom>
          <a:noFill/>
        </p:spPr>
      </p:pic>
    </p:spTree>
    <p:extLst>
      <p:ext uri="{BB962C8B-B14F-4D97-AF65-F5344CB8AC3E}">
        <p14:creationId xmlns:p14="http://schemas.microsoft.com/office/powerpoint/2010/main" val="18218512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Tips for </a:t>
            </a:r>
            <a:r>
              <a:rPr lang="en-US" dirty="0" smtClean="0"/>
              <a:t>wrapping</a:t>
            </a:r>
            <a:endParaRPr lang="en-US" dirty="0"/>
          </a:p>
        </p:txBody>
      </p:sp>
      <p:sp>
        <p:nvSpPr>
          <p:cNvPr id="4" name="Content Placeholder 3"/>
          <p:cNvSpPr>
            <a:spLocks noGrp="1"/>
          </p:cNvSpPr>
          <p:nvPr>
            <p:ph idx="1"/>
          </p:nvPr>
        </p:nvSpPr>
        <p:spPr>
          <a:xfrm>
            <a:off x="685800" y="2438400"/>
            <a:ext cx="7772400" cy="3886199"/>
          </a:xfrm>
        </p:spPr>
        <p:txBody>
          <a:bodyPr>
            <a:normAutofit fontScale="47500" lnSpcReduction="20000"/>
          </a:bodyPr>
          <a:lstStyle/>
          <a:p>
            <a:pPr lvl="0"/>
            <a:r>
              <a:rPr lang="en-US" sz="4300" dirty="0"/>
              <a:t>At least two layers of wrapping should always be used to reduce the possibility of contaminating the contents during unwrapping.</a:t>
            </a:r>
          </a:p>
          <a:p>
            <a:pPr lvl="0"/>
            <a:r>
              <a:rPr lang="en-US" sz="4300" dirty="0"/>
              <a:t>Do not wrap packages too tightly. </a:t>
            </a:r>
          </a:p>
          <a:p>
            <a:pPr lvl="1"/>
            <a:r>
              <a:rPr lang="en-US" sz="3700" dirty="0"/>
              <a:t>If they are wrapped too tightly, air can become trapped at the center of the packages preventing the temperature from getting high enough to kill all the microorganisms. </a:t>
            </a:r>
          </a:p>
          <a:p>
            <a:pPr lvl="1"/>
            <a:r>
              <a:rPr lang="en-US" sz="3700" dirty="0"/>
              <a:t>Also, wrapping with strings or rubber bands or tying linen too tightly can prevent steam from reaching all surfaces.</a:t>
            </a:r>
          </a:p>
          <a:p>
            <a:pPr lvl="0"/>
            <a:r>
              <a:rPr lang="en-US" sz="4300" dirty="0"/>
              <a:t>Hemmed strips of about ½ inch wide and of varied </a:t>
            </a:r>
            <a:r>
              <a:rPr lang="en-US" sz="4300" dirty="0" smtClean="0"/>
              <a:t>lengths., one </a:t>
            </a:r>
            <a:r>
              <a:rPr lang="en-US" sz="4300" dirty="0"/>
              <a:t>or two of such strips can be used for each package. </a:t>
            </a:r>
            <a:endParaRPr lang="en-US" sz="4300" dirty="0" smtClean="0"/>
          </a:p>
          <a:p>
            <a:pPr lvl="0"/>
            <a:r>
              <a:rPr lang="en-US" sz="4300" dirty="0" smtClean="0"/>
              <a:t>Because </a:t>
            </a:r>
            <a:r>
              <a:rPr lang="en-US" sz="4300" dirty="0"/>
              <a:t>they can fit to almost any size of package, they eliminate the need for an expensive and hard-to-remove indicator tape</a:t>
            </a:r>
            <a:r>
              <a:rPr lang="en-US" sz="4300" dirty="0" smtClean="0"/>
              <a:t>.</a:t>
            </a:r>
            <a:endParaRPr lang="en-US" sz="4300" dirty="0"/>
          </a:p>
        </p:txBody>
      </p:sp>
    </p:spTree>
    <p:extLst>
      <p:ext uri="{BB962C8B-B14F-4D97-AF65-F5344CB8AC3E}">
        <p14:creationId xmlns:p14="http://schemas.microsoft.com/office/powerpoint/2010/main" val="9253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Tips for </a:t>
            </a:r>
            <a:r>
              <a:rPr lang="en-US" dirty="0" smtClean="0"/>
              <a:t>wrapping cont’d…</a:t>
            </a:r>
            <a:endParaRPr lang="en-US" dirty="0"/>
          </a:p>
        </p:txBody>
      </p:sp>
      <p:sp>
        <p:nvSpPr>
          <p:cNvPr id="4" name="Content Placeholder 3"/>
          <p:cNvSpPr>
            <a:spLocks noGrp="1"/>
          </p:cNvSpPr>
          <p:nvPr>
            <p:ph idx="1"/>
          </p:nvPr>
        </p:nvSpPr>
        <p:spPr>
          <a:xfrm>
            <a:off x="685800" y="2438401"/>
            <a:ext cx="7772400" cy="3733800"/>
          </a:xfrm>
        </p:spPr>
        <p:txBody>
          <a:bodyPr>
            <a:normAutofit fontScale="55000" lnSpcReduction="20000"/>
          </a:bodyPr>
          <a:lstStyle/>
          <a:p>
            <a:pPr lvl="0"/>
            <a:r>
              <a:rPr lang="en-US" sz="4300" dirty="0" smtClean="0"/>
              <a:t>The </a:t>
            </a:r>
            <a:r>
              <a:rPr lang="en-US" sz="4300" dirty="0"/>
              <a:t>outer wrapper of the pack can be loosely secured using linen ties. </a:t>
            </a:r>
          </a:p>
          <a:p>
            <a:pPr lvl="0"/>
            <a:r>
              <a:rPr lang="en-US" sz="4300" dirty="0"/>
              <a:t>Packs can be secured with </a:t>
            </a:r>
            <a:r>
              <a:rPr lang="en-US" sz="4300" b="1" dirty="0"/>
              <a:t>linen ties made from the same cloth. </a:t>
            </a:r>
          </a:p>
          <a:p>
            <a:pPr lvl="0"/>
            <a:r>
              <a:rPr lang="en-US" sz="4300" b="1" dirty="0"/>
              <a:t>Do  not  </a:t>
            </a:r>
            <a:r>
              <a:rPr lang="en-US" sz="4300" dirty="0"/>
              <a:t>wrap  items  in  </a:t>
            </a:r>
            <a:r>
              <a:rPr lang="en-US" sz="4300" b="1" dirty="0"/>
              <a:t>any  waterproof  </a:t>
            </a:r>
            <a:r>
              <a:rPr lang="en-US" sz="4300" dirty="0"/>
              <a:t>material  such  as  plastic  or  canvas  for  </a:t>
            </a:r>
            <a:r>
              <a:rPr lang="en-US" sz="4300" b="1" dirty="0"/>
              <a:t>steam sterilization </a:t>
            </a:r>
            <a:r>
              <a:rPr lang="en-US" sz="4300" dirty="0"/>
              <a:t>as the steam cannot penetrate the material and leave the item unsterilized.</a:t>
            </a:r>
          </a:p>
          <a:p>
            <a:pPr lvl="0"/>
            <a:r>
              <a:rPr lang="en-US" sz="4300" dirty="0"/>
              <a:t>Wrappers should not be reused if they are </a:t>
            </a:r>
            <a:r>
              <a:rPr lang="en-US" sz="4300" b="1" dirty="0"/>
              <a:t>torn, stained with oils</a:t>
            </a:r>
            <a:r>
              <a:rPr lang="en-US" sz="4300" dirty="0"/>
              <a:t> or </a:t>
            </a:r>
            <a:r>
              <a:rPr lang="en-US" sz="4300" b="1" dirty="0"/>
              <a:t>have hard </a:t>
            </a:r>
            <a:r>
              <a:rPr lang="en-US" sz="4300" dirty="0"/>
              <a:t>or gummy deposits.</a:t>
            </a:r>
          </a:p>
          <a:p>
            <a:endParaRPr lang="en-US" dirty="0"/>
          </a:p>
        </p:txBody>
      </p:sp>
    </p:spTree>
    <p:extLst>
      <p:ext uri="{BB962C8B-B14F-4D97-AF65-F5344CB8AC3E}">
        <p14:creationId xmlns:p14="http://schemas.microsoft.com/office/powerpoint/2010/main" val="9253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Packing and wrapping for dry heat sterilization</a:t>
            </a:r>
            <a:endParaRPr lang="en-US" dirty="0"/>
          </a:p>
        </p:txBody>
      </p:sp>
      <p:sp>
        <p:nvSpPr>
          <p:cNvPr id="3" name="Content Placeholder 2"/>
          <p:cNvSpPr>
            <a:spLocks noGrp="1"/>
          </p:cNvSpPr>
          <p:nvPr>
            <p:ph idx="1"/>
          </p:nvPr>
        </p:nvSpPr>
        <p:spPr>
          <a:xfrm>
            <a:off x="685800" y="2362200"/>
            <a:ext cx="7772400" cy="4139265"/>
          </a:xfrm>
        </p:spPr>
        <p:txBody>
          <a:bodyPr>
            <a:normAutofit fontScale="70000" lnSpcReduction="20000"/>
          </a:bodyPr>
          <a:lstStyle/>
          <a:p>
            <a:pPr lvl="0" algn="just"/>
            <a:r>
              <a:rPr lang="en-US" dirty="0"/>
              <a:t>Packaging materials for dry-heat sterilization should </a:t>
            </a:r>
            <a:endParaRPr lang="en-US" dirty="0" smtClean="0"/>
          </a:p>
          <a:p>
            <a:pPr lvl="1" algn="just"/>
            <a:r>
              <a:rPr lang="en-US" dirty="0"/>
              <a:t>A</a:t>
            </a:r>
            <a:r>
              <a:rPr lang="en-US" dirty="0" smtClean="0"/>
              <a:t>llow easy </a:t>
            </a:r>
            <a:r>
              <a:rPr lang="en-US" dirty="0"/>
              <a:t>heat penetration, </a:t>
            </a:r>
            <a:endParaRPr lang="en-US" dirty="0" smtClean="0"/>
          </a:p>
          <a:p>
            <a:pPr lvl="1" algn="just"/>
            <a:r>
              <a:rPr lang="en-US" dirty="0" smtClean="0"/>
              <a:t>Provide </a:t>
            </a:r>
            <a:r>
              <a:rPr lang="en-US" dirty="0"/>
              <a:t>an adequate barrier to microorganisms after sterilization, </a:t>
            </a:r>
            <a:endParaRPr lang="en-US" dirty="0" smtClean="0"/>
          </a:p>
          <a:p>
            <a:pPr lvl="1" algn="just"/>
            <a:r>
              <a:rPr lang="en-US" dirty="0" smtClean="0"/>
              <a:t>Resist </a:t>
            </a:r>
            <a:r>
              <a:rPr lang="en-US" dirty="0"/>
              <a:t>tearing or puncturing before and after sterilization, </a:t>
            </a:r>
            <a:endParaRPr lang="en-US" dirty="0" smtClean="0"/>
          </a:p>
          <a:p>
            <a:pPr lvl="1" algn="just"/>
            <a:r>
              <a:rPr lang="en-US" dirty="0" smtClean="0"/>
              <a:t>Have </a:t>
            </a:r>
            <a:r>
              <a:rPr lang="en-US" dirty="0"/>
              <a:t>proven seal integrity, </a:t>
            </a:r>
            <a:endParaRPr lang="en-US" dirty="0" smtClean="0"/>
          </a:p>
          <a:p>
            <a:pPr lvl="1" algn="just"/>
            <a:r>
              <a:rPr lang="en-US" dirty="0" smtClean="0"/>
              <a:t>Allow </a:t>
            </a:r>
            <a:r>
              <a:rPr lang="en-US" dirty="0"/>
              <a:t>for ease of aseptic presentation, </a:t>
            </a:r>
            <a:endParaRPr lang="en-US" dirty="0" smtClean="0"/>
          </a:p>
          <a:p>
            <a:pPr lvl="1" algn="just"/>
            <a:r>
              <a:rPr lang="en-US" dirty="0" smtClean="0"/>
              <a:t>Be </a:t>
            </a:r>
            <a:r>
              <a:rPr lang="en-US" dirty="0"/>
              <a:t>free of toxic ingredients, </a:t>
            </a:r>
            <a:endParaRPr lang="en-US" dirty="0" smtClean="0"/>
          </a:p>
          <a:p>
            <a:pPr lvl="1" algn="just"/>
            <a:r>
              <a:rPr lang="en-US" dirty="0" smtClean="0"/>
              <a:t>Be </a:t>
            </a:r>
            <a:r>
              <a:rPr lang="en-US" dirty="0"/>
              <a:t>low-</a:t>
            </a:r>
            <a:r>
              <a:rPr lang="en-US" dirty="0" err="1"/>
              <a:t>linting</a:t>
            </a:r>
            <a:r>
              <a:rPr lang="en-US" dirty="0"/>
              <a:t> or lint-free, and </a:t>
            </a:r>
            <a:endParaRPr lang="en-US" dirty="0" smtClean="0"/>
          </a:p>
          <a:p>
            <a:pPr lvl="1" algn="just"/>
            <a:r>
              <a:rPr lang="en-US" dirty="0" smtClean="0"/>
              <a:t>Be </a:t>
            </a:r>
            <a:r>
              <a:rPr lang="en-US" dirty="0"/>
              <a:t>cost-effective and readily available. </a:t>
            </a:r>
            <a:endParaRPr lang="en-US" dirty="0" smtClean="0"/>
          </a:p>
          <a:p>
            <a:pPr lvl="1" algn="just"/>
            <a:r>
              <a:rPr lang="en-US" dirty="0" smtClean="0"/>
              <a:t>The </a:t>
            </a:r>
            <a:r>
              <a:rPr lang="en-US" dirty="0"/>
              <a:t>material should have been approved for use with dry-heat sterilization. </a:t>
            </a:r>
          </a:p>
          <a:p>
            <a:pPr lvl="1" algn="just"/>
            <a:endParaRPr lang="en-US" dirty="0"/>
          </a:p>
        </p:txBody>
      </p:sp>
    </p:spTree>
    <p:extLst>
      <p:ext uri="{BB962C8B-B14F-4D97-AF65-F5344CB8AC3E}">
        <p14:creationId xmlns:p14="http://schemas.microsoft.com/office/powerpoint/2010/main" val="18939418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dirty="0" smtClean="0"/>
              <a:t/>
            </a:r>
            <a:br>
              <a:rPr lang="en-US" dirty="0" smtClean="0"/>
            </a:br>
            <a:r>
              <a:rPr lang="en-US" sz="5300" b="1" dirty="0" smtClean="0"/>
              <a:t>PPP 8.5: </a:t>
            </a:r>
            <a:br>
              <a:rPr lang="en-US" sz="5300" b="1" dirty="0" smtClean="0"/>
            </a:br>
            <a:r>
              <a:rPr lang="en-US" sz="5300" b="1" dirty="0"/>
              <a:t>Description of  Steps in Processing </a:t>
            </a:r>
            <a:r>
              <a:rPr lang="en-US" sz="5300" b="1" dirty="0" smtClean="0"/>
              <a:t>Items </a:t>
            </a:r>
            <a:endParaRPr lang="en-US" b="1" dirty="0"/>
          </a:p>
        </p:txBody>
      </p:sp>
      <p:sp>
        <p:nvSpPr>
          <p:cNvPr id="6" name="Text Placeholder 5"/>
          <p:cNvSpPr>
            <a:spLocks noGrp="1"/>
          </p:cNvSpPr>
          <p:nvPr>
            <p:ph type="body" idx="1"/>
          </p:nvPr>
        </p:nvSpPr>
        <p:spPr/>
        <p:txBody>
          <a:bodyPr>
            <a:normAutofit fontScale="85000" lnSpcReduction="10000"/>
          </a:bodyPr>
          <a:lstStyle/>
          <a:p>
            <a:r>
              <a:rPr lang="en-US" sz="5400" b="1" dirty="0" smtClean="0"/>
              <a:t>High </a:t>
            </a:r>
            <a:r>
              <a:rPr lang="en-US" sz="5400" b="1" dirty="0"/>
              <a:t>L</a:t>
            </a:r>
            <a:r>
              <a:rPr lang="en-US" sz="5400" b="1" dirty="0" smtClean="0"/>
              <a:t>evel Disinfection</a:t>
            </a:r>
            <a:endParaRPr lang="en-US" sz="5400" b="1" dirty="0"/>
          </a:p>
        </p:txBody>
      </p:sp>
    </p:spTree>
    <p:extLst>
      <p:ext uri="{BB962C8B-B14F-4D97-AF65-F5344CB8AC3E}">
        <p14:creationId xmlns:p14="http://schemas.microsoft.com/office/powerpoint/2010/main" val="2052835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level disinfection</a:t>
            </a:r>
            <a:endParaRPr lang="en-US" dirty="0"/>
          </a:p>
        </p:txBody>
      </p:sp>
      <p:sp>
        <p:nvSpPr>
          <p:cNvPr id="3" name="Content Placeholder 2"/>
          <p:cNvSpPr>
            <a:spLocks noGrp="1"/>
          </p:cNvSpPr>
          <p:nvPr>
            <p:ph idx="1"/>
          </p:nvPr>
        </p:nvSpPr>
        <p:spPr>
          <a:xfrm>
            <a:off x="685800" y="2438400"/>
            <a:ext cx="7772400" cy="4038600"/>
          </a:xfrm>
        </p:spPr>
        <p:txBody>
          <a:bodyPr>
            <a:normAutofit fontScale="62500" lnSpcReduction="20000"/>
          </a:bodyPr>
          <a:lstStyle/>
          <a:p>
            <a:pPr lvl="0"/>
            <a:r>
              <a:rPr lang="en-US" dirty="0"/>
              <a:t>Sterilization is the safest and most effective method for the reprocessing of surgical instruments because it kills all vegetative microorganisms and microbial spores. </a:t>
            </a:r>
          </a:p>
          <a:p>
            <a:pPr lvl="0"/>
            <a:r>
              <a:rPr lang="en-US" dirty="0"/>
              <a:t>However, sterilization is not always suitable because some materials cannot with-stand the high temperatures used during the sterilization process and sterilization may not be consistently available in some low-resource settings.</a:t>
            </a:r>
          </a:p>
          <a:p>
            <a:pPr lvl="0"/>
            <a:r>
              <a:rPr lang="en-US" dirty="0"/>
              <a:t>Per the Spaulding classification, devices that come in contact with intact skin are classified as non-critical items and should be processed by intermediate- or low-level disinfection. </a:t>
            </a:r>
          </a:p>
          <a:p>
            <a:pPr lvl="0"/>
            <a:r>
              <a:rPr lang="en-US" dirty="0"/>
              <a:t>Surgical instruments and medical devices that come in contact with non-intact skin or mucous membranes (classified as semi-critical devices) must, at a minimum, be high level disinfected, though sterilization is always preferable when possible.</a:t>
            </a:r>
          </a:p>
          <a:p>
            <a:endParaRPr lang="en-US" dirty="0"/>
          </a:p>
        </p:txBody>
      </p:sp>
    </p:spTree>
    <p:extLst>
      <p:ext uri="{BB962C8B-B14F-4D97-AF65-F5344CB8AC3E}">
        <p14:creationId xmlns:p14="http://schemas.microsoft.com/office/powerpoint/2010/main" val="1669555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level </a:t>
            </a:r>
            <a:r>
              <a:rPr lang="en-US" dirty="0" smtClean="0"/>
              <a:t>disinfection cont’d…</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Destroys all microorganisms including HBV, HCV, and HIV; does not reliably kill all bacterial endospores</a:t>
            </a:r>
          </a:p>
          <a:p>
            <a:pPr algn="just"/>
            <a:r>
              <a:rPr lang="en-US" b="1" dirty="0" smtClean="0"/>
              <a:t>High-level disinfection can be achieved by:</a:t>
            </a:r>
            <a:endParaRPr lang="en-US" dirty="0" smtClean="0"/>
          </a:p>
          <a:p>
            <a:pPr lvl="1" algn="just"/>
            <a:r>
              <a:rPr lang="en-US" dirty="0" smtClean="0"/>
              <a:t>Pasteurization</a:t>
            </a:r>
            <a:r>
              <a:rPr lang="en-US" dirty="0"/>
              <a:t>/ Boiling in water,</a:t>
            </a:r>
          </a:p>
          <a:p>
            <a:pPr lvl="1" algn="just"/>
            <a:r>
              <a:rPr lang="en-US" dirty="0"/>
              <a:t>Steaming</a:t>
            </a:r>
          </a:p>
          <a:p>
            <a:pPr lvl="1" algn="just"/>
            <a:r>
              <a:rPr lang="en-US" dirty="0"/>
              <a:t>Soaking instruments in chemical disinfectants (chemical disinfection).</a:t>
            </a:r>
          </a:p>
          <a:p>
            <a:pPr algn="just"/>
            <a:endParaRPr lang="en-US" dirty="0"/>
          </a:p>
        </p:txBody>
      </p:sp>
    </p:spTree>
    <p:extLst>
      <p:ext uri="{BB962C8B-B14F-4D97-AF65-F5344CB8AC3E}">
        <p14:creationId xmlns:p14="http://schemas.microsoft.com/office/powerpoint/2010/main" val="2851168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disinfection by boiling</a:t>
            </a:r>
            <a:endParaRPr lang="en-US" dirty="0"/>
          </a:p>
        </p:txBody>
      </p:sp>
      <p:sp>
        <p:nvSpPr>
          <p:cNvPr id="3" name="Content Placeholder 2"/>
          <p:cNvSpPr>
            <a:spLocks noGrp="1"/>
          </p:cNvSpPr>
          <p:nvPr>
            <p:ph idx="1"/>
          </p:nvPr>
        </p:nvSpPr>
        <p:spPr>
          <a:xfrm>
            <a:off x="762000" y="2490135"/>
            <a:ext cx="7620000" cy="3758265"/>
          </a:xfrm>
        </p:spPr>
        <p:txBody>
          <a:bodyPr>
            <a:normAutofit fontScale="70000" lnSpcReduction="20000"/>
          </a:bodyPr>
          <a:lstStyle/>
          <a:p>
            <a:pPr lvl="0" algn="just"/>
            <a:r>
              <a:rPr lang="en-US" b="1" i="1" dirty="0"/>
              <a:t>Pasteurization</a:t>
            </a:r>
            <a:r>
              <a:rPr lang="en-US" dirty="0"/>
              <a:t> can be used to achieve HLD of instruments and medical devices. It is carried out by heating at 77</a:t>
            </a:r>
            <a:r>
              <a:rPr lang="en-US" baseline="30000" dirty="0"/>
              <a:t>0</a:t>
            </a:r>
            <a:r>
              <a:rPr lang="en-US" dirty="0"/>
              <a:t>C (170.6</a:t>
            </a:r>
            <a:r>
              <a:rPr lang="en-US" baseline="30000" dirty="0"/>
              <a:t>0</a:t>
            </a:r>
            <a:r>
              <a:rPr lang="en-US" dirty="0"/>
              <a:t>F) for 30 minutes or boiling at 100</a:t>
            </a:r>
            <a:r>
              <a:rPr lang="en-US" baseline="30000" dirty="0"/>
              <a:t>0</a:t>
            </a:r>
            <a:r>
              <a:rPr lang="en-US" dirty="0"/>
              <a:t>C (212</a:t>
            </a:r>
            <a:r>
              <a:rPr lang="en-US" baseline="30000" dirty="0"/>
              <a:t>0</a:t>
            </a:r>
            <a:r>
              <a:rPr lang="en-US" dirty="0"/>
              <a:t>F) for 20 minutes.</a:t>
            </a:r>
          </a:p>
          <a:p>
            <a:pPr lvl="0" algn="just"/>
            <a:r>
              <a:rPr lang="en-US" b="1" i="1" dirty="0"/>
              <a:t>Boiling</a:t>
            </a:r>
            <a:r>
              <a:rPr lang="en-US" dirty="0"/>
              <a:t> has been a common practice for HLD of instruments and equipment used for semi-critical and sometimes critical procedures as it was the only available option in some low-income countries.</a:t>
            </a:r>
          </a:p>
          <a:p>
            <a:pPr lvl="0" algn="just"/>
            <a:r>
              <a:rPr lang="en-US" b="1" i="1" dirty="0"/>
              <a:t>Pasteurization/ Boiling</a:t>
            </a:r>
            <a:r>
              <a:rPr lang="en-US" dirty="0"/>
              <a:t> in water is an effective and practical way to high-level disinfect instruments and other items. Although boiling instruments in water for 20 minutes will kill all vegetative forms of bacteria, viruses (including HBV, HCV and HIV), yeasts and fungi; it will not kill all endospores reliably.</a:t>
            </a:r>
          </a:p>
          <a:p>
            <a:pPr algn="just"/>
            <a:endParaRPr lang="en-US" dirty="0"/>
          </a:p>
        </p:txBody>
      </p:sp>
    </p:spTree>
    <p:extLst>
      <p:ext uri="{BB962C8B-B14F-4D97-AF65-F5344CB8AC3E}">
        <p14:creationId xmlns:p14="http://schemas.microsoft.com/office/powerpoint/2010/main" val="3664109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for HLD by boiling</a:t>
            </a:r>
            <a:endParaRPr lang="en-US" dirty="0"/>
          </a:p>
        </p:txBody>
      </p:sp>
      <p:sp>
        <p:nvSpPr>
          <p:cNvPr id="3" name="Content Placeholder 2"/>
          <p:cNvSpPr>
            <a:spLocks noGrp="1"/>
          </p:cNvSpPr>
          <p:nvPr>
            <p:ph idx="1"/>
          </p:nvPr>
        </p:nvSpPr>
        <p:spPr>
          <a:xfrm>
            <a:off x="685800" y="2490135"/>
            <a:ext cx="7772400" cy="3834465"/>
          </a:xfrm>
        </p:spPr>
        <p:txBody>
          <a:bodyPr>
            <a:normAutofit fontScale="70000" lnSpcReduction="20000"/>
          </a:bodyPr>
          <a:lstStyle/>
          <a:p>
            <a:pPr algn="just"/>
            <a:r>
              <a:rPr lang="en-US" b="1" dirty="0"/>
              <a:t>STEP 1 </a:t>
            </a:r>
            <a:r>
              <a:rPr lang="en-US" dirty="0"/>
              <a:t>Clean all instruments along with other items to be high level disinfected.</a:t>
            </a:r>
          </a:p>
          <a:p>
            <a:pPr algn="just"/>
            <a:r>
              <a:rPr lang="en-US" b="1" dirty="0"/>
              <a:t>STEP 2 </a:t>
            </a:r>
            <a:r>
              <a:rPr lang="en-US" dirty="0"/>
              <a:t>If possible, completely immerse items in the water. Adjust the water level so that there is at least 2.5cm (1 inch) of water above the instruments. </a:t>
            </a:r>
          </a:p>
          <a:p>
            <a:pPr marL="284163" indent="0" algn="just">
              <a:buNone/>
            </a:pPr>
            <a:r>
              <a:rPr lang="en-US" dirty="0"/>
              <a:t>Further, make sure that all bowls and containers to be boiled are full of water. For example, one needs to empty bowls that turned bottom side up and float on the surface containing air pockets</a:t>
            </a:r>
            <a:r>
              <a:rPr lang="en-US" dirty="0" smtClean="0"/>
              <a:t>.</a:t>
            </a:r>
          </a:p>
          <a:p>
            <a:pPr marL="284163" lvl="0" indent="0" algn="just">
              <a:buNone/>
            </a:pPr>
            <a:r>
              <a:rPr lang="en-US" dirty="0"/>
              <a:t>Metal instruments should be completely covered with water during boiling</a:t>
            </a:r>
            <a:r>
              <a:rPr lang="en-US" dirty="0" smtClean="0"/>
              <a:t>.</a:t>
            </a:r>
            <a:endParaRPr lang="en-US" dirty="0"/>
          </a:p>
        </p:txBody>
      </p:sp>
    </p:spTree>
    <p:extLst>
      <p:ext uri="{BB962C8B-B14F-4D97-AF65-F5344CB8AC3E}">
        <p14:creationId xmlns:p14="http://schemas.microsoft.com/office/powerpoint/2010/main" val="1342174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for HLD by </a:t>
            </a:r>
            <a:r>
              <a:rPr lang="en-US" dirty="0" smtClean="0"/>
              <a:t>boiling cont’d…</a:t>
            </a:r>
            <a:endParaRPr lang="en-US" dirty="0"/>
          </a:p>
        </p:txBody>
      </p:sp>
      <p:sp>
        <p:nvSpPr>
          <p:cNvPr id="3" name="Content Placeholder 2"/>
          <p:cNvSpPr>
            <a:spLocks noGrp="1"/>
          </p:cNvSpPr>
          <p:nvPr>
            <p:ph idx="1"/>
          </p:nvPr>
        </p:nvSpPr>
        <p:spPr>
          <a:xfrm>
            <a:off x="685800" y="2490135"/>
            <a:ext cx="7772400" cy="3834465"/>
          </a:xfrm>
        </p:spPr>
        <p:txBody>
          <a:bodyPr>
            <a:normAutofit fontScale="70000" lnSpcReduction="20000"/>
          </a:bodyPr>
          <a:lstStyle/>
          <a:p>
            <a:pPr algn="just"/>
            <a:r>
              <a:rPr lang="en-US" b="1" smtClean="0"/>
              <a:t>STEP </a:t>
            </a:r>
            <a:r>
              <a:rPr lang="en-US" b="1" dirty="0"/>
              <a:t>3 </a:t>
            </a:r>
            <a:r>
              <a:rPr lang="en-US" dirty="0"/>
              <a:t>Close-lid over pan and bring water to a gentle rolling boil. Boiling too vigorously wastes fuel, rapidly evaporates the water and may damage delicate [or sharp] instruments or other items. </a:t>
            </a:r>
          </a:p>
          <a:p>
            <a:pPr marL="284163" indent="0" algn="just">
              <a:buNone/>
            </a:pPr>
            <a:r>
              <a:rPr lang="en-US" dirty="0"/>
              <a:t>Hence, a gentle rolling boil is sufficient and will prevent instruments  or  other  items  from  being  bounced  around  and  possibly  damaged  by striking other instruments or the side walls of the boiling pot.</a:t>
            </a:r>
          </a:p>
          <a:p>
            <a:pPr algn="just"/>
            <a:r>
              <a:rPr lang="en-US" b="1" dirty="0"/>
              <a:t>STEP 4  </a:t>
            </a:r>
            <a:r>
              <a:rPr lang="en-US" dirty="0"/>
              <a:t>Start timer. In the HLD log, note time on the clock and record the time when rolling boil begins</a:t>
            </a:r>
            <a:r>
              <a:rPr lang="en-US" dirty="0" smtClean="0"/>
              <a:t>.</a:t>
            </a:r>
          </a:p>
          <a:p>
            <a:pPr marL="284163" lvl="0" indent="0" algn="just">
              <a:buNone/>
            </a:pPr>
            <a:r>
              <a:rPr lang="en-US"/>
              <a:t>Do not add anything to the pot after timing begins.</a:t>
            </a:r>
          </a:p>
          <a:p>
            <a:pPr algn="just"/>
            <a:endParaRPr lang="en-US" dirty="0"/>
          </a:p>
        </p:txBody>
      </p:sp>
    </p:spTree>
    <p:extLst>
      <p:ext uri="{BB962C8B-B14F-4D97-AF65-F5344CB8AC3E}">
        <p14:creationId xmlns:p14="http://schemas.microsoft.com/office/powerpoint/2010/main" val="1342174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for HLD by boiling cont’d…</a:t>
            </a:r>
          </a:p>
        </p:txBody>
      </p:sp>
      <p:sp>
        <p:nvSpPr>
          <p:cNvPr id="3" name="Content Placeholder 2"/>
          <p:cNvSpPr>
            <a:spLocks noGrp="1"/>
          </p:cNvSpPr>
          <p:nvPr>
            <p:ph idx="1"/>
          </p:nvPr>
        </p:nvSpPr>
        <p:spPr>
          <a:xfrm>
            <a:off x="762000" y="2490135"/>
            <a:ext cx="7467600" cy="3758265"/>
          </a:xfrm>
        </p:spPr>
        <p:txBody>
          <a:bodyPr>
            <a:normAutofit fontScale="70000" lnSpcReduction="20000"/>
          </a:bodyPr>
          <a:lstStyle/>
          <a:p>
            <a:pPr algn="just"/>
            <a:r>
              <a:rPr lang="en-US" b="1" dirty="0" smtClean="0"/>
              <a:t>STEP </a:t>
            </a:r>
            <a:r>
              <a:rPr lang="en-US" b="1" dirty="0"/>
              <a:t>5 </a:t>
            </a:r>
            <a:r>
              <a:rPr lang="en-US" dirty="0"/>
              <a:t>Boil all items for the required time: 30 minute at 77</a:t>
            </a:r>
            <a:r>
              <a:rPr lang="en-US" baseline="30000" dirty="0"/>
              <a:t>0</a:t>
            </a:r>
            <a:r>
              <a:rPr lang="en-US" dirty="0"/>
              <a:t>C (170.6</a:t>
            </a:r>
            <a:r>
              <a:rPr lang="en-US" baseline="30000" dirty="0"/>
              <a:t>0</a:t>
            </a:r>
            <a:r>
              <a:rPr lang="en-US" dirty="0"/>
              <a:t>F) or 20 minutes at 100</a:t>
            </a:r>
            <a:r>
              <a:rPr lang="en-US" baseline="30000" dirty="0"/>
              <a:t>0</a:t>
            </a:r>
            <a:r>
              <a:rPr lang="en-US" dirty="0"/>
              <a:t>C (212</a:t>
            </a:r>
            <a:r>
              <a:rPr lang="en-US" baseline="30000" dirty="0"/>
              <a:t>0</a:t>
            </a:r>
            <a:r>
              <a:rPr lang="en-US" dirty="0"/>
              <a:t>F</a:t>
            </a:r>
            <a:r>
              <a:rPr lang="en-US" dirty="0" smtClean="0"/>
              <a:t>).</a:t>
            </a:r>
          </a:p>
          <a:p>
            <a:pPr marL="346075" indent="0" algn="just">
              <a:buNone/>
            </a:pPr>
            <a:r>
              <a:rPr lang="en-US" dirty="0"/>
              <a:t>Always boil for the required time period in a container with a </a:t>
            </a:r>
            <a:r>
              <a:rPr lang="en-US" dirty="0" smtClean="0"/>
              <a:t>lid.</a:t>
            </a:r>
          </a:p>
          <a:p>
            <a:pPr marL="346075" lvl="0" indent="0" algn="just">
              <a:buNone/>
            </a:pPr>
            <a:r>
              <a:rPr lang="en-US" dirty="0"/>
              <a:t>Start timing when the water begins to boil</a:t>
            </a:r>
            <a:r>
              <a:rPr lang="en-US" dirty="0" smtClean="0"/>
              <a:t>.</a:t>
            </a:r>
            <a:endParaRPr lang="en-US" dirty="0"/>
          </a:p>
          <a:p>
            <a:pPr algn="just"/>
            <a:r>
              <a:rPr lang="en-US" b="1" dirty="0"/>
              <a:t>STEP 6 </a:t>
            </a:r>
            <a:r>
              <a:rPr lang="en-US" dirty="0"/>
              <a:t>Remove all items after the recommended time with a high-level disinfected forceps. </a:t>
            </a:r>
            <a:endParaRPr lang="en-US" dirty="0" smtClean="0"/>
          </a:p>
          <a:p>
            <a:pPr marL="236538" indent="0" algn="just">
              <a:buNone/>
            </a:pPr>
            <a:r>
              <a:rPr lang="en-US" dirty="0"/>
              <a:t>Never leave boiled instruments in the water that has stopped boiling. Because, as the water cools and the steam condense, air and dust particles are drawn down into the container and may contaminate those instruments.</a:t>
            </a:r>
          </a:p>
          <a:p>
            <a:pPr algn="just"/>
            <a:endParaRPr lang="en-US" dirty="0"/>
          </a:p>
        </p:txBody>
      </p:sp>
    </p:spTree>
    <p:extLst>
      <p:ext uri="{BB962C8B-B14F-4D97-AF65-F5344CB8AC3E}">
        <p14:creationId xmlns:p14="http://schemas.microsoft.com/office/powerpoint/2010/main" val="13421747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for HLD by boiling cont’d…</a:t>
            </a:r>
          </a:p>
        </p:txBody>
      </p:sp>
      <p:sp>
        <p:nvSpPr>
          <p:cNvPr id="3" name="Content Placeholder 2"/>
          <p:cNvSpPr>
            <a:spLocks noGrp="1"/>
          </p:cNvSpPr>
          <p:nvPr>
            <p:ph idx="1"/>
          </p:nvPr>
        </p:nvSpPr>
        <p:spPr>
          <a:xfrm>
            <a:off x="1295400" y="2590800"/>
            <a:ext cx="6553200" cy="3301065"/>
          </a:xfrm>
        </p:spPr>
        <p:txBody>
          <a:bodyPr>
            <a:normAutofit fontScale="77500" lnSpcReduction="20000"/>
          </a:bodyPr>
          <a:lstStyle/>
          <a:p>
            <a:pPr algn="just"/>
            <a:r>
              <a:rPr lang="en-US" b="1" dirty="0" smtClean="0"/>
              <a:t>STEP </a:t>
            </a:r>
            <a:r>
              <a:rPr lang="en-US" b="1" dirty="0"/>
              <a:t>7  </a:t>
            </a:r>
            <a:r>
              <a:rPr lang="en-US" dirty="0"/>
              <a:t>Use instruments and other items immediately or else, pick them up with high-level disinfected forceps or gloves and place objects in a high-level disinfected container with a tight-fitting cover.  </a:t>
            </a:r>
          </a:p>
          <a:p>
            <a:pPr marL="284163" indent="0" algn="just">
              <a:buNone/>
            </a:pPr>
            <a:r>
              <a:rPr lang="en-US" dirty="0"/>
              <a:t>If any pooled water remains in the bottom of the container, remove the already dried items and place them in another high-level disinfected container that is dry and can be tightly covered.</a:t>
            </a:r>
          </a:p>
          <a:p>
            <a:pPr algn="just"/>
            <a:endParaRPr lang="en-US" dirty="0"/>
          </a:p>
        </p:txBody>
      </p:sp>
    </p:spTree>
    <p:extLst>
      <p:ext uri="{BB962C8B-B14F-4D97-AF65-F5344CB8AC3E}">
        <p14:creationId xmlns:p14="http://schemas.microsoft.com/office/powerpoint/2010/main" val="1342174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disinfection by steaming</a:t>
            </a:r>
            <a:endParaRPr lang="en-US" dirty="0"/>
          </a:p>
        </p:txBody>
      </p:sp>
      <p:sp>
        <p:nvSpPr>
          <p:cNvPr id="3" name="Content Placeholder 2"/>
          <p:cNvSpPr>
            <a:spLocks noGrp="1"/>
          </p:cNvSpPr>
          <p:nvPr>
            <p:ph idx="1"/>
          </p:nvPr>
        </p:nvSpPr>
        <p:spPr>
          <a:xfrm>
            <a:off x="685800" y="2490135"/>
            <a:ext cx="7772400" cy="3834465"/>
          </a:xfrm>
        </p:spPr>
        <p:txBody>
          <a:bodyPr>
            <a:normAutofit fontScale="70000" lnSpcReduction="20000"/>
          </a:bodyPr>
          <a:lstStyle/>
          <a:p>
            <a:pPr lvl="0" algn="just"/>
            <a:r>
              <a:rPr lang="en-US" dirty="0"/>
              <a:t>High-level disinfection by steaming is an option for plastic items used for patient care.</a:t>
            </a:r>
          </a:p>
          <a:p>
            <a:pPr algn="just"/>
            <a:r>
              <a:rPr lang="en-US" b="1" dirty="0"/>
              <a:t>Materials needed for high-level disinfection by steaming include:</a:t>
            </a:r>
            <a:endParaRPr lang="en-US" dirty="0"/>
          </a:p>
          <a:p>
            <a:pPr lvl="1" algn="just"/>
            <a:r>
              <a:rPr lang="en-US" dirty="0"/>
              <a:t>Steamer pan without holes to hold water (such as </a:t>
            </a:r>
            <a:r>
              <a:rPr lang="en-US" dirty="0" err="1"/>
              <a:t>momo</a:t>
            </a:r>
            <a:r>
              <a:rPr lang="en-US" dirty="0"/>
              <a:t> steamer) </a:t>
            </a:r>
          </a:p>
          <a:p>
            <a:pPr lvl="1" algn="just"/>
            <a:r>
              <a:rPr lang="en-US" dirty="0"/>
              <a:t>Two to three additional pans with holes to allow steam to move to upper pan </a:t>
            </a:r>
          </a:p>
          <a:p>
            <a:pPr lvl="1" algn="just"/>
            <a:r>
              <a:rPr lang="en-US" dirty="0"/>
              <a:t>The pans should be deep enough to fit the largest item being steamed</a:t>
            </a:r>
          </a:p>
          <a:p>
            <a:pPr lvl="1" algn="just"/>
            <a:r>
              <a:rPr lang="en-US" dirty="0"/>
              <a:t>A tight-fitting lid to cover the upper pan</a:t>
            </a:r>
          </a:p>
          <a:p>
            <a:pPr lvl="1" algn="just"/>
            <a:r>
              <a:rPr lang="en-US" dirty="0"/>
              <a:t>An additional bottom pan for drying the processed items</a:t>
            </a:r>
          </a:p>
          <a:p>
            <a:pPr lvl="1" algn="just"/>
            <a:endParaRPr lang="en-US" dirty="0"/>
          </a:p>
        </p:txBody>
      </p:sp>
    </p:spTree>
    <p:extLst>
      <p:ext uri="{BB962C8B-B14F-4D97-AF65-F5344CB8AC3E}">
        <p14:creationId xmlns:p14="http://schemas.microsoft.com/office/powerpoint/2010/main" val="40510412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for HLD by steaming</a:t>
            </a:r>
            <a:endParaRPr lang="en-US" dirty="0"/>
          </a:p>
        </p:txBody>
      </p:sp>
      <p:sp>
        <p:nvSpPr>
          <p:cNvPr id="3" name="Content Placeholder 2"/>
          <p:cNvSpPr>
            <a:spLocks noGrp="1"/>
          </p:cNvSpPr>
          <p:nvPr>
            <p:ph idx="1"/>
          </p:nvPr>
        </p:nvSpPr>
        <p:spPr>
          <a:xfrm>
            <a:off x="762000" y="2490135"/>
            <a:ext cx="7619999" cy="3682065"/>
          </a:xfrm>
        </p:spPr>
        <p:txBody>
          <a:bodyPr>
            <a:normAutofit lnSpcReduction="10000"/>
          </a:bodyPr>
          <a:lstStyle/>
          <a:p>
            <a:pPr algn="just"/>
            <a:r>
              <a:rPr lang="en-US" b="1" dirty="0"/>
              <a:t>STEP 1 </a:t>
            </a:r>
            <a:r>
              <a:rPr lang="en-US" dirty="0"/>
              <a:t>Perform hand hygiene and </a:t>
            </a:r>
          </a:p>
          <a:p>
            <a:pPr algn="just"/>
            <a:r>
              <a:rPr lang="en-US" b="1" dirty="0"/>
              <a:t>STEP 2 </a:t>
            </a:r>
            <a:r>
              <a:rPr lang="en-US" dirty="0"/>
              <a:t>Fill the bottom pan of the steamer with approximately 1 liter of clean water – about half the volume of the pan</a:t>
            </a:r>
          </a:p>
          <a:p>
            <a:pPr algn="just"/>
            <a:r>
              <a:rPr lang="en-US" b="1" dirty="0"/>
              <a:t>STEP 3 </a:t>
            </a:r>
            <a:r>
              <a:rPr lang="en-US" dirty="0"/>
              <a:t>Place instruments, plastic MVA cannula and other items in one of the steamer pans with holes in its </a:t>
            </a:r>
            <a:r>
              <a:rPr lang="en-US" dirty="0" smtClean="0"/>
              <a:t>bottom. </a:t>
            </a:r>
            <a:endParaRPr lang="en-US" dirty="0"/>
          </a:p>
        </p:txBody>
      </p:sp>
    </p:spTree>
    <p:extLst>
      <p:ext uri="{BB962C8B-B14F-4D97-AF65-F5344CB8AC3E}">
        <p14:creationId xmlns:p14="http://schemas.microsoft.com/office/powerpoint/2010/main" val="944364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b="1" dirty="0"/>
              <a:t>Steamer Used for HLD</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0134" y="2409126"/>
            <a:ext cx="4045266" cy="3915473"/>
          </a:xfrm>
          <a:prstGeom prst="rect">
            <a:avLst/>
          </a:prstGeom>
          <a:noFill/>
          <a:ln>
            <a:noFill/>
          </a:ln>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027696" y="3325031"/>
            <a:ext cx="3881314" cy="2049506"/>
          </a:xfrm>
          <a:prstGeom prst="rect">
            <a:avLst/>
          </a:prstGeom>
          <a:noFill/>
          <a:ln>
            <a:noFill/>
          </a:ln>
        </p:spPr>
      </p:pic>
    </p:spTree>
    <p:extLst>
      <p:ext uri="{BB962C8B-B14F-4D97-AF65-F5344CB8AC3E}">
        <p14:creationId xmlns:p14="http://schemas.microsoft.com/office/powerpoint/2010/main" val="7279235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Steamer Used for HLD</a:t>
            </a:r>
            <a:endParaRPr lang="en-US" dirty="0"/>
          </a:p>
        </p:txBody>
      </p:sp>
      <p:pic>
        <p:nvPicPr>
          <p:cNvPr id="3" name="Picture 3"/>
          <p:cNvPicPr>
            <a:picLocks noChangeArrowheads="1"/>
          </p:cNvPicPr>
          <p:nvPr/>
        </p:nvPicPr>
        <p:blipFill>
          <a:blip r:embed="rId2">
            <a:extLst>
              <a:ext uri="{28A0092B-C50C-407E-A947-70E740481C1C}">
                <a14:useLocalDpi xmlns:a14="http://schemas.microsoft.com/office/drawing/2010/main" val="0"/>
              </a:ext>
            </a:extLst>
          </a:blip>
          <a:srcRect l="19029" r="26289" b="31"/>
          <a:stretch>
            <a:fillRect/>
          </a:stretch>
        </p:blipFill>
        <p:spPr bwMode="auto">
          <a:xfrm>
            <a:off x="808038" y="2532456"/>
            <a:ext cx="3230562" cy="356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descr="CIIP-1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0707" y="2532456"/>
            <a:ext cx="4343400" cy="356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2054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for HLD by steaming</a:t>
            </a:r>
            <a:endParaRPr lang="en-US" dirty="0"/>
          </a:p>
        </p:txBody>
      </p:sp>
      <p:sp>
        <p:nvSpPr>
          <p:cNvPr id="3" name="Content Placeholder 2"/>
          <p:cNvSpPr>
            <a:spLocks noGrp="1"/>
          </p:cNvSpPr>
          <p:nvPr>
            <p:ph idx="1"/>
          </p:nvPr>
        </p:nvSpPr>
        <p:spPr>
          <a:xfrm>
            <a:off x="762000" y="2566335"/>
            <a:ext cx="7620000" cy="3529665"/>
          </a:xfrm>
        </p:spPr>
        <p:txBody>
          <a:bodyPr>
            <a:normAutofit fontScale="70000" lnSpcReduction="20000"/>
          </a:bodyPr>
          <a:lstStyle/>
          <a:p>
            <a:pPr marL="284163" indent="0" algn="just">
              <a:buNone/>
            </a:pPr>
            <a:r>
              <a:rPr lang="en-US" dirty="0" smtClean="0"/>
              <a:t>To </a:t>
            </a:r>
            <a:r>
              <a:rPr lang="en-US" dirty="0"/>
              <a:t>make removal from the pan easier, do not overfill the pan. </a:t>
            </a:r>
            <a:endParaRPr lang="en-US" dirty="0" smtClean="0"/>
          </a:p>
          <a:p>
            <a:pPr marL="284163" indent="0" algn="just">
              <a:buNone/>
            </a:pPr>
            <a:r>
              <a:rPr lang="en-US" dirty="0" smtClean="0"/>
              <a:t>Repeat </a:t>
            </a:r>
            <a:r>
              <a:rPr lang="en-US" dirty="0"/>
              <a:t>this process up until three steamer pans have been filled. Stack the filled steamer pans on top of a bottom pan containing water for boiling. A second empty pan without holes should be placed on the counter next to the heat source (</a:t>
            </a:r>
            <a:r>
              <a:rPr lang="en-US" b="1" dirty="0"/>
              <a:t>see Step 7)</a:t>
            </a:r>
            <a:endParaRPr lang="en-US" dirty="0"/>
          </a:p>
          <a:p>
            <a:pPr algn="just"/>
            <a:r>
              <a:rPr lang="en-US" b="1" dirty="0"/>
              <a:t>STEP 4 </a:t>
            </a:r>
            <a:r>
              <a:rPr lang="en-US" dirty="0"/>
              <a:t>Place a lid on the top pan and bring the water to a full rolling boil.</a:t>
            </a:r>
          </a:p>
          <a:p>
            <a:pPr marL="236538" indent="0" algn="just">
              <a:buNone/>
            </a:pPr>
            <a:r>
              <a:rPr lang="en-US" dirty="0"/>
              <a:t>It should be noted that when water only simmers, very little steam is formed and the temperature may not get high enough to kill microorganisms</a:t>
            </a:r>
            <a:r>
              <a:rPr lang="en-US" dirty="0" smtClean="0"/>
              <a:t>.</a:t>
            </a:r>
            <a:endParaRPr lang="en-US" dirty="0"/>
          </a:p>
        </p:txBody>
      </p:sp>
    </p:spTree>
    <p:extLst>
      <p:ext uri="{BB962C8B-B14F-4D97-AF65-F5344CB8AC3E}">
        <p14:creationId xmlns:p14="http://schemas.microsoft.com/office/powerpoint/2010/main" val="944364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for HLD by steaming</a:t>
            </a:r>
            <a:endParaRPr lang="en-US" dirty="0"/>
          </a:p>
        </p:txBody>
      </p:sp>
      <p:sp>
        <p:nvSpPr>
          <p:cNvPr id="3" name="Content Placeholder 2"/>
          <p:cNvSpPr>
            <a:spLocks noGrp="1"/>
          </p:cNvSpPr>
          <p:nvPr>
            <p:ph idx="1"/>
          </p:nvPr>
        </p:nvSpPr>
        <p:spPr>
          <a:xfrm>
            <a:off x="762000" y="2490135"/>
            <a:ext cx="7620000" cy="3682065"/>
          </a:xfrm>
        </p:spPr>
        <p:txBody>
          <a:bodyPr>
            <a:normAutofit fontScale="70000" lnSpcReduction="20000"/>
          </a:bodyPr>
          <a:lstStyle/>
          <a:p>
            <a:pPr algn="just"/>
            <a:r>
              <a:rPr lang="en-US" b="1" dirty="0" smtClean="0"/>
              <a:t>STEP </a:t>
            </a:r>
            <a:r>
              <a:rPr lang="en-US" b="1" dirty="0"/>
              <a:t>5 </a:t>
            </a:r>
            <a:r>
              <a:rPr lang="en-US" dirty="0"/>
              <a:t>When steam begins to come out between the pans and the lid, start the timer or note the time on a clock and record the time in the HLD log.</a:t>
            </a:r>
          </a:p>
          <a:p>
            <a:pPr algn="just"/>
            <a:r>
              <a:rPr lang="en-US" b="1" dirty="0"/>
              <a:t>STEP 6 </a:t>
            </a:r>
            <a:r>
              <a:rPr lang="en-US" dirty="0"/>
              <a:t>Steam items for 20 minutes.</a:t>
            </a:r>
          </a:p>
          <a:p>
            <a:pPr algn="just"/>
            <a:r>
              <a:rPr lang="en-US" b="1" dirty="0"/>
              <a:t>STEP 7 </a:t>
            </a:r>
            <a:r>
              <a:rPr lang="en-US" dirty="0"/>
              <a:t>Remove the top steamer pan and put the lid on the pan that was below it (the pan now on top). Gently shake excess water from the pan just removed.</a:t>
            </a:r>
          </a:p>
          <a:p>
            <a:pPr algn="just"/>
            <a:r>
              <a:rPr lang="en-US" b="1" dirty="0"/>
              <a:t>STEP 8 </a:t>
            </a:r>
            <a:r>
              <a:rPr lang="en-US" dirty="0"/>
              <a:t>Put the pan just removed onto the empty pan (</a:t>
            </a:r>
            <a:r>
              <a:rPr lang="en-US" b="1" dirty="0"/>
              <a:t>see Step 3</a:t>
            </a:r>
            <a:r>
              <a:rPr lang="en-US" dirty="0"/>
              <a:t>). Repeat until all pans are restacked on this empty pan and cover the top pan with the lid. This step allows the items to cool and dry without becoming contaminated</a:t>
            </a:r>
            <a:r>
              <a:rPr lang="en-US" dirty="0" smtClean="0"/>
              <a:t>.</a:t>
            </a:r>
            <a:endParaRPr lang="en-US" dirty="0"/>
          </a:p>
        </p:txBody>
      </p:sp>
    </p:spTree>
    <p:extLst>
      <p:ext uri="{BB962C8B-B14F-4D97-AF65-F5344CB8AC3E}">
        <p14:creationId xmlns:p14="http://schemas.microsoft.com/office/powerpoint/2010/main" val="9443648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for HLD by steaming</a:t>
            </a:r>
            <a:endParaRPr lang="en-US" dirty="0"/>
          </a:p>
        </p:txBody>
      </p:sp>
      <p:sp>
        <p:nvSpPr>
          <p:cNvPr id="3" name="Content Placeholder 2"/>
          <p:cNvSpPr>
            <a:spLocks noGrp="1"/>
          </p:cNvSpPr>
          <p:nvPr>
            <p:ph idx="1"/>
          </p:nvPr>
        </p:nvSpPr>
        <p:spPr>
          <a:xfrm>
            <a:off x="838200" y="2490135"/>
            <a:ext cx="7467600" cy="3605865"/>
          </a:xfrm>
        </p:spPr>
        <p:txBody>
          <a:bodyPr>
            <a:normAutofit fontScale="85000" lnSpcReduction="10000"/>
          </a:bodyPr>
          <a:lstStyle/>
          <a:p>
            <a:pPr algn="just"/>
            <a:r>
              <a:rPr lang="en-US" b="1" dirty="0" smtClean="0"/>
              <a:t>STEP </a:t>
            </a:r>
            <a:r>
              <a:rPr lang="en-US" b="1" dirty="0"/>
              <a:t>9 </a:t>
            </a:r>
            <a:r>
              <a:rPr lang="en-US" dirty="0"/>
              <a:t>Allow items to dry in the air while in the steamer pans (1 to 2 hours) before using.</a:t>
            </a:r>
          </a:p>
          <a:p>
            <a:pPr algn="just"/>
            <a:r>
              <a:rPr lang="en-US" b="1" dirty="0"/>
              <a:t>STEP 10 </a:t>
            </a:r>
            <a:r>
              <a:rPr lang="en-US" dirty="0"/>
              <a:t>Using a high-level disinfected forceps; transfer the dry items to a dry, high-level disinfected container3 with a tight-fitting cover. </a:t>
            </a:r>
          </a:p>
          <a:p>
            <a:pPr marL="284163" indent="0" algn="just">
              <a:buNone/>
            </a:pPr>
            <a:r>
              <a:rPr lang="en-US" dirty="0"/>
              <a:t>Instruments and other items can also be stored in the stacked and covered steamer pans as long as a bottom pan (with no holes) is used.</a:t>
            </a:r>
          </a:p>
          <a:p>
            <a:pPr algn="just"/>
            <a:endParaRPr lang="en-US" dirty="0"/>
          </a:p>
        </p:txBody>
      </p:sp>
    </p:spTree>
    <p:extLst>
      <p:ext uri="{BB962C8B-B14F-4D97-AF65-F5344CB8AC3E}">
        <p14:creationId xmlns:p14="http://schemas.microsoft.com/office/powerpoint/2010/main" val="944364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Boiling Versus Steaming</a:t>
            </a:r>
          </a:p>
        </p:txBody>
      </p:sp>
      <p:sp>
        <p:nvSpPr>
          <p:cNvPr id="3" name="Content Placeholder 2"/>
          <p:cNvSpPr>
            <a:spLocks noGrp="1"/>
          </p:cNvSpPr>
          <p:nvPr>
            <p:ph idx="1"/>
          </p:nvPr>
        </p:nvSpPr>
        <p:spPr/>
        <p:txBody>
          <a:bodyPr>
            <a:normAutofit fontScale="70000" lnSpcReduction="20000"/>
          </a:bodyPr>
          <a:lstStyle/>
          <a:p>
            <a:pPr lvl="0" algn="just"/>
            <a:r>
              <a:rPr lang="en-US" dirty="0"/>
              <a:t>In both boiling and steaming, moist heat is used to kill microorganisms. </a:t>
            </a:r>
          </a:p>
          <a:p>
            <a:pPr lvl="0" algn="just"/>
            <a:r>
              <a:rPr lang="en-US" dirty="0"/>
              <a:t>Steaming has several distinct advantages over boiling for the final processing of surgical gloves and other items such as plastic cannula and syringes.</a:t>
            </a:r>
          </a:p>
          <a:p>
            <a:pPr lvl="0" algn="just"/>
            <a:r>
              <a:rPr lang="en-US" dirty="0"/>
              <a:t>It is less destructive and more cost-effective for it uses much less fuel than boiling</a:t>
            </a:r>
          </a:p>
          <a:p>
            <a:pPr lvl="0" algn="just"/>
            <a:r>
              <a:rPr lang="en-US" dirty="0"/>
              <a:t>it is free from discoloration of instruments resulting from calcium or other heavy metals contained in some tap water for the steam contains only pure water molecules. </a:t>
            </a:r>
          </a:p>
          <a:p>
            <a:endParaRPr lang="en-US" dirty="0"/>
          </a:p>
        </p:txBody>
      </p:sp>
    </p:spTree>
    <p:extLst>
      <p:ext uri="{BB962C8B-B14F-4D97-AF65-F5344CB8AC3E}">
        <p14:creationId xmlns:p14="http://schemas.microsoft.com/office/powerpoint/2010/main" val="1878898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Boiling Versus Steaming</a:t>
            </a:r>
          </a:p>
        </p:txBody>
      </p:sp>
      <p:sp>
        <p:nvSpPr>
          <p:cNvPr id="3" name="Content Placeholder 2"/>
          <p:cNvSpPr>
            <a:spLocks noGrp="1"/>
          </p:cNvSpPr>
          <p:nvPr>
            <p:ph idx="1"/>
          </p:nvPr>
        </p:nvSpPr>
        <p:spPr/>
        <p:txBody>
          <a:bodyPr>
            <a:normAutofit fontScale="70000" lnSpcReduction="20000"/>
          </a:bodyPr>
          <a:lstStyle/>
          <a:p>
            <a:pPr algn="just"/>
            <a:r>
              <a:rPr lang="en-US" dirty="0"/>
              <a:t>The major limitation of steaming is that if the steamers available locally are small, they can practically be used only for a small number of items </a:t>
            </a:r>
          </a:p>
          <a:p>
            <a:pPr algn="just"/>
            <a:r>
              <a:rPr lang="en-US" dirty="0"/>
              <a:t>For steaming to be effective, the bottom pan must contain enough water to continue boiling throughout the steaming process</a:t>
            </a:r>
          </a:p>
          <a:p>
            <a:pPr lvl="0" algn="just"/>
            <a:r>
              <a:rPr lang="en-US" dirty="0"/>
              <a:t>By contrast, large boiling pots are easier to use for metal instruments and do not need to be monitored the entire time to be sure that the process is being done correctly.</a:t>
            </a:r>
          </a:p>
          <a:p>
            <a:endParaRPr lang="en-US" dirty="0"/>
          </a:p>
        </p:txBody>
      </p:sp>
    </p:spTree>
    <p:extLst>
      <p:ext uri="{BB962C8B-B14F-4D97-AF65-F5344CB8AC3E}">
        <p14:creationId xmlns:p14="http://schemas.microsoft.com/office/powerpoint/2010/main" val="2440134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disinfection using chemicals</a:t>
            </a:r>
            <a:endParaRPr lang="en-US" dirty="0"/>
          </a:p>
        </p:txBody>
      </p:sp>
      <p:sp>
        <p:nvSpPr>
          <p:cNvPr id="3" name="Content Placeholder 2"/>
          <p:cNvSpPr>
            <a:spLocks noGrp="1"/>
          </p:cNvSpPr>
          <p:nvPr>
            <p:ph idx="1"/>
          </p:nvPr>
        </p:nvSpPr>
        <p:spPr>
          <a:xfrm>
            <a:off x="685800" y="2490135"/>
            <a:ext cx="7772400" cy="3758265"/>
          </a:xfrm>
        </p:spPr>
        <p:txBody>
          <a:bodyPr>
            <a:normAutofit fontScale="62500" lnSpcReduction="20000"/>
          </a:bodyPr>
          <a:lstStyle/>
          <a:p>
            <a:pPr lvl="0" algn="just"/>
            <a:r>
              <a:rPr lang="en-US" dirty="0" smtClean="0"/>
              <a:t>Although </a:t>
            </a:r>
            <a:r>
              <a:rPr lang="en-US" dirty="0"/>
              <a:t>a number of disinfectants are commercially available in most countries, four disinfectants- </a:t>
            </a:r>
            <a:endParaRPr lang="en-US" dirty="0" smtClean="0"/>
          </a:p>
          <a:p>
            <a:pPr lvl="1" algn="just"/>
            <a:r>
              <a:rPr lang="en-US" dirty="0" smtClean="0"/>
              <a:t>OPA</a:t>
            </a:r>
            <a:r>
              <a:rPr lang="en-US" dirty="0"/>
              <a:t>, </a:t>
            </a:r>
            <a:endParaRPr lang="en-US" dirty="0" smtClean="0"/>
          </a:p>
          <a:p>
            <a:pPr lvl="1" algn="just"/>
            <a:r>
              <a:rPr lang="en-US" dirty="0" err="1" smtClean="0"/>
              <a:t>Glutaraldehydes</a:t>
            </a:r>
            <a:r>
              <a:rPr lang="en-US" dirty="0"/>
              <a:t>, </a:t>
            </a:r>
            <a:endParaRPr lang="en-US" dirty="0" smtClean="0"/>
          </a:p>
          <a:p>
            <a:pPr lvl="1" algn="just"/>
            <a:r>
              <a:rPr lang="en-US" dirty="0" smtClean="0"/>
              <a:t>Formaldehyde </a:t>
            </a:r>
            <a:r>
              <a:rPr lang="en-US" dirty="0"/>
              <a:t>and </a:t>
            </a:r>
            <a:endParaRPr lang="en-US" dirty="0" smtClean="0"/>
          </a:p>
          <a:p>
            <a:pPr lvl="1" algn="just"/>
            <a:r>
              <a:rPr lang="en-US" dirty="0" smtClean="0"/>
              <a:t>Peroxide-are </a:t>
            </a:r>
            <a:r>
              <a:rPr lang="en-US" dirty="0"/>
              <a:t>routinely used as high- level disinfectants.</a:t>
            </a:r>
          </a:p>
          <a:p>
            <a:pPr lvl="0" algn="just"/>
            <a:r>
              <a:rPr lang="en-US" dirty="0"/>
              <a:t>These chemicals can achieve high-level disinfection if the items being disinfected are thoroughly cleaned before immersion. </a:t>
            </a:r>
          </a:p>
          <a:p>
            <a:pPr lvl="0" algn="just"/>
            <a:r>
              <a:rPr lang="en-US" dirty="0"/>
              <a:t>A high-level disinfectant should be selected for use based on the characteristics of the items to be disinfected, the physical </a:t>
            </a:r>
            <a:r>
              <a:rPr lang="en-US" dirty="0" smtClean="0"/>
              <a:t>area and </a:t>
            </a:r>
            <a:r>
              <a:rPr lang="en-US" dirty="0"/>
              <a:t>the skills of personnel available to do the procedure.</a:t>
            </a:r>
          </a:p>
          <a:p>
            <a:pPr algn="just"/>
            <a:endParaRPr lang="en-US" dirty="0"/>
          </a:p>
        </p:txBody>
      </p:sp>
    </p:spTree>
    <p:extLst>
      <p:ext uri="{BB962C8B-B14F-4D97-AF65-F5344CB8AC3E}">
        <p14:creationId xmlns:p14="http://schemas.microsoft.com/office/powerpoint/2010/main" val="28439286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steps in chemical high-level disinfection </a:t>
            </a:r>
            <a:endParaRPr lang="en-US" dirty="0"/>
          </a:p>
        </p:txBody>
      </p:sp>
      <p:sp>
        <p:nvSpPr>
          <p:cNvPr id="3" name="Content Placeholder 2"/>
          <p:cNvSpPr>
            <a:spLocks noGrp="1"/>
          </p:cNvSpPr>
          <p:nvPr>
            <p:ph idx="1"/>
          </p:nvPr>
        </p:nvSpPr>
        <p:spPr>
          <a:xfrm>
            <a:off x="685800" y="2566335"/>
            <a:ext cx="7772400" cy="3605865"/>
          </a:xfrm>
        </p:spPr>
        <p:txBody>
          <a:bodyPr>
            <a:normAutofit fontScale="62500" lnSpcReduction="20000"/>
          </a:bodyPr>
          <a:lstStyle/>
          <a:p>
            <a:pPr lvl="0"/>
            <a:r>
              <a:rPr lang="en-US" b="1" dirty="0" smtClean="0"/>
              <a:t>STEP 1</a:t>
            </a:r>
            <a:r>
              <a:rPr lang="en-US" dirty="0" smtClean="0"/>
              <a:t> Thoroughly </a:t>
            </a:r>
            <a:r>
              <a:rPr lang="en-US" dirty="0"/>
              <a:t>Clean instruments and other items that may have been contaminated with blood and body fluids and thoroughly clean and dry them before placing them in the disinfectant solution.</a:t>
            </a:r>
          </a:p>
          <a:p>
            <a:pPr lvl="0"/>
            <a:r>
              <a:rPr lang="en-US" b="1" dirty="0"/>
              <a:t>STEP </a:t>
            </a:r>
            <a:r>
              <a:rPr lang="en-US" b="1" dirty="0" smtClean="0"/>
              <a:t>2 </a:t>
            </a:r>
            <a:r>
              <a:rPr lang="en-US" dirty="0" smtClean="0"/>
              <a:t>Completely </a:t>
            </a:r>
            <a:r>
              <a:rPr lang="en-US" dirty="0"/>
              <a:t>immerse all items in the high-level disinfectant.</a:t>
            </a:r>
          </a:p>
          <a:p>
            <a:pPr lvl="0"/>
            <a:r>
              <a:rPr lang="en-US" b="1" dirty="0"/>
              <a:t>STEP </a:t>
            </a:r>
            <a:r>
              <a:rPr lang="en-US" b="1" dirty="0" smtClean="0"/>
              <a:t>3 </a:t>
            </a:r>
            <a:r>
              <a:rPr lang="en-US" dirty="0" smtClean="0"/>
              <a:t>Soak </a:t>
            </a:r>
            <a:r>
              <a:rPr lang="en-US" dirty="0"/>
              <a:t>them for 20 minutes.</a:t>
            </a:r>
          </a:p>
          <a:p>
            <a:pPr lvl="0"/>
            <a:r>
              <a:rPr lang="en-US" b="1" dirty="0"/>
              <a:t>STEP </a:t>
            </a:r>
            <a:r>
              <a:rPr lang="en-US" b="1" dirty="0" smtClean="0"/>
              <a:t>4 </a:t>
            </a:r>
            <a:r>
              <a:rPr lang="en-US" dirty="0" smtClean="0"/>
              <a:t>Remove </a:t>
            </a:r>
            <a:r>
              <a:rPr lang="en-US" dirty="0"/>
              <a:t>items using high-level disinfected or sterile forceps or gloves.</a:t>
            </a:r>
          </a:p>
          <a:p>
            <a:pPr lvl="0"/>
            <a:r>
              <a:rPr lang="en-US" b="1" dirty="0"/>
              <a:t>STEP </a:t>
            </a:r>
            <a:r>
              <a:rPr lang="en-US" b="1" dirty="0" smtClean="0"/>
              <a:t>5  </a:t>
            </a:r>
            <a:r>
              <a:rPr lang="en-US" dirty="0" smtClean="0"/>
              <a:t>Rinse </a:t>
            </a:r>
            <a:r>
              <a:rPr lang="en-US" dirty="0"/>
              <a:t>well with boiled and filtered (if necessary) water three times and air dry.</a:t>
            </a:r>
          </a:p>
          <a:p>
            <a:r>
              <a:rPr lang="en-US" b="1" dirty="0"/>
              <a:t>STEP </a:t>
            </a:r>
            <a:r>
              <a:rPr lang="en-US" b="1" dirty="0" smtClean="0"/>
              <a:t>6  </a:t>
            </a:r>
            <a:r>
              <a:rPr lang="en-US" dirty="0" smtClean="0"/>
              <a:t>Use </a:t>
            </a:r>
            <a:r>
              <a:rPr lang="en-US" dirty="0"/>
              <a:t>promptly or store in a dry, high-level disinfected and covered container</a:t>
            </a:r>
          </a:p>
        </p:txBody>
      </p:sp>
    </p:spTree>
    <p:extLst>
      <p:ext uri="{BB962C8B-B14F-4D97-AF65-F5344CB8AC3E}">
        <p14:creationId xmlns:p14="http://schemas.microsoft.com/office/powerpoint/2010/main" val="1364416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That Affect Disinfection </a:t>
            </a:r>
            <a:r>
              <a:rPr lang="en-US" dirty="0" smtClean="0"/>
              <a:t>Process</a:t>
            </a:r>
            <a:endParaRPr lang="en-US" dirty="0"/>
          </a:p>
        </p:txBody>
      </p:sp>
      <p:sp>
        <p:nvSpPr>
          <p:cNvPr id="3" name="Content Placeholder 2"/>
          <p:cNvSpPr>
            <a:spLocks noGrp="1"/>
          </p:cNvSpPr>
          <p:nvPr>
            <p:ph idx="1"/>
          </p:nvPr>
        </p:nvSpPr>
        <p:spPr/>
        <p:txBody>
          <a:bodyPr>
            <a:normAutofit fontScale="85000" lnSpcReduction="20000"/>
          </a:bodyPr>
          <a:lstStyle/>
          <a:p>
            <a:pPr lvl="0"/>
            <a:r>
              <a:rPr lang="en-US" dirty="0" smtClean="0"/>
              <a:t>Quantity </a:t>
            </a:r>
            <a:r>
              <a:rPr lang="en-US" dirty="0"/>
              <a:t>and location of the microorganisms</a:t>
            </a:r>
          </a:p>
          <a:p>
            <a:pPr lvl="0"/>
            <a:r>
              <a:rPr lang="en-US" dirty="0"/>
              <a:t>Quantity and location of organic matter</a:t>
            </a:r>
          </a:p>
          <a:p>
            <a:pPr lvl="0"/>
            <a:r>
              <a:rPr lang="en-US" dirty="0"/>
              <a:t>Concentration of the disinfectant</a:t>
            </a:r>
          </a:p>
          <a:p>
            <a:pPr lvl="0"/>
            <a:r>
              <a:rPr lang="en-US" dirty="0"/>
              <a:t>Physical and chemical factors</a:t>
            </a:r>
          </a:p>
          <a:p>
            <a:pPr lvl="0"/>
            <a:r>
              <a:rPr lang="en-US" dirty="0"/>
              <a:t>Duration of exposure</a:t>
            </a:r>
          </a:p>
          <a:p>
            <a:pPr lvl="0"/>
            <a:r>
              <a:rPr lang="en-US" dirty="0"/>
              <a:t>Resistance of microorganism to the chemical agent</a:t>
            </a:r>
          </a:p>
          <a:p>
            <a:endParaRPr lang="en-US" dirty="0"/>
          </a:p>
        </p:txBody>
      </p:sp>
    </p:spTree>
    <p:extLst>
      <p:ext uri="{BB962C8B-B14F-4D97-AF65-F5344CB8AC3E}">
        <p14:creationId xmlns:p14="http://schemas.microsoft.com/office/powerpoint/2010/main" val="29059454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dirty="0" smtClean="0"/>
              <a:t/>
            </a:r>
            <a:br>
              <a:rPr lang="en-US" dirty="0" smtClean="0"/>
            </a:br>
            <a:r>
              <a:rPr lang="en-US" sz="5300" b="1" dirty="0" smtClean="0"/>
              <a:t>PPP 8.5: </a:t>
            </a:r>
            <a:br>
              <a:rPr lang="en-US" sz="5300" b="1" dirty="0" smtClean="0"/>
            </a:br>
            <a:r>
              <a:rPr lang="en-US" sz="5300" b="1" dirty="0"/>
              <a:t>Description of  Steps in Processing </a:t>
            </a:r>
            <a:r>
              <a:rPr lang="en-US" sz="5300" b="1" dirty="0" smtClean="0"/>
              <a:t>Items </a:t>
            </a:r>
            <a:endParaRPr lang="en-US" b="1" dirty="0"/>
          </a:p>
        </p:txBody>
      </p:sp>
      <p:sp>
        <p:nvSpPr>
          <p:cNvPr id="6" name="Text Placeholder 5"/>
          <p:cNvSpPr>
            <a:spLocks noGrp="1"/>
          </p:cNvSpPr>
          <p:nvPr>
            <p:ph type="body" idx="1"/>
          </p:nvPr>
        </p:nvSpPr>
        <p:spPr/>
        <p:txBody>
          <a:bodyPr>
            <a:normAutofit/>
          </a:bodyPr>
          <a:lstStyle/>
          <a:p>
            <a:r>
              <a:rPr lang="en-US" sz="5400" b="1" dirty="0" smtClean="0"/>
              <a:t>Sterilization</a:t>
            </a:r>
            <a:endParaRPr lang="en-US" sz="5400" b="1" dirty="0"/>
          </a:p>
        </p:txBody>
      </p:sp>
    </p:spTree>
    <p:extLst>
      <p:ext uri="{BB962C8B-B14F-4D97-AF65-F5344CB8AC3E}">
        <p14:creationId xmlns:p14="http://schemas.microsoft.com/office/powerpoint/2010/main" val="215723197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Sterilization</a:t>
            </a:r>
          </a:p>
        </p:txBody>
      </p:sp>
      <p:sp>
        <p:nvSpPr>
          <p:cNvPr id="3" name="Content Placeholder 2"/>
          <p:cNvSpPr>
            <a:spLocks noGrp="1"/>
          </p:cNvSpPr>
          <p:nvPr>
            <p:ph idx="1"/>
          </p:nvPr>
        </p:nvSpPr>
        <p:spPr>
          <a:xfrm>
            <a:off x="685800" y="2514600"/>
            <a:ext cx="7772400" cy="3810000"/>
          </a:xfrm>
        </p:spPr>
        <p:txBody>
          <a:bodyPr>
            <a:normAutofit fontScale="62500" lnSpcReduction="20000"/>
          </a:bodyPr>
          <a:lstStyle/>
          <a:p>
            <a:pPr lvl="0" algn="just"/>
            <a:r>
              <a:rPr lang="en-US" sz="3800" dirty="0"/>
              <a:t>Sterilization is a process in which the destruction of all micro-organisms including bacterial endospores takes place. </a:t>
            </a:r>
          </a:p>
          <a:p>
            <a:pPr lvl="0" algn="just"/>
            <a:r>
              <a:rPr lang="en-US" sz="3800" dirty="0"/>
              <a:t>This can be achieved by either physical or chemical methods and is necessary especially for medical devices penetrating sterile body sites or having direct contact with the </a:t>
            </a:r>
          </a:p>
          <a:p>
            <a:pPr lvl="0" algn="just"/>
            <a:r>
              <a:rPr lang="en-US" sz="3800" b="1" dirty="0"/>
              <a:t>Sterilization in health facilities can be achieved </a:t>
            </a:r>
            <a:r>
              <a:rPr lang="en-US" sz="3800" b="1" dirty="0" smtClean="0"/>
              <a:t>by:</a:t>
            </a:r>
          </a:p>
          <a:p>
            <a:pPr lvl="1" algn="just"/>
            <a:r>
              <a:rPr lang="en-US" sz="3600" dirty="0"/>
              <a:t>H</a:t>
            </a:r>
            <a:r>
              <a:rPr lang="en-US" sz="3600" dirty="0" smtClean="0"/>
              <a:t>igh </a:t>
            </a:r>
            <a:r>
              <a:rPr lang="en-US" sz="3600" dirty="0"/>
              <a:t>pressure   steam   (autoclaves),   </a:t>
            </a:r>
            <a:endParaRPr lang="en-US" sz="3600" dirty="0" smtClean="0"/>
          </a:p>
          <a:p>
            <a:pPr lvl="1" algn="just"/>
            <a:r>
              <a:rPr lang="en-US" sz="3600" dirty="0"/>
              <a:t>D</a:t>
            </a:r>
            <a:r>
              <a:rPr lang="en-US" sz="3600" dirty="0" smtClean="0"/>
              <a:t>ry   </a:t>
            </a:r>
            <a:r>
              <a:rPr lang="en-US" sz="3600" dirty="0"/>
              <a:t>heat   (oven),   </a:t>
            </a:r>
            <a:endParaRPr lang="en-US" sz="3600" dirty="0" smtClean="0"/>
          </a:p>
          <a:p>
            <a:pPr lvl="1" algn="just"/>
            <a:r>
              <a:rPr lang="en-US" sz="3600" dirty="0"/>
              <a:t>C</a:t>
            </a:r>
            <a:r>
              <a:rPr lang="en-US" sz="3600" dirty="0" smtClean="0"/>
              <a:t>hemical   </a:t>
            </a:r>
            <a:r>
              <a:rPr lang="en-US" sz="3600" dirty="0" err="1"/>
              <a:t>sterilants</a:t>
            </a:r>
            <a:r>
              <a:rPr lang="en-US" sz="3600" dirty="0"/>
              <a:t>   (</a:t>
            </a:r>
            <a:r>
              <a:rPr lang="en-US" sz="3600" dirty="0" err="1"/>
              <a:t>Glutaraldehyde</a:t>
            </a:r>
            <a:r>
              <a:rPr lang="en-US" sz="3600" dirty="0"/>
              <a:t>   or formaldehyde solutions</a:t>
            </a:r>
            <a:r>
              <a:rPr lang="en-US" sz="3600" dirty="0" smtClean="0"/>
              <a:t>)</a:t>
            </a:r>
            <a:endParaRPr lang="en-US" dirty="0"/>
          </a:p>
        </p:txBody>
      </p:sp>
    </p:spTree>
    <p:extLst>
      <p:ext uri="{BB962C8B-B14F-4D97-AF65-F5344CB8AC3E}">
        <p14:creationId xmlns:p14="http://schemas.microsoft.com/office/powerpoint/2010/main" val="8700502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Essentials of Sterilization Process</a:t>
            </a:r>
            <a:r>
              <a:rPr lang="en-US" dirty="0" smtClean="0"/>
              <a:t>:</a:t>
            </a:r>
            <a:endParaRPr lang="en-US" dirty="0"/>
          </a:p>
        </p:txBody>
      </p:sp>
      <p:sp>
        <p:nvSpPr>
          <p:cNvPr id="3" name="Content Placeholder 2"/>
          <p:cNvSpPr>
            <a:spLocks noGrp="1"/>
          </p:cNvSpPr>
          <p:nvPr>
            <p:ph idx="1"/>
          </p:nvPr>
        </p:nvSpPr>
        <p:spPr>
          <a:xfrm>
            <a:off x="685800" y="2490135"/>
            <a:ext cx="7772399" cy="3758265"/>
          </a:xfrm>
        </p:spPr>
        <p:txBody>
          <a:bodyPr>
            <a:normAutofit fontScale="62500" lnSpcReduction="20000"/>
          </a:bodyPr>
          <a:lstStyle/>
          <a:p>
            <a:pPr marL="514350" lvl="0" indent="-514350" algn="just">
              <a:buFont typeface="+mj-lt"/>
              <a:buAutoNum type="arabicPeriod"/>
            </a:pPr>
            <a:r>
              <a:rPr lang="en-US" dirty="0" smtClean="0"/>
              <a:t>The </a:t>
            </a:r>
            <a:r>
              <a:rPr lang="en-US" dirty="0" err="1"/>
              <a:t>sterilants</a:t>
            </a:r>
            <a:r>
              <a:rPr lang="en-US" dirty="0"/>
              <a:t> and sterilizing equipment must be validated and appropriate in design and operation to correctly integrate key yardsticks like: </a:t>
            </a:r>
            <a:r>
              <a:rPr lang="en-US" b="1" dirty="0"/>
              <a:t>time</a:t>
            </a:r>
            <a:r>
              <a:rPr lang="en-US" dirty="0"/>
              <a:t>, </a:t>
            </a:r>
            <a:r>
              <a:rPr lang="en-US" b="1" dirty="0"/>
              <a:t>temperature</a:t>
            </a:r>
            <a:r>
              <a:rPr lang="en-US" dirty="0"/>
              <a:t>, </a:t>
            </a:r>
            <a:r>
              <a:rPr lang="en-US" b="1" dirty="0"/>
              <a:t>contact, pressure </a:t>
            </a:r>
            <a:r>
              <a:rPr lang="en-US" dirty="0"/>
              <a:t>(for steam sterilization) and </a:t>
            </a:r>
            <a:r>
              <a:rPr lang="en-US" b="1" dirty="0"/>
              <a:t>right </a:t>
            </a:r>
            <a:r>
              <a:rPr lang="en-US" b="1" dirty="0" err="1"/>
              <a:t>sterilants</a:t>
            </a:r>
            <a:r>
              <a:rPr lang="en-US" b="1" dirty="0"/>
              <a:t> </a:t>
            </a:r>
            <a:r>
              <a:rPr lang="en-US" dirty="0"/>
              <a:t>(for chemical sterilization) to be as effective as they should </a:t>
            </a:r>
            <a:r>
              <a:rPr lang="en-US" dirty="0" smtClean="0"/>
              <a:t>be.</a:t>
            </a:r>
          </a:p>
          <a:p>
            <a:pPr marL="514350" lvl="0" indent="-514350" algn="just">
              <a:buFont typeface="+mj-lt"/>
              <a:buAutoNum type="arabicPeriod"/>
            </a:pPr>
            <a:r>
              <a:rPr lang="en-US" dirty="0" smtClean="0"/>
              <a:t>Instruments </a:t>
            </a:r>
            <a:r>
              <a:rPr lang="en-US" dirty="0"/>
              <a:t>must be </a:t>
            </a:r>
            <a:r>
              <a:rPr lang="en-US" b="1" dirty="0"/>
              <a:t>thoroughly cleaned </a:t>
            </a:r>
            <a:r>
              <a:rPr lang="en-US" dirty="0"/>
              <a:t>to reduce dirt in order to </a:t>
            </a:r>
            <a:r>
              <a:rPr lang="en-US" dirty="0" smtClean="0"/>
              <a:t>guarantee </a:t>
            </a:r>
            <a:r>
              <a:rPr lang="en-US" dirty="0"/>
              <a:t>effectiveness of  the  sterilization  process.  </a:t>
            </a:r>
          </a:p>
          <a:p>
            <a:pPr marL="520700" indent="0" algn="just">
              <a:buNone/>
            </a:pPr>
            <a:r>
              <a:rPr lang="en-US" dirty="0"/>
              <a:t>The  higher  the  dirt  the  greater  the  challenge  to  the sterilization process. Therefore, it could be said that the effective sterilization is entwined with an effective removal of the dirt before making it ready for </a:t>
            </a:r>
            <a:r>
              <a:rPr lang="en-US" dirty="0" smtClean="0"/>
              <a:t>sterilization.</a:t>
            </a:r>
          </a:p>
          <a:p>
            <a:pPr marL="514350" indent="-514350" algn="just">
              <a:buFont typeface="+mj-lt"/>
              <a:buAutoNum type="arabicPeriod" startAt="3"/>
            </a:pPr>
            <a:r>
              <a:rPr lang="en-US" dirty="0" smtClean="0"/>
              <a:t>There </a:t>
            </a:r>
            <a:r>
              <a:rPr lang="en-US" dirty="0"/>
              <a:t>must be </a:t>
            </a:r>
            <a:r>
              <a:rPr lang="en-US" b="1" dirty="0"/>
              <a:t>close and adequate contact </a:t>
            </a:r>
            <a:r>
              <a:rPr lang="en-US" dirty="0"/>
              <a:t>between the chemical </a:t>
            </a:r>
            <a:r>
              <a:rPr lang="en-US" dirty="0" err="1"/>
              <a:t>sterilant</a:t>
            </a:r>
            <a:r>
              <a:rPr lang="en-US" dirty="0"/>
              <a:t> and all surfaces and crevices of the device to be sterilized.</a:t>
            </a:r>
          </a:p>
          <a:p>
            <a:pPr algn="just"/>
            <a:endParaRPr lang="en-US" dirty="0"/>
          </a:p>
        </p:txBody>
      </p:sp>
    </p:spTree>
    <p:extLst>
      <p:ext uri="{BB962C8B-B14F-4D97-AF65-F5344CB8AC3E}">
        <p14:creationId xmlns:p14="http://schemas.microsoft.com/office/powerpoint/2010/main" val="30330593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88426"/>
          </a:xfrm>
        </p:spPr>
        <p:txBody>
          <a:bodyPr/>
          <a:lstStyle/>
          <a:p>
            <a:r>
              <a:rPr lang="en-US" sz="3200" dirty="0" smtClean="0"/>
              <a:t>The effectiveness of any sterilization method is dependent upon four other factors</a:t>
            </a:r>
            <a:endParaRPr lang="en-US" sz="3200" dirty="0"/>
          </a:p>
        </p:txBody>
      </p:sp>
      <p:sp>
        <p:nvSpPr>
          <p:cNvPr id="3" name="Content Placeholder 2"/>
          <p:cNvSpPr>
            <a:spLocks noGrp="1"/>
          </p:cNvSpPr>
          <p:nvPr>
            <p:ph idx="1"/>
          </p:nvPr>
        </p:nvSpPr>
        <p:spPr>
          <a:xfrm>
            <a:off x="685800" y="2337735"/>
            <a:ext cx="7772400" cy="4139265"/>
          </a:xfrm>
        </p:spPr>
        <p:txBody>
          <a:bodyPr>
            <a:normAutofit fontScale="77500" lnSpcReduction="20000"/>
          </a:bodyPr>
          <a:lstStyle/>
          <a:p>
            <a:pPr marL="514350" lvl="0" indent="-514350" algn="just">
              <a:buFont typeface="+mj-lt"/>
              <a:buAutoNum type="arabicPeriod"/>
            </a:pPr>
            <a:r>
              <a:rPr lang="en-US" dirty="0"/>
              <a:t>The type of micro-organism present.</a:t>
            </a:r>
          </a:p>
          <a:p>
            <a:pPr marL="514350" lvl="0" indent="-514350" algn="just">
              <a:buFont typeface="+mj-lt"/>
              <a:buAutoNum type="arabicPeriod"/>
            </a:pPr>
            <a:r>
              <a:rPr lang="en-US" dirty="0"/>
              <a:t>The number of micro-organisms present.</a:t>
            </a:r>
          </a:p>
          <a:p>
            <a:pPr marL="514350" lvl="0" indent="-514350" algn="just">
              <a:buFont typeface="+mj-lt"/>
              <a:buAutoNum type="arabicPeriod"/>
            </a:pPr>
            <a:r>
              <a:rPr lang="en-US" dirty="0"/>
              <a:t>The amount and type of organic material that protects the micro-organisms. Blood or tissue remaining on poorly cleaned instruments acts as a shield to microorganisms during the sterilization process.</a:t>
            </a:r>
          </a:p>
          <a:p>
            <a:pPr marL="514350" lvl="0" indent="-514350" algn="just">
              <a:buFont typeface="+mj-lt"/>
              <a:buAutoNum type="arabicPeriod"/>
            </a:pPr>
            <a:r>
              <a:rPr lang="en-US" dirty="0"/>
              <a:t>The number of cracks and scratches on an instrument that might harbor micro-organisms.</a:t>
            </a:r>
          </a:p>
          <a:p>
            <a:pPr lvl="0" algn="just"/>
            <a:r>
              <a:rPr lang="en-US" b="1" dirty="0"/>
              <a:t>Sterilization is a process, not a single event; therefore, all phases and steps in the process must be carried out correctly.</a:t>
            </a:r>
            <a:endParaRPr lang="en-US" dirty="0"/>
          </a:p>
          <a:p>
            <a:pPr algn="just"/>
            <a:endParaRPr lang="en-US" dirty="0"/>
          </a:p>
        </p:txBody>
      </p:sp>
    </p:spTree>
    <p:extLst>
      <p:ext uri="{BB962C8B-B14F-4D97-AF65-F5344CB8AC3E}">
        <p14:creationId xmlns:p14="http://schemas.microsoft.com/office/powerpoint/2010/main" val="31438343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pressure steam sterilization method</a:t>
            </a:r>
            <a:endParaRPr lang="en-US" dirty="0"/>
          </a:p>
        </p:txBody>
      </p:sp>
      <p:sp>
        <p:nvSpPr>
          <p:cNvPr id="3" name="Content Placeholder 2"/>
          <p:cNvSpPr>
            <a:spLocks noGrp="1"/>
          </p:cNvSpPr>
          <p:nvPr>
            <p:ph idx="1"/>
          </p:nvPr>
        </p:nvSpPr>
        <p:spPr>
          <a:xfrm>
            <a:off x="762000" y="2490135"/>
            <a:ext cx="7696200" cy="3682065"/>
          </a:xfrm>
        </p:spPr>
        <p:txBody>
          <a:bodyPr>
            <a:normAutofit fontScale="70000" lnSpcReduction="20000"/>
          </a:bodyPr>
          <a:lstStyle/>
          <a:p>
            <a:pPr lvl="0"/>
            <a:r>
              <a:rPr lang="en-US" dirty="0"/>
              <a:t>Saturated steam is an extremely effective carrier of thermal energy that makes it many times more effective in conveying the necessary energy to the items to be sterilized than dry air.</a:t>
            </a:r>
          </a:p>
          <a:p>
            <a:pPr lvl="0"/>
            <a:r>
              <a:rPr lang="en-US" dirty="0"/>
              <a:t>Steam is an effective </a:t>
            </a:r>
            <a:r>
              <a:rPr lang="en-US" dirty="0" err="1"/>
              <a:t>sterilant</a:t>
            </a:r>
            <a:r>
              <a:rPr lang="en-US" dirty="0"/>
              <a:t> in that it can soften any resistant and protective outer layer of the micro-organisms allowing coagulation of the inner sensitive portion of the micro-organisms</a:t>
            </a:r>
            <a:r>
              <a:rPr lang="en-US" dirty="0" smtClean="0"/>
              <a:t>.</a:t>
            </a:r>
          </a:p>
          <a:p>
            <a:r>
              <a:rPr lang="en-US" b="1" dirty="0"/>
              <a:t>Advantages</a:t>
            </a:r>
            <a:endParaRPr lang="en-US" dirty="0"/>
          </a:p>
          <a:p>
            <a:pPr lvl="1"/>
            <a:r>
              <a:rPr lang="en-US" dirty="0"/>
              <a:t>Most commonly used effective method of sterilization.</a:t>
            </a:r>
          </a:p>
          <a:p>
            <a:pPr lvl="1"/>
            <a:r>
              <a:rPr lang="en-US" dirty="0"/>
              <a:t>Sterilization  cycle  time  is  shorter  in  steam  sterilization  than  in  any  other  type  of sterilization.</a:t>
            </a:r>
          </a:p>
          <a:p>
            <a:endParaRPr lang="en-US" dirty="0"/>
          </a:p>
        </p:txBody>
      </p:sp>
    </p:spTree>
    <p:extLst>
      <p:ext uri="{BB962C8B-B14F-4D97-AF65-F5344CB8AC3E}">
        <p14:creationId xmlns:p14="http://schemas.microsoft.com/office/powerpoint/2010/main" val="40822065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30778"/>
            <a:ext cx="8077200" cy="1188426"/>
          </a:xfrm>
        </p:spPr>
        <p:txBody>
          <a:bodyPr/>
          <a:lstStyle/>
          <a:p>
            <a:r>
              <a:rPr lang="en-US" dirty="0"/>
              <a:t>High pressure steam sterilization </a:t>
            </a:r>
            <a:r>
              <a:rPr lang="en-US" dirty="0" smtClean="0"/>
              <a:t>method cont’d…</a:t>
            </a:r>
            <a:endParaRPr lang="en-US" dirty="0"/>
          </a:p>
        </p:txBody>
      </p:sp>
      <p:sp>
        <p:nvSpPr>
          <p:cNvPr id="3" name="Content Placeholder 2"/>
          <p:cNvSpPr>
            <a:spLocks noGrp="1"/>
          </p:cNvSpPr>
          <p:nvPr>
            <p:ph idx="1"/>
          </p:nvPr>
        </p:nvSpPr>
        <p:spPr>
          <a:xfrm>
            <a:off x="685800" y="2438400"/>
            <a:ext cx="7772400" cy="4038599"/>
          </a:xfrm>
        </p:spPr>
        <p:txBody>
          <a:bodyPr>
            <a:normAutofit fontScale="70000" lnSpcReduction="20000"/>
          </a:bodyPr>
          <a:lstStyle/>
          <a:p>
            <a:pPr algn="just"/>
            <a:r>
              <a:rPr lang="en-US" b="1" dirty="0" smtClean="0"/>
              <a:t>Limitation</a:t>
            </a:r>
            <a:endParaRPr lang="en-US" dirty="0"/>
          </a:p>
          <a:p>
            <a:pPr lvl="1" algn="just"/>
            <a:r>
              <a:rPr lang="en-US" dirty="0"/>
              <a:t>Requires a continuous source of heat (wood fuel, kerosene or electricity).</a:t>
            </a:r>
          </a:p>
          <a:p>
            <a:pPr lvl="1" algn="just"/>
            <a:r>
              <a:rPr lang="en-US" dirty="0"/>
              <a:t>Requires a trained biomedical technician to perform preventative maintenance.</a:t>
            </a:r>
          </a:p>
          <a:p>
            <a:pPr lvl="1" algn="just"/>
            <a:r>
              <a:rPr lang="en-US" dirty="0"/>
              <a:t>Requires strict adherence to time, temperature and pressure settings.</a:t>
            </a:r>
          </a:p>
          <a:p>
            <a:pPr lvl="1" algn="just"/>
            <a:r>
              <a:rPr lang="en-US" dirty="0"/>
              <a:t>Difficult to produce dry packs because breaks in procedure are common (e.g.  not allowing items to dry before removing, especially in hot, humid climates).</a:t>
            </a:r>
          </a:p>
          <a:p>
            <a:pPr lvl="1" algn="just"/>
            <a:r>
              <a:rPr lang="en-US" dirty="0"/>
              <a:t>Repeated sterilization cycles can cause pitting and dulling of cutting edges of instruments i.e. scissors).</a:t>
            </a:r>
          </a:p>
          <a:p>
            <a:pPr lvl="1" algn="just"/>
            <a:r>
              <a:rPr lang="en-US" dirty="0"/>
              <a:t>Plastic items cannot withstand high temperatures.</a:t>
            </a:r>
          </a:p>
          <a:p>
            <a:pPr algn="just"/>
            <a:endParaRPr lang="en-US" dirty="0"/>
          </a:p>
        </p:txBody>
      </p:sp>
    </p:spTree>
    <p:extLst>
      <p:ext uri="{BB962C8B-B14F-4D97-AF65-F5344CB8AC3E}">
        <p14:creationId xmlns:p14="http://schemas.microsoft.com/office/powerpoint/2010/main" val="29886709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There are three types of high-pressure steam sterilizers:</a:t>
            </a:r>
          </a:p>
        </p:txBody>
      </p:sp>
      <p:sp>
        <p:nvSpPr>
          <p:cNvPr id="3" name="Content Placeholder 2"/>
          <p:cNvSpPr>
            <a:spLocks noGrp="1"/>
          </p:cNvSpPr>
          <p:nvPr>
            <p:ph idx="1"/>
          </p:nvPr>
        </p:nvSpPr>
        <p:spPr/>
        <p:txBody>
          <a:bodyPr/>
          <a:lstStyle/>
          <a:p>
            <a:pPr marL="0" indent="0">
              <a:buNone/>
            </a:pPr>
            <a:endParaRPr lang="en-US" dirty="0"/>
          </a:p>
          <a:p>
            <a:pPr lvl="0"/>
            <a:r>
              <a:rPr lang="en-US" dirty="0"/>
              <a:t>Gravity displacement</a:t>
            </a:r>
          </a:p>
          <a:p>
            <a:pPr lvl="0"/>
            <a:r>
              <a:rPr lang="en-US" dirty="0" err="1"/>
              <a:t>Prevacuum</a:t>
            </a:r>
            <a:endParaRPr lang="en-US" dirty="0"/>
          </a:p>
          <a:p>
            <a:pPr lvl="0"/>
            <a:r>
              <a:rPr lang="en-US" dirty="0"/>
              <a:t>Flash or Immediate use sterilizers (IUS)</a:t>
            </a:r>
          </a:p>
          <a:p>
            <a:endParaRPr lang="en-US" dirty="0"/>
          </a:p>
        </p:txBody>
      </p:sp>
    </p:spTree>
    <p:extLst>
      <p:ext uri="{BB962C8B-B14F-4D97-AF65-F5344CB8AC3E}">
        <p14:creationId xmlns:p14="http://schemas.microsoft.com/office/powerpoint/2010/main" val="4009016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a:t>
            </a:r>
            <a:endParaRPr lang="en-US" dirty="0"/>
          </a:p>
        </p:txBody>
      </p:sp>
      <p:sp>
        <p:nvSpPr>
          <p:cNvPr id="3" name="Content Placeholder 2"/>
          <p:cNvSpPr>
            <a:spLocks noGrp="1"/>
          </p:cNvSpPr>
          <p:nvPr>
            <p:ph idx="1"/>
          </p:nvPr>
        </p:nvSpPr>
        <p:spPr>
          <a:xfrm>
            <a:off x="685800" y="2490135"/>
            <a:ext cx="7772400" cy="3834465"/>
          </a:xfrm>
        </p:spPr>
        <p:txBody>
          <a:bodyPr>
            <a:normAutofit fontScale="70000" lnSpcReduction="20000"/>
          </a:bodyPr>
          <a:lstStyle/>
          <a:p>
            <a:pPr lvl="0" algn="just"/>
            <a:r>
              <a:rPr lang="en-US" dirty="0"/>
              <a:t>A steam sterilizer will reliably sterilize items only when kept in good working condition and operated correctly. </a:t>
            </a:r>
          </a:p>
          <a:p>
            <a:pPr lvl="0" algn="just"/>
            <a:r>
              <a:rPr lang="en-US" dirty="0"/>
              <a:t>Sterilization by steam requires four conditions: </a:t>
            </a:r>
            <a:endParaRPr lang="en-US" dirty="0" smtClean="0"/>
          </a:p>
          <a:p>
            <a:pPr lvl="1" algn="just"/>
            <a:r>
              <a:rPr lang="en-US" dirty="0" smtClean="0"/>
              <a:t>Adequate contact, </a:t>
            </a:r>
          </a:p>
          <a:p>
            <a:pPr lvl="1" algn="just"/>
            <a:r>
              <a:rPr lang="en-US" dirty="0" smtClean="0"/>
              <a:t>Sufficient temperature, </a:t>
            </a:r>
          </a:p>
          <a:p>
            <a:pPr lvl="1" algn="just"/>
            <a:r>
              <a:rPr lang="en-US" dirty="0" smtClean="0"/>
              <a:t>Proper time and </a:t>
            </a:r>
          </a:p>
          <a:p>
            <a:pPr lvl="1" algn="just"/>
            <a:r>
              <a:rPr lang="en-US" dirty="0" smtClean="0"/>
              <a:t>Sufficient moisture. </a:t>
            </a:r>
          </a:p>
          <a:p>
            <a:pPr algn="just"/>
            <a:r>
              <a:rPr lang="en-US" dirty="0" smtClean="0"/>
              <a:t>Even </a:t>
            </a:r>
            <a:r>
              <a:rPr lang="en-US" dirty="0"/>
              <a:t>if these conditions are all necessary for sterilization to take place, sterilization failures in clinics and hospitals are most often caused by lack of steam contact or failure to attain adequate temperature</a:t>
            </a:r>
          </a:p>
        </p:txBody>
      </p:sp>
    </p:spTree>
    <p:extLst>
      <p:ext uri="{BB962C8B-B14F-4D97-AF65-F5344CB8AC3E}">
        <p14:creationId xmlns:p14="http://schemas.microsoft.com/office/powerpoint/2010/main" val="26879566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30778"/>
            <a:ext cx="8077200" cy="1188426"/>
          </a:xfrm>
        </p:spPr>
        <p:txBody>
          <a:bodyPr/>
          <a:lstStyle/>
          <a:p>
            <a:r>
              <a:rPr lang="en-US" sz="3200" dirty="0" smtClean="0"/>
              <a:t>Effective sterilization depends on correctly following procedures of the process</a:t>
            </a:r>
            <a:endParaRPr lang="en-US" sz="3200" dirty="0"/>
          </a:p>
        </p:txBody>
      </p:sp>
      <p:sp>
        <p:nvSpPr>
          <p:cNvPr id="3" name="Content Placeholder 2"/>
          <p:cNvSpPr>
            <a:spLocks noGrp="1"/>
          </p:cNvSpPr>
          <p:nvPr>
            <p:ph idx="1"/>
          </p:nvPr>
        </p:nvSpPr>
        <p:spPr/>
        <p:txBody>
          <a:bodyPr>
            <a:normAutofit fontScale="92500" lnSpcReduction="20000"/>
          </a:bodyPr>
          <a:lstStyle/>
          <a:p>
            <a:r>
              <a:rPr lang="en-US" b="1" dirty="0" smtClean="0"/>
              <a:t>These </a:t>
            </a:r>
            <a:r>
              <a:rPr lang="en-US" b="1" dirty="0"/>
              <a:t>include:</a:t>
            </a:r>
            <a:endParaRPr lang="en-US" dirty="0"/>
          </a:p>
          <a:p>
            <a:pPr lvl="1"/>
            <a:r>
              <a:rPr lang="en-US" dirty="0"/>
              <a:t>Routine maintenance,</a:t>
            </a:r>
          </a:p>
          <a:p>
            <a:pPr lvl="1"/>
            <a:r>
              <a:rPr lang="en-US" dirty="0"/>
              <a:t>Preparing items to be sterilized,</a:t>
            </a:r>
          </a:p>
          <a:p>
            <a:pPr lvl="1"/>
            <a:r>
              <a:rPr lang="en-US" dirty="0"/>
              <a:t>Packaging and wrapping,</a:t>
            </a:r>
          </a:p>
          <a:p>
            <a:pPr lvl="1"/>
            <a:r>
              <a:rPr lang="en-US" dirty="0"/>
              <a:t>Loading,</a:t>
            </a:r>
          </a:p>
          <a:p>
            <a:pPr lvl="1"/>
            <a:r>
              <a:rPr lang="en-US" dirty="0"/>
              <a:t>Operating, and</a:t>
            </a:r>
          </a:p>
          <a:p>
            <a:pPr lvl="1"/>
            <a:r>
              <a:rPr lang="en-US" dirty="0"/>
              <a:t>Unloading the sterilizer.</a:t>
            </a:r>
          </a:p>
          <a:p>
            <a:endParaRPr lang="en-US" dirty="0"/>
          </a:p>
        </p:txBody>
      </p:sp>
    </p:spTree>
    <p:extLst>
      <p:ext uri="{BB962C8B-B14F-4D97-AF65-F5344CB8AC3E}">
        <p14:creationId xmlns:p14="http://schemas.microsoft.com/office/powerpoint/2010/main" val="4234586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Routine </a:t>
            </a:r>
            <a:r>
              <a:rPr lang="en-US" dirty="0" smtClean="0"/>
              <a:t>Maintenance</a:t>
            </a:r>
            <a:endParaRPr lang="en-US" dirty="0"/>
          </a:p>
        </p:txBody>
      </p:sp>
      <p:sp>
        <p:nvSpPr>
          <p:cNvPr id="3" name="Content Placeholder 2"/>
          <p:cNvSpPr>
            <a:spLocks noGrp="1"/>
          </p:cNvSpPr>
          <p:nvPr>
            <p:ph idx="1"/>
          </p:nvPr>
        </p:nvSpPr>
        <p:spPr>
          <a:xfrm>
            <a:off x="685800" y="2514600"/>
            <a:ext cx="7772400" cy="3758265"/>
          </a:xfrm>
        </p:spPr>
        <p:txBody>
          <a:bodyPr>
            <a:normAutofit fontScale="70000" lnSpcReduction="20000"/>
          </a:bodyPr>
          <a:lstStyle/>
          <a:p>
            <a:pPr lvl="0" algn="just"/>
            <a:r>
              <a:rPr lang="en-US" dirty="0"/>
              <a:t>The </a:t>
            </a:r>
            <a:r>
              <a:rPr lang="en-US" b="1" dirty="0"/>
              <a:t>chamber should be cleaned</a:t>
            </a:r>
            <a:r>
              <a:rPr lang="en-US" dirty="0"/>
              <a:t> daily using a soft cloth, or for large sterilizers, a long- handled mop which is used only for this purpose. Do not use abrasives or steel wool because they may scratch the stainless steel surface and increase the occurrence of corrosion.</a:t>
            </a:r>
          </a:p>
          <a:p>
            <a:pPr lvl="0" algn="just"/>
            <a:r>
              <a:rPr lang="en-US" dirty="0"/>
              <a:t>All </a:t>
            </a:r>
            <a:r>
              <a:rPr lang="en-US" b="1" dirty="0"/>
              <a:t>door gaskets should be cleaned </a:t>
            </a:r>
            <a:r>
              <a:rPr lang="en-US" dirty="0"/>
              <a:t>daily with a lint-free cloth and checked for defects. Defective rubber gaskets should be replaced.</a:t>
            </a:r>
          </a:p>
          <a:p>
            <a:pPr lvl="0" algn="just"/>
            <a:r>
              <a:rPr lang="en-US" dirty="0"/>
              <a:t>The </a:t>
            </a:r>
            <a:r>
              <a:rPr lang="en-US" b="1" dirty="0"/>
              <a:t>carriag</a:t>
            </a:r>
            <a:r>
              <a:rPr lang="en-US" dirty="0"/>
              <a:t>e (loading cart used to hold the packs placed in a sterilizer) </a:t>
            </a:r>
            <a:r>
              <a:rPr lang="en-US" b="1" dirty="0"/>
              <a:t>should be cleaned </a:t>
            </a:r>
            <a:r>
              <a:rPr lang="en-US" dirty="0"/>
              <a:t>daily using a mild soap and lint-free cloth.</a:t>
            </a:r>
          </a:p>
          <a:p>
            <a:pPr algn="just"/>
            <a:r>
              <a:rPr lang="en-US" dirty="0"/>
              <a:t>The </a:t>
            </a:r>
            <a:r>
              <a:rPr lang="en-US" b="1" dirty="0"/>
              <a:t>exhaust line </a:t>
            </a:r>
            <a:r>
              <a:rPr lang="en-US" dirty="0"/>
              <a:t>(or chamber drain) </a:t>
            </a:r>
            <a:r>
              <a:rPr lang="en-US" b="1" dirty="0"/>
              <a:t>should be flushed </a:t>
            </a:r>
            <a:r>
              <a:rPr lang="en-US" dirty="0"/>
              <a:t>weekly. </a:t>
            </a:r>
          </a:p>
        </p:txBody>
      </p:sp>
    </p:spTree>
    <p:extLst>
      <p:ext uri="{BB962C8B-B14F-4D97-AF65-F5344CB8AC3E}">
        <p14:creationId xmlns:p14="http://schemas.microsoft.com/office/powerpoint/2010/main" val="5985417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Loading</a:t>
            </a:r>
            <a:endParaRPr lang="en-US" dirty="0"/>
          </a:p>
        </p:txBody>
      </p:sp>
      <p:sp>
        <p:nvSpPr>
          <p:cNvPr id="3" name="Content Placeholder 2"/>
          <p:cNvSpPr>
            <a:spLocks noGrp="1"/>
          </p:cNvSpPr>
          <p:nvPr>
            <p:ph idx="1"/>
          </p:nvPr>
        </p:nvSpPr>
        <p:spPr>
          <a:xfrm>
            <a:off x="685800" y="2490135"/>
            <a:ext cx="7772400" cy="3834465"/>
          </a:xfrm>
        </p:spPr>
        <p:txBody>
          <a:bodyPr>
            <a:normAutofit fontScale="77500" lnSpcReduction="20000"/>
          </a:bodyPr>
          <a:lstStyle/>
          <a:p>
            <a:pPr lvl="0" algn="just"/>
            <a:r>
              <a:rPr lang="en-US" dirty="0"/>
              <a:t>To load items into the autoclave in such a way that it allows passage of the most steam through the load.</a:t>
            </a:r>
          </a:p>
          <a:p>
            <a:pPr lvl="0" algn="just"/>
            <a:r>
              <a:rPr lang="en-US" dirty="0" smtClean="0"/>
              <a:t>The </a:t>
            </a:r>
            <a:r>
              <a:rPr lang="en-US" dirty="0"/>
              <a:t>total weight of an individual pack should not exceed 11 kg (24 pounds).</a:t>
            </a:r>
          </a:p>
          <a:p>
            <a:pPr lvl="0" algn="just"/>
            <a:r>
              <a:rPr lang="en-US" dirty="0"/>
              <a:t>When loading, leave sufficient space for steam to circulate freely and avoid overloading. Always leave 3 inches between the top-most pack and the top of the chamber. Items should not touch the chamber wall. Never overload the sterilization chamber.</a:t>
            </a:r>
          </a:p>
          <a:p>
            <a:pPr lvl="0" algn="just"/>
            <a:r>
              <a:rPr lang="en-US" dirty="0"/>
              <a:t>Do not place packages on the floor of the chamber.</a:t>
            </a:r>
          </a:p>
          <a:p>
            <a:pPr lvl="0" algn="just"/>
            <a:endParaRPr lang="en-US" dirty="0"/>
          </a:p>
          <a:p>
            <a:pPr algn="just"/>
            <a:endParaRPr lang="en-US" dirty="0"/>
          </a:p>
        </p:txBody>
      </p:sp>
    </p:spTree>
    <p:extLst>
      <p:ext uri="{BB962C8B-B14F-4D97-AF65-F5344CB8AC3E}">
        <p14:creationId xmlns:p14="http://schemas.microsoft.com/office/powerpoint/2010/main" val="1301875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b="1" dirty="0"/>
              <a:t>Loading Steam </a:t>
            </a:r>
            <a:r>
              <a:rPr lang="en-US" sz="4400" b="1" dirty="0" smtClean="0"/>
              <a:t>Sterilizer</a:t>
            </a:r>
            <a:endParaRPr lang="en-US" sz="4400"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362200"/>
            <a:ext cx="6781800" cy="3919943"/>
          </a:xfrm>
          <a:prstGeom prst="rect">
            <a:avLst/>
          </a:prstGeom>
          <a:noFill/>
        </p:spPr>
      </p:pic>
    </p:spTree>
    <p:extLst>
      <p:ext uri="{BB962C8B-B14F-4D97-AF65-F5344CB8AC3E}">
        <p14:creationId xmlns:p14="http://schemas.microsoft.com/office/powerpoint/2010/main" val="32178457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Unloading</a:t>
            </a:r>
          </a:p>
        </p:txBody>
      </p:sp>
      <p:sp>
        <p:nvSpPr>
          <p:cNvPr id="4" name="Content Placeholder 3"/>
          <p:cNvSpPr>
            <a:spLocks noGrp="1"/>
          </p:cNvSpPr>
          <p:nvPr>
            <p:ph idx="1"/>
          </p:nvPr>
        </p:nvSpPr>
        <p:spPr>
          <a:xfrm>
            <a:off x="685800" y="2362200"/>
            <a:ext cx="7772400" cy="3986865"/>
          </a:xfrm>
        </p:spPr>
        <p:txBody>
          <a:bodyPr>
            <a:normAutofit fontScale="62500" lnSpcReduction="20000"/>
          </a:bodyPr>
          <a:lstStyle/>
          <a:p>
            <a:pPr algn="just"/>
            <a:r>
              <a:rPr lang="en-US" dirty="0"/>
              <a:t>To unload the steam autoclave so as to maintain the sterility of the items processed through a sterilizing cycle.</a:t>
            </a:r>
          </a:p>
          <a:p>
            <a:pPr lvl="0" algn="just"/>
            <a:r>
              <a:rPr lang="en-US" dirty="0" smtClean="0"/>
              <a:t>Open </a:t>
            </a:r>
            <a:r>
              <a:rPr lang="en-US" dirty="0"/>
              <a:t>the sterilizer door slightly 12-14 cm (5-6 inches) at the end of the cycle (when the chamber gauge reaches “0”) and allow items to remain inside to reduce the potential for condensation (formation of water drops on the packages).</a:t>
            </a:r>
          </a:p>
          <a:p>
            <a:pPr lvl="0" algn="just"/>
            <a:r>
              <a:rPr lang="en-US" dirty="0"/>
              <a:t>Allow instrument packs to dry completely before removal (usually takes 30 minutes). Cooling time could be as long as 2 hours, based on room temperature and humidity.</a:t>
            </a:r>
          </a:p>
          <a:p>
            <a:pPr lvl="0" algn="just"/>
            <a:r>
              <a:rPr lang="en-US" dirty="0"/>
              <a:t>Wet packs are never acceptable.</a:t>
            </a:r>
          </a:p>
          <a:p>
            <a:pPr lvl="0" algn="just"/>
            <a:r>
              <a:rPr lang="en-US" dirty="0"/>
              <a:t>Return any pack that is wet for reprocessing (remove items from the package and repackage before reprocessing).</a:t>
            </a:r>
          </a:p>
          <a:p>
            <a:pPr lvl="0" algn="just"/>
            <a:r>
              <a:rPr lang="en-US" dirty="0"/>
              <a:t>Do not handle the packs during the cooling </a:t>
            </a:r>
            <a:r>
              <a:rPr lang="en-US" dirty="0" smtClean="0"/>
              <a:t>time</a:t>
            </a:r>
            <a:endParaRPr lang="en-US" dirty="0"/>
          </a:p>
        </p:txBody>
      </p:sp>
    </p:spTree>
    <p:extLst>
      <p:ext uri="{BB962C8B-B14F-4D97-AF65-F5344CB8AC3E}">
        <p14:creationId xmlns:p14="http://schemas.microsoft.com/office/powerpoint/2010/main" val="34252207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Unloading cont’d</a:t>
            </a:r>
            <a:endParaRPr lang="en-US" dirty="0"/>
          </a:p>
        </p:txBody>
      </p:sp>
      <p:sp>
        <p:nvSpPr>
          <p:cNvPr id="4" name="Content Placeholder 3"/>
          <p:cNvSpPr>
            <a:spLocks noGrp="1"/>
          </p:cNvSpPr>
          <p:nvPr>
            <p:ph idx="1"/>
          </p:nvPr>
        </p:nvSpPr>
        <p:spPr>
          <a:xfrm>
            <a:off x="685800" y="2490135"/>
            <a:ext cx="7772400" cy="3758265"/>
          </a:xfrm>
        </p:spPr>
        <p:txBody>
          <a:bodyPr>
            <a:normAutofit fontScale="70000" lnSpcReduction="20000"/>
          </a:bodyPr>
          <a:lstStyle/>
          <a:p>
            <a:pPr lvl="0" algn="just"/>
            <a:r>
              <a:rPr lang="en-US" dirty="0" smtClean="0"/>
              <a:t>Place </a:t>
            </a:r>
            <a:r>
              <a:rPr lang="en-US" dirty="0"/>
              <a:t>sterile trays and packs on surfaces padded with paper or fabric (avoid placing warm packs on cold metal surfaces so as to prevent condensation).</a:t>
            </a:r>
          </a:p>
          <a:p>
            <a:pPr lvl="0" algn="just"/>
            <a:r>
              <a:rPr lang="en-US" dirty="0"/>
              <a:t>Store when packs reach room temperature (usually takes about an hour).</a:t>
            </a:r>
          </a:p>
          <a:p>
            <a:pPr lvl="0" algn="just"/>
            <a:r>
              <a:rPr lang="en-US" dirty="0"/>
              <a:t>Sterilized packs and articles should be handled gently and used as reasonably as possible.</a:t>
            </a:r>
          </a:p>
          <a:p>
            <a:pPr lvl="0" algn="just"/>
            <a:r>
              <a:rPr lang="en-US" dirty="0"/>
              <a:t>Return any pack that drops on the floor for reprocessing (remove items from the package and repackage before reprocessing).</a:t>
            </a:r>
          </a:p>
          <a:p>
            <a:pPr lvl="0" algn="just"/>
            <a:r>
              <a:rPr lang="en-US" b="1" dirty="0"/>
              <a:t>If a pack is dropped, turns to be moist or comes into contact with moisture, it must be considered contaminated.</a:t>
            </a:r>
            <a:endParaRPr lang="en-US" dirty="0"/>
          </a:p>
          <a:p>
            <a:pPr algn="just"/>
            <a:endParaRPr lang="en-US" dirty="0"/>
          </a:p>
        </p:txBody>
      </p:sp>
    </p:spTree>
    <p:extLst>
      <p:ext uri="{BB962C8B-B14F-4D97-AF65-F5344CB8AC3E}">
        <p14:creationId xmlns:p14="http://schemas.microsoft.com/office/powerpoint/2010/main" val="34252207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of operating a steam sterilizer</a:t>
            </a:r>
            <a:endParaRPr lang="en-US" dirty="0"/>
          </a:p>
        </p:txBody>
      </p:sp>
      <p:sp>
        <p:nvSpPr>
          <p:cNvPr id="3" name="Content Placeholder 2"/>
          <p:cNvSpPr>
            <a:spLocks noGrp="1"/>
          </p:cNvSpPr>
          <p:nvPr>
            <p:ph idx="1"/>
          </p:nvPr>
        </p:nvSpPr>
        <p:spPr>
          <a:xfrm>
            <a:off x="685800" y="2337735"/>
            <a:ext cx="7772400" cy="4063065"/>
          </a:xfrm>
        </p:spPr>
        <p:txBody>
          <a:bodyPr>
            <a:normAutofit fontScale="62500" lnSpcReduction="20000"/>
          </a:bodyPr>
          <a:lstStyle/>
          <a:p>
            <a:r>
              <a:rPr lang="en-US" b="1" dirty="0" smtClean="0"/>
              <a:t>STEP </a:t>
            </a:r>
            <a:r>
              <a:rPr lang="en-US" b="1" dirty="0"/>
              <a:t>1 </a:t>
            </a:r>
            <a:r>
              <a:rPr lang="en-US" dirty="0"/>
              <a:t>Thoroughly clean and dry all instruments and other items to be sterilized.</a:t>
            </a:r>
          </a:p>
          <a:p>
            <a:r>
              <a:rPr lang="en-US" b="1" dirty="0"/>
              <a:t>STEP 2 </a:t>
            </a:r>
            <a:r>
              <a:rPr lang="en-US" dirty="0"/>
              <a:t>All jointed instruments should be in an open or unlock position, while instruments composed of more than one part or sliding parts should be disassembled.</a:t>
            </a:r>
          </a:p>
          <a:p>
            <a:r>
              <a:rPr lang="en-US" b="1" dirty="0"/>
              <a:t>STEP 3 </a:t>
            </a:r>
            <a:r>
              <a:rPr lang="en-US" dirty="0"/>
              <a:t>Instruments should not be held tightly together by rubber bands or any other means that will prevent steam contact with all surfaces.</a:t>
            </a:r>
          </a:p>
          <a:p>
            <a:r>
              <a:rPr lang="en-US" b="1" dirty="0"/>
              <a:t>STEP 4 </a:t>
            </a:r>
            <a:r>
              <a:rPr lang="en-US" dirty="0"/>
              <a:t>Arrange packs in the chamber to allow free circulation and penetration of steam to all surfaces.</a:t>
            </a:r>
          </a:p>
          <a:p>
            <a:r>
              <a:rPr lang="en-US" b="1" dirty="0"/>
              <a:t>STEP 5</a:t>
            </a:r>
            <a:r>
              <a:rPr lang="en-US" dirty="0"/>
              <a:t> When using a steam sterilizer, it is best to wrap clean instruments or other clean items in a double thickness of muslin or newsprint. (Unwrapped instruments must be used immediately after removal from the sterilizer, unless they are kept in a covered, sterile container</a:t>
            </a:r>
            <a:r>
              <a:rPr lang="en-US" dirty="0" smtClean="0"/>
              <a:t>.)</a:t>
            </a:r>
            <a:endParaRPr lang="en-US" dirty="0"/>
          </a:p>
        </p:txBody>
      </p:sp>
    </p:spTree>
    <p:extLst>
      <p:ext uri="{BB962C8B-B14F-4D97-AF65-F5344CB8AC3E}">
        <p14:creationId xmlns:p14="http://schemas.microsoft.com/office/powerpoint/2010/main" val="15531831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of operating a steam sterilizer</a:t>
            </a:r>
            <a:endParaRPr lang="en-US" dirty="0"/>
          </a:p>
        </p:txBody>
      </p:sp>
      <p:sp>
        <p:nvSpPr>
          <p:cNvPr id="3" name="Content Placeholder 2"/>
          <p:cNvSpPr>
            <a:spLocks noGrp="1"/>
          </p:cNvSpPr>
          <p:nvPr>
            <p:ph idx="1"/>
          </p:nvPr>
        </p:nvSpPr>
        <p:spPr>
          <a:xfrm>
            <a:off x="685800" y="2362200"/>
            <a:ext cx="7772400" cy="4139265"/>
          </a:xfrm>
        </p:spPr>
        <p:txBody>
          <a:bodyPr>
            <a:normAutofit fontScale="55000" lnSpcReduction="20000"/>
          </a:bodyPr>
          <a:lstStyle/>
          <a:p>
            <a:pPr algn="just"/>
            <a:r>
              <a:rPr lang="en-US" b="1" dirty="0" smtClean="0"/>
              <a:t>STEP </a:t>
            </a:r>
            <a:r>
              <a:rPr lang="en-US" b="1" dirty="0"/>
              <a:t>6</a:t>
            </a:r>
            <a:r>
              <a:rPr lang="en-US" dirty="0"/>
              <a:t> Sterilize  at  121</a:t>
            </a:r>
            <a:r>
              <a:rPr lang="en-US" baseline="30000" dirty="0"/>
              <a:t>0</a:t>
            </a:r>
            <a:r>
              <a:rPr lang="en-US" dirty="0"/>
              <a:t>C  (2500F) for  30  minutes  for  wrapped  items  and  20  minutes  for unwrapped items; set time of the clock.</a:t>
            </a:r>
          </a:p>
          <a:p>
            <a:pPr algn="just"/>
            <a:r>
              <a:rPr lang="en-US" b="1" dirty="0"/>
              <a:t>STEP 7 </a:t>
            </a:r>
            <a:r>
              <a:rPr lang="en-US" dirty="0"/>
              <a:t>Wait 20 to 30 minutes (or until the pressure gauge reads zero) to permit the sterilizer to cool sufficiently. Then open the lid or door to allow steam to escape. Allow instrument packs to dry completely before removal which may take up to 30 minutes (Wet packs act like a wick drawing in bacteria, viruses and fungi from the environment). Wrapped instrument packs are considered unacceptable if there are water droplets or visible moisture on the package exterior when they are removed from the steam sterilizer chamber. If using rigid containers (e.g. drums), close the gaskets.</a:t>
            </a:r>
          </a:p>
          <a:p>
            <a:pPr algn="just"/>
            <a:r>
              <a:rPr lang="en-US" b="1" dirty="0"/>
              <a:t>STEP 8 </a:t>
            </a:r>
            <a:r>
              <a:rPr lang="en-US" dirty="0"/>
              <a:t>To prevent condensation when removing the packs from the chamber, place sterile trays and packs on a surface padded with paper or fabric.</a:t>
            </a:r>
          </a:p>
          <a:p>
            <a:pPr algn="just"/>
            <a:r>
              <a:rPr lang="en-US" b="1" dirty="0"/>
              <a:t>STEP 9 </a:t>
            </a:r>
            <a:r>
              <a:rPr lang="en-US" dirty="0"/>
              <a:t>After sterilizing, items wrapped in cloth or papers are considered sterile as long as the pack remains clean, dry (including no water stains) and intact. Unwrapped items must be used immediately or stored in covered sterile containers.</a:t>
            </a:r>
          </a:p>
          <a:p>
            <a:pPr algn="just"/>
            <a:endParaRPr lang="en-US" dirty="0"/>
          </a:p>
        </p:txBody>
      </p:sp>
    </p:spTree>
    <p:extLst>
      <p:ext uri="{BB962C8B-B14F-4D97-AF65-F5344CB8AC3E}">
        <p14:creationId xmlns:p14="http://schemas.microsoft.com/office/powerpoint/2010/main" val="155318316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Remember</a:t>
            </a:r>
            <a:endParaRPr lang="en-US" dirty="0"/>
          </a:p>
        </p:txBody>
      </p:sp>
      <p:sp>
        <p:nvSpPr>
          <p:cNvPr id="3" name="Content Placeholder 2"/>
          <p:cNvSpPr>
            <a:spLocks noGrp="1"/>
          </p:cNvSpPr>
          <p:nvPr>
            <p:ph idx="1"/>
          </p:nvPr>
        </p:nvSpPr>
        <p:spPr>
          <a:xfrm>
            <a:off x="685800" y="2490135"/>
            <a:ext cx="7772400" cy="3986865"/>
          </a:xfrm>
        </p:spPr>
        <p:txBody>
          <a:bodyPr>
            <a:normAutofit fontScale="55000" lnSpcReduction="20000"/>
          </a:bodyPr>
          <a:lstStyle/>
          <a:p>
            <a:pPr marL="285750" lvl="2" algn="just"/>
            <a:r>
              <a:rPr lang="en-US" sz="3200" dirty="0"/>
              <a:t>Maintain a steam sterilizer log including heat begun, correct temperature and pressure achieved, heat turned down, and heat turned off.</a:t>
            </a:r>
          </a:p>
          <a:p>
            <a:pPr marL="285750" lvl="2" algn="just"/>
            <a:r>
              <a:rPr lang="en-US" sz="3200" dirty="0"/>
              <a:t>Each load should  be  monitored  with  mechanical  (time,  temperature  and pressure) and chemical (internal and external chemical test strips) indicators.</a:t>
            </a:r>
          </a:p>
          <a:p>
            <a:pPr marL="285750" lvl="2" algn="just"/>
            <a:r>
              <a:rPr lang="en-US" sz="3200" dirty="0"/>
              <a:t>Autoclave should be tested daily with an air-removal test to ensure proper removal of air.</a:t>
            </a:r>
          </a:p>
          <a:p>
            <a:pPr lvl="0" algn="just"/>
            <a:r>
              <a:rPr lang="en-US" dirty="0"/>
              <a:t>If steam escapes from the safety valve or under the lid, the autoclave is not working correctly. Rather, it is merely steaming items at low-pressure (which may be equivalent to HLD, not sterilization). Then, what is to be done?</a:t>
            </a:r>
            <a:endParaRPr lang="en-US" sz="2000" dirty="0"/>
          </a:p>
          <a:p>
            <a:pPr lvl="1" algn="just"/>
            <a:r>
              <a:rPr lang="en-US" sz="3300" dirty="0"/>
              <a:t>If steam escapes from the safety valve instead of the pressure valve, the pressure valve must be cleaned and inspected.</a:t>
            </a:r>
          </a:p>
          <a:p>
            <a:pPr lvl="1" algn="just"/>
            <a:r>
              <a:rPr lang="en-US" sz="3300" dirty="0"/>
              <a:t>If steam escapes from under the lid, the gasket (rubber ring) must be cleaned and dried or replaced.</a:t>
            </a:r>
          </a:p>
          <a:p>
            <a:pPr algn="just"/>
            <a:endParaRPr lang="en-US" dirty="0"/>
          </a:p>
        </p:txBody>
      </p:sp>
    </p:spTree>
    <p:extLst>
      <p:ext uri="{BB962C8B-B14F-4D97-AF65-F5344CB8AC3E}">
        <p14:creationId xmlns:p14="http://schemas.microsoft.com/office/powerpoint/2010/main" val="78170374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Dry heat sterilization method</a:t>
            </a:r>
            <a:endParaRPr lang="en-US" dirty="0"/>
          </a:p>
        </p:txBody>
      </p:sp>
      <p:sp>
        <p:nvSpPr>
          <p:cNvPr id="3" name="Content Placeholder 2"/>
          <p:cNvSpPr>
            <a:spLocks noGrp="1"/>
          </p:cNvSpPr>
          <p:nvPr>
            <p:ph idx="1"/>
          </p:nvPr>
        </p:nvSpPr>
        <p:spPr>
          <a:xfrm>
            <a:off x="685800" y="2362201"/>
            <a:ext cx="7772400" cy="3962400"/>
          </a:xfrm>
        </p:spPr>
        <p:txBody>
          <a:bodyPr>
            <a:normAutofit fontScale="62500" lnSpcReduction="20000"/>
          </a:bodyPr>
          <a:lstStyle/>
          <a:p>
            <a:pPr algn="just"/>
            <a:r>
              <a:rPr lang="en-US" dirty="0"/>
              <a:t>Dry heat sterilization is caused by hot air that destroys micro-organisms through oxidation that causes slow destruction of the micro-organisms protein. </a:t>
            </a:r>
            <a:endParaRPr lang="en-US" dirty="0" smtClean="0"/>
          </a:p>
          <a:p>
            <a:pPr lvl="0" algn="just"/>
            <a:r>
              <a:rPr lang="en-US" dirty="0" smtClean="0"/>
              <a:t>It is accomplished </a:t>
            </a:r>
            <a:r>
              <a:rPr lang="en-US" dirty="0"/>
              <a:t>by thermal (heat) conduction. Initially, heat is absorbed by the exterior surface of an item and then passed to the next layer.  </a:t>
            </a:r>
          </a:p>
          <a:p>
            <a:pPr lvl="0" algn="just"/>
            <a:r>
              <a:rPr lang="en-US" dirty="0"/>
              <a:t>Eventually, the entire object reaches the temperature needed for sterilization</a:t>
            </a:r>
            <a:r>
              <a:rPr lang="en-US" dirty="0" smtClean="0"/>
              <a:t>.</a:t>
            </a:r>
          </a:p>
          <a:p>
            <a:pPr lvl="0" algn="just"/>
            <a:r>
              <a:rPr lang="en-US" dirty="0"/>
              <a:t>Dry heat sterilization methods have limited value because it is difficult to maintain the same temperature throughout the process. </a:t>
            </a:r>
          </a:p>
          <a:p>
            <a:pPr lvl="0" algn="just"/>
            <a:r>
              <a:rPr lang="en-US" dirty="0"/>
              <a:t>Moreover, dry heat sterilization takes longer than steam sterilization, because the moisture in the steam sterilization process significantly speeds up the penetration of heat and shortens the time needed to kill microorganism. </a:t>
            </a:r>
          </a:p>
          <a:p>
            <a:pPr lvl="0" algn="just"/>
            <a:endParaRPr lang="en-US" dirty="0"/>
          </a:p>
          <a:p>
            <a:pPr algn="just"/>
            <a:endParaRPr lang="en-US" dirty="0"/>
          </a:p>
        </p:txBody>
      </p:sp>
    </p:spTree>
    <p:extLst>
      <p:ext uri="{BB962C8B-B14F-4D97-AF65-F5344CB8AC3E}">
        <p14:creationId xmlns:p14="http://schemas.microsoft.com/office/powerpoint/2010/main" val="3470492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Dry heat sterilization </a:t>
            </a:r>
            <a:r>
              <a:rPr lang="en-US" dirty="0" smtClean="0"/>
              <a:t>method cont’d…</a:t>
            </a:r>
            <a:endParaRPr lang="en-US" dirty="0"/>
          </a:p>
        </p:txBody>
      </p:sp>
      <p:sp>
        <p:nvSpPr>
          <p:cNvPr id="3" name="Content Placeholder 2"/>
          <p:cNvSpPr>
            <a:spLocks noGrp="1"/>
          </p:cNvSpPr>
          <p:nvPr>
            <p:ph idx="1"/>
          </p:nvPr>
        </p:nvSpPr>
        <p:spPr>
          <a:xfrm>
            <a:off x="685800" y="2490135"/>
            <a:ext cx="7772400" cy="3834465"/>
          </a:xfrm>
        </p:spPr>
        <p:txBody>
          <a:bodyPr>
            <a:normAutofit fontScale="70000" lnSpcReduction="20000"/>
          </a:bodyPr>
          <a:lstStyle/>
          <a:p>
            <a:pPr algn="just"/>
            <a:r>
              <a:rPr lang="en-US" dirty="0"/>
              <a:t>Just  as  with  steam  sterilization,  thorough  cleaning  of  the  object  prior  to  dry  heat sterilization is critical. If an instrument is not properly cleaned, effective sterilization cannot be ensured regardless of how long the instrument is heated.</a:t>
            </a:r>
          </a:p>
          <a:p>
            <a:pPr algn="just"/>
            <a:r>
              <a:rPr lang="en-US" b="1" dirty="0"/>
              <a:t>Advantages</a:t>
            </a:r>
            <a:endParaRPr lang="en-US" dirty="0"/>
          </a:p>
          <a:p>
            <a:pPr lvl="1" algn="just"/>
            <a:r>
              <a:rPr lang="en-US" dirty="0"/>
              <a:t>An effective method as dry heat reaches all surfaces of instruments by conduction , even for instruments that cannot be disassembled.</a:t>
            </a:r>
          </a:p>
          <a:p>
            <a:pPr lvl="1" algn="just"/>
            <a:r>
              <a:rPr lang="en-US" dirty="0"/>
              <a:t>Protective of sharps or instruments with a cutting edge (fewer problems with dulling of cutting edges).</a:t>
            </a:r>
          </a:p>
          <a:p>
            <a:pPr lvl="1" algn="just"/>
            <a:r>
              <a:rPr lang="en-US" dirty="0"/>
              <a:t>Leaves no chemical residue.</a:t>
            </a:r>
          </a:p>
          <a:p>
            <a:pPr lvl="1" algn="just"/>
            <a:r>
              <a:rPr lang="en-US" dirty="0"/>
              <a:t>Eliminates “wet pack” problems in humid climates</a:t>
            </a:r>
            <a:r>
              <a:rPr lang="en-US" dirty="0" smtClean="0"/>
              <a:t>.</a:t>
            </a:r>
            <a:endParaRPr lang="en-US" dirty="0"/>
          </a:p>
          <a:p>
            <a:pPr algn="just"/>
            <a:endParaRPr lang="en-US" dirty="0"/>
          </a:p>
        </p:txBody>
      </p:sp>
    </p:spTree>
    <p:extLst>
      <p:ext uri="{BB962C8B-B14F-4D97-AF65-F5344CB8AC3E}">
        <p14:creationId xmlns:p14="http://schemas.microsoft.com/office/powerpoint/2010/main" val="22088889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Dry heat sterilization method cont’d…</a:t>
            </a:r>
          </a:p>
        </p:txBody>
      </p:sp>
      <p:sp>
        <p:nvSpPr>
          <p:cNvPr id="3" name="Content Placeholder 2"/>
          <p:cNvSpPr>
            <a:spLocks noGrp="1"/>
          </p:cNvSpPr>
          <p:nvPr>
            <p:ph idx="1"/>
          </p:nvPr>
        </p:nvSpPr>
        <p:spPr/>
        <p:txBody>
          <a:bodyPr>
            <a:normAutofit fontScale="92500" lnSpcReduction="20000"/>
          </a:bodyPr>
          <a:lstStyle/>
          <a:p>
            <a:pPr algn="just"/>
            <a:r>
              <a:rPr lang="en-US" b="1" dirty="0"/>
              <a:t>Limitation</a:t>
            </a:r>
            <a:endParaRPr lang="en-US" dirty="0"/>
          </a:p>
          <a:p>
            <a:pPr lvl="1" algn="just"/>
            <a:r>
              <a:rPr lang="en-US" dirty="0"/>
              <a:t>Plastic and rubber items cannot be dry-heat sterilized because temperatures used (160 to 170</a:t>
            </a:r>
            <a:r>
              <a:rPr lang="en-US" baseline="30000" dirty="0"/>
              <a:t>0</a:t>
            </a:r>
            <a:r>
              <a:rPr lang="en-US" dirty="0"/>
              <a:t>C) are too high for these materials.</a:t>
            </a:r>
          </a:p>
          <a:p>
            <a:pPr lvl="1" algn="just"/>
            <a:r>
              <a:rPr lang="en-US" dirty="0"/>
              <a:t>Dry heat penetrates materials slowly and unevenly. </a:t>
            </a:r>
          </a:p>
          <a:p>
            <a:pPr lvl="1" algn="just"/>
            <a:r>
              <a:rPr lang="en-US" dirty="0"/>
              <a:t>Requires oven and continuous source of electricity.</a:t>
            </a:r>
          </a:p>
          <a:p>
            <a:pPr algn="just"/>
            <a:endParaRPr lang="en-US" dirty="0"/>
          </a:p>
        </p:txBody>
      </p:sp>
    </p:spTree>
    <p:extLst>
      <p:ext uri="{BB962C8B-B14F-4D97-AF65-F5344CB8AC3E}">
        <p14:creationId xmlns:p14="http://schemas.microsoft.com/office/powerpoint/2010/main" val="42930215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Conditions for effective use of dry-heat sterilizers</a:t>
            </a:r>
            <a:endParaRPr lang="en-US" dirty="0"/>
          </a:p>
        </p:txBody>
      </p:sp>
      <p:sp>
        <p:nvSpPr>
          <p:cNvPr id="3" name="Content Placeholder 2"/>
          <p:cNvSpPr>
            <a:spLocks noGrp="1"/>
          </p:cNvSpPr>
          <p:nvPr>
            <p:ph idx="1"/>
          </p:nvPr>
        </p:nvSpPr>
        <p:spPr/>
        <p:txBody>
          <a:bodyPr/>
          <a:lstStyle/>
          <a:p>
            <a:pPr lvl="0" algn="just"/>
            <a:r>
              <a:rPr lang="en-US" dirty="0"/>
              <a:t>Adherence to specific instructions</a:t>
            </a:r>
          </a:p>
          <a:p>
            <a:pPr lvl="0" algn="just"/>
            <a:r>
              <a:rPr lang="en-US" dirty="0"/>
              <a:t>Airflow rate and distribution</a:t>
            </a:r>
          </a:p>
          <a:p>
            <a:pPr lvl="0" algn="just"/>
            <a:r>
              <a:rPr lang="en-US" dirty="0"/>
              <a:t>Load configuration and distribution</a:t>
            </a:r>
          </a:p>
          <a:p>
            <a:pPr lvl="0" algn="just"/>
            <a:r>
              <a:rPr lang="en-US" dirty="0"/>
              <a:t>Temperature</a:t>
            </a:r>
          </a:p>
          <a:p>
            <a:pPr lvl="0" algn="just"/>
            <a:r>
              <a:rPr lang="en-US" dirty="0"/>
              <a:t>Time</a:t>
            </a:r>
          </a:p>
          <a:p>
            <a:pPr algn="just"/>
            <a:endParaRPr lang="en-US" dirty="0"/>
          </a:p>
        </p:txBody>
      </p:sp>
    </p:spTree>
    <p:extLst>
      <p:ext uri="{BB962C8B-B14F-4D97-AF65-F5344CB8AC3E}">
        <p14:creationId xmlns:p14="http://schemas.microsoft.com/office/powerpoint/2010/main" val="15851498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30778"/>
            <a:ext cx="7315200" cy="1188426"/>
          </a:xfrm>
        </p:spPr>
        <p:txBody>
          <a:bodyPr/>
          <a:lstStyle/>
          <a:p>
            <a:r>
              <a:rPr lang="en-US" dirty="0" smtClean="0"/>
              <a:t>Instructions for operating on dry heat oven</a:t>
            </a:r>
            <a:endParaRPr lang="en-US" dirty="0"/>
          </a:p>
        </p:txBody>
      </p:sp>
      <p:sp>
        <p:nvSpPr>
          <p:cNvPr id="3" name="Content Placeholder 2"/>
          <p:cNvSpPr>
            <a:spLocks noGrp="1"/>
          </p:cNvSpPr>
          <p:nvPr>
            <p:ph idx="1"/>
          </p:nvPr>
        </p:nvSpPr>
        <p:spPr>
          <a:xfrm>
            <a:off x="685800" y="2362200"/>
            <a:ext cx="7772400" cy="4139265"/>
          </a:xfrm>
        </p:spPr>
        <p:txBody>
          <a:bodyPr>
            <a:normAutofit fontScale="62500" lnSpcReduction="20000"/>
          </a:bodyPr>
          <a:lstStyle/>
          <a:p>
            <a:r>
              <a:rPr lang="en-US" b="1" dirty="0"/>
              <a:t>STEP 1 </a:t>
            </a:r>
            <a:r>
              <a:rPr lang="en-US" dirty="0"/>
              <a:t>Decontaminate, clean and dry all instruments and other items to be sterilized.</a:t>
            </a:r>
          </a:p>
          <a:p>
            <a:r>
              <a:rPr lang="en-US" b="1" dirty="0"/>
              <a:t>STEP 2 </a:t>
            </a:r>
            <a:r>
              <a:rPr lang="en-US" dirty="0"/>
              <a:t>If desired, wrap instruments in aluminum foil or place in a metal container with a tight- fitting closed lid. Wrapping helps prevent recontamination prior to use. Hypodermic or suture needles should be placed in glass tubes with cotton stoppers.</a:t>
            </a:r>
          </a:p>
          <a:p>
            <a:r>
              <a:rPr lang="en-US" b="1" dirty="0"/>
              <a:t>STEP 3 </a:t>
            </a:r>
            <a:r>
              <a:rPr lang="en-US" dirty="0"/>
              <a:t>Place loose (unwrapped) instruments in metal containers or on trays in the oven and heat them to the desired temperature.</a:t>
            </a:r>
          </a:p>
          <a:p>
            <a:r>
              <a:rPr lang="en-US" b="1" dirty="0"/>
              <a:t>STEP 4 </a:t>
            </a:r>
            <a:r>
              <a:rPr lang="en-US" dirty="0"/>
              <a:t>After the desired temperature is reached, begin timing. The following temperature/time ratios are </a:t>
            </a:r>
            <a:r>
              <a:rPr lang="en-US" dirty="0" smtClean="0"/>
              <a:t>recommended</a:t>
            </a:r>
          </a:p>
          <a:p>
            <a:r>
              <a:rPr lang="en-US" b="1" dirty="0"/>
              <a:t>STEP 5 </a:t>
            </a:r>
            <a:r>
              <a:rPr lang="en-US" dirty="0"/>
              <a:t>After cooling, remove packs and/or metal containers and </a:t>
            </a:r>
            <a:r>
              <a:rPr lang="en-US" dirty="0" smtClean="0"/>
              <a:t>store. Loose </a:t>
            </a:r>
            <a:r>
              <a:rPr lang="en-US" dirty="0"/>
              <a:t>items should be removed with sterile forceps/pickups and used immediately or placed in a sterile container with a tight-fitting lid until the time of use.</a:t>
            </a:r>
          </a:p>
          <a:p>
            <a:endParaRPr lang="en-US" dirty="0"/>
          </a:p>
          <a:p>
            <a:endParaRPr lang="en-US" dirty="0"/>
          </a:p>
        </p:txBody>
      </p:sp>
    </p:spTree>
    <p:extLst>
      <p:ext uri="{BB962C8B-B14F-4D97-AF65-F5344CB8AC3E}">
        <p14:creationId xmlns:p14="http://schemas.microsoft.com/office/powerpoint/2010/main" val="13889941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8400" y="1030778"/>
            <a:ext cx="6908800" cy="1188426"/>
          </a:xfrm>
        </p:spPr>
        <p:txBody>
          <a:bodyPr/>
          <a:lstStyle/>
          <a:p>
            <a:r>
              <a:rPr lang="en-US" dirty="0" smtClean="0"/>
              <a:t>Recommended time cycle for dry heat sterilization</a:t>
            </a:r>
            <a:endParaRPr lang="en-US" dirty="0"/>
          </a:p>
        </p:txBody>
      </p:sp>
      <p:sp>
        <p:nvSpPr>
          <p:cNvPr id="3" name="Content Placeholder 2"/>
          <p:cNvSpPr>
            <a:spLocks noGrp="1"/>
          </p:cNvSpPr>
          <p:nvPr>
            <p:ph idx="1"/>
          </p:nvPr>
        </p:nvSpPr>
        <p:spPr>
          <a:xfrm>
            <a:off x="685800" y="2490135"/>
            <a:ext cx="7772400" cy="3910665"/>
          </a:xfrm>
        </p:spPr>
        <p:txBody>
          <a:bodyPr>
            <a:normAutofit fontScale="62500" lnSpcReduction="20000"/>
          </a:bodyPr>
          <a:lstStyle/>
          <a:p>
            <a:pPr lvl="1" algn="just"/>
            <a:r>
              <a:rPr lang="en-US" dirty="0"/>
              <a:t>170</a:t>
            </a:r>
            <a:r>
              <a:rPr lang="en-US" baseline="30000" dirty="0"/>
              <a:t>0</a:t>
            </a:r>
            <a:r>
              <a:rPr lang="en-US" dirty="0"/>
              <a:t>C (3400F) </a:t>
            </a:r>
            <a:r>
              <a:rPr lang="en-US" dirty="0" smtClean="0"/>
              <a:t>		60 </a:t>
            </a:r>
            <a:r>
              <a:rPr lang="en-US" dirty="0"/>
              <a:t>minutes</a:t>
            </a:r>
          </a:p>
          <a:p>
            <a:pPr lvl="1" algn="just"/>
            <a:r>
              <a:rPr lang="en-US" dirty="0" smtClean="0"/>
              <a:t>160</a:t>
            </a:r>
            <a:r>
              <a:rPr lang="en-US" baseline="30000" dirty="0"/>
              <a:t>0</a:t>
            </a:r>
            <a:r>
              <a:rPr lang="en-US" dirty="0" smtClean="0"/>
              <a:t>C </a:t>
            </a:r>
            <a:r>
              <a:rPr lang="en-US" dirty="0"/>
              <a:t>(3200F) </a:t>
            </a:r>
            <a:r>
              <a:rPr lang="en-US" dirty="0" smtClean="0"/>
              <a:t>		120 </a:t>
            </a:r>
            <a:r>
              <a:rPr lang="en-US" dirty="0"/>
              <a:t>minutes</a:t>
            </a:r>
          </a:p>
          <a:p>
            <a:pPr lvl="1" algn="just"/>
            <a:r>
              <a:rPr lang="en-US" dirty="0" smtClean="0"/>
              <a:t>150</a:t>
            </a:r>
            <a:r>
              <a:rPr lang="en-US" baseline="30000" dirty="0"/>
              <a:t>0</a:t>
            </a:r>
            <a:r>
              <a:rPr lang="en-US" dirty="0" smtClean="0"/>
              <a:t>C </a:t>
            </a:r>
            <a:r>
              <a:rPr lang="en-US" dirty="0"/>
              <a:t>(3000F) </a:t>
            </a:r>
            <a:r>
              <a:rPr lang="en-US" dirty="0" smtClean="0"/>
              <a:t>		150 </a:t>
            </a:r>
            <a:r>
              <a:rPr lang="en-US" dirty="0"/>
              <a:t>minutes</a:t>
            </a:r>
          </a:p>
          <a:p>
            <a:pPr lvl="1" algn="just"/>
            <a:r>
              <a:rPr lang="en-US" dirty="0" smtClean="0"/>
              <a:t>140</a:t>
            </a:r>
            <a:r>
              <a:rPr lang="en-US" baseline="30000" dirty="0"/>
              <a:t>0</a:t>
            </a:r>
            <a:r>
              <a:rPr lang="en-US" dirty="0" smtClean="0"/>
              <a:t>C </a:t>
            </a:r>
            <a:r>
              <a:rPr lang="en-US" dirty="0"/>
              <a:t>(2850F) </a:t>
            </a:r>
            <a:r>
              <a:rPr lang="en-US" dirty="0" smtClean="0"/>
              <a:t>		180 </a:t>
            </a:r>
            <a:r>
              <a:rPr lang="en-US" dirty="0"/>
              <a:t>minutes</a:t>
            </a:r>
          </a:p>
          <a:p>
            <a:pPr lvl="1" algn="just"/>
            <a:r>
              <a:rPr lang="en-US" dirty="0" smtClean="0"/>
              <a:t>121</a:t>
            </a:r>
            <a:r>
              <a:rPr lang="en-US" baseline="30000" dirty="0"/>
              <a:t>0</a:t>
            </a:r>
            <a:r>
              <a:rPr lang="en-US" dirty="0" smtClean="0"/>
              <a:t>C </a:t>
            </a:r>
            <a:r>
              <a:rPr lang="en-US" dirty="0"/>
              <a:t>(2500F) </a:t>
            </a:r>
            <a:r>
              <a:rPr lang="en-US" dirty="0" smtClean="0"/>
              <a:t>		overnight</a:t>
            </a:r>
            <a:endParaRPr lang="en-US" dirty="0"/>
          </a:p>
          <a:p>
            <a:pPr algn="just"/>
            <a:r>
              <a:rPr lang="en-US" dirty="0"/>
              <a:t>Depending on the temperature selected, the total cycle time (preheating, sterilization time and cool down) will range from about 2.5 hours at 170</a:t>
            </a:r>
            <a:r>
              <a:rPr lang="en-US" baseline="30000" dirty="0"/>
              <a:t>0</a:t>
            </a:r>
            <a:r>
              <a:rPr lang="en-US" dirty="0"/>
              <a:t>C to more than 8 hours at 121</a:t>
            </a:r>
            <a:r>
              <a:rPr lang="en-US" baseline="30000" dirty="0"/>
              <a:t>0</a:t>
            </a:r>
            <a:r>
              <a:rPr lang="en-US" dirty="0"/>
              <a:t>C</a:t>
            </a:r>
            <a:r>
              <a:rPr lang="en-US" dirty="0" smtClean="0"/>
              <a:t>.</a:t>
            </a:r>
          </a:p>
          <a:p>
            <a:pPr lvl="1" algn="just"/>
            <a:r>
              <a:rPr lang="en-US" dirty="0"/>
              <a:t>Heat treatment in 170</a:t>
            </a:r>
            <a:r>
              <a:rPr lang="en-US" baseline="30000" dirty="0"/>
              <a:t>0</a:t>
            </a:r>
            <a:r>
              <a:rPr lang="en-US" dirty="0"/>
              <a:t>C (3400F) for an hour (total cycle time-placing instruments in the oven for an hour, and then cooling for 2 to 2.5 hours), or</a:t>
            </a:r>
          </a:p>
          <a:p>
            <a:pPr lvl="1" algn="just"/>
            <a:r>
              <a:rPr lang="en-US" dirty="0"/>
              <a:t>Heat treatment in 160</a:t>
            </a:r>
            <a:r>
              <a:rPr lang="en-US" baseline="30000" dirty="0"/>
              <a:t>0</a:t>
            </a:r>
            <a:r>
              <a:rPr lang="en-US" dirty="0"/>
              <a:t>C (3200F) for 2 hours (total cycle time is from 3 to 3.5 hours</a:t>
            </a:r>
            <a:r>
              <a:rPr lang="en-US" dirty="0" smtClean="0"/>
              <a:t>).</a:t>
            </a:r>
            <a:endParaRPr lang="en-US" dirty="0"/>
          </a:p>
          <a:p>
            <a:pPr algn="just"/>
            <a:endParaRPr lang="en-US" dirty="0"/>
          </a:p>
        </p:txBody>
      </p:sp>
    </p:spTree>
    <p:extLst>
      <p:ext uri="{BB962C8B-B14F-4D97-AF65-F5344CB8AC3E}">
        <p14:creationId xmlns:p14="http://schemas.microsoft.com/office/powerpoint/2010/main" val="18531405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sterilization</a:t>
            </a:r>
            <a:endParaRPr lang="en-US" dirty="0"/>
          </a:p>
        </p:txBody>
      </p:sp>
      <p:sp>
        <p:nvSpPr>
          <p:cNvPr id="3" name="Content Placeholder 2"/>
          <p:cNvSpPr>
            <a:spLocks noGrp="1"/>
          </p:cNvSpPr>
          <p:nvPr>
            <p:ph idx="1"/>
          </p:nvPr>
        </p:nvSpPr>
        <p:spPr>
          <a:xfrm>
            <a:off x="685800" y="2490135"/>
            <a:ext cx="7696200" cy="3834465"/>
          </a:xfrm>
        </p:spPr>
        <p:txBody>
          <a:bodyPr>
            <a:normAutofit fontScale="70000" lnSpcReduction="20000"/>
          </a:bodyPr>
          <a:lstStyle/>
          <a:p>
            <a:pPr lvl="0" algn="just"/>
            <a:r>
              <a:rPr lang="en-US" dirty="0"/>
              <a:t>Chemical sterilization is an alternative to high-pressure steam or dry-heat sterilization and often called “cold sterilization”. </a:t>
            </a:r>
          </a:p>
          <a:p>
            <a:pPr lvl="0" algn="just"/>
            <a:r>
              <a:rPr lang="en-US" dirty="0"/>
              <a:t>If objects need to be sterilized and when the availing methods like high-pressure steam or dry-heat sterilization would damage them or equipment are not available (or operational), they can be chemically sterilized.</a:t>
            </a:r>
          </a:p>
          <a:p>
            <a:pPr lvl="0" algn="just"/>
            <a:r>
              <a:rPr lang="en-US" dirty="0"/>
              <a:t>Many chemicals, both in liquid and gas form, are available for processing instruments. Chemicals that are approved as </a:t>
            </a:r>
            <a:r>
              <a:rPr lang="en-US" dirty="0" err="1"/>
              <a:t>sterilant’s</a:t>
            </a:r>
            <a:r>
              <a:rPr lang="en-US" dirty="0"/>
              <a:t> can also be used as high-level disinfectants but those approved only for HLD cannot be used as </a:t>
            </a:r>
            <a:r>
              <a:rPr lang="en-US" dirty="0" err="1"/>
              <a:t>sterilants</a:t>
            </a:r>
            <a:r>
              <a:rPr lang="en-US" dirty="0"/>
              <a:t>. </a:t>
            </a:r>
          </a:p>
          <a:p>
            <a:pPr lvl="0" algn="just"/>
            <a:r>
              <a:rPr lang="en-US" b="1" dirty="0"/>
              <a:t>Formaldehyde is no longer included as a </a:t>
            </a:r>
            <a:r>
              <a:rPr lang="en-US" b="1" dirty="0" err="1"/>
              <a:t>sterilant</a:t>
            </a:r>
            <a:r>
              <a:rPr lang="en-US" b="1" dirty="0"/>
              <a:t> or a high-level disinfectant due to its toxicity.</a:t>
            </a:r>
            <a:endParaRPr lang="en-US" dirty="0"/>
          </a:p>
          <a:p>
            <a:pPr algn="just"/>
            <a:endParaRPr lang="en-US" dirty="0"/>
          </a:p>
        </p:txBody>
      </p:sp>
    </p:spTree>
    <p:extLst>
      <p:ext uri="{BB962C8B-B14F-4D97-AF65-F5344CB8AC3E}">
        <p14:creationId xmlns:p14="http://schemas.microsoft.com/office/powerpoint/2010/main" val="8592462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Instructions on the use of chemical sterilization</a:t>
            </a:r>
            <a:endParaRPr lang="en-US" dirty="0"/>
          </a:p>
        </p:txBody>
      </p:sp>
      <p:sp>
        <p:nvSpPr>
          <p:cNvPr id="3" name="Content Placeholder 2"/>
          <p:cNvSpPr>
            <a:spLocks noGrp="1"/>
          </p:cNvSpPr>
          <p:nvPr>
            <p:ph idx="1"/>
          </p:nvPr>
        </p:nvSpPr>
        <p:spPr>
          <a:xfrm>
            <a:off x="685800" y="2490135"/>
            <a:ext cx="7772400" cy="3834465"/>
          </a:xfrm>
        </p:spPr>
        <p:txBody>
          <a:bodyPr>
            <a:normAutofit fontScale="62500" lnSpcReduction="20000"/>
          </a:bodyPr>
          <a:lstStyle/>
          <a:p>
            <a:pPr algn="just"/>
            <a:r>
              <a:rPr lang="en-US" b="1" dirty="0"/>
              <a:t>STEP 1 </a:t>
            </a:r>
            <a:r>
              <a:rPr lang="en-US" dirty="0"/>
              <a:t>Thoroughly clean and dry all instruments and other items to be sterilized.</a:t>
            </a:r>
          </a:p>
          <a:p>
            <a:pPr algn="just"/>
            <a:r>
              <a:rPr lang="en-US" b="1" dirty="0"/>
              <a:t>STEP 2 </a:t>
            </a:r>
            <a:r>
              <a:rPr lang="en-US" dirty="0"/>
              <a:t>Check the expiry date on the container and prepare the chemical </a:t>
            </a:r>
            <a:r>
              <a:rPr lang="en-US" dirty="0" err="1"/>
              <a:t>sterilant</a:t>
            </a:r>
            <a:r>
              <a:rPr lang="en-US" dirty="0"/>
              <a:t> solution following manufactures instruction. </a:t>
            </a:r>
          </a:p>
          <a:p>
            <a:pPr algn="just"/>
            <a:r>
              <a:rPr lang="en-US" b="1" dirty="0"/>
              <a:t>STEP 3 </a:t>
            </a:r>
            <a:r>
              <a:rPr lang="en-US" dirty="0"/>
              <a:t>Completely submerge items in a clean container filled with the chemical solution and place the lid on the container for the recommended period of time..</a:t>
            </a:r>
          </a:p>
          <a:p>
            <a:pPr algn="just"/>
            <a:r>
              <a:rPr lang="en-US" b="1" dirty="0"/>
              <a:t>STEP 4 </a:t>
            </a:r>
            <a:r>
              <a:rPr lang="en-US" dirty="0"/>
              <a:t>Remove objects from the solution with sterile forceps; rinse all surfaces three times in sterile water; and </a:t>
            </a:r>
            <a:r>
              <a:rPr lang="en-US" dirty="0" err="1"/>
              <a:t>airdry</a:t>
            </a:r>
            <a:r>
              <a:rPr lang="en-US" dirty="0"/>
              <a:t> them.   Ideally, three separate (sequential) rinse containers should be used.</a:t>
            </a:r>
          </a:p>
          <a:p>
            <a:pPr algn="just"/>
            <a:r>
              <a:rPr lang="en-US" b="1" dirty="0"/>
              <a:t>STEP 5 </a:t>
            </a:r>
            <a:r>
              <a:rPr lang="en-US" dirty="0"/>
              <a:t>Store objects in a sterile container with a tight-fitting lid if they will not be used immediately.</a:t>
            </a:r>
          </a:p>
          <a:p>
            <a:pPr algn="just"/>
            <a:endParaRPr lang="en-US" dirty="0"/>
          </a:p>
        </p:txBody>
      </p:sp>
    </p:spTree>
    <p:extLst>
      <p:ext uri="{BB962C8B-B14F-4D97-AF65-F5344CB8AC3E}">
        <p14:creationId xmlns:p14="http://schemas.microsoft.com/office/powerpoint/2010/main" val="4033817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4400" b="1" dirty="0" smtClean="0"/>
              <a:t>PPP 8.6:</a:t>
            </a:r>
            <a:br>
              <a:rPr lang="en-US" sz="4400" b="1" dirty="0" smtClean="0"/>
            </a:br>
            <a:r>
              <a:rPr lang="en-US" sz="4400" b="1" dirty="0" smtClean="0"/>
              <a:t> Monitoring </a:t>
            </a:r>
            <a:r>
              <a:rPr lang="en-US" sz="4400" b="1" dirty="0"/>
              <a:t>Sterilization Procedures</a:t>
            </a:r>
            <a:endParaRPr lang="en-US" sz="4400"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4751509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 Sterilization </a:t>
            </a:r>
            <a:r>
              <a:rPr lang="en-US" dirty="0" smtClean="0"/>
              <a:t>Procedures</a:t>
            </a:r>
            <a:endParaRPr lang="en-US" dirty="0"/>
          </a:p>
        </p:txBody>
      </p:sp>
      <p:sp>
        <p:nvSpPr>
          <p:cNvPr id="3" name="Content Placeholder 2"/>
          <p:cNvSpPr>
            <a:spLocks noGrp="1"/>
          </p:cNvSpPr>
          <p:nvPr>
            <p:ph idx="1"/>
          </p:nvPr>
        </p:nvSpPr>
        <p:spPr>
          <a:xfrm>
            <a:off x="1176865" y="2490135"/>
            <a:ext cx="6798736" cy="3529665"/>
          </a:xfrm>
        </p:spPr>
        <p:txBody>
          <a:bodyPr>
            <a:normAutofit fontScale="92500" lnSpcReduction="10000"/>
          </a:bodyPr>
          <a:lstStyle/>
          <a:p>
            <a:pPr algn="just"/>
            <a:r>
              <a:rPr lang="en-US" dirty="0"/>
              <a:t>Sterilization procedures can be monitored routinely using a combination of </a:t>
            </a:r>
            <a:endParaRPr lang="en-US" dirty="0" smtClean="0"/>
          </a:p>
          <a:p>
            <a:pPr lvl="1" algn="just"/>
            <a:r>
              <a:rPr lang="en-US" dirty="0" smtClean="0"/>
              <a:t>Biological, </a:t>
            </a:r>
          </a:p>
          <a:p>
            <a:pPr lvl="1" algn="just"/>
            <a:r>
              <a:rPr lang="en-US" dirty="0" smtClean="0"/>
              <a:t>Chemical and </a:t>
            </a:r>
          </a:p>
          <a:p>
            <a:pPr lvl="1" algn="just"/>
            <a:r>
              <a:rPr lang="en-US" dirty="0" smtClean="0"/>
              <a:t>Mechanical indicators as parameters. </a:t>
            </a:r>
          </a:p>
          <a:p>
            <a:pPr algn="just"/>
            <a:r>
              <a:rPr lang="en-US" dirty="0" smtClean="0"/>
              <a:t>Different </a:t>
            </a:r>
            <a:r>
              <a:rPr lang="en-US" dirty="0"/>
              <a:t>sterilization processes have different monitoring requirement.</a:t>
            </a:r>
          </a:p>
          <a:p>
            <a:pPr algn="just"/>
            <a:endParaRPr lang="en-US" dirty="0"/>
          </a:p>
        </p:txBody>
      </p:sp>
    </p:spTree>
    <p:extLst>
      <p:ext uri="{BB962C8B-B14F-4D97-AF65-F5344CB8AC3E}">
        <p14:creationId xmlns:p14="http://schemas.microsoft.com/office/powerpoint/2010/main" val="26970672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lvl="0"/>
            <a:r>
              <a:rPr lang="en-US" sz="4800" b="1" dirty="0" smtClean="0"/>
              <a:t>PPP 8.7: </a:t>
            </a:r>
            <a:br>
              <a:rPr lang="en-US" sz="4800" b="1" dirty="0" smtClean="0"/>
            </a:br>
            <a:r>
              <a:rPr lang="en-US" sz="4800" b="1" dirty="0" smtClean="0"/>
              <a:t>Storage of Sterilized of HLD Instrument </a:t>
            </a:r>
            <a:endParaRPr lang="en-US" sz="48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3870459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area</a:t>
            </a:r>
            <a:endParaRPr lang="en-US" dirty="0"/>
          </a:p>
        </p:txBody>
      </p:sp>
      <p:sp>
        <p:nvSpPr>
          <p:cNvPr id="3" name="Content Placeholder 2"/>
          <p:cNvSpPr>
            <a:spLocks noGrp="1"/>
          </p:cNvSpPr>
          <p:nvPr>
            <p:ph idx="1"/>
          </p:nvPr>
        </p:nvSpPr>
        <p:spPr>
          <a:xfrm>
            <a:off x="1066800" y="2490135"/>
            <a:ext cx="6908801" cy="3444997"/>
          </a:xfrm>
        </p:spPr>
        <p:txBody>
          <a:bodyPr>
            <a:normAutofit fontScale="92500" lnSpcReduction="20000"/>
          </a:bodyPr>
          <a:lstStyle/>
          <a:p>
            <a:pPr lvl="0" algn="just"/>
            <a:r>
              <a:rPr lang="en-US" dirty="0"/>
              <a:t>All sterile items should be stored appropriately to protect them from dust, dirt, moisture, animals and insects. </a:t>
            </a:r>
          </a:p>
          <a:p>
            <a:pPr lvl="0" algn="just"/>
            <a:r>
              <a:rPr lang="en-US" dirty="0"/>
              <a:t>The storage area should be located next to the place of sterilization or connected to it in a separately enclosed area with limited access that is used just to store sterile and clean patient care supplies. </a:t>
            </a:r>
          </a:p>
          <a:p>
            <a:pPr algn="just"/>
            <a:endParaRPr lang="en-US" dirty="0"/>
          </a:p>
        </p:txBody>
      </p:sp>
    </p:spTree>
    <p:extLst>
      <p:ext uri="{BB962C8B-B14F-4D97-AF65-F5344CB8AC3E}">
        <p14:creationId xmlns:p14="http://schemas.microsoft.com/office/powerpoint/2010/main" val="9268985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for Storing Sterile </a:t>
            </a:r>
            <a:r>
              <a:rPr lang="en-US" dirty="0" smtClean="0"/>
              <a:t>Items</a:t>
            </a:r>
            <a:endParaRPr lang="en-US" dirty="0"/>
          </a:p>
        </p:txBody>
      </p:sp>
      <p:sp>
        <p:nvSpPr>
          <p:cNvPr id="3" name="Content Placeholder 2"/>
          <p:cNvSpPr>
            <a:spLocks noGrp="1"/>
          </p:cNvSpPr>
          <p:nvPr>
            <p:ph idx="1"/>
          </p:nvPr>
        </p:nvSpPr>
        <p:spPr>
          <a:xfrm>
            <a:off x="762000" y="2490135"/>
            <a:ext cx="7620000" cy="3834465"/>
          </a:xfrm>
        </p:spPr>
        <p:txBody>
          <a:bodyPr>
            <a:normAutofit lnSpcReduction="10000"/>
          </a:bodyPr>
          <a:lstStyle/>
          <a:p>
            <a:pPr algn="just"/>
            <a:r>
              <a:rPr lang="en-US" sz="2000" dirty="0"/>
              <a:t>Keep the storage area clean, dry, dust-free and lint-free</a:t>
            </a:r>
            <a:r>
              <a:rPr lang="en-US" sz="2000" dirty="0" smtClean="0"/>
              <a:t>.</a:t>
            </a:r>
          </a:p>
          <a:p>
            <a:pPr lvl="0" algn="just"/>
            <a:r>
              <a:rPr lang="en-US" sz="2000" dirty="0" smtClean="0"/>
              <a:t>Control </a:t>
            </a:r>
            <a:r>
              <a:rPr lang="en-US" sz="2000" dirty="0"/>
              <a:t>temperature and humidity (approximate temperature </a:t>
            </a:r>
            <a:r>
              <a:rPr lang="en-US" sz="2000" dirty="0" smtClean="0"/>
              <a:t>24</a:t>
            </a:r>
            <a:r>
              <a:rPr lang="en-US" sz="2000" baseline="30000" dirty="0" smtClean="0"/>
              <a:t>0</a:t>
            </a:r>
            <a:r>
              <a:rPr lang="en-US" sz="2000" dirty="0" smtClean="0"/>
              <a:t>C </a:t>
            </a:r>
            <a:r>
              <a:rPr lang="en-US" sz="2000" dirty="0"/>
              <a:t>and relative humidity &lt;70%) when possible.</a:t>
            </a:r>
          </a:p>
          <a:p>
            <a:pPr lvl="0" algn="just"/>
            <a:r>
              <a:rPr lang="en-US" sz="2000" dirty="0"/>
              <a:t>Packs and containers with sterile (or high-level disinfected) items should be stored 20 to 25cm off the floor, 45 to 50cm from the ceiling and 15 to 20cm from an outside wall.</a:t>
            </a:r>
          </a:p>
          <a:p>
            <a:pPr lvl="0" algn="just"/>
            <a:r>
              <a:rPr lang="en-US" sz="2000" dirty="0"/>
              <a:t>Do not use cardboard boxes for storage because cardboard boxes shed dust and debris and may harbor insects.</a:t>
            </a:r>
          </a:p>
          <a:p>
            <a:pPr lvl="0" algn="just"/>
            <a:r>
              <a:rPr lang="en-US" sz="2000" dirty="0"/>
              <a:t>Date and rotate the supplies (first in/first out). This process serves as a reminder, but does not guarantee sterility of the packs.</a:t>
            </a:r>
          </a:p>
          <a:p>
            <a:pPr lvl="0" algn="just"/>
            <a:r>
              <a:rPr lang="en-US" sz="2000" dirty="0"/>
              <a:t>Distribute sterile and high-level disinfected items from this area</a:t>
            </a:r>
            <a:r>
              <a:rPr lang="en-US" sz="2000" dirty="0" smtClean="0"/>
              <a:t>.</a:t>
            </a:r>
            <a:endParaRPr lang="en-US" sz="2000" dirty="0"/>
          </a:p>
        </p:txBody>
      </p:sp>
    </p:spTree>
    <p:extLst>
      <p:ext uri="{BB962C8B-B14F-4D97-AF65-F5344CB8AC3E}">
        <p14:creationId xmlns:p14="http://schemas.microsoft.com/office/powerpoint/2010/main" val="12263072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Shelf </a:t>
            </a:r>
            <a:r>
              <a:rPr lang="en-US" dirty="0" smtClean="0"/>
              <a:t>Life</a:t>
            </a:r>
            <a:endParaRPr lang="en-US" dirty="0"/>
          </a:p>
        </p:txBody>
      </p:sp>
      <p:sp>
        <p:nvSpPr>
          <p:cNvPr id="3" name="Content Placeholder 2"/>
          <p:cNvSpPr>
            <a:spLocks noGrp="1"/>
          </p:cNvSpPr>
          <p:nvPr>
            <p:ph idx="1"/>
          </p:nvPr>
        </p:nvSpPr>
        <p:spPr>
          <a:xfrm>
            <a:off x="1176865" y="2490135"/>
            <a:ext cx="6798736" cy="3758265"/>
          </a:xfrm>
        </p:spPr>
        <p:txBody>
          <a:bodyPr>
            <a:normAutofit fontScale="70000" lnSpcReduction="20000"/>
          </a:bodyPr>
          <a:lstStyle/>
          <a:p>
            <a:pPr lvl="0" algn="just"/>
            <a:r>
              <a:rPr lang="en-US" dirty="0" smtClean="0"/>
              <a:t>The </a:t>
            </a:r>
            <a:r>
              <a:rPr lang="en-US" dirty="0"/>
              <a:t>shelf life of an item (how long items can be considered sterile) after sterilization is event-related. </a:t>
            </a:r>
            <a:endParaRPr lang="en-US" dirty="0" smtClean="0"/>
          </a:p>
          <a:p>
            <a:pPr lvl="0" algn="just"/>
            <a:r>
              <a:rPr lang="en-US" dirty="0" smtClean="0"/>
              <a:t>An </a:t>
            </a:r>
            <a:r>
              <a:rPr lang="en-US" dirty="0"/>
              <a:t>item remains sterile until something causes the package or container to become contaminated as time goes on since sterilization is not the determining factor</a:t>
            </a:r>
            <a:r>
              <a:rPr lang="en-US" dirty="0" smtClean="0"/>
              <a:t>.</a:t>
            </a:r>
            <a:endParaRPr lang="en-US" dirty="0"/>
          </a:p>
          <a:p>
            <a:pPr algn="just"/>
            <a:r>
              <a:rPr lang="en-US" dirty="0" smtClean="0"/>
              <a:t>An event can be a </a:t>
            </a:r>
          </a:p>
          <a:p>
            <a:pPr lvl="1" algn="just"/>
            <a:r>
              <a:rPr lang="en-US" dirty="0" smtClean="0"/>
              <a:t>Tear or worn-out area in the wrapping, </a:t>
            </a:r>
          </a:p>
          <a:p>
            <a:pPr lvl="1" algn="just"/>
            <a:r>
              <a:rPr lang="en-US" dirty="0" smtClean="0"/>
              <a:t>The package becoming wet or </a:t>
            </a:r>
          </a:p>
          <a:p>
            <a:pPr lvl="1" algn="just"/>
            <a:r>
              <a:rPr lang="en-US" dirty="0" smtClean="0"/>
              <a:t>Anything else that will enable microorganism to enter the package the package or container.</a:t>
            </a:r>
          </a:p>
          <a:p>
            <a:pPr lvl="1" algn="just"/>
            <a:endParaRPr lang="en-US" dirty="0"/>
          </a:p>
        </p:txBody>
      </p:sp>
    </p:spTree>
    <p:extLst>
      <p:ext uri="{BB962C8B-B14F-4D97-AF65-F5344CB8AC3E}">
        <p14:creationId xmlns:p14="http://schemas.microsoft.com/office/powerpoint/2010/main" val="6942689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The shelf life of sterilization depends on the following factors</a:t>
            </a:r>
            <a:endParaRPr lang="en-US" sz="3600" dirty="0"/>
          </a:p>
        </p:txBody>
      </p:sp>
      <p:sp>
        <p:nvSpPr>
          <p:cNvPr id="3" name="Content Placeholder 2"/>
          <p:cNvSpPr>
            <a:spLocks noGrp="1"/>
          </p:cNvSpPr>
          <p:nvPr>
            <p:ph idx="1"/>
          </p:nvPr>
        </p:nvSpPr>
        <p:spPr>
          <a:xfrm>
            <a:off x="1176865" y="2490135"/>
            <a:ext cx="6798736" cy="3910665"/>
          </a:xfrm>
        </p:spPr>
        <p:txBody>
          <a:bodyPr>
            <a:normAutofit fontScale="77500" lnSpcReduction="20000"/>
          </a:bodyPr>
          <a:lstStyle/>
          <a:p>
            <a:pPr lvl="0" algn="just"/>
            <a:r>
              <a:rPr lang="en-US" dirty="0"/>
              <a:t>Quality of the wrapper or container.</a:t>
            </a:r>
          </a:p>
          <a:p>
            <a:pPr lvl="0" algn="just"/>
            <a:r>
              <a:rPr lang="en-US" dirty="0"/>
              <a:t>Number of times a package is handled before use.</a:t>
            </a:r>
          </a:p>
          <a:p>
            <a:pPr lvl="0" algn="just"/>
            <a:r>
              <a:rPr lang="en-US" dirty="0"/>
              <a:t>Number of people who have handled the package.</a:t>
            </a:r>
          </a:p>
          <a:p>
            <a:pPr lvl="0" algn="just"/>
            <a:r>
              <a:rPr lang="en-US" dirty="0"/>
              <a:t>Whether the package is stored on open or closed shelves.</a:t>
            </a:r>
          </a:p>
          <a:p>
            <a:pPr lvl="0" algn="just"/>
            <a:r>
              <a:rPr lang="en-US" dirty="0"/>
              <a:t>Condition of storage area (e.g. humidity and cleanliness).</a:t>
            </a:r>
          </a:p>
          <a:p>
            <a:pPr lvl="0" algn="just"/>
            <a:r>
              <a:rPr lang="en-US" dirty="0"/>
              <a:t>Frequent or improper handling or storage.</a:t>
            </a:r>
          </a:p>
          <a:p>
            <a:pPr algn="just"/>
            <a:r>
              <a:rPr lang="en-US" dirty="0"/>
              <a:t>Use of plastic dust cover and method of sealing </a:t>
            </a:r>
          </a:p>
        </p:txBody>
      </p:sp>
    </p:spTree>
    <p:extLst>
      <p:ext uri="{BB962C8B-B14F-4D97-AF65-F5344CB8AC3E}">
        <p14:creationId xmlns:p14="http://schemas.microsoft.com/office/powerpoint/2010/main" val="40354043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mtClean="0"/>
              <a:t>Summary</a:t>
            </a:r>
            <a:endParaRPr lang="en-US" dirty="0"/>
          </a:p>
        </p:txBody>
      </p:sp>
      <p:sp>
        <p:nvSpPr>
          <p:cNvPr id="3" name="Content Placeholder 2"/>
          <p:cNvSpPr>
            <a:spLocks noGrp="1"/>
          </p:cNvSpPr>
          <p:nvPr>
            <p:ph idx="1"/>
          </p:nvPr>
        </p:nvSpPr>
        <p:spPr>
          <a:xfrm>
            <a:off x="685800" y="2362200"/>
            <a:ext cx="7772400" cy="4139265"/>
          </a:xfrm>
        </p:spPr>
        <p:txBody>
          <a:bodyPr>
            <a:normAutofit fontScale="62500" lnSpcReduction="20000"/>
          </a:bodyPr>
          <a:lstStyle/>
          <a:p>
            <a:pPr algn="just"/>
            <a:r>
              <a:rPr lang="en-US" dirty="0"/>
              <a:t>Applying Spaulding’s classification of non-critical, semi-critical, or critical items determines the method that should be used to process instruments. </a:t>
            </a:r>
            <a:endParaRPr lang="en-US" dirty="0" smtClean="0"/>
          </a:p>
          <a:p>
            <a:pPr algn="just"/>
            <a:r>
              <a:rPr lang="en-US" dirty="0" smtClean="0"/>
              <a:t>All instruments must be thoroughly cleaned before further processing. Cleaning </a:t>
            </a:r>
            <a:r>
              <a:rPr lang="en-US" dirty="0"/>
              <a:t>is the most important step in instrument </a:t>
            </a:r>
            <a:r>
              <a:rPr lang="en-US" dirty="0" smtClean="0"/>
              <a:t>processing.</a:t>
            </a:r>
            <a:endParaRPr lang="en-US" dirty="0"/>
          </a:p>
          <a:p>
            <a:pPr algn="just"/>
            <a:r>
              <a:rPr lang="en-US" dirty="0"/>
              <a:t>All semi-critical instruments and devices that come in contact with mucous membranes and non-intact skin should be, at a minimum, high-level disinfected.</a:t>
            </a:r>
          </a:p>
          <a:p>
            <a:pPr algn="just"/>
            <a:r>
              <a:rPr lang="en-US" dirty="0"/>
              <a:t>Sterilization of medical devices and surgical instruments plays a vital role in reducing surgical site infections and infection as a result of other invasive procedures. </a:t>
            </a:r>
            <a:endParaRPr lang="en-US" dirty="0" smtClean="0"/>
          </a:p>
          <a:p>
            <a:pPr algn="just"/>
            <a:r>
              <a:rPr lang="en-US" dirty="0" smtClean="0"/>
              <a:t>Monitoring </a:t>
            </a:r>
            <a:r>
              <a:rPr lang="en-US" dirty="0"/>
              <a:t>the quality of the sterilization process as well as appropriately following recommendations will assist health care facilities in optimizing the safety of sterile medical devices and surgical instruments used for patient care</a:t>
            </a:r>
          </a:p>
          <a:p>
            <a:pPr algn="just"/>
            <a:endParaRPr lang="en-US" dirty="0"/>
          </a:p>
        </p:txBody>
      </p:sp>
    </p:spTree>
    <p:extLst>
      <p:ext uri="{BB962C8B-B14F-4D97-AF65-F5344CB8AC3E}">
        <p14:creationId xmlns:p14="http://schemas.microsoft.com/office/powerpoint/2010/main" val="35222126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Theme5</Template>
  <TotalTime>966</TotalTime>
  <Words>6348</Words>
  <Application>Microsoft Office PowerPoint</Application>
  <PresentationFormat>On-screen Show (4:3)</PresentationFormat>
  <Paragraphs>501</Paragraphs>
  <Slides>87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Britannic Bold</vt:lpstr>
      <vt:lpstr>Calibri</vt:lpstr>
      <vt:lpstr>Garamond</vt:lpstr>
      <vt:lpstr>Times New Roman</vt:lpstr>
      <vt:lpstr>Theme5</vt:lpstr>
      <vt:lpstr>Volume 1_Section 1  Chapter 8: Decontamination and Reprocessing of Medical Devices </vt:lpstr>
      <vt:lpstr>Chapter Outline</vt:lpstr>
      <vt:lpstr>Learning Objective</vt:lpstr>
      <vt:lpstr>PPP 8.1:  Overview</vt:lpstr>
      <vt:lpstr>Overview</vt:lpstr>
      <vt:lpstr>PPP 8.2:  Level of Disinfection or Sterilization</vt:lpstr>
      <vt:lpstr> Level of Disinfection or Sterilization Required </vt:lpstr>
      <vt:lpstr>Spaulding’s category of potential infection risk</vt:lpstr>
      <vt:lpstr>Spaulding’s Risk Classification and Level of Processing </vt:lpstr>
      <vt:lpstr>PPP 8.3:  Guideline for Instrument Processing</vt:lpstr>
      <vt:lpstr> Work flow for instrument processing and other medical devices </vt:lpstr>
      <vt:lpstr>Overview cont’d…</vt:lpstr>
      <vt:lpstr>PPP 8.4: Introduction to Chemical Disinfectants </vt:lpstr>
      <vt:lpstr>What are Disinfectants?</vt:lpstr>
      <vt:lpstr>Commonly Used Chemical Disinfectants</vt:lpstr>
      <vt:lpstr>Properties of an Ideal Disinfectant</vt:lpstr>
      <vt:lpstr> PPP 8.5:  Description of  Steps in Processing Items </vt:lpstr>
      <vt:lpstr>Cleaning </vt:lpstr>
      <vt:lpstr>If instruments are not properly cleaned: </vt:lpstr>
      <vt:lpstr>Effectiveness of Methods of Processing Instruments</vt:lpstr>
      <vt:lpstr>Steps of manual cleaning:</vt:lpstr>
      <vt:lpstr>Steps of manual cleaning cont’d… </vt:lpstr>
      <vt:lpstr>Cleaning Products and their properties</vt:lpstr>
      <vt:lpstr> Selection of cleaning agents </vt:lpstr>
      <vt:lpstr> PPP 8.5:  Description of  Steps in Processing Items </vt:lpstr>
      <vt:lpstr>Packing and Wrapping </vt:lpstr>
      <vt:lpstr>Packing and Wrapping cont’d… </vt:lpstr>
      <vt:lpstr>Inspection and function testing (post-cleaning)</vt:lpstr>
      <vt:lpstr>Inspection and function testing (post-cleaning) cont’d… </vt:lpstr>
      <vt:lpstr>Packing and wrapping for steam sterilization</vt:lpstr>
      <vt:lpstr>Typical Wrapping Techniques </vt:lpstr>
      <vt:lpstr>Tips for wrapping</vt:lpstr>
      <vt:lpstr>Tips for wrapping cont’d…</vt:lpstr>
      <vt:lpstr>Packing and wrapping for dry heat sterilization</vt:lpstr>
      <vt:lpstr> PPP 8.5:  Description of  Steps in Processing Items </vt:lpstr>
      <vt:lpstr>High level disinfection</vt:lpstr>
      <vt:lpstr>High level disinfection cont’d…</vt:lpstr>
      <vt:lpstr>High-level disinfection by boiling</vt:lpstr>
      <vt:lpstr>Instructions for HLD by boiling</vt:lpstr>
      <vt:lpstr>Instructions for HLD by boiling cont’d…</vt:lpstr>
      <vt:lpstr>Instructions for HLD by boiling cont’d…</vt:lpstr>
      <vt:lpstr>Instructions for HLD by boiling cont’d…</vt:lpstr>
      <vt:lpstr>High-level disinfection by steaming</vt:lpstr>
      <vt:lpstr>Instructions for HLD by steaming</vt:lpstr>
      <vt:lpstr>Steamer Used for HLD</vt:lpstr>
      <vt:lpstr>Steamer Used for HLD</vt:lpstr>
      <vt:lpstr>Instructions for HLD by steaming</vt:lpstr>
      <vt:lpstr>Instructions for HLD by steaming</vt:lpstr>
      <vt:lpstr>Instructions for HLD by steaming</vt:lpstr>
      <vt:lpstr>Boiling Versus Steaming</vt:lpstr>
      <vt:lpstr>Boiling Versus Steaming</vt:lpstr>
      <vt:lpstr>High-level disinfection using chemicals</vt:lpstr>
      <vt:lpstr>Key steps in chemical high-level disinfection </vt:lpstr>
      <vt:lpstr>Factors That Affect Disinfection Process</vt:lpstr>
      <vt:lpstr> PPP 8.5:  Description of  Steps in Processing Items </vt:lpstr>
      <vt:lpstr>Sterilization</vt:lpstr>
      <vt:lpstr>Essentials of Sterilization Process:</vt:lpstr>
      <vt:lpstr>The effectiveness of any sterilization method is dependent upon four other factors</vt:lpstr>
      <vt:lpstr>High pressure steam sterilization method</vt:lpstr>
      <vt:lpstr>High pressure steam sterilization method cont’d…</vt:lpstr>
      <vt:lpstr>There are three types of high-pressure steam sterilizers:</vt:lpstr>
      <vt:lpstr>Operation</vt:lpstr>
      <vt:lpstr>Effective sterilization depends on correctly following procedures of the process</vt:lpstr>
      <vt:lpstr>Routine Maintenance</vt:lpstr>
      <vt:lpstr>Loading</vt:lpstr>
      <vt:lpstr>Loading Steam Sterilizer</vt:lpstr>
      <vt:lpstr>Unloading</vt:lpstr>
      <vt:lpstr>Unloading cont’d</vt:lpstr>
      <vt:lpstr>Instructions of operating a steam sterilizer</vt:lpstr>
      <vt:lpstr>Instructions of operating a steam sterilizer</vt:lpstr>
      <vt:lpstr>Remember</vt:lpstr>
      <vt:lpstr>Dry heat sterilization method</vt:lpstr>
      <vt:lpstr>Dry heat sterilization method cont’d…</vt:lpstr>
      <vt:lpstr>Dry heat sterilization method cont’d…</vt:lpstr>
      <vt:lpstr>Conditions for effective use of dry-heat sterilizers</vt:lpstr>
      <vt:lpstr>Instructions for operating on dry heat oven</vt:lpstr>
      <vt:lpstr>Recommended time cycle for dry heat sterilization</vt:lpstr>
      <vt:lpstr>Chemical sterilization</vt:lpstr>
      <vt:lpstr>Instructions on the use of chemical sterilization</vt:lpstr>
      <vt:lpstr>PPP 8.6:  Monitoring Sterilization Procedures</vt:lpstr>
      <vt:lpstr>Monitoring Sterilization Procedures</vt:lpstr>
      <vt:lpstr>PPP 8.7:  Storage of Sterilized of HLD Instrument </vt:lpstr>
      <vt:lpstr>Storage area</vt:lpstr>
      <vt:lpstr>Instructions for Storing Sterile Items</vt:lpstr>
      <vt:lpstr>Shelf Life</vt:lpstr>
      <vt:lpstr>The shelf life of sterilization depends on the following factors</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1_Section 1  Chapter 8: Decontamination and Reprocessing of Medical Devices</dc:title>
  <dc:creator>user</dc:creator>
  <cp:lastModifiedBy>BEMINET</cp:lastModifiedBy>
  <cp:revision>46</cp:revision>
  <dcterms:created xsi:type="dcterms:W3CDTF">2018-12-24T06:41:35Z</dcterms:created>
  <dcterms:modified xsi:type="dcterms:W3CDTF">2020-12-16T13:33:47Z</dcterms:modified>
</cp:coreProperties>
</file>