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4" r:id="rId3"/>
    <p:sldId id="259" r:id="rId4"/>
    <p:sldId id="260" r:id="rId5"/>
    <p:sldId id="261" r:id="rId6"/>
    <p:sldId id="262" r:id="rId7"/>
    <p:sldId id="263" r:id="rId8"/>
    <p:sldId id="264" r:id="rId9"/>
    <p:sldId id="28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644"/>
  </p:normalViewPr>
  <p:slideViewPr>
    <p:cSldViewPr snapToGrid="0">
      <p:cViewPr>
        <p:scale>
          <a:sx n="76" d="100"/>
          <a:sy n="76" d="100"/>
        </p:scale>
        <p:origin x="-49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66172"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8884" y="1879926"/>
            <a:ext cx="7760513"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10204" y="3597481"/>
            <a:ext cx="5971593"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61655" y="4972192"/>
            <a:ext cx="1296208" cy="361810"/>
          </a:xfrm>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a:xfrm>
            <a:off x="2562579" y="4972194"/>
            <a:ext cx="4999075" cy="361809"/>
          </a:xfrm>
        </p:spPr>
        <p:txBody>
          <a:bodyPr/>
          <a:lstStyle/>
          <a:p>
            <a:endParaRPr lang="en-US"/>
          </a:p>
        </p:txBody>
      </p:sp>
      <p:sp>
        <p:nvSpPr>
          <p:cNvPr id="6" name="Slide Number Placeholder 5"/>
          <p:cNvSpPr>
            <a:spLocks noGrp="1"/>
          </p:cNvSpPr>
          <p:nvPr>
            <p:ph type="sldNum" sz="quarter" idx="12"/>
          </p:nvPr>
        </p:nvSpPr>
        <p:spPr>
          <a:xfrm>
            <a:off x="9081797" y="4972193"/>
            <a:ext cx="968201" cy="361809"/>
          </a:xfrm>
        </p:spPr>
        <p:txBody>
          <a:bodyPr/>
          <a:lstStyle/>
          <a:p>
            <a:fld id="{9BD12848-5C47-4E2C-A32C-515F432C1024}" type="slidenum">
              <a:rPr lang="en-US" smtClean="0"/>
              <a:t>‹#›</a:t>
            </a:fld>
            <a:endParaRPr lang="en-US"/>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72920" y="76751"/>
            <a:ext cx="4038801"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1030778"/>
            <a:ext cx="9064979"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75561" y="5960533"/>
            <a:ext cx="1133600" cy="279400"/>
          </a:xfrm>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609161" y="5960533"/>
            <a:ext cx="965539" cy="279400"/>
          </a:xfrm>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106788" y="5960533"/>
            <a:ext cx="1154187" cy="279400"/>
          </a:xfrm>
        </p:spPr>
        <p:txBody>
          <a:bodyPr/>
          <a:lstStyle/>
          <a:p>
            <a:fld id="{9BD12848-5C47-4E2C-A32C-515F432C1024}" type="slidenum">
              <a:rPr lang="en-US" smtClean="0"/>
              <a:t>‹#›</a:t>
            </a:fld>
            <a:endParaRPr lang="en-US"/>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3" y="1052394"/>
            <a:ext cx="9064979"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F4C35D7-3488-490E-82D5-866F35D597AC}"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106788" y="5934457"/>
            <a:ext cx="1021184" cy="305477"/>
          </a:xfrm>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4C35D7-3488-490E-82D5-866F35D597AC}" type="datetimeFigureOut">
              <a:rPr lang="en-US" smtClean="0"/>
              <a:t>9/23/2019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D12848-5C47-4E2C-A32C-515F432C1024}" type="slidenum">
              <a:rPr lang="en-US" smtClean="0"/>
              <a:t>‹#›</a:t>
            </a:fld>
            <a:endParaRPr lang="en-US"/>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F4C35D7-3488-490E-82D5-866F35D597AC}" type="datetimeFigureOut">
              <a:rPr lang="en-US" smtClean="0"/>
              <a:t>9/23/2019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D12848-5C47-4E2C-A32C-515F432C1024}" type="slidenum">
              <a:rPr lang="en-US" smtClean="0"/>
              <a:t>‹#›</a:t>
            </a:fld>
            <a:endParaRPr lang="en-US"/>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C35D7-3488-490E-82D5-866F35D597AC}" type="datetimeFigureOut">
              <a:rPr lang="en-US" smtClean="0"/>
              <a:t>9/23/2019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4C35D7-3488-490E-82D5-866F35D597AC}"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12848-5C47-4E2C-A32C-515F432C1024}" type="slidenum">
              <a:rPr lang="en-US" smtClean="0"/>
              <a:t>‹#›</a:t>
            </a:fld>
            <a:endParaRPr lang="en-US"/>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4C35D7-3488-490E-82D5-866F35D597AC}"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4C35D7-3488-490E-82D5-866F35D597AC}"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F4C35D7-3488-490E-82D5-866F35D597AC}"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D12848-5C47-4E2C-A32C-515F432C1024}" type="slidenum">
              <a:rPr lang="en-US" smtClean="0"/>
              <a:t>‹#›</a:t>
            </a:fld>
            <a:endParaRPr lang="en-US"/>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75561" y="5935133"/>
            <a:ext cx="897447"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F4C35D7-3488-490E-82D5-866F35D597AC}" type="datetimeFigureOut">
              <a:rPr lang="en-US" smtClean="0"/>
              <a:t>9/23/2019</a:t>
            </a:fld>
            <a:endParaRPr lang="en-US"/>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73007" y="5960533"/>
            <a:ext cx="126112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D12848-5C47-4E2C-A32C-515F432C1024}" type="slidenum">
              <a:rPr lang="en-US" smtClean="0"/>
              <a:t>‹#›</a:t>
            </a:fld>
            <a:endParaRPr lang="en-US"/>
          </a:p>
        </p:txBody>
      </p:sp>
      <p:grpSp>
        <p:nvGrpSpPr>
          <p:cNvPr id="12" name="Group 11"/>
          <p:cNvGrpSpPr/>
          <p:nvPr/>
        </p:nvGrpSpPr>
        <p:grpSpPr>
          <a:xfrm>
            <a:off x="4496777" y="4072"/>
            <a:ext cx="3209731"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sz="2400" dirty="0" smtClean="0">
                <a:latin typeface="Times New Roman" pitchFamily="18" charset="0"/>
                <a:cs typeface="Times New Roman" pitchFamily="18" charset="0"/>
              </a:rPr>
              <a:t>Volume </a:t>
            </a:r>
            <a:r>
              <a:rPr lang="en-US" sz="2400" dirty="0">
                <a:latin typeface="Times New Roman" pitchFamily="18" charset="0"/>
                <a:cs typeface="Times New Roman" pitchFamily="18" charset="0"/>
              </a:rPr>
              <a:t>2:  Section </a:t>
            </a:r>
            <a:r>
              <a:rPr lang="en-US" sz="2400" dirty="0" smtClean="0">
                <a:latin typeface="Times New Roman" pitchFamily="18" charset="0"/>
                <a:cs typeface="Times New Roman" pitchFamily="18" charset="0"/>
              </a:rPr>
              <a:t>3</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000" dirty="0" smtClean="0">
                <a:latin typeface="Times New Roman" pitchFamily="18" charset="0"/>
                <a:cs typeface="Times New Roman" pitchFamily="18" charset="0"/>
              </a:rPr>
              <a:t>CHAPTER1:  INFECTION PREVENTION AND CONTROL IN PUBLIC HEALTH EMERGENCY AND OUTBREAK MANAGEMENT </a:t>
            </a:r>
            <a:r>
              <a:rPr lang="en-US" dirty="0"/>
              <a:t/>
            </a:r>
            <a:br>
              <a:rPr lang="en-US" dirty="0"/>
            </a:br>
            <a:endParaRPr lang="en-US" dirty="0"/>
          </a:p>
        </p:txBody>
      </p:sp>
      <p:sp>
        <p:nvSpPr>
          <p:cNvPr id="3" name="Subtitle 2"/>
          <p:cNvSpPr>
            <a:spLocks noGrp="1"/>
          </p:cNvSpPr>
          <p:nvPr>
            <p:ph type="subTitle" idx="1"/>
          </p:nvPr>
        </p:nvSpPr>
        <p:spPr/>
        <p:txBody>
          <a:bodyPr>
            <a:normAutofit lnSpcReduction="10000"/>
          </a:bodyPr>
          <a:lstStyle/>
          <a:p>
            <a:r>
              <a:rPr lang="en-US" dirty="0" smtClean="0">
                <a:latin typeface="Times New Roman" pitchFamily="18" charset="0"/>
                <a:cs typeface="Times New Roman" pitchFamily="18" charset="0"/>
              </a:rPr>
              <a:t>IPC GOVERNANCE AND MANGEMENT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711320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Learning </a:t>
            </a:r>
            <a:r>
              <a:rPr lang="en-US" dirty="0"/>
              <a:t>Objectives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b="1" dirty="0"/>
              <a:t>By the end of this chapter participants will be able to</a:t>
            </a:r>
            <a:r>
              <a:rPr lang="en-US" b="1" dirty="0" smtClean="0"/>
              <a:t>:</a:t>
            </a:r>
            <a:endParaRPr lang="en-US" dirty="0" smtClean="0"/>
          </a:p>
          <a:p>
            <a:pPr marL="342900" lvl="0" indent="-342900" algn="just">
              <a:buFont typeface="Arial" panose="020B0604020202020204" pitchFamily="34" charset="0"/>
              <a:buChar char="•"/>
            </a:pPr>
            <a:r>
              <a:rPr lang="en-US" dirty="0" smtClean="0"/>
              <a:t>Describe </a:t>
            </a:r>
            <a:r>
              <a:rPr lang="en-US" dirty="0"/>
              <a:t>infection control in public health emergencies</a:t>
            </a:r>
          </a:p>
          <a:p>
            <a:pPr marL="342900" lvl="0" indent="-342900" algn="just">
              <a:buFont typeface="Arial" panose="020B0604020202020204" pitchFamily="34" charset="0"/>
              <a:buChar char="•"/>
            </a:pPr>
            <a:r>
              <a:rPr lang="en-US" dirty="0"/>
              <a:t>Explain the principles of emergency management: mitigation, preparedness, response, and recovery</a:t>
            </a:r>
          </a:p>
          <a:p>
            <a:pPr marL="342900" lvl="0" indent="-342900" algn="just">
              <a:buFont typeface="Arial" panose="020B0604020202020204" pitchFamily="34" charset="0"/>
              <a:buChar char="•"/>
            </a:pPr>
            <a:r>
              <a:rPr lang="en-US" dirty="0"/>
              <a:t>Identify  the role of the health care facility in data collection and epidemiological investigation during an emergency or outbreak</a:t>
            </a:r>
          </a:p>
          <a:p>
            <a:pPr marL="342900" lvl="0" indent="-342900" algn="just">
              <a:buFont typeface="Arial" panose="020B0604020202020204" pitchFamily="34" charset="0"/>
              <a:buChar char="•"/>
            </a:pPr>
            <a:r>
              <a:rPr lang="en-US" dirty="0"/>
              <a:t>Understand the importance of information sharing and communication during a public health emergency</a:t>
            </a:r>
          </a:p>
          <a:p>
            <a:endParaRPr lang="en-US" dirty="0"/>
          </a:p>
        </p:txBody>
      </p:sp>
    </p:spTree>
    <p:extLst>
      <p:ext uri="{BB962C8B-B14F-4D97-AF65-F5344CB8AC3E}">
        <p14:creationId xmlns:p14="http://schemas.microsoft.com/office/powerpoint/2010/main" val="922419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853" y="937550"/>
            <a:ext cx="10865069" cy="597494"/>
          </a:xfrm>
        </p:spPr>
        <p:txBody>
          <a:bodyPr>
            <a:normAutofit fontScale="90000"/>
          </a:bodyPr>
          <a:lstStyle/>
          <a:p>
            <a:r>
              <a:rPr lang="en-US" b="1" dirty="0" smtClean="0"/>
              <a:t> </a:t>
            </a:r>
            <a:br>
              <a:rPr lang="en-US" b="1" dirty="0" smtClean="0"/>
            </a:br>
            <a:r>
              <a:rPr lang="en-US" b="1" dirty="0"/>
              <a:t> </a:t>
            </a:r>
            <a:r>
              <a:rPr lang="en-US" b="1" dirty="0" smtClean="0"/>
              <a:t/>
            </a:r>
            <a:br>
              <a:rPr lang="en-US" b="1" dirty="0" smtClean="0"/>
            </a:br>
            <a:r>
              <a:rPr lang="en-US" b="1" dirty="0" smtClean="0"/>
              <a:t>Chapter </a:t>
            </a:r>
            <a:r>
              <a:rPr lang="en-US" b="1" dirty="0"/>
              <a:t>Content:</a:t>
            </a:r>
            <a:r>
              <a:rPr lang="en-US" sz="4000" dirty="0"/>
              <a:t/>
            </a:r>
            <a:br>
              <a:rPr lang="en-US" sz="4000" dirty="0"/>
            </a:br>
            <a:endParaRPr lang="en-US" dirty="0"/>
          </a:p>
        </p:txBody>
      </p:sp>
      <p:sp>
        <p:nvSpPr>
          <p:cNvPr id="3" name="Content Placeholder 2"/>
          <p:cNvSpPr>
            <a:spLocks noGrp="1"/>
          </p:cNvSpPr>
          <p:nvPr>
            <p:ph idx="1"/>
          </p:nvPr>
        </p:nvSpPr>
        <p:spPr>
          <a:xfrm>
            <a:off x="833378" y="2476981"/>
            <a:ext cx="10232020" cy="3699981"/>
          </a:xfrm>
        </p:spPr>
        <p:txBody>
          <a:bodyPr>
            <a:normAutofit/>
          </a:bodyPr>
          <a:lstStyle/>
          <a:p>
            <a:pPr lvl="1"/>
            <a:r>
              <a:rPr lang="en-US" sz="2800" dirty="0" smtClean="0"/>
              <a:t>Infection </a:t>
            </a:r>
            <a:r>
              <a:rPr lang="en-US" sz="2800" dirty="0"/>
              <a:t>control in public health </a:t>
            </a:r>
            <a:r>
              <a:rPr lang="en-US" sz="2800" dirty="0" smtClean="0"/>
              <a:t>emergencies</a:t>
            </a:r>
            <a:endParaRPr lang="en-US" sz="2800" dirty="0"/>
          </a:p>
          <a:p>
            <a:pPr lvl="1"/>
            <a:r>
              <a:rPr lang="en-US" sz="2800" dirty="0"/>
              <a:t>Principles of emergency </a:t>
            </a:r>
            <a:r>
              <a:rPr lang="en-US" sz="2800" dirty="0" smtClean="0"/>
              <a:t>management</a:t>
            </a:r>
            <a:endParaRPr lang="en-US" sz="2800" dirty="0"/>
          </a:p>
          <a:p>
            <a:pPr lvl="1"/>
            <a:r>
              <a:rPr lang="en-US" sz="2800" dirty="0"/>
              <a:t>Role of health care </a:t>
            </a:r>
            <a:r>
              <a:rPr lang="en-US" sz="2800" dirty="0" smtClean="0"/>
              <a:t>facility</a:t>
            </a:r>
            <a:endParaRPr lang="en-US" sz="2800" dirty="0"/>
          </a:p>
          <a:p>
            <a:pPr lvl="1"/>
            <a:r>
              <a:rPr lang="en-US" sz="2800" dirty="0"/>
              <a:t>Information sharing and communication</a:t>
            </a:r>
          </a:p>
          <a:p>
            <a:endParaRPr lang="en-US" dirty="0"/>
          </a:p>
        </p:txBody>
      </p:sp>
    </p:spTree>
    <p:extLst>
      <p:ext uri="{BB962C8B-B14F-4D97-AF65-F5344CB8AC3E}">
        <p14:creationId xmlns:p14="http://schemas.microsoft.com/office/powerpoint/2010/main" val="1190070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903" y="868102"/>
            <a:ext cx="10865069" cy="1325563"/>
          </a:xfrm>
        </p:spPr>
        <p:txBody>
          <a:bodyPr>
            <a:normAutofit/>
          </a:bodyPr>
          <a:lstStyle/>
          <a:p>
            <a:r>
              <a:rPr lang="en-US" sz="4000" dirty="0"/>
              <a:t>Overview</a:t>
            </a:r>
          </a:p>
        </p:txBody>
      </p:sp>
      <p:sp>
        <p:nvSpPr>
          <p:cNvPr id="3" name="Content Placeholder 2"/>
          <p:cNvSpPr>
            <a:spLocks noGrp="1"/>
          </p:cNvSpPr>
          <p:nvPr>
            <p:ph idx="1"/>
          </p:nvPr>
        </p:nvSpPr>
        <p:spPr>
          <a:xfrm>
            <a:off x="1145895" y="1825625"/>
            <a:ext cx="10023676" cy="4351338"/>
          </a:xfrm>
        </p:spPr>
        <p:txBody>
          <a:bodyPr>
            <a:normAutofit lnSpcReduction="10000"/>
          </a:bodyPr>
          <a:lstStyle/>
          <a:p>
            <a:pPr marL="0" indent="0">
              <a:buNone/>
            </a:pPr>
            <a:r>
              <a:rPr lang="en-US" b="1" dirty="0"/>
              <a:t> </a:t>
            </a:r>
            <a:endParaRPr lang="en-US" dirty="0"/>
          </a:p>
          <a:p>
            <a:pPr marL="0" indent="0" algn="just">
              <a:buNone/>
            </a:pPr>
            <a:r>
              <a:rPr lang="en-US" dirty="0" smtClean="0"/>
              <a:t> Disease </a:t>
            </a:r>
            <a:r>
              <a:rPr lang="en-US" dirty="0"/>
              <a:t>outbreaks and other public health emergencies may be considered major disasters. Thus, planning ahead for these emergencies is critical for all organizations, including health care facilities. With proper planning and preparedness, a health care facility is able to respond more quickly and thoughtfully to a public health emergency. </a:t>
            </a:r>
          </a:p>
          <a:p>
            <a:pPr marL="0" indent="0" algn="just">
              <a:buNone/>
            </a:pPr>
            <a:r>
              <a:rPr lang="en-US" dirty="0"/>
              <a:t> </a:t>
            </a:r>
          </a:p>
          <a:p>
            <a:endParaRPr lang="en-US" dirty="0"/>
          </a:p>
        </p:txBody>
      </p:sp>
    </p:spTree>
    <p:extLst>
      <p:ext uri="{BB962C8B-B14F-4D97-AF65-F5344CB8AC3E}">
        <p14:creationId xmlns:p14="http://schemas.microsoft.com/office/powerpoint/2010/main" val="19985124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4855"/>
            <a:ext cx="10515600" cy="5562108"/>
          </a:xfrm>
        </p:spPr>
        <p:txBody>
          <a:bodyPr/>
          <a:lstStyle/>
          <a:p>
            <a:pPr marL="0" indent="0">
              <a:buNone/>
            </a:pPr>
            <a:endParaRPr lang="en-US" b="1" dirty="0" smtClean="0"/>
          </a:p>
          <a:p>
            <a:pPr marL="0" indent="0">
              <a:buNone/>
            </a:pPr>
            <a:endParaRPr lang="en-US" b="1" dirty="0" smtClean="0"/>
          </a:p>
          <a:p>
            <a:pPr marL="0" indent="0">
              <a:buNone/>
            </a:pPr>
            <a:endParaRPr lang="en-US" b="1" dirty="0"/>
          </a:p>
          <a:p>
            <a:pPr marL="0" indent="0" algn="just">
              <a:buNone/>
            </a:pPr>
            <a:r>
              <a:rPr lang="en-US" b="1" dirty="0" smtClean="0"/>
              <a:t>“</a:t>
            </a:r>
            <a:r>
              <a:rPr lang="en-US" b="1" dirty="0"/>
              <a:t>Outbreaks are urgent emergencies accompanied by rapid efforts to care for cases, prevent further spread, and bring the outbreak under control. Decisions, often with life-saving potential, need to be made rapidly and actions need to be followed promptly.”</a:t>
            </a:r>
          </a:p>
          <a:p>
            <a:pPr marL="0" indent="0">
              <a:buNone/>
            </a:pPr>
            <a:r>
              <a:rPr lang="en-US" b="1" dirty="0"/>
              <a:t> </a:t>
            </a:r>
            <a:r>
              <a:rPr lang="en-US" b="1" dirty="0" smtClean="0"/>
              <a:t>        World </a:t>
            </a:r>
            <a:r>
              <a:rPr lang="en-US" b="1" dirty="0"/>
              <a:t>Health Organization 2005a</a:t>
            </a:r>
          </a:p>
        </p:txBody>
      </p:sp>
    </p:spTree>
    <p:extLst>
      <p:ext uri="{BB962C8B-B14F-4D97-AF65-F5344CB8AC3E}">
        <p14:creationId xmlns:p14="http://schemas.microsoft.com/office/powerpoint/2010/main" val="2078479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205" y="1196398"/>
            <a:ext cx="10515600" cy="817289"/>
          </a:xfrm>
        </p:spPr>
        <p:txBody>
          <a:bodyPr>
            <a:normAutofit fontScale="90000"/>
          </a:bodyPr>
          <a:lstStyle/>
          <a:p>
            <a:r>
              <a:rPr lang="en-US" b="1" dirty="0"/>
              <a:t>The Nature of Public Health Emergencies</a:t>
            </a:r>
            <a:br>
              <a:rPr lang="en-US" b="1" dirty="0"/>
            </a:br>
            <a:endParaRPr lang="en-US" dirty="0"/>
          </a:p>
        </p:txBody>
      </p:sp>
      <p:sp>
        <p:nvSpPr>
          <p:cNvPr id="3" name="Content Placeholder 2"/>
          <p:cNvSpPr>
            <a:spLocks noGrp="1"/>
          </p:cNvSpPr>
          <p:nvPr>
            <p:ph idx="1"/>
          </p:nvPr>
        </p:nvSpPr>
        <p:spPr>
          <a:xfrm>
            <a:off x="838200" y="2517569"/>
            <a:ext cx="10515600" cy="3633850"/>
          </a:xfrm>
        </p:spPr>
        <p:txBody>
          <a:bodyPr>
            <a:normAutofit fontScale="85000" lnSpcReduction="10000"/>
          </a:bodyPr>
          <a:lstStyle/>
          <a:p>
            <a:pPr algn="just"/>
            <a:r>
              <a:rPr lang="en-US" dirty="0" smtClean="0"/>
              <a:t>Public </a:t>
            </a:r>
            <a:r>
              <a:rPr lang="en-US" dirty="0"/>
              <a:t>health emergencies can be infectious and non-infectious emergencies</a:t>
            </a:r>
            <a:r>
              <a:rPr lang="en-US" dirty="0" smtClean="0"/>
              <a:t>.</a:t>
            </a:r>
          </a:p>
          <a:p>
            <a:pPr algn="just"/>
            <a:r>
              <a:rPr lang="en-US" dirty="0" smtClean="0"/>
              <a:t> </a:t>
            </a:r>
            <a:r>
              <a:rPr lang="en-US" dirty="0"/>
              <a:t>Infectious disease emergencies include all events that involve a biological </a:t>
            </a:r>
            <a:r>
              <a:rPr lang="en-US" dirty="0" smtClean="0"/>
              <a:t>agent </a:t>
            </a:r>
            <a:r>
              <a:rPr lang="en-US" dirty="0"/>
              <a:t>or a </a:t>
            </a:r>
            <a:r>
              <a:rPr lang="en-US" dirty="0" smtClean="0"/>
              <a:t>disease </a:t>
            </a:r>
            <a:r>
              <a:rPr lang="en-US" dirty="0"/>
              <a:t>and impact a large number of individuals, such as in a </a:t>
            </a:r>
            <a:r>
              <a:rPr lang="en-US" dirty="0" smtClean="0"/>
              <a:t>pandemic </a:t>
            </a:r>
            <a:r>
              <a:rPr lang="en-US" dirty="0"/>
              <a:t>or an outbreak of an emerging infectious </a:t>
            </a:r>
            <a:r>
              <a:rPr lang="en-US" dirty="0" smtClean="0"/>
              <a:t>disease.</a:t>
            </a:r>
          </a:p>
          <a:p>
            <a:pPr algn="just"/>
            <a:r>
              <a:rPr lang="en-US" dirty="0" smtClean="0"/>
              <a:t> </a:t>
            </a:r>
            <a:r>
              <a:rPr lang="en-US" dirty="0"/>
              <a:t>Non-infectious disease emergencies include all natural and manmade events that do not include an infectious agent as the source of the incident</a:t>
            </a:r>
          </a:p>
        </p:txBody>
      </p:sp>
    </p:spTree>
    <p:extLst>
      <p:ext uri="{BB962C8B-B14F-4D97-AF65-F5344CB8AC3E}">
        <p14:creationId xmlns:p14="http://schemas.microsoft.com/office/powerpoint/2010/main" val="14923545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703" y="1131637"/>
            <a:ext cx="11524593" cy="1072055"/>
          </a:xfrm>
        </p:spPr>
        <p:txBody>
          <a:bodyPr>
            <a:normAutofit fontScale="90000"/>
          </a:bodyPr>
          <a:lstStyle/>
          <a:p>
            <a:r>
              <a:rPr lang="en-US" b="1" dirty="0" smtClean="0"/>
              <a:t>   </a:t>
            </a:r>
            <a:br>
              <a:rPr lang="en-US" b="1" dirty="0" smtClean="0"/>
            </a:br>
            <a:r>
              <a:rPr lang="en-US" b="1" dirty="0"/>
              <a:t> </a:t>
            </a:r>
            <a:r>
              <a:rPr lang="en-US" b="1" dirty="0" smtClean="0"/>
              <a:t>   IPC in </a:t>
            </a:r>
            <a:r>
              <a:rPr lang="en-US" b="1" dirty="0"/>
              <a:t>Public Health Emergencies </a:t>
            </a:r>
            <a:br>
              <a:rPr lang="en-US" b="1" dirty="0"/>
            </a:br>
            <a:endParaRPr lang="en-US" dirty="0"/>
          </a:p>
        </p:txBody>
      </p:sp>
      <p:sp>
        <p:nvSpPr>
          <p:cNvPr id="3" name="Content Placeholder 2"/>
          <p:cNvSpPr>
            <a:spLocks noGrp="1"/>
          </p:cNvSpPr>
          <p:nvPr>
            <p:ph idx="1"/>
          </p:nvPr>
        </p:nvSpPr>
        <p:spPr>
          <a:xfrm>
            <a:off x="838200" y="2506662"/>
            <a:ext cx="10515600" cy="4351338"/>
          </a:xfrm>
        </p:spPr>
        <p:txBody>
          <a:bodyPr>
            <a:normAutofit/>
          </a:bodyPr>
          <a:lstStyle/>
          <a:p>
            <a:endParaRPr lang="en-US" dirty="0" smtClean="0"/>
          </a:p>
          <a:p>
            <a:r>
              <a:rPr lang="en-US" dirty="0" smtClean="0"/>
              <a:t>Outbreaks </a:t>
            </a:r>
            <a:r>
              <a:rPr lang="en-US" dirty="0"/>
              <a:t>and public health emergencies tend to bring IPC infrastructure into the spotlight as routes of disease transmission are investigated.  </a:t>
            </a:r>
          </a:p>
          <a:p>
            <a:pPr marL="0" indent="0">
              <a:buNone/>
            </a:pPr>
            <a:endParaRPr lang="en-US" dirty="0"/>
          </a:p>
        </p:txBody>
      </p:sp>
    </p:spTree>
    <p:extLst>
      <p:ext uri="{BB962C8B-B14F-4D97-AF65-F5344CB8AC3E}">
        <p14:creationId xmlns:p14="http://schemas.microsoft.com/office/powerpoint/2010/main" val="15412404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973" y="1128156"/>
            <a:ext cx="10880834" cy="736270"/>
          </a:xfrm>
        </p:spPr>
        <p:txBody>
          <a:bodyPr>
            <a:normAutofit fontScale="90000"/>
          </a:bodyPr>
          <a:lstStyle/>
          <a:p>
            <a:r>
              <a:rPr lang="en-US" sz="4400" b="1" smtClean="0"/>
              <a:t/>
            </a:r>
            <a:br>
              <a:rPr lang="en-US" sz="4400" b="1" smtClean="0"/>
            </a:br>
            <a:r>
              <a:rPr lang="en-US" sz="4400" b="1" smtClean="0"/>
              <a:t>The </a:t>
            </a:r>
            <a:r>
              <a:rPr lang="en-US" sz="4400" b="1" dirty="0" smtClean="0"/>
              <a:t>Four </a:t>
            </a:r>
            <a:r>
              <a:rPr lang="en-US" sz="4400" b="1" dirty="0"/>
              <a:t>Principles of Emergency Management</a:t>
            </a:r>
            <a:r>
              <a:rPr lang="en-US" b="1" dirty="0"/>
              <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Public </a:t>
            </a:r>
            <a:r>
              <a:rPr lang="en-US" dirty="0"/>
              <a:t>health emergencies should be planned for and responded to using the primary principles of emergency </a:t>
            </a:r>
            <a:r>
              <a:rPr lang="en-US" dirty="0" smtClean="0"/>
              <a:t>management: </a:t>
            </a:r>
          </a:p>
          <a:p>
            <a:r>
              <a:rPr lang="en-US" dirty="0"/>
              <a:t>M</a:t>
            </a:r>
            <a:r>
              <a:rPr lang="en-US" dirty="0" smtClean="0"/>
              <a:t>itigation</a:t>
            </a:r>
            <a:r>
              <a:rPr lang="en-US" dirty="0"/>
              <a:t>, </a:t>
            </a:r>
            <a:endParaRPr lang="en-US" dirty="0" smtClean="0"/>
          </a:p>
          <a:p>
            <a:r>
              <a:rPr lang="en-US" dirty="0"/>
              <a:t>P</a:t>
            </a:r>
            <a:r>
              <a:rPr lang="en-US" dirty="0" smtClean="0"/>
              <a:t>reparedness</a:t>
            </a:r>
            <a:r>
              <a:rPr lang="en-US" dirty="0"/>
              <a:t>, </a:t>
            </a:r>
            <a:endParaRPr lang="en-US" dirty="0" smtClean="0"/>
          </a:p>
          <a:p>
            <a:r>
              <a:rPr lang="en-US" dirty="0"/>
              <a:t>R</a:t>
            </a:r>
            <a:r>
              <a:rPr lang="en-US" dirty="0" smtClean="0"/>
              <a:t>esponse</a:t>
            </a:r>
            <a:r>
              <a:rPr lang="en-US" dirty="0"/>
              <a:t>, and </a:t>
            </a:r>
            <a:endParaRPr lang="en-US" dirty="0" smtClean="0"/>
          </a:p>
          <a:p>
            <a:r>
              <a:rPr lang="en-US" dirty="0"/>
              <a:t>R</a:t>
            </a:r>
            <a:r>
              <a:rPr lang="en-US" dirty="0" smtClean="0"/>
              <a:t>ecovery</a:t>
            </a:r>
            <a:r>
              <a:rPr lang="en-US" dirty="0"/>
              <a:t>.</a:t>
            </a:r>
          </a:p>
          <a:p>
            <a:pPr marL="0" indent="0">
              <a:buNone/>
            </a:pPr>
            <a:r>
              <a:rPr lang="en-US" dirty="0"/>
              <a:t> </a:t>
            </a:r>
          </a:p>
          <a:p>
            <a:endParaRPr lang="en-US" dirty="0"/>
          </a:p>
        </p:txBody>
      </p:sp>
    </p:spTree>
    <p:extLst>
      <p:ext uri="{BB962C8B-B14F-4D97-AF65-F5344CB8AC3E}">
        <p14:creationId xmlns:p14="http://schemas.microsoft.com/office/powerpoint/2010/main" val="6807787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Four Principles of Emergency Management</a:t>
            </a:r>
          </a:p>
        </p:txBody>
      </p:sp>
      <p:sp>
        <p:nvSpPr>
          <p:cNvPr id="4" name="Rectangle 2"/>
          <p:cNvSpPr>
            <a:spLocks noChangeArrowheads="1"/>
          </p:cNvSpPr>
          <p:nvPr/>
        </p:nvSpPr>
        <p:spPr bwMode="auto">
          <a:xfrm>
            <a:off x="3075709" y="28144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Diagram 276"/>
          <p:cNvPicPr>
            <a:picLocks noChangeArrowheads="1"/>
          </p:cNvPicPr>
          <p:nvPr/>
        </p:nvPicPr>
        <p:blipFill>
          <a:blip r:embed="rId2">
            <a:extLst>
              <a:ext uri="{28A0092B-C50C-407E-A947-70E740481C1C}">
                <a14:useLocalDpi xmlns:a14="http://schemas.microsoft.com/office/drawing/2010/main" val="0"/>
              </a:ext>
            </a:extLst>
          </a:blip>
          <a:srcRect l="-13022" r="-12721"/>
          <a:stretch>
            <a:fillRect/>
          </a:stretch>
        </p:blipFill>
        <p:spPr bwMode="auto">
          <a:xfrm>
            <a:off x="1733796" y="2470069"/>
            <a:ext cx="8989621" cy="3491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14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Four Principles </a:t>
            </a:r>
            <a:r>
              <a:rPr lang="en-US" b="1" dirty="0" smtClean="0"/>
              <a:t>…</a:t>
            </a:r>
            <a:r>
              <a:rPr lang="en-US" b="1" dirty="0"/>
              <a:t/>
            </a:r>
            <a:br>
              <a:rPr lang="en-US" b="1" dirty="0"/>
            </a:br>
            <a:endParaRPr lang="en-US" dirty="0"/>
          </a:p>
        </p:txBody>
      </p:sp>
      <p:sp>
        <p:nvSpPr>
          <p:cNvPr id="3" name="Content Placeholder 2"/>
          <p:cNvSpPr>
            <a:spLocks noGrp="1"/>
          </p:cNvSpPr>
          <p:nvPr>
            <p:ph idx="1"/>
          </p:nvPr>
        </p:nvSpPr>
        <p:spPr/>
        <p:txBody>
          <a:bodyPr/>
          <a:lstStyle/>
          <a:p>
            <a:endParaRPr lang="en-US" b="1" dirty="0" smtClean="0"/>
          </a:p>
          <a:p>
            <a:pPr algn="just"/>
            <a:r>
              <a:rPr lang="en-US" b="1" dirty="0" smtClean="0"/>
              <a:t>Mitigation </a:t>
            </a:r>
            <a:r>
              <a:rPr lang="en-US" b="1" dirty="0"/>
              <a:t>:</a:t>
            </a:r>
            <a:r>
              <a:rPr lang="en-US" dirty="0"/>
              <a:t> These include strategies should include activities that would prevent or reduce the chance of an emergency, or reduce vulnerability of high-risk groups</a:t>
            </a:r>
          </a:p>
          <a:p>
            <a:pPr algn="just"/>
            <a:endParaRPr lang="en-US" dirty="0"/>
          </a:p>
        </p:txBody>
      </p:sp>
    </p:spTree>
    <p:extLst>
      <p:ext uri="{BB962C8B-B14F-4D97-AF65-F5344CB8AC3E}">
        <p14:creationId xmlns:p14="http://schemas.microsoft.com/office/powerpoint/2010/main" val="1390621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The </a:t>
            </a:r>
            <a:r>
              <a:rPr lang="en-US" b="1" dirty="0"/>
              <a:t>Four Principles …</a:t>
            </a:r>
            <a:br>
              <a:rPr lang="en-US" b="1" dirty="0"/>
            </a:br>
            <a:endParaRPr lang="en-US" dirty="0"/>
          </a:p>
        </p:txBody>
      </p:sp>
      <p:sp>
        <p:nvSpPr>
          <p:cNvPr id="3" name="Content Placeholder 2"/>
          <p:cNvSpPr>
            <a:spLocks noGrp="1"/>
          </p:cNvSpPr>
          <p:nvPr>
            <p:ph idx="1"/>
          </p:nvPr>
        </p:nvSpPr>
        <p:spPr>
          <a:xfrm>
            <a:off x="1009403" y="2470067"/>
            <a:ext cx="10141528" cy="3706895"/>
          </a:xfrm>
        </p:spPr>
        <p:txBody>
          <a:bodyPr>
            <a:normAutofit fontScale="92500"/>
          </a:bodyPr>
          <a:lstStyle/>
          <a:p>
            <a:pPr algn="just"/>
            <a:r>
              <a:rPr lang="en-US" b="1" dirty="0"/>
              <a:t>Preparedness: </a:t>
            </a:r>
            <a:r>
              <a:rPr lang="en-US" dirty="0"/>
              <a:t>which take place before an emergency, increase a facility’s ability to respond when an emergency occurs</a:t>
            </a:r>
            <a:r>
              <a:rPr lang="en-US"/>
              <a:t>. </a:t>
            </a:r>
            <a:endParaRPr lang="en-US" dirty="0"/>
          </a:p>
          <a:p>
            <a:pPr marL="0" indent="0" algn="just">
              <a:buNone/>
            </a:pPr>
            <a:r>
              <a:rPr lang="en-US" dirty="0"/>
              <a:t>They include planning, organizing, training, equipping, practicing, evaluating, and taking corrective actions. </a:t>
            </a:r>
            <a:endParaRPr lang="en-US" dirty="0" smtClean="0"/>
          </a:p>
          <a:p>
            <a:pPr marL="0" indent="0" algn="just">
              <a:buNone/>
            </a:pPr>
            <a:r>
              <a:rPr lang="en-US" dirty="0" smtClean="0"/>
              <a:t>IPC </a:t>
            </a:r>
            <a:r>
              <a:rPr lang="en-US" dirty="0"/>
              <a:t>aspects of preparedness include stockpiling IPC supplies, training staff, and increasing compliance with recommended IPC practices during mitigation. </a:t>
            </a:r>
          </a:p>
        </p:txBody>
      </p:sp>
    </p:spTree>
    <p:extLst>
      <p:ext uri="{BB962C8B-B14F-4D97-AF65-F5344CB8AC3E}">
        <p14:creationId xmlns:p14="http://schemas.microsoft.com/office/powerpoint/2010/main" val="1106616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777" y="899597"/>
            <a:ext cx="10515600" cy="1325563"/>
          </a:xfrm>
        </p:spPr>
        <p:txBody>
          <a:bodyPr>
            <a:normAutofit fontScale="90000"/>
          </a:bodyPr>
          <a:lstStyle/>
          <a:p>
            <a:r>
              <a:rPr lang="en-US" sz="4000" smtClean="0"/>
              <a:t/>
            </a:r>
            <a:br>
              <a:rPr lang="en-US" sz="4000" smtClean="0"/>
            </a:br>
            <a:r>
              <a:rPr lang="en-US" sz="4000" smtClean="0"/>
              <a:t>The </a:t>
            </a:r>
            <a:r>
              <a:rPr lang="en-US" sz="4000" dirty="0"/>
              <a:t>Four Principles …</a:t>
            </a:r>
            <a:br>
              <a:rPr lang="en-US" sz="4000" dirty="0"/>
            </a:br>
            <a:endParaRPr lang="en-US" sz="4000" dirty="0"/>
          </a:p>
        </p:txBody>
      </p:sp>
      <p:sp>
        <p:nvSpPr>
          <p:cNvPr id="3" name="Content Placeholder 2"/>
          <p:cNvSpPr>
            <a:spLocks noGrp="1"/>
          </p:cNvSpPr>
          <p:nvPr>
            <p:ph idx="1"/>
          </p:nvPr>
        </p:nvSpPr>
        <p:spPr>
          <a:xfrm>
            <a:off x="973777" y="2434442"/>
            <a:ext cx="10236530" cy="3742521"/>
          </a:xfrm>
        </p:spPr>
        <p:txBody>
          <a:bodyPr>
            <a:normAutofit lnSpcReduction="10000"/>
          </a:bodyPr>
          <a:lstStyle/>
          <a:p>
            <a:pPr marL="0" indent="0">
              <a:buNone/>
            </a:pPr>
            <a:r>
              <a:rPr lang="en-US" b="1" smtClean="0"/>
              <a:t> Preparedness </a:t>
            </a:r>
            <a:r>
              <a:rPr lang="en-US" b="1" dirty="0" smtClean="0"/>
              <a:t>assessment</a:t>
            </a:r>
            <a:endParaRPr lang="en-US" dirty="0"/>
          </a:p>
          <a:p>
            <a:r>
              <a:rPr lang="en-US" dirty="0"/>
              <a:t>Facilities should perform a facility preparedness assessment during the early preparedness stages to determine if the facility is prepared and where actions and resources for handling a public health emergency are most needed. (See Appendix 2-A</a:t>
            </a:r>
            <a:r>
              <a:rPr lang="en-US" b="1" dirty="0"/>
              <a:t> </a:t>
            </a:r>
            <a:r>
              <a:rPr lang="en-US" dirty="0"/>
              <a:t>for an example of a facility emergency preparedness checklist.)</a:t>
            </a:r>
          </a:p>
          <a:p>
            <a:pPr marL="0" indent="0">
              <a:buNone/>
            </a:pPr>
            <a:endParaRPr lang="en-US" dirty="0"/>
          </a:p>
        </p:txBody>
      </p:sp>
    </p:spTree>
    <p:extLst>
      <p:ext uri="{BB962C8B-B14F-4D97-AF65-F5344CB8AC3E}">
        <p14:creationId xmlns:p14="http://schemas.microsoft.com/office/powerpoint/2010/main" val="16995863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Four Principles …</a:t>
            </a:r>
            <a:br>
              <a:rPr lang="en-US" b="1" dirty="0"/>
            </a:br>
            <a:endParaRPr lang="en-US" dirty="0"/>
          </a:p>
        </p:txBody>
      </p:sp>
      <p:sp>
        <p:nvSpPr>
          <p:cNvPr id="3" name="Content Placeholder 2"/>
          <p:cNvSpPr>
            <a:spLocks noGrp="1"/>
          </p:cNvSpPr>
          <p:nvPr>
            <p:ph idx="1"/>
          </p:nvPr>
        </p:nvSpPr>
        <p:spPr>
          <a:xfrm>
            <a:off x="961901" y="2446317"/>
            <a:ext cx="10224656" cy="4068782"/>
          </a:xfrm>
        </p:spPr>
        <p:txBody>
          <a:bodyPr>
            <a:normAutofit fontScale="77500" lnSpcReduction="20000"/>
          </a:bodyPr>
          <a:lstStyle/>
          <a:p>
            <a:pPr marL="0" indent="0">
              <a:buNone/>
            </a:pPr>
            <a:r>
              <a:rPr lang="en-US" b="1" dirty="0"/>
              <a:t>Preparedness </a:t>
            </a:r>
            <a:r>
              <a:rPr lang="en-US" b="1" dirty="0" smtClean="0"/>
              <a:t>assessment …</a:t>
            </a:r>
            <a:endParaRPr lang="en-US" dirty="0" smtClean="0"/>
          </a:p>
          <a:p>
            <a:pPr marL="0" indent="0">
              <a:buNone/>
            </a:pPr>
            <a:r>
              <a:rPr lang="en-US" dirty="0" smtClean="0"/>
              <a:t>In </a:t>
            </a:r>
            <a:r>
              <a:rPr lang="en-US" dirty="0"/>
              <a:t>addition to performing a facility assessment, </a:t>
            </a:r>
            <a:r>
              <a:rPr lang="en-US" dirty="0" smtClean="0"/>
              <a:t> </a:t>
            </a:r>
            <a:r>
              <a:rPr lang="en-US" dirty="0"/>
              <a:t>key steps in the pre-emergency preparedness phase include:</a:t>
            </a:r>
          </a:p>
          <a:p>
            <a:pPr marL="0" lvl="0" indent="0">
              <a:buNone/>
            </a:pPr>
            <a:r>
              <a:rPr lang="en-US" dirty="0" smtClean="0"/>
              <a:t> 1. Creating </a:t>
            </a:r>
            <a:r>
              <a:rPr lang="en-US" dirty="0"/>
              <a:t>a strong disease surveillance system </a:t>
            </a:r>
          </a:p>
          <a:p>
            <a:pPr marL="0" lvl="0" indent="0">
              <a:buNone/>
            </a:pPr>
            <a:r>
              <a:rPr lang="en-US" dirty="0" smtClean="0"/>
              <a:t> 2. Reinforcing </a:t>
            </a:r>
            <a:r>
              <a:rPr lang="en-US" dirty="0"/>
              <a:t>IPC practices</a:t>
            </a:r>
          </a:p>
          <a:p>
            <a:pPr marL="0" lvl="0" indent="0">
              <a:buNone/>
            </a:pPr>
            <a:r>
              <a:rPr lang="en-US" dirty="0" smtClean="0"/>
              <a:t> 3. Coordinating </a:t>
            </a:r>
            <a:r>
              <a:rPr lang="en-US" dirty="0"/>
              <a:t>with health ministries or other public health authorities</a:t>
            </a:r>
          </a:p>
          <a:p>
            <a:pPr marL="0" lvl="0" indent="0">
              <a:buNone/>
            </a:pPr>
            <a:r>
              <a:rPr lang="en-US" dirty="0" smtClean="0"/>
              <a:t> 4 Partnering </a:t>
            </a:r>
            <a:r>
              <a:rPr lang="en-US" dirty="0"/>
              <a:t>with the community for education, involvement, and communication</a:t>
            </a:r>
          </a:p>
          <a:p>
            <a:pPr marL="0" lvl="0" indent="0">
              <a:buNone/>
            </a:pPr>
            <a:r>
              <a:rPr lang="en-US" dirty="0" smtClean="0"/>
              <a:t> 5.Performing </a:t>
            </a:r>
            <a:r>
              <a:rPr lang="en-US" dirty="0"/>
              <a:t>drills and tests of the system</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267543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Preparedness assessment …</a:t>
            </a:r>
            <a:r>
              <a:rPr lang="en-US" dirty="0"/>
              <a:t/>
            </a:r>
            <a:br>
              <a:rPr lang="en-US" dirty="0"/>
            </a:br>
            <a:endParaRPr lang="en-US" dirty="0"/>
          </a:p>
        </p:txBody>
      </p:sp>
      <p:sp>
        <p:nvSpPr>
          <p:cNvPr id="3" name="Content Placeholder 2"/>
          <p:cNvSpPr>
            <a:spLocks noGrp="1"/>
          </p:cNvSpPr>
          <p:nvPr>
            <p:ph idx="1"/>
          </p:nvPr>
        </p:nvSpPr>
        <p:spPr>
          <a:xfrm>
            <a:off x="961900" y="2481943"/>
            <a:ext cx="10212781" cy="3880756"/>
          </a:xfrm>
        </p:spPr>
        <p:txBody>
          <a:bodyPr>
            <a:normAutofit fontScale="70000" lnSpcReduction="20000"/>
          </a:bodyPr>
          <a:lstStyle/>
          <a:p>
            <a:pPr marL="0" lvl="0" indent="0" algn="just">
              <a:buNone/>
            </a:pPr>
            <a:r>
              <a:rPr lang="en-US" b="1" dirty="0" smtClean="0"/>
              <a:t>1.Creating </a:t>
            </a:r>
            <a:r>
              <a:rPr lang="en-US" b="1" dirty="0"/>
              <a:t>a strong disease surveillance system </a:t>
            </a:r>
            <a:r>
              <a:rPr lang="en-US" b="1" dirty="0" smtClean="0"/>
              <a:t>:</a:t>
            </a:r>
            <a:endParaRPr lang="en-US" b="1" dirty="0"/>
          </a:p>
          <a:p>
            <a:pPr marL="0" indent="0" algn="just">
              <a:buNone/>
            </a:pPr>
            <a:r>
              <a:rPr lang="en-US" dirty="0"/>
              <a:t>A strong disease surveillance system should assist a facility in identifying cases of disease that are of concern. </a:t>
            </a:r>
            <a:endParaRPr lang="en-US" dirty="0" smtClean="0"/>
          </a:p>
          <a:p>
            <a:pPr marL="0" indent="0" algn="just">
              <a:buNone/>
            </a:pPr>
            <a:r>
              <a:rPr lang="en-US" b="1" dirty="0" smtClean="0"/>
              <a:t>Case </a:t>
            </a:r>
            <a:r>
              <a:rPr lang="en-US" b="1" dirty="0"/>
              <a:t>definitions </a:t>
            </a:r>
            <a:r>
              <a:rPr lang="en-US" dirty="0"/>
              <a:t>can be separated into three categories: </a:t>
            </a:r>
          </a:p>
          <a:p>
            <a:pPr lvl="0" algn="just"/>
            <a:r>
              <a:rPr lang="en-US" b="1" dirty="0"/>
              <a:t>Confirmed cases</a:t>
            </a:r>
            <a:r>
              <a:rPr lang="en-US" b="1" i="1" dirty="0"/>
              <a:t> </a:t>
            </a:r>
            <a:r>
              <a:rPr lang="en-US" dirty="0"/>
              <a:t>are typically laboratory-confirmed cases.</a:t>
            </a:r>
          </a:p>
          <a:p>
            <a:pPr lvl="0" algn="just"/>
            <a:r>
              <a:rPr lang="en-US" b="1" dirty="0"/>
              <a:t>Probable cases</a:t>
            </a:r>
            <a:r>
              <a:rPr lang="en-US" dirty="0"/>
              <a:t> usually have characteristics and clinical features of the disease but do not have laboratory confirmation.</a:t>
            </a:r>
          </a:p>
          <a:p>
            <a:pPr lvl="0" algn="just"/>
            <a:r>
              <a:rPr lang="en-US" b="1" dirty="0"/>
              <a:t>Possible cases or suspect cases</a:t>
            </a:r>
            <a:r>
              <a:rPr lang="en-US" b="1" i="1" dirty="0"/>
              <a:t> </a:t>
            </a:r>
            <a:r>
              <a:rPr lang="en-US" dirty="0"/>
              <a:t>usually have some, but not all, of the characteristics and clinical features of the disease and do not have laboratory confirmation.</a:t>
            </a:r>
          </a:p>
          <a:p>
            <a:pPr marL="0" indent="0" algn="just">
              <a:buNone/>
            </a:pPr>
            <a:endParaRPr lang="en-US" dirty="0"/>
          </a:p>
          <a:p>
            <a:endParaRPr lang="en-US" dirty="0"/>
          </a:p>
        </p:txBody>
      </p:sp>
    </p:spTree>
    <p:extLst>
      <p:ext uri="{BB962C8B-B14F-4D97-AF65-F5344CB8AC3E}">
        <p14:creationId xmlns:p14="http://schemas.microsoft.com/office/powerpoint/2010/main" val="567473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Preparedness assessment …</a:t>
            </a:r>
            <a:r>
              <a:rPr lang="en-US" dirty="0"/>
              <a:t/>
            </a:r>
            <a:br>
              <a:rPr lang="en-US" dirty="0"/>
            </a:br>
            <a:endParaRPr lang="en-US" dirty="0"/>
          </a:p>
        </p:txBody>
      </p:sp>
      <p:sp>
        <p:nvSpPr>
          <p:cNvPr id="3" name="Content Placeholder 2"/>
          <p:cNvSpPr>
            <a:spLocks noGrp="1"/>
          </p:cNvSpPr>
          <p:nvPr>
            <p:ph idx="1"/>
          </p:nvPr>
        </p:nvSpPr>
        <p:spPr/>
        <p:txBody>
          <a:bodyPr/>
          <a:lstStyle/>
          <a:p>
            <a:pPr marL="0" indent="0">
              <a:buNone/>
            </a:pPr>
            <a:r>
              <a:rPr lang="en-US" b="1" i="1" dirty="0" smtClean="0"/>
              <a:t>   Screening </a:t>
            </a:r>
            <a:r>
              <a:rPr lang="en-US" b="1" i="1" dirty="0"/>
              <a:t>and triage systems</a:t>
            </a:r>
            <a:endParaRPr lang="en-US" i="1" dirty="0"/>
          </a:p>
          <a:p>
            <a:r>
              <a:rPr lang="en-US" dirty="0"/>
              <a:t>Preparation should include setting up a screening and triage system. The goal of screening patients is to quickly identify potential cases before they receive care in the health care facility, thus minimizing the risk of disease transmission within the facility. </a:t>
            </a:r>
          </a:p>
          <a:p>
            <a:endParaRPr lang="en-US" dirty="0"/>
          </a:p>
        </p:txBody>
      </p:sp>
    </p:spTree>
    <p:extLst>
      <p:ext uri="{BB962C8B-B14F-4D97-AF65-F5344CB8AC3E}">
        <p14:creationId xmlns:p14="http://schemas.microsoft.com/office/powerpoint/2010/main" val="549649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616" y="1006392"/>
            <a:ext cx="10801350" cy="1025525"/>
          </a:xfrm>
        </p:spPr>
        <p:txBody>
          <a:bodyPr>
            <a:normAutofit fontScale="90000"/>
          </a:bodyPr>
          <a:lstStyle/>
          <a:p>
            <a:r>
              <a:rPr lang="en-US" b="1" dirty="0" smtClean="0"/>
              <a:t/>
            </a:r>
            <a:br>
              <a:rPr lang="en-US" b="1" dirty="0" smtClean="0"/>
            </a:br>
            <a:r>
              <a:rPr lang="en-US" b="1" dirty="0" smtClean="0"/>
              <a:t>Preparedness </a:t>
            </a:r>
            <a:r>
              <a:rPr lang="en-US" b="1" dirty="0"/>
              <a:t>assessment …</a:t>
            </a:r>
            <a:r>
              <a:rPr lang="en-US" dirty="0"/>
              <a:t/>
            </a:r>
            <a:br>
              <a:rPr lang="en-US" dirty="0"/>
            </a:br>
            <a:endParaRPr lang="en-US" dirty="0"/>
          </a:p>
        </p:txBody>
      </p:sp>
      <p:sp>
        <p:nvSpPr>
          <p:cNvPr id="3" name="Content Placeholder 2"/>
          <p:cNvSpPr>
            <a:spLocks noGrp="1"/>
          </p:cNvSpPr>
          <p:nvPr>
            <p:ph idx="1"/>
          </p:nvPr>
        </p:nvSpPr>
        <p:spPr>
          <a:xfrm>
            <a:off x="950026" y="2434441"/>
            <a:ext cx="10236530" cy="3742521"/>
          </a:xfrm>
        </p:spPr>
        <p:txBody>
          <a:bodyPr>
            <a:normAutofit fontScale="92500" lnSpcReduction="10000"/>
          </a:bodyPr>
          <a:lstStyle/>
          <a:p>
            <a:pPr marL="0" indent="0">
              <a:buNone/>
            </a:pPr>
            <a:r>
              <a:rPr lang="en-US" dirty="0" smtClean="0"/>
              <a:t> 2</a:t>
            </a:r>
            <a:r>
              <a:rPr lang="en-US" b="1" dirty="0" smtClean="0"/>
              <a:t>. Reinforce </a:t>
            </a:r>
            <a:r>
              <a:rPr lang="en-US" b="1" dirty="0"/>
              <a:t>infection prevention and control </a:t>
            </a:r>
            <a:r>
              <a:rPr lang="en-US" b="1" dirty="0" smtClean="0"/>
              <a:t>practices</a:t>
            </a:r>
            <a:endParaRPr lang="en-US" dirty="0"/>
          </a:p>
          <a:p>
            <a:r>
              <a:rPr lang="en-US" dirty="0" smtClean="0"/>
              <a:t>During </a:t>
            </a:r>
            <a:r>
              <a:rPr lang="en-US" dirty="0"/>
              <a:t>an outbreak or other public health emergency, complying with IPC principles becomes more critical</a:t>
            </a:r>
            <a:r>
              <a:rPr lang="en-US" dirty="0" smtClean="0"/>
              <a:t>.</a:t>
            </a:r>
            <a:endParaRPr lang="en-US" dirty="0"/>
          </a:p>
          <a:p>
            <a:r>
              <a:rPr lang="en-US" dirty="0"/>
              <a:t>A facility must have strong IPC principles in place before the outbreak occurs in order to rapidly prevent any further spread</a:t>
            </a:r>
            <a:r>
              <a:rPr lang="en-US" dirty="0" smtClean="0"/>
              <a:t>.</a:t>
            </a:r>
            <a:endParaRPr lang="en-US" dirty="0"/>
          </a:p>
          <a:p>
            <a:r>
              <a:rPr lang="en-US" dirty="0"/>
              <a:t>A component of preparedness is training HCWs and other facility staff on the basics of IPC.</a:t>
            </a:r>
          </a:p>
        </p:txBody>
      </p:sp>
    </p:spTree>
    <p:extLst>
      <p:ext uri="{BB962C8B-B14F-4D97-AF65-F5344CB8AC3E}">
        <p14:creationId xmlns:p14="http://schemas.microsoft.com/office/powerpoint/2010/main" val="1638619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Preparedness assessment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  3.Coordinate </a:t>
            </a:r>
            <a:r>
              <a:rPr lang="en-US" b="1" dirty="0"/>
              <a:t>with health ministries or other public health </a:t>
            </a:r>
            <a:r>
              <a:rPr lang="en-US" b="1" dirty="0" smtClean="0"/>
              <a:t>authorities</a:t>
            </a:r>
            <a:endParaRPr lang="en-US" dirty="0" smtClean="0"/>
          </a:p>
          <a:p>
            <a:r>
              <a:rPr lang="en-US" dirty="0"/>
              <a:t>The Ministry of  Health/Regional Health Bureaus  play a critical role in understanding the bigger picture of disease distribution, and these authorities can be very valuable in helping to identify disease threats that may be moving toward a facility or country. </a:t>
            </a:r>
          </a:p>
        </p:txBody>
      </p:sp>
    </p:spTree>
    <p:extLst>
      <p:ext uri="{BB962C8B-B14F-4D97-AF65-F5344CB8AC3E}">
        <p14:creationId xmlns:p14="http://schemas.microsoft.com/office/powerpoint/2010/main" val="947949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803" y="935140"/>
            <a:ext cx="10896600" cy="1325563"/>
          </a:xfrm>
        </p:spPr>
        <p:txBody>
          <a:bodyPr/>
          <a:lstStyle/>
          <a:p>
            <a:r>
              <a:rPr lang="en-US" b="1" smtClean="0"/>
              <a:t/>
            </a:r>
            <a:br>
              <a:rPr lang="en-US" b="1" smtClean="0"/>
            </a:br>
            <a:r>
              <a:rPr lang="en-US" b="1" smtClean="0"/>
              <a:t>Preparedness </a:t>
            </a:r>
            <a:r>
              <a:rPr lang="en-US" b="1" dirty="0"/>
              <a:t>assessment …</a:t>
            </a:r>
            <a:r>
              <a:rPr lang="en-US" dirty="0"/>
              <a:t/>
            </a:r>
            <a:br>
              <a:rPr lang="en-US" dirty="0"/>
            </a:br>
            <a:endParaRPr lang="en-US" dirty="0"/>
          </a:p>
        </p:txBody>
      </p:sp>
      <p:sp>
        <p:nvSpPr>
          <p:cNvPr id="3" name="Content Placeholder 2"/>
          <p:cNvSpPr>
            <a:spLocks noGrp="1"/>
          </p:cNvSpPr>
          <p:nvPr>
            <p:ph idx="1"/>
          </p:nvPr>
        </p:nvSpPr>
        <p:spPr>
          <a:xfrm>
            <a:off x="997526" y="2446317"/>
            <a:ext cx="10177155" cy="3730646"/>
          </a:xfrm>
        </p:spPr>
        <p:txBody>
          <a:bodyPr>
            <a:normAutofit/>
          </a:bodyPr>
          <a:lstStyle/>
          <a:p>
            <a:pPr marL="0" indent="0">
              <a:buNone/>
            </a:pPr>
            <a:r>
              <a:rPr lang="en-US" i="1" dirty="0" smtClean="0"/>
              <a:t> 4. </a:t>
            </a:r>
            <a:r>
              <a:rPr lang="en-US" b="1" i="1" dirty="0" smtClean="0"/>
              <a:t>Partner </a:t>
            </a:r>
            <a:r>
              <a:rPr lang="en-US" b="1" i="1" dirty="0"/>
              <a:t>with the community for education, involvement, and </a:t>
            </a:r>
            <a:r>
              <a:rPr lang="en-US" b="1" i="1" dirty="0" smtClean="0"/>
              <a:t>communication</a:t>
            </a:r>
            <a:endParaRPr lang="en-US" b="1" dirty="0"/>
          </a:p>
          <a:p>
            <a:r>
              <a:rPr lang="en-US" dirty="0"/>
              <a:t>Open communication with the community can reduce the potential for feelings of mistrust if an outbreak occurs</a:t>
            </a:r>
            <a:r>
              <a:rPr lang="en-US" dirty="0" smtClean="0"/>
              <a:t>.</a:t>
            </a:r>
          </a:p>
          <a:p>
            <a:r>
              <a:rPr lang="en-US" dirty="0" smtClean="0"/>
              <a:t> </a:t>
            </a:r>
            <a:r>
              <a:rPr lang="en-US" dirty="0"/>
              <a:t>Community members can help disseminate information and follow recommendations from public health </a:t>
            </a:r>
            <a:r>
              <a:rPr lang="en-US" dirty="0" smtClean="0"/>
              <a:t>authorities.</a:t>
            </a:r>
          </a:p>
          <a:p>
            <a:endParaRPr lang="en-US" dirty="0"/>
          </a:p>
        </p:txBody>
      </p:sp>
    </p:spTree>
    <p:extLst>
      <p:ext uri="{BB962C8B-B14F-4D97-AF65-F5344CB8AC3E}">
        <p14:creationId xmlns:p14="http://schemas.microsoft.com/office/powerpoint/2010/main" val="12758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150" y="1180130"/>
            <a:ext cx="10934700" cy="1325563"/>
          </a:xfrm>
        </p:spPr>
        <p:txBody>
          <a:bodyPr/>
          <a:lstStyle/>
          <a:p>
            <a:r>
              <a:rPr lang="en-US" b="1" dirty="0" smtClean="0"/>
              <a:t>   Preparedness </a:t>
            </a:r>
            <a:r>
              <a:rPr lang="en-US" b="1" dirty="0"/>
              <a:t>assessment …</a:t>
            </a:r>
            <a:r>
              <a:rPr lang="en-US" dirty="0"/>
              <a:t/>
            </a:r>
            <a:br>
              <a:rPr lang="en-US" dirty="0"/>
            </a:br>
            <a:endParaRPr lang="en-US" dirty="0"/>
          </a:p>
        </p:txBody>
      </p:sp>
      <p:sp>
        <p:nvSpPr>
          <p:cNvPr id="3" name="Content Placeholder 2"/>
          <p:cNvSpPr>
            <a:spLocks noGrp="1"/>
          </p:cNvSpPr>
          <p:nvPr>
            <p:ph idx="1"/>
          </p:nvPr>
        </p:nvSpPr>
        <p:spPr>
          <a:xfrm>
            <a:off x="938150" y="2505693"/>
            <a:ext cx="10682349" cy="3671269"/>
          </a:xfrm>
        </p:spPr>
        <p:txBody>
          <a:bodyPr/>
          <a:lstStyle/>
          <a:p>
            <a:pPr marL="0" indent="0">
              <a:buNone/>
            </a:pPr>
            <a:r>
              <a:rPr lang="en-US" b="1" dirty="0" smtClean="0"/>
              <a:t> 5. Perform </a:t>
            </a:r>
            <a:r>
              <a:rPr lang="en-US" b="1" dirty="0"/>
              <a:t>drills and tests of the </a:t>
            </a:r>
            <a:r>
              <a:rPr lang="en-US" b="1" dirty="0" smtClean="0"/>
              <a:t>system</a:t>
            </a:r>
            <a:endParaRPr lang="en-US" dirty="0"/>
          </a:p>
          <a:p>
            <a:r>
              <a:rPr lang="en-US" dirty="0"/>
              <a:t>Health care facilities should perform regular drills to test their systems to ensure that plans unfold as intended and roles and responsibilities are clear. </a:t>
            </a:r>
          </a:p>
        </p:txBody>
      </p:sp>
    </p:spTree>
    <p:extLst>
      <p:ext uri="{BB962C8B-B14F-4D97-AF65-F5344CB8AC3E}">
        <p14:creationId xmlns:p14="http://schemas.microsoft.com/office/powerpoint/2010/main" val="1832791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157" y="1208273"/>
            <a:ext cx="10915650" cy="987425"/>
          </a:xfrm>
        </p:spPr>
        <p:txBody>
          <a:bodyPr>
            <a:normAutofit fontScale="90000"/>
          </a:bodyPr>
          <a:lstStyle/>
          <a:p>
            <a:r>
              <a:rPr lang="en-US" b="1" dirty="0" smtClean="0"/>
              <a:t>  The </a:t>
            </a:r>
            <a:r>
              <a:rPr lang="en-US" b="1" dirty="0"/>
              <a:t>Four Principles …</a:t>
            </a:r>
            <a:br>
              <a:rPr lang="en-US" b="1" dirty="0"/>
            </a:br>
            <a:endParaRPr lang="en-US" dirty="0"/>
          </a:p>
        </p:txBody>
      </p:sp>
      <p:sp>
        <p:nvSpPr>
          <p:cNvPr id="3" name="Content Placeholder 2"/>
          <p:cNvSpPr>
            <a:spLocks noGrp="1"/>
          </p:cNvSpPr>
          <p:nvPr>
            <p:ph idx="1"/>
          </p:nvPr>
        </p:nvSpPr>
        <p:spPr>
          <a:xfrm>
            <a:off x="838200" y="2458192"/>
            <a:ext cx="10515600" cy="3718771"/>
          </a:xfrm>
        </p:spPr>
        <p:txBody>
          <a:bodyPr/>
          <a:lstStyle/>
          <a:p>
            <a:pPr marL="0" indent="0">
              <a:buNone/>
            </a:pPr>
            <a:r>
              <a:rPr lang="en-US" b="1" dirty="0" smtClean="0"/>
              <a:t>    Response</a:t>
            </a:r>
            <a:endParaRPr lang="en-US" b="1" dirty="0"/>
          </a:p>
          <a:p>
            <a:r>
              <a:rPr lang="en-US" dirty="0"/>
              <a:t>Response to public health emergencies includes activities in reaction to a known or suspected event. </a:t>
            </a:r>
            <a:endParaRPr lang="en-US" dirty="0" smtClean="0"/>
          </a:p>
          <a:p>
            <a:r>
              <a:rPr lang="en-US" dirty="0" smtClean="0"/>
              <a:t>This </a:t>
            </a:r>
            <a:r>
              <a:rPr lang="en-US" dirty="0"/>
              <a:t>is when emergency plans are operationalized. </a:t>
            </a:r>
            <a:endParaRPr lang="en-US" dirty="0" smtClean="0"/>
          </a:p>
        </p:txBody>
      </p:sp>
    </p:spTree>
    <p:extLst>
      <p:ext uri="{BB962C8B-B14F-4D97-AF65-F5344CB8AC3E}">
        <p14:creationId xmlns:p14="http://schemas.microsoft.com/office/powerpoint/2010/main" val="221274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9710" y="1317268"/>
            <a:ext cx="9064979" cy="1188426"/>
          </a:xfrm>
        </p:spPr>
        <p:txBody>
          <a:bodyPr/>
          <a:lstStyle/>
          <a:p>
            <a:r>
              <a:rPr lang="en-US" b="1" dirty="0"/>
              <a:t>The Four Principles …</a:t>
            </a:r>
            <a:br>
              <a:rPr lang="en-US" b="1" dirty="0"/>
            </a:br>
            <a:endParaRPr lang="en-US" dirty="0"/>
          </a:p>
        </p:txBody>
      </p:sp>
      <p:sp>
        <p:nvSpPr>
          <p:cNvPr id="3" name="Content Placeholder 2"/>
          <p:cNvSpPr>
            <a:spLocks noGrp="1"/>
          </p:cNvSpPr>
          <p:nvPr>
            <p:ph idx="1"/>
          </p:nvPr>
        </p:nvSpPr>
        <p:spPr>
          <a:xfrm>
            <a:off x="457200" y="2505694"/>
            <a:ext cx="11430000" cy="3857005"/>
          </a:xfrm>
        </p:spPr>
        <p:txBody>
          <a:bodyPr>
            <a:normAutofit/>
          </a:bodyPr>
          <a:lstStyle/>
          <a:p>
            <a:pPr marL="0" indent="0">
              <a:buNone/>
            </a:pPr>
            <a:r>
              <a:rPr lang="en-US" b="1" dirty="0" smtClean="0"/>
              <a:t>Response …</a:t>
            </a:r>
            <a:endParaRPr lang="en-US" dirty="0"/>
          </a:p>
          <a:p>
            <a:pPr algn="just"/>
            <a:r>
              <a:rPr lang="en-US" dirty="0" smtClean="0"/>
              <a:t>Depending </a:t>
            </a:r>
            <a:r>
              <a:rPr lang="en-US" dirty="0"/>
              <a:t>upon the nature of the emergency, response activities may be restricted to the health care facility itself or may include local, community, regional, and national actions and may continue for a short, intermediate, or long time. Response functions and tasks are divided into three time frames: </a:t>
            </a:r>
            <a:r>
              <a:rPr lang="en-US" b="1" dirty="0"/>
              <a:t>immediate, intermediate, and extended </a:t>
            </a:r>
            <a:endParaRPr lang="en-US" dirty="0"/>
          </a:p>
          <a:p>
            <a:pPr algn="just"/>
            <a:endParaRPr lang="en-US" dirty="0"/>
          </a:p>
        </p:txBody>
      </p:sp>
    </p:spTree>
    <p:extLst>
      <p:ext uri="{BB962C8B-B14F-4D97-AF65-F5344CB8AC3E}">
        <p14:creationId xmlns:p14="http://schemas.microsoft.com/office/powerpoint/2010/main" val="1663269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152" y="1065770"/>
            <a:ext cx="10515600" cy="835025"/>
          </a:xfrm>
        </p:spPr>
        <p:txBody>
          <a:bodyPr>
            <a:normAutofit fontScale="90000"/>
          </a:bodyPr>
          <a:lstStyle/>
          <a:p>
            <a:r>
              <a:rPr lang="en-US" b="1" smtClean="0"/>
              <a:t/>
            </a:r>
            <a:br>
              <a:rPr lang="en-US" b="1" smtClean="0"/>
            </a:br>
            <a:r>
              <a:rPr lang="en-US" b="1" smtClean="0"/>
              <a:t>The </a:t>
            </a:r>
            <a:r>
              <a:rPr lang="en-US" b="1" dirty="0"/>
              <a:t>Four Principles …</a:t>
            </a:r>
            <a:br>
              <a:rPr lang="en-US" b="1" dirty="0"/>
            </a:br>
            <a:endParaRPr lang="en-US" dirty="0"/>
          </a:p>
        </p:txBody>
      </p:sp>
      <p:sp>
        <p:nvSpPr>
          <p:cNvPr id="3" name="Content Placeholder 2"/>
          <p:cNvSpPr>
            <a:spLocks noGrp="1"/>
          </p:cNvSpPr>
          <p:nvPr>
            <p:ph idx="1"/>
          </p:nvPr>
        </p:nvSpPr>
        <p:spPr>
          <a:xfrm>
            <a:off x="1033152" y="2446316"/>
            <a:ext cx="10094027" cy="4106883"/>
          </a:xfrm>
        </p:spPr>
        <p:txBody>
          <a:bodyPr>
            <a:normAutofit fontScale="85000" lnSpcReduction="20000"/>
          </a:bodyPr>
          <a:lstStyle/>
          <a:p>
            <a:pPr marL="0" indent="0">
              <a:buNone/>
            </a:pPr>
            <a:r>
              <a:rPr lang="en-US" dirty="0" smtClean="0"/>
              <a:t>     </a:t>
            </a:r>
            <a:r>
              <a:rPr lang="en-US" b="1" dirty="0" smtClean="0"/>
              <a:t>Response…</a:t>
            </a:r>
            <a:endParaRPr lang="en-US" b="1" dirty="0"/>
          </a:p>
          <a:p>
            <a:r>
              <a:rPr lang="en-US" dirty="0"/>
              <a:t>Many facilities use the formal Incident Command System (ICS) when responding to an emergency. </a:t>
            </a:r>
            <a:endParaRPr lang="en-US" dirty="0" smtClean="0"/>
          </a:p>
          <a:p>
            <a:r>
              <a:rPr lang="en-US" dirty="0" smtClean="0"/>
              <a:t>ICS </a:t>
            </a:r>
            <a:r>
              <a:rPr lang="en-US" dirty="0"/>
              <a:t>is a management system aimed at using a common organizational structure to respond to an incident</a:t>
            </a:r>
            <a:r>
              <a:rPr lang="en-US" dirty="0" smtClean="0"/>
              <a:t>.</a:t>
            </a:r>
          </a:p>
          <a:p>
            <a:r>
              <a:rPr lang="en-US" dirty="0" smtClean="0"/>
              <a:t> </a:t>
            </a:r>
            <a:r>
              <a:rPr lang="en-US" dirty="0"/>
              <a:t>ICS can be used across many different disciplines and in many types of incidents, including public health emergencies</a:t>
            </a:r>
            <a:r>
              <a:rPr lang="en-US" dirty="0" smtClean="0"/>
              <a:t>.</a:t>
            </a:r>
          </a:p>
          <a:p>
            <a:r>
              <a:rPr lang="en-US" dirty="0" smtClean="0"/>
              <a:t> </a:t>
            </a:r>
            <a:r>
              <a:rPr lang="en-US" dirty="0"/>
              <a:t>ICS usually takes into account activities involving command, operations, planning, logistics, and finance and administration. (FEMA).</a:t>
            </a:r>
          </a:p>
          <a:p>
            <a:endParaRPr lang="en-US" dirty="0"/>
          </a:p>
        </p:txBody>
      </p:sp>
    </p:spTree>
    <p:extLst>
      <p:ext uri="{BB962C8B-B14F-4D97-AF65-F5344CB8AC3E}">
        <p14:creationId xmlns:p14="http://schemas.microsoft.com/office/powerpoint/2010/main" val="778693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180" y="1184522"/>
            <a:ext cx="10515600" cy="892175"/>
          </a:xfrm>
        </p:spPr>
        <p:txBody>
          <a:bodyPr>
            <a:normAutofit fontScale="90000"/>
          </a:bodyPr>
          <a:lstStyle/>
          <a:p>
            <a:r>
              <a:rPr lang="en-US" b="1" smtClean="0"/>
              <a:t/>
            </a:r>
            <a:br>
              <a:rPr lang="en-US" b="1" smtClean="0"/>
            </a:br>
            <a:r>
              <a:rPr lang="en-US" b="1" smtClean="0"/>
              <a:t>The </a:t>
            </a:r>
            <a:r>
              <a:rPr lang="en-US" b="1" dirty="0"/>
              <a:t>Four Principles …</a:t>
            </a:r>
            <a:br>
              <a:rPr lang="en-US" b="1" dirty="0"/>
            </a:br>
            <a:endParaRPr lang="en-US" dirty="0"/>
          </a:p>
        </p:txBody>
      </p:sp>
      <p:sp>
        <p:nvSpPr>
          <p:cNvPr id="3" name="Content Placeholder 2"/>
          <p:cNvSpPr>
            <a:spLocks noGrp="1"/>
          </p:cNvSpPr>
          <p:nvPr>
            <p:ph idx="1"/>
          </p:nvPr>
        </p:nvSpPr>
        <p:spPr>
          <a:xfrm>
            <a:off x="973777" y="2446317"/>
            <a:ext cx="10248406" cy="3730646"/>
          </a:xfrm>
        </p:spPr>
        <p:txBody>
          <a:bodyPr>
            <a:normAutofit fontScale="70000" lnSpcReduction="20000"/>
          </a:bodyPr>
          <a:lstStyle/>
          <a:p>
            <a:pPr marL="0" indent="0">
              <a:buNone/>
            </a:pPr>
            <a:r>
              <a:rPr lang="en-US" b="1" dirty="0" smtClean="0"/>
              <a:t>  Recovery</a:t>
            </a:r>
            <a:endParaRPr lang="en-US" b="1" dirty="0"/>
          </a:p>
          <a:p>
            <a:pPr marL="0" indent="0">
              <a:buNone/>
            </a:pPr>
            <a:r>
              <a:rPr lang="en-US" dirty="0" smtClean="0"/>
              <a:t> Once </a:t>
            </a:r>
            <a:r>
              <a:rPr lang="en-US" dirty="0"/>
              <a:t>an emergency is declared “over,” the recovery efforts begin. Although specific </a:t>
            </a:r>
            <a:r>
              <a:rPr lang="en-US" dirty="0" smtClean="0"/>
              <a:t>recovery </a:t>
            </a:r>
            <a:r>
              <a:rPr lang="en-US" dirty="0"/>
              <a:t>activities will vary depending on the type of event that has </a:t>
            </a:r>
            <a:r>
              <a:rPr lang="en-US" dirty="0" smtClean="0"/>
              <a:t>occurred. </a:t>
            </a:r>
          </a:p>
          <a:p>
            <a:pPr marL="0" indent="0">
              <a:buNone/>
            </a:pPr>
            <a:r>
              <a:rPr lang="en-US" dirty="0" smtClean="0"/>
              <a:t>There </a:t>
            </a:r>
            <a:r>
              <a:rPr lang="en-US" dirty="0"/>
              <a:t>are the six general principles for recovery actions:</a:t>
            </a:r>
          </a:p>
          <a:p>
            <a:pPr marL="0" lvl="0" indent="0">
              <a:buNone/>
            </a:pPr>
            <a:r>
              <a:rPr lang="en-US" dirty="0" smtClean="0"/>
              <a:t> A. Establish </a:t>
            </a:r>
            <a:r>
              <a:rPr lang="en-US" dirty="0"/>
              <a:t>short- and long-term goals to return a facility or community to the pre-event baseline.</a:t>
            </a:r>
          </a:p>
          <a:p>
            <a:pPr marL="0" lvl="0" indent="0">
              <a:buNone/>
            </a:pPr>
            <a:r>
              <a:rPr lang="en-US" dirty="0" smtClean="0"/>
              <a:t> B. Evaluate </a:t>
            </a:r>
            <a:r>
              <a:rPr lang="en-US" dirty="0"/>
              <a:t>how the emergency management plan was carried out and identify gaps that occurred during the response. Determine potential solutions to the gaps identified in the emergency management plan</a:t>
            </a:r>
            <a:r>
              <a:rPr lang="en-US" dirty="0" smtClean="0"/>
              <a:t>.</a:t>
            </a:r>
          </a:p>
          <a:p>
            <a:pPr lvl="0"/>
            <a:endParaRPr lang="en-US" dirty="0"/>
          </a:p>
        </p:txBody>
      </p:sp>
    </p:spTree>
    <p:extLst>
      <p:ext uri="{BB962C8B-B14F-4D97-AF65-F5344CB8AC3E}">
        <p14:creationId xmlns:p14="http://schemas.microsoft.com/office/powerpoint/2010/main" val="742763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9154" y="1161406"/>
            <a:ext cx="9064979" cy="1188426"/>
          </a:xfrm>
        </p:spPr>
        <p:txBody>
          <a:bodyPr/>
          <a:lstStyle/>
          <a:p>
            <a:r>
              <a:rPr lang="en-US" b="1" dirty="0" smtClean="0"/>
              <a:t>Recovery …</a:t>
            </a:r>
            <a:r>
              <a:rPr lang="en-US" b="1" dirty="0"/>
              <a:t/>
            </a:r>
            <a:br>
              <a:rPr lang="en-US" b="1" dirty="0"/>
            </a:br>
            <a:endParaRPr lang="en-US" dirty="0"/>
          </a:p>
        </p:txBody>
      </p:sp>
      <p:sp>
        <p:nvSpPr>
          <p:cNvPr id="3" name="Content Placeholder 2"/>
          <p:cNvSpPr>
            <a:spLocks noGrp="1"/>
          </p:cNvSpPr>
          <p:nvPr>
            <p:ph idx="1"/>
          </p:nvPr>
        </p:nvSpPr>
        <p:spPr/>
        <p:txBody>
          <a:bodyPr>
            <a:normAutofit fontScale="77500" lnSpcReduction="20000"/>
          </a:bodyPr>
          <a:lstStyle/>
          <a:p>
            <a:pPr marL="0" lvl="0" indent="0">
              <a:buNone/>
            </a:pPr>
            <a:r>
              <a:rPr lang="en-US" dirty="0" smtClean="0"/>
              <a:t>C. Update </a:t>
            </a:r>
            <a:r>
              <a:rPr lang="en-US" dirty="0"/>
              <a:t>the emergency management plan to reflect lessons learned</a:t>
            </a:r>
            <a:r>
              <a:rPr lang="en-US" dirty="0" smtClean="0"/>
              <a:t>.</a:t>
            </a:r>
          </a:p>
          <a:p>
            <a:pPr marL="0" lvl="0" indent="0">
              <a:buNone/>
            </a:pPr>
            <a:endParaRPr lang="en-US" dirty="0"/>
          </a:p>
          <a:p>
            <a:pPr marL="0" lvl="0" indent="0">
              <a:buNone/>
            </a:pPr>
            <a:r>
              <a:rPr lang="en-US" dirty="0" smtClean="0"/>
              <a:t>D. Educate </a:t>
            </a:r>
            <a:r>
              <a:rPr lang="en-US" dirty="0"/>
              <a:t>staff on changes in the emergency management plan</a:t>
            </a:r>
            <a:r>
              <a:rPr lang="en-US" dirty="0" smtClean="0"/>
              <a:t>.</a:t>
            </a:r>
          </a:p>
          <a:p>
            <a:pPr marL="0" lvl="0" indent="0">
              <a:buNone/>
            </a:pPr>
            <a:endParaRPr lang="en-US" dirty="0"/>
          </a:p>
          <a:p>
            <a:pPr marL="0" indent="0">
              <a:buNone/>
            </a:pPr>
            <a:r>
              <a:rPr lang="en-US" dirty="0" smtClean="0"/>
              <a:t>E. Practice </a:t>
            </a:r>
            <a:r>
              <a:rPr lang="en-US" dirty="0"/>
              <a:t>the new emergency management </a:t>
            </a:r>
            <a:r>
              <a:rPr lang="en-US" dirty="0" smtClean="0"/>
              <a:t>plan</a:t>
            </a:r>
          </a:p>
          <a:p>
            <a:pPr marL="0" indent="0">
              <a:buNone/>
            </a:pPr>
            <a:r>
              <a:rPr lang="en-US" dirty="0"/>
              <a:t> </a:t>
            </a:r>
            <a:r>
              <a:rPr lang="en-US" dirty="0" smtClean="0"/>
              <a:t>F. Lastly</a:t>
            </a:r>
            <a:r>
              <a:rPr lang="en-US" dirty="0"/>
              <a:t>, the whole cycle should begin again, with mitigation and preparedness</a:t>
            </a:r>
          </a:p>
        </p:txBody>
      </p:sp>
    </p:spTree>
    <p:extLst>
      <p:ext uri="{BB962C8B-B14F-4D97-AF65-F5344CB8AC3E}">
        <p14:creationId xmlns:p14="http://schemas.microsoft.com/office/powerpoint/2010/main" val="304880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530" y="887640"/>
            <a:ext cx="10141527" cy="1325563"/>
          </a:xfrm>
        </p:spPr>
        <p:txBody>
          <a:bodyPr>
            <a:noAutofit/>
          </a:bodyPr>
          <a:lstStyle/>
          <a:p>
            <a:pPr algn="just"/>
            <a:r>
              <a:rPr lang="en-US" sz="2800" dirty="0"/>
              <a:t>Role of the Health Care Facility in Data Collection and Epidemiological Outbreak Investigation during an Emergency</a:t>
            </a:r>
          </a:p>
        </p:txBody>
      </p:sp>
      <p:sp>
        <p:nvSpPr>
          <p:cNvPr id="3" name="Content Placeholder 2"/>
          <p:cNvSpPr>
            <a:spLocks noGrp="1"/>
          </p:cNvSpPr>
          <p:nvPr>
            <p:ph idx="1"/>
          </p:nvPr>
        </p:nvSpPr>
        <p:spPr>
          <a:xfrm>
            <a:off x="985652" y="2301765"/>
            <a:ext cx="10248406" cy="3875197"/>
          </a:xfrm>
        </p:spPr>
        <p:txBody>
          <a:bodyPr>
            <a:normAutofit fontScale="92500" lnSpcReduction="10000"/>
          </a:bodyPr>
          <a:lstStyle/>
          <a:p>
            <a:endParaRPr lang="en-US" dirty="0" smtClean="0"/>
          </a:p>
          <a:p>
            <a:pPr algn="just"/>
            <a:r>
              <a:rPr lang="en-US" dirty="0" smtClean="0"/>
              <a:t>Outbreak </a:t>
            </a:r>
            <a:r>
              <a:rPr lang="en-US" dirty="0"/>
              <a:t>investigation requires cooperation and collaboration between many groups, including health care providers, epidemiologists, IPC staff, public health authorities, and the community</a:t>
            </a:r>
            <a:r>
              <a:rPr lang="en-US" dirty="0" smtClean="0"/>
              <a:t>.</a:t>
            </a:r>
          </a:p>
          <a:p>
            <a:pPr algn="just"/>
            <a:r>
              <a:rPr lang="en-US" dirty="0" smtClean="0"/>
              <a:t> </a:t>
            </a:r>
            <a:r>
              <a:rPr lang="en-US" dirty="0"/>
              <a:t>The health care facility has a role in assisting public health authorities with data collection and outbreak investigation during outbreak situations. </a:t>
            </a:r>
          </a:p>
        </p:txBody>
      </p:sp>
    </p:spTree>
    <p:extLst>
      <p:ext uri="{BB962C8B-B14F-4D97-AF65-F5344CB8AC3E}">
        <p14:creationId xmlns:p14="http://schemas.microsoft.com/office/powerpoint/2010/main" val="238632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891" y="840138"/>
            <a:ext cx="11461531" cy="1325563"/>
          </a:xfrm>
        </p:spPr>
        <p:txBody>
          <a:bodyPr>
            <a:normAutofit fontScale="90000"/>
          </a:bodyPr>
          <a:lstStyle/>
          <a:p>
            <a:r>
              <a:rPr lang="en-US" b="1" dirty="0" smtClean="0"/>
              <a:t/>
            </a:r>
            <a:br>
              <a:rPr lang="en-US" b="1" dirty="0" smtClean="0"/>
            </a:br>
            <a:r>
              <a:rPr lang="en-US" b="1" dirty="0" smtClean="0"/>
              <a:t>Outbreak </a:t>
            </a:r>
            <a:r>
              <a:rPr lang="en-US" b="1" dirty="0"/>
              <a:t>Communication and Information Dissemination</a:t>
            </a:r>
            <a:br>
              <a:rPr lang="en-US" b="1" dirty="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Public </a:t>
            </a:r>
            <a:r>
              <a:rPr lang="en-US" dirty="0"/>
              <a:t>health emergencies and outbreaks present many challenges for a health care facility, including how best to communicate with the public and the community. </a:t>
            </a:r>
            <a:endParaRPr lang="en-US" dirty="0" smtClean="0"/>
          </a:p>
          <a:p>
            <a:r>
              <a:rPr lang="en-US" dirty="0" smtClean="0"/>
              <a:t>WHO </a:t>
            </a:r>
            <a:r>
              <a:rPr lang="en-US" dirty="0"/>
              <a:t>has identified five best practices for outbreak communication (also called “risk communication”): </a:t>
            </a:r>
          </a:p>
          <a:p>
            <a:pPr lvl="0"/>
            <a:r>
              <a:rPr lang="en-US" dirty="0"/>
              <a:t>Build trust </a:t>
            </a:r>
          </a:p>
          <a:p>
            <a:pPr lvl="0"/>
            <a:r>
              <a:rPr lang="en-US" dirty="0"/>
              <a:t>Announce early</a:t>
            </a:r>
          </a:p>
          <a:p>
            <a:pPr lvl="0"/>
            <a:r>
              <a:rPr lang="en-US" dirty="0"/>
              <a:t>Be transparent </a:t>
            </a:r>
          </a:p>
          <a:p>
            <a:pPr lvl="0"/>
            <a:r>
              <a:rPr lang="en-US" dirty="0"/>
              <a:t>Respect public concern</a:t>
            </a:r>
          </a:p>
          <a:p>
            <a:pPr lvl="0"/>
            <a:r>
              <a:rPr lang="en-US" dirty="0"/>
              <a:t>Plan in advance </a:t>
            </a:r>
          </a:p>
          <a:p>
            <a:endParaRPr lang="en-US" dirty="0"/>
          </a:p>
        </p:txBody>
      </p:sp>
    </p:spTree>
    <p:extLst>
      <p:ext uri="{BB962C8B-B14F-4D97-AF65-F5344CB8AC3E}">
        <p14:creationId xmlns:p14="http://schemas.microsoft.com/office/powerpoint/2010/main" val="1341282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35117"/>
            <a:ext cx="10515600" cy="5041846"/>
          </a:xfrm>
        </p:spPr>
        <p:txBody>
          <a:bodyPr>
            <a:normAutofit/>
          </a:bodyPr>
          <a:lstStyle/>
          <a:p>
            <a:pPr marL="0" indent="0">
              <a:buNone/>
            </a:pPr>
            <a:r>
              <a:rPr lang="en-US" b="1" dirty="0" smtClean="0"/>
              <a:t>    Summary</a:t>
            </a:r>
          </a:p>
          <a:p>
            <a:pPr marL="0" indent="0">
              <a:buNone/>
            </a:pPr>
            <a:endParaRPr lang="en-US" b="1" dirty="0"/>
          </a:p>
          <a:p>
            <a:r>
              <a:rPr lang="en-US" dirty="0"/>
              <a:t> IPC practices play an important role during outbreaks and public health emergencies. The four main principles of emergency management—mitigation, preparedness, response, and recovery—help determine how a health care facility will respond to an emergency or outbreak</a:t>
            </a:r>
            <a:r>
              <a:rPr lang="en-US" dirty="0" smtClean="0"/>
              <a:t>.</a:t>
            </a:r>
          </a:p>
          <a:p>
            <a:pPr marL="0" indent="0">
              <a:buNone/>
            </a:pPr>
            <a:endParaRPr lang="en-US" dirty="0"/>
          </a:p>
        </p:txBody>
      </p:sp>
    </p:spTree>
    <p:extLst>
      <p:ext uri="{BB962C8B-B14F-4D97-AF65-F5344CB8AC3E}">
        <p14:creationId xmlns:p14="http://schemas.microsoft.com/office/powerpoint/2010/main" val="79120203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Presentation1" id="{FF8D033B-E2B8-2549-8206-D2592AE46FED}" vid="{E3C3ECE2-B6B8-A844-8217-32346E25080D}"/>
    </a:ext>
  </a:extLst>
</a:theme>
</file>

<file path=docProps/app.xml><?xml version="1.0" encoding="utf-8"?>
<Properties xmlns="http://schemas.openxmlformats.org/officeDocument/2006/extended-properties" xmlns:vt="http://schemas.openxmlformats.org/officeDocument/2006/docPropsVTypes">
  <Template>Theme5</Template>
  <TotalTime>2925</TotalTime>
  <Words>1325</Words>
  <Application>Microsoft Office PowerPoint</Application>
  <PresentationFormat>Custom</PresentationFormat>
  <Paragraphs>122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Theme5</vt:lpstr>
      <vt:lpstr>    Volume 2:  Section 3 CHAPTER1:  INFECTION PREVENTION AND CONTROL IN PUBLIC HEALTH EMERGENCY AND OUTBREAK MANAGEMENT  </vt:lpstr>
      <vt:lpstr> Learning Objectives </vt:lpstr>
      <vt:lpstr>    Chapter Content: </vt:lpstr>
      <vt:lpstr>Overview</vt:lpstr>
      <vt:lpstr>PowerPoint Presentation</vt:lpstr>
      <vt:lpstr>The Nature of Public Health Emergencies </vt:lpstr>
      <vt:lpstr>        IPC in Public Health Emergencies  </vt:lpstr>
      <vt:lpstr> The Four Principles of Emergency Management </vt:lpstr>
      <vt:lpstr>The Four Principles of Emergency Management</vt:lpstr>
      <vt:lpstr>The Four Principles … </vt:lpstr>
      <vt:lpstr> The Four Principles … </vt:lpstr>
      <vt:lpstr> The Four Principles … </vt:lpstr>
      <vt:lpstr>The Four Principles … </vt:lpstr>
      <vt:lpstr>Preparedness assessment … </vt:lpstr>
      <vt:lpstr>Preparedness assessment … </vt:lpstr>
      <vt:lpstr> Preparedness assessment … </vt:lpstr>
      <vt:lpstr>Preparedness assessment … </vt:lpstr>
      <vt:lpstr> Preparedness assessment … </vt:lpstr>
      <vt:lpstr>   Preparedness assessment … </vt:lpstr>
      <vt:lpstr>  The Four Principles … </vt:lpstr>
      <vt:lpstr>The Four Principles … </vt:lpstr>
      <vt:lpstr> The Four Principles … </vt:lpstr>
      <vt:lpstr> The Four Principles … </vt:lpstr>
      <vt:lpstr>Recovery … </vt:lpstr>
      <vt:lpstr>Role of the Health Care Facility in Data Collection and Epidemiological Outbreak Investigation during an Emergency</vt:lpstr>
      <vt:lpstr> Outbreak Communication and Information Dissemination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yayene Tad</dc:creator>
  <cp:lastModifiedBy>moh</cp:lastModifiedBy>
  <cp:revision>62</cp:revision>
  <dcterms:created xsi:type="dcterms:W3CDTF">2018-12-13T20:34:01Z</dcterms:created>
  <dcterms:modified xsi:type="dcterms:W3CDTF">2019-09-23T09:13:37Z</dcterms:modified>
</cp:coreProperties>
</file>