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6" r:id="rId2"/>
    <p:sldId id="268" r:id="rId3"/>
    <p:sldId id="283" r:id="rId4"/>
    <p:sldId id="284" r:id="rId5"/>
    <p:sldId id="286" r:id="rId6"/>
    <p:sldId id="285" r:id="rId7"/>
    <p:sldId id="260" r:id="rId8"/>
    <p:sldId id="259" r:id="rId9"/>
    <p:sldId id="288" r:id="rId10"/>
    <p:sldId id="279" r:id="rId11"/>
    <p:sldId id="261" r:id="rId12"/>
    <p:sldId id="262" r:id="rId13"/>
    <p:sldId id="263" r:id="rId14"/>
    <p:sldId id="289" r:id="rId15"/>
    <p:sldId id="280" r:id="rId16"/>
    <p:sldId id="272" r:id="rId17"/>
    <p:sldId id="278" r:id="rId18"/>
    <p:sldId id="290" r:id="rId19"/>
    <p:sldId id="269" r:id="rId20"/>
    <p:sldId id="264" r:id="rId21"/>
    <p:sldId id="291" r:id="rId22"/>
    <p:sldId id="265" r:id="rId23"/>
    <p:sldId id="292" r:id="rId24"/>
    <p:sldId id="281" r:id="rId25"/>
    <p:sldId id="293" r:id="rId26"/>
    <p:sldId id="275" r:id="rId27"/>
    <p:sldId id="276" r:id="rId28"/>
    <p:sldId id="282" r:id="rId29"/>
    <p:sldId id="267" r:id="rId30"/>
  </p:sldIdLst>
  <p:sldSz cx="12161838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Arial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486" y="66"/>
      </p:cViewPr>
      <p:guideLst>
        <p:guide orient="horz" pos="2160"/>
        <p:guide pos="383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2BB09E1C-485D-4913-9D25-D9E96CFA22AF}" type="datetimeFigureOut">
              <a:rPr lang="en-US"/>
              <a:pPr>
                <a:defRPr/>
              </a:pPr>
              <a:t>7/6/2019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685800"/>
            <a:ext cx="60801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564074D-B785-4411-AC5D-0E7FBF70B9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94109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3BBF968-CD96-44DF-BA90-D72A89FBCDBE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A0FAEF9-9D07-4758-96AB-BB9A41660B7F}" type="slidenum">
              <a:rPr lang="en-US" smtClean="0">
                <a:latin typeface="Arial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D7D2522-A769-41ED-A081-AB0A72E38FF9}" type="slidenum">
              <a:rPr lang="en-US" smtClean="0">
                <a:latin typeface="Calibri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9BF34AC-1668-4AB7-A74C-1C1016CD72CB}" type="slidenum">
              <a:rPr lang="en-US" smtClean="0">
                <a:latin typeface="Calibri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23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1A028E2-30AA-41C6-9E53-3B71445A61A2}" type="slidenum">
              <a:rPr lang="en-US" smtClean="0">
                <a:latin typeface="Arial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28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 shadeToTitle="1">
        <a:gradFill flip="none" rotWithShape="1">
          <a:gsLst>
            <a:gs pos="0">
              <a:schemeClr val="accent2">
                <a:lumMod val="0"/>
                <a:lumOff val="100000"/>
                <a:alpha val="88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" y="109831"/>
            <a:ext cx="12335579" cy="6598881"/>
            <a:chOff x="0" y="211434"/>
            <a:chExt cx="9278874" cy="6958648"/>
          </a:xfrm>
          <a:noFill/>
        </p:grpSpPr>
        <p:pic>
          <p:nvPicPr>
            <p:cNvPr id="5" name="Picture 4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7" y="211434"/>
              <a:ext cx="9278197" cy="6958648"/>
            </a:xfrm>
            <a:prstGeom prst="rect">
              <a:avLst/>
            </a:prstGeom>
            <a:grpFill/>
          </p:spPr>
        </p:pic>
        <p:sp>
          <p:nvSpPr>
            <p:cNvPr id="6" name="Rectangle 5"/>
            <p:cNvSpPr/>
            <p:nvPr/>
          </p:nvSpPr>
          <p:spPr>
            <a:xfrm>
              <a:off x="1515532" y="1682076"/>
              <a:ext cx="6112935" cy="3656814"/>
            </a:xfrm>
            <a:prstGeom prst="rect">
              <a:avLst/>
            </a:prstGeom>
            <a:grp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7" name="Picture 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  <a:grpFill/>
          </p:spPr>
        </p:pic>
        <p:pic>
          <p:nvPicPr>
            <p:cNvPr id="8" name="Picture 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  <a:grpFill/>
          </p:spPr>
        </p:pic>
      </p:grpSp>
      <p:cxnSp>
        <p:nvCxnSpPr>
          <p:cNvPr id="9" name="Straight Connector 8"/>
          <p:cNvCxnSpPr/>
          <p:nvPr/>
        </p:nvCxnSpPr>
        <p:spPr>
          <a:xfrm>
            <a:off x="2686050" y="3471863"/>
            <a:ext cx="680085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20"/>
          <p:cNvGrpSpPr>
            <a:grpSpLocks/>
          </p:cNvGrpSpPr>
          <p:nvPr/>
        </p:nvGrpSpPr>
        <p:grpSpPr bwMode="auto">
          <a:xfrm>
            <a:off x="3962400" y="76200"/>
            <a:ext cx="4029075" cy="1230313"/>
            <a:chOff x="2823850" y="0"/>
            <a:chExt cx="3344655" cy="1558260"/>
          </a:xfrm>
        </p:grpSpPr>
        <p:pic>
          <p:nvPicPr>
            <p:cNvPr id="11" name="Picture 10" descr="Ethiopia_MOH"/>
            <p:cNvPicPr/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4364" y="0"/>
              <a:ext cx="1083629" cy="1033072"/>
            </a:xfrm>
            <a:prstGeom prst="ellipse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" name="TextBox 11"/>
            <p:cNvSpPr txBox="1">
              <a:spLocks noChangeArrowheads="1"/>
            </p:cNvSpPr>
            <p:nvPr userDrawn="1"/>
          </p:nvSpPr>
          <p:spPr bwMode="auto">
            <a:xfrm>
              <a:off x="2823850" y="1037499"/>
              <a:ext cx="3344655" cy="5207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algn="ctr">
                <a:lnSpc>
                  <a:spcPct val="115000"/>
                </a:lnSpc>
                <a:spcAft>
                  <a:spcPts val="1000"/>
                </a:spcAft>
                <a:defRPr/>
              </a:pPr>
              <a:r>
                <a:rPr lang="en-US" smtClean="0">
                  <a:solidFill>
                    <a:srgbClr val="0066FF"/>
                  </a:solidFill>
                  <a:latin typeface="Britannic Bold" pitchFamily="34" charset="0"/>
                  <a:ea typeface="Calibri" pitchFamily="34" charset="0"/>
                  <a:cs typeface="Times New Roman" pitchFamily="18" charset="0"/>
                </a:rPr>
                <a:t>Federal Ministry of Health</a:t>
              </a:r>
              <a:endParaRPr lang="en-US" sz="1600" smtClean="0">
                <a:latin typeface="Calibri" pitchFamily="34" charset="0"/>
                <a:ea typeface="Calibri" pitchFamily="34" charset="0"/>
                <a:cs typeface="Times New Roman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3419" y="1879926"/>
            <a:ext cx="7741314" cy="1528328"/>
          </a:xfrm>
        </p:spPr>
        <p:txBody>
          <a:bodyPr anchor="b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3600" b="1" smtClean="0">
                <a:effectLst/>
              </a:defRPr>
            </a:lvl1pPr>
          </a:lstStyle>
          <a:p>
            <a:r>
              <a:rPr lang="en-US" altLang="en-US" smtClean="0"/>
              <a:t>Click to edit Master title style</a:t>
            </a:r>
            <a:endParaRPr lang="en-US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02509" y="3597481"/>
            <a:ext cx="5956820" cy="1012902"/>
          </a:xfrm>
        </p:spPr>
        <p:txBody>
          <a:bodyPr>
            <a:normAutofit/>
          </a:bodyPr>
          <a:lstStyle>
            <a:lvl1pPr marL="0" indent="0" algn="ctr">
              <a:buNone/>
              <a:defRPr sz="3200" b="0" i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7542213" y="4972050"/>
            <a:ext cx="1293812" cy="3619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EDC086-9373-48DC-A547-DB5604090A7E}" type="datetimeFigureOut">
              <a:rPr lang="en-US"/>
              <a:pPr>
                <a:defRPr/>
              </a:pPr>
              <a:t>7/6/2019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57463" y="4972050"/>
            <a:ext cx="4984750" cy="3619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59863" y="4972050"/>
            <a:ext cx="965200" cy="3619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ECA275-9B06-46FA-BC0E-79DE3F8281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079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 flip="none" rotWithShape="1">
          <a:gsLst>
            <a:gs pos="23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700213" y="2355850"/>
            <a:ext cx="87725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3" y="1030778"/>
            <a:ext cx="9042553" cy="1188426"/>
          </a:xfrm>
        </p:spPr>
        <p:txBody>
          <a:bodyPr>
            <a:noAutofit/>
          </a:bodyPr>
          <a:lstStyle>
            <a:lvl1pPr>
              <a:defRPr sz="4800" b="1" u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453438" y="5961063"/>
            <a:ext cx="1131887" cy="2794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E5CB12-01EC-4586-9B66-19CD7581CCA8}" type="datetimeFigureOut">
              <a:rPr lang="en-US"/>
              <a:pPr>
                <a:defRPr/>
              </a:pPr>
              <a:t>7/6/2019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85325" y="5961063"/>
            <a:ext cx="963613" cy="2794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2A346C-CC89-445B-8139-B7B47C89CE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556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gradFill flip="none" rotWithShape="1">
          <a:gsLst>
            <a:gs pos="0">
              <a:schemeClr val="accent3">
                <a:lumMod val="0"/>
                <a:lumOff val="100000"/>
                <a:alpha val="93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700213" y="3598863"/>
            <a:ext cx="87725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0403" y="1641413"/>
            <a:ext cx="8772290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0403" y="3734860"/>
            <a:ext cx="8772290" cy="1090015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98ED69-5BA6-4E15-A1E6-4D036287FB63}" type="datetimeFigureOut">
              <a:rPr lang="en-US"/>
              <a:pPr>
                <a:defRPr/>
              </a:pPr>
              <a:t>7/6/2019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82213" y="5961063"/>
            <a:ext cx="1150937" cy="2794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CA8F1C-D63B-4453-B399-7F404793B4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087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1700213" y="2355850"/>
            <a:ext cx="87725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1" y="1052394"/>
            <a:ext cx="9042553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65273" y="2487168"/>
            <a:ext cx="4439071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8214" y="2487168"/>
            <a:ext cx="4439071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286492-3144-447B-9DD2-C4D788836FCC}" type="datetimeFigureOut">
              <a:rPr lang="en-US"/>
              <a:pPr>
                <a:defRPr/>
              </a:pPr>
              <a:t>7/6/2019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82213" y="5934075"/>
            <a:ext cx="1017587" cy="30638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DD72CC-D69E-4AA3-B34D-62BD5F0C74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98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700213" y="2354263"/>
            <a:ext cx="87725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5275" y="2658533"/>
            <a:ext cx="443907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5275" y="3243263"/>
            <a:ext cx="4439071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3798" y="2658533"/>
            <a:ext cx="443907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3798" y="3243263"/>
            <a:ext cx="4439071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0EF785-27D6-402B-9003-572F60541809}" type="datetimeFigureOut">
              <a:rPr lang="en-US"/>
              <a:pPr>
                <a:defRPr/>
              </a:pPr>
              <a:t>7/6/2019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CE8C65-BB2F-4330-AC07-CD8BB02D48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216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1700213" y="2354263"/>
            <a:ext cx="87725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2" y="915338"/>
            <a:ext cx="9042554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08D436-166B-4EAB-A50F-27AAB0AF68C0}" type="datetimeFigureOut">
              <a:rPr lang="en-US"/>
              <a:pPr>
                <a:defRPr/>
              </a:pPr>
              <a:t>7/6/2019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F32596-218D-43FD-A280-D97593D421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160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43915F-B72D-4424-9148-9D1C17DFE012}" type="datetimeFigureOut">
              <a:rPr lang="en-US"/>
              <a:pPr>
                <a:defRPr/>
              </a:pPr>
              <a:t>7/6/2019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4A6FBD-9DEB-4084-A527-2FD5F9977E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541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1700213" y="2913063"/>
            <a:ext cx="310356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1" y="1388534"/>
            <a:ext cx="3374030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79826" y="982133"/>
            <a:ext cx="5128001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5271" y="3031065"/>
            <a:ext cx="3374030" cy="2438404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C1AB71-D517-4829-B23E-C011E48AFB1C}" type="datetimeFigureOut">
              <a:rPr lang="en-US"/>
              <a:pPr>
                <a:defRPr/>
              </a:pPr>
              <a:t>7/6/2019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B9E197-F0C8-47B3-AB70-6D9E1CDD3A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461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1" y="1883832"/>
            <a:ext cx="48309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93663" y="1032933"/>
            <a:ext cx="3896288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5272" y="3255432"/>
            <a:ext cx="483095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8D8C05-03F1-4D5D-830A-73FC569DA620}" type="datetimeFigureOut">
              <a:rPr lang="en-US"/>
              <a:pPr>
                <a:defRPr/>
              </a:pPr>
              <a:t>7/6/2019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EB3360-B2E9-424C-AF94-B53906B8AD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023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3" y="4815415"/>
            <a:ext cx="9042553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4961" y="1032934"/>
            <a:ext cx="9431918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5273" y="5382153"/>
            <a:ext cx="9042553" cy="49371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2C51BF-1568-4EBD-8030-D0E4D51EB09B}" type="datetimeFigureOut">
              <a:rPr lang="en-US"/>
              <a:pPr>
                <a:defRPr/>
              </a:pPr>
              <a:t>7/6/2019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D8601-A069-407B-A90E-26A2319C06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317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700213" y="4140200"/>
            <a:ext cx="878681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3" y="906873"/>
            <a:ext cx="9042553" cy="3097860"/>
          </a:xfrm>
        </p:spPr>
        <p:txBody>
          <a:bodyPr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5272" y="4275666"/>
            <a:ext cx="9042555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01B530-8CBE-4F33-925F-1E624CD714ED}" type="datetimeFigureOut">
              <a:rPr lang="en-US"/>
              <a:pPr>
                <a:defRPr/>
              </a:pPr>
              <a:t>7/6/2019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D88DDF-1E20-4843-9C38-CB13518DA9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1830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130300" y="904875"/>
            <a:ext cx="608013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pPr>
              <a:defRPr/>
            </a:pPr>
            <a:r>
              <a:rPr lang="en-US" sz="7200" smtClean="0"/>
              <a:t>“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0153650" y="2827338"/>
            <a:ext cx="60801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pPr algn="r">
              <a:defRPr/>
            </a:pPr>
            <a:r>
              <a:rPr lang="en-US" sz="7200" smtClean="0"/>
              <a:t>”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700213" y="4140200"/>
            <a:ext cx="87725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709" y="982132"/>
            <a:ext cx="8512555" cy="2370668"/>
          </a:xfrm>
        </p:spPr>
        <p:txBody>
          <a:bodyPr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128322" y="3352800"/>
            <a:ext cx="7837626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5269" y="4343401"/>
            <a:ext cx="904255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88BA4D-C55F-4622-9A4E-9DB4EFD89130}" type="datetimeFigureOut">
              <a:rPr lang="en-US"/>
              <a:pPr>
                <a:defRPr/>
              </a:pPr>
              <a:t>7/6/2019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AEB6D8-4510-4099-9B08-321A6263C0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3854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7" y="3308581"/>
            <a:ext cx="904254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5276" y="4777381"/>
            <a:ext cx="9042547" cy="860400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C44459-6872-4535-BB7F-6BE6BC61AAAE}" type="datetimeFigureOut">
              <a:rPr lang="en-US"/>
              <a:pPr>
                <a:defRPr/>
              </a:pPr>
              <a:t>7/6/2019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281E62-4316-4077-A705-DB06789103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8223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168400" y="896938"/>
            <a:ext cx="6080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pPr>
              <a:defRPr/>
            </a:pPr>
            <a:r>
              <a:rPr lang="en-US" sz="8000" smtClean="0"/>
              <a:t>“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0174288" y="2608263"/>
            <a:ext cx="6080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pPr algn="r">
              <a:defRPr/>
            </a:pPr>
            <a:r>
              <a:rPr lang="en-US" sz="8000" smtClean="0"/>
              <a:t>”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700213" y="3429000"/>
            <a:ext cx="87725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4573" y="982132"/>
            <a:ext cx="8412693" cy="2243668"/>
          </a:xfrm>
        </p:spPr>
        <p:txBody>
          <a:bodyPr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565276" y="3639312"/>
            <a:ext cx="9042547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5272" y="4529667"/>
            <a:ext cx="9042555" cy="1346200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A7AECA-CFD4-4AF3-B016-3EA18A5A4419}" type="datetimeFigureOut">
              <a:rPr lang="en-US"/>
              <a:pPr>
                <a:defRPr/>
              </a:pPr>
              <a:t>7/6/2019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9F708C-AF7A-476C-A76F-1FB67348C5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0875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1700213" y="3429000"/>
            <a:ext cx="878681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1" y="982132"/>
            <a:ext cx="9042553" cy="2294467"/>
          </a:xfrm>
        </p:spPr>
        <p:txBody>
          <a:bodyPr rtlCol="0">
            <a:normAutofit/>
          </a:bodyPr>
          <a:lstStyle>
            <a:lvl1pPr>
              <a:defRPr lang="en-US" sz="3200" b="0" dirty="0"/>
            </a:lvl1pPr>
          </a:lstStyle>
          <a:p>
            <a:pPr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565276" y="3566160"/>
            <a:ext cx="9042547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5273" y="4470401"/>
            <a:ext cx="9042553" cy="1405467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49B919-720E-4409-A43E-AE6E8036F600}" type="datetimeFigureOut">
              <a:rPr lang="en-US"/>
              <a:pPr>
                <a:defRPr/>
              </a:pPr>
              <a:t>7/6/2019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8B18B7-CB05-4990-B6E2-93766C2CEB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6298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700213" y="2354263"/>
            <a:ext cx="878681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5272" y="2490136"/>
            <a:ext cx="9042555" cy="338573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961D95-97B0-4205-84E0-FDDCED68A963}" type="datetimeFigureOut">
              <a:rPr lang="en-US"/>
              <a:pPr>
                <a:defRPr/>
              </a:pPr>
              <a:t>7/6/2019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46C49B-CD4A-4E0B-9AB5-BF1AF737C5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757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8305800" y="906463"/>
            <a:ext cx="0" cy="4968875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54588" y="906874"/>
            <a:ext cx="2153233" cy="496899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5275" y="906874"/>
            <a:ext cx="6537798" cy="496899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21B605-0165-4B1D-964F-815ADAF2F2EC}" type="datetimeFigureOut">
              <a:rPr lang="en-US"/>
              <a:pPr>
                <a:defRPr/>
              </a:pPr>
              <a:t>7/6/2019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0F57EA-1131-4F45-A2A2-4E8F0CE7E2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496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5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6"/>
          <p:cNvGrpSpPr>
            <a:grpSpLocks/>
          </p:cNvGrpSpPr>
          <p:nvPr/>
        </p:nvGrpSpPr>
        <p:grpSpPr bwMode="auto">
          <a:xfrm>
            <a:off x="0" y="0"/>
            <a:ext cx="12172950" cy="6858000"/>
            <a:chOff x="0" y="0"/>
            <a:chExt cx="9152467" cy="6858000"/>
          </a:xfrm>
        </p:grpSpPr>
        <p:pic>
          <p:nvPicPr>
            <p:cNvPr id="1035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914400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39" name="Picture 9" descr="HDRibbonContent-UniformTrim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14240"/>
            <a:stretch>
              <a:fillRect/>
            </a:stretch>
          </p:blipFill>
          <p:spPr bwMode="auto">
            <a:xfrm>
              <a:off x="0" y="3128434"/>
              <a:ext cx="685800" cy="606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40" name="Picture 10" descr="HDRibbonContent-UniformTrim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14240"/>
            <a:stretch>
              <a:fillRect/>
            </a:stretch>
          </p:blipFill>
          <p:spPr bwMode="auto">
            <a:xfrm>
              <a:off x="8466667" y="3128434"/>
              <a:ext cx="685800" cy="606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1565275" y="915988"/>
            <a:ext cx="9042400" cy="130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565275" y="2490788"/>
            <a:ext cx="9042400" cy="344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53438" y="5935663"/>
            <a:ext cx="89535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000" b="0" i="0">
                <a:solidFill>
                  <a:schemeClr val="tx1"/>
                </a:solidFill>
                <a:effectLst/>
                <a:latin typeface="+mn-lt"/>
                <a:cs typeface="+mn-cs"/>
              </a:defRPr>
            </a:lvl1pPr>
          </a:lstStyle>
          <a:p>
            <a:pPr>
              <a:defRPr/>
            </a:pPr>
            <a:fld id="{4CCBA0C9-E34F-4012-A55B-0E07E9180CAC}" type="datetimeFigureOut">
              <a:rPr lang="en-US"/>
              <a:pPr>
                <a:defRPr/>
              </a:pPr>
              <a:t>7/6/2019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5275" y="5961063"/>
            <a:ext cx="6789738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00" b="0" i="0">
                <a:solidFill>
                  <a:schemeClr val="tx1"/>
                </a:solidFill>
                <a:effectLst/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8788" y="5961063"/>
            <a:ext cx="125888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000" b="0" i="0">
                <a:solidFill>
                  <a:schemeClr val="tx1"/>
                </a:solidFill>
                <a:effectLst/>
                <a:latin typeface="+mn-lt"/>
                <a:cs typeface="+mn-cs"/>
              </a:defRPr>
            </a:lvl1pPr>
          </a:lstStyle>
          <a:p>
            <a:pPr>
              <a:defRPr/>
            </a:pPr>
            <a:fld id="{899D64E3-A9D6-44A4-932E-1A52953CD4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2" name="Group 11"/>
          <p:cNvGrpSpPr>
            <a:grpSpLocks/>
          </p:cNvGrpSpPr>
          <p:nvPr/>
        </p:nvGrpSpPr>
        <p:grpSpPr bwMode="auto">
          <a:xfrm>
            <a:off x="4484688" y="4763"/>
            <a:ext cx="3203575" cy="981075"/>
            <a:chOff x="2823850" y="0"/>
            <a:chExt cx="3344655" cy="1466735"/>
          </a:xfrm>
        </p:grpSpPr>
        <p:pic>
          <p:nvPicPr>
            <p:cNvPr id="13" name="Picture 12" descr="Ethiopia_MOH"/>
            <p:cNvPicPr/>
            <p:nvPr userDrawn="1"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4364" y="0"/>
              <a:ext cx="1083629" cy="1033072"/>
            </a:xfrm>
            <a:prstGeom prst="ellipse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34" name="TextBox 13"/>
            <p:cNvSpPr txBox="1">
              <a:spLocks noChangeArrowheads="1"/>
            </p:cNvSpPr>
            <p:nvPr userDrawn="1"/>
          </p:nvSpPr>
          <p:spPr bwMode="auto">
            <a:xfrm>
              <a:off x="2823850" y="1037157"/>
              <a:ext cx="3344655" cy="4295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algn="ctr">
                <a:lnSpc>
                  <a:spcPct val="115000"/>
                </a:lnSpc>
                <a:spcAft>
                  <a:spcPts val="1000"/>
                </a:spcAft>
                <a:defRPr/>
              </a:pPr>
              <a:r>
                <a:rPr lang="en-US" sz="1100" smtClean="0">
                  <a:solidFill>
                    <a:srgbClr val="0066FF"/>
                  </a:solidFill>
                  <a:latin typeface="Britannic Bold" pitchFamily="34" charset="0"/>
                  <a:ea typeface="Calibri" pitchFamily="34" charset="0"/>
                  <a:cs typeface="Times New Roman" pitchFamily="18" charset="0"/>
                </a:rPr>
                <a:t>Federal Ministry of Health</a:t>
              </a:r>
              <a:endParaRPr lang="en-US" sz="1100" smtClean="0">
                <a:latin typeface="Calibri" pitchFamily="34" charset="0"/>
                <a:ea typeface="Calibri" pitchFamily="34" charset="0"/>
                <a:cs typeface="Times New Roman" pitchFamily="18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55" r:id="rId7"/>
    <p:sldLayoutId id="2147483765" r:id="rId8"/>
    <p:sldLayoutId id="2147483756" r:id="rId9"/>
    <p:sldLayoutId id="2147483757" r:id="rId10"/>
    <p:sldLayoutId id="2147483766" r:id="rId11"/>
    <p:sldLayoutId id="2147483767" r:id="rId12"/>
    <p:sldLayoutId id="2147483758" r:id="rId13"/>
    <p:sldLayoutId id="2147483768" r:id="rId14"/>
    <p:sldLayoutId id="2147483769" r:id="rId15"/>
    <p:sldLayoutId id="2147483770" r:id="rId16"/>
    <p:sldLayoutId id="2147483771" r:id="rId17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000" kern="1200">
          <a:ln w="3175" cmpd="sng">
            <a:noFill/>
          </a:ln>
          <a:solidFill>
            <a:srgbClr val="262626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262626"/>
          </a:solidFill>
          <a:latin typeface="Garamond" pitchFamily="18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262626"/>
          </a:solidFill>
          <a:latin typeface="Garamond" pitchFamily="18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262626"/>
          </a:solidFill>
          <a:latin typeface="Garamond" pitchFamily="18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262626"/>
          </a:solidFill>
          <a:latin typeface="Garamond" pitchFamily="18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0" fontAlgn="base" hangingPunct="0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itchFamily="34" charset="0"/>
        <a:buChar char="•"/>
        <a:defRPr sz="2400" kern="1200">
          <a:solidFill>
            <a:srgbClr val="262626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itchFamily="34" charset="0"/>
        <a:buChar char="•"/>
        <a:defRPr sz="2000" kern="1200">
          <a:solidFill>
            <a:srgbClr val="262626"/>
          </a:solidFill>
          <a:latin typeface="+mn-lt"/>
          <a:ea typeface="+mn-ea"/>
          <a:cs typeface="+mn-cs"/>
        </a:defRPr>
      </a:lvl2pPr>
      <a:lvl3pPr marL="1200150" indent="-285750" algn="l" defTabSz="457200" rtl="0" eaLnBrk="0" fontAlgn="base" hangingPunct="0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itchFamily="34" charset="0"/>
        <a:buChar char="•"/>
        <a:defRPr kern="1200">
          <a:solidFill>
            <a:srgbClr val="262626"/>
          </a:solidFill>
          <a:latin typeface="+mn-lt"/>
          <a:ea typeface="+mn-ea"/>
          <a:cs typeface="+mn-cs"/>
        </a:defRPr>
      </a:lvl3pPr>
      <a:lvl4pPr marL="1543050" indent="-171450" algn="l" defTabSz="457200" rtl="0" eaLnBrk="0" fontAlgn="base" hangingPunct="0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itchFamily="34" charset="0"/>
        <a:buChar char="•"/>
        <a:defRPr sz="1600" kern="1200">
          <a:solidFill>
            <a:srgbClr val="262626"/>
          </a:solidFill>
          <a:latin typeface="+mn-lt"/>
          <a:ea typeface="+mn-ea"/>
          <a:cs typeface="+mn-cs"/>
        </a:defRPr>
      </a:lvl4pPr>
      <a:lvl5pPr marL="2000250" indent="-171450" algn="l" defTabSz="457200" rtl="0" eaLnBrk="0" fontAlgn="base" hangingPunct="0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itchFamily="34" charset="0"/>
        <a:buChar char="•"/>
        <a:defRPr sz="1400" kern="1200">
          <a:solidFill>
            <a:srgbClr val="262626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image" Target="../media/image10.jpeg"/><Relationship Id="rId7" Type="http://schemas.openxmlformats.org/officeDocument/2006/relationships/image" Target="../media/image14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Relationship Id="rId9" Type="http://schemas.openxmlformats.org/officeDocument/2006/relationships/image" Target="../media/image16.w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5038" y="1620838"/>
            <a:ext cx="7739062" cy="1884362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sz="4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br>
              <a:rPr sz="48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sz="3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Volume 1_Section 1</a:t>
            </a:r>
            <a:br>
              <a:rPr sz="31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sz="3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sz="31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sz="3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Chapter 9: </a:t>
            </a:r>
            <a:r>
              <a:rPr sz="3100" dirty="0"/>
              <a:t>Processing Reusable Textiles and Laundry Service</a:t>
            </a:r>
            <a:endParaRPr sz="3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363" name="Subtitle 2"/>
          <p:cNvSpPr>
            <a:spLocks noGrp="1"/>
          </p:cNvSpPr>
          <p:nvPr>
            <p:ph type="subTitle" idx="1"/>
          </p:nvPr>
        </p:nvSpPr>
        <p:spPr>
          <a:xfrm>
            <a:off x="2805113" y="3597275"/>
            <a:ext cx="6477000" cy="1012825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defRPr/>
            </a:pPr>
            <a:r>
              <a:rPr lang="en-US" sz="3800" b="1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Times New Roman" pitchFamily="18" charset="0"/>
              </a:rPr>
              <a:t>IPC for Healthcare Setting in Ethiopia</a:t>
            </a:r>
            <a:endParaRPr lang="en-US" sz="3800" b="1" dirty="0">
              <a:latin typeface="+mj-lt"/>
              <a:cs typeface="Times New Roman" pitchFamily="18" charset="0"/>
            </a:endParaRPr>
          </a:p>
          <a:p>
            <a:pPr eaLnBrk="1" hangingPunct="1">
              <a:defRPr/>
            </a:pPr>
            <a:endParaRPr lang="en-US" sz="4000" b="1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1722438" y="1371600"/>
            <a:ext cx="9043987" cy="762000"/>
          </a:xfrm>
        </p:spPr>
        <p:txBody>
          <a:bodyPr/>
          <a:lstStyle/>
          <a:p>
            <a:pPr eaLnBrk="1" hangingPunct="1"/>
            <a:r>
              <a:rPr lang="en-US" smtClean="0">
                <a:ln>
                  <a:noFill/>
                </a:ln>
              </a:rP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4425" y="2438400"/>
            <a:ext cx="10034588" cy="3810000"/>
          </a:xfrm>
        </p:spPr>
        <p:txBody>
          <a:bodyPr rtlCol="0">
            <a:normAutofit lnSpcReduction="10000"/>
          </a:bodyPr>
          <a:lstStyle/>
          <a:p>
            <a:pPr algn="just" eaLnBrk="1" fontAlgn="auto" hangingPunct="1">
              <a:lnSpc>
                <a:spcPct val="115000"/>
              </a:lnSpc>
              <a:spcBef>
                <a:spcPts val="0"/>
              </a:spcBef>
              <a:defRPr/>
            </a:pPr>
            <a:r>
              <a:rPr 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Calibri"/>
                <a:cs typeface="Times New Roman"/>
              </a:rPr>
              <a:t>Explain 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Calibri"/>
                <a:cs typeface="Times New Roman"/>
              </a:rPr>
              <a:t>Minimum requirements for standard Laundry service</a:t>
            </a:r>
          </a:p>
          <a:p>
            <a:pPr algn="just" eaLnBrk="1" fontAlgn="auto" hangingPunct="1">
              <a:lnSpc>
                <a:spcPct val="115000"/>
              </a:lnSpc>
              <a:spcBef>
                <a:spcPts val="0"/>
              </a:spcBef>
              <a:defRPr/>
            </a:pPr>
            <a:r>
              <a:rPr 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Calibri"/>
                <a:cs typeface="Times New Roman"/>
              </a:rPr>
              <a:t>Elaborate 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Calibri"/>
                <a:cs typeface="Times New Roman"/>
              </a:rPr>
              <a:t>Periodic Monitoring and routine maintenance of laundry service </a:t>
            </a:r>
          </a:p>
          <a:p>
            <a:pPr algn="just" eaLnBrk="1" fontAlgn="auto" hangingPunct="1">
              <a:lnSpc>
                <a:spcPct val="115000"/>
              </a:lnSpc>
              <a:spcBef>
                <a:spcPts val="0"/>
              </a:spcBef>
              <a:defRPr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Calibri"/>
                <a:cs typeface="Times New Roman"/>
              </a:rPr>
              <a:t>List the  </a:t>
            </a:r>
            <a:r>
              <a:rPr 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Calibri"/>
                <a:cs typeface="Times New Roman"/>
              </a:rPr>
              <a:t>PPE used 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Calibri"/>
                <a:cs typeface="Times New Roman"/>
              </a:rPr>
              <a:t>in processing textile and laundry service</a:t>
            </a:r>
          </a:p>
          <a:p>
            <a:pPr algn="just" eaLnBrk="1" fontAlgn="auto" hangingPunct="1">
              <a:lnSpc>
                <a:spcPct val="115000"/>
              </a:lnSpc>
              <a:spcBef>
                <a:spcPts val="0"/>
              </a:spcBef>
              <a:defRPr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Calibri"/>
                <a:cs typeface="Times New Roman"/>
              </a:rPr>
              <a:t>Describe Key steps in processing used textile </a:t>
            </a:r>
          </a:p>
          <a:p>
            <a:pPr algn="just" eaLnBrk="1" fontAlgn="auto" hangingPunct="1">
              <a:lnSpc>
                <a:spcPct val="115000"/>
              </a:lnSpc>
              <a:spcBef>
                <a:spcPts val="0"/>
              </a:spcBef>
              <a:defRPr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Calibri"/>
                <a:cs typeface="Times New Roman"/>
              </a:rPr>
              <a:t>Demonstrate how used textiles collected, transported, sorted </a:t>
            </a:r>
          </a:p>
          <a:p>
            <a:pPr algn="just" eaLnBrk="1" fontAlgn="auto" hangingPunct="1">
              <a:lnSpc>
                <a:spcPct val="115000"/>
              </a:lnSpc>
              <a:spcBef>
                <a:spcPts val="0"/>
              </a:spcBef>
              <a:defRPr/>
            </a:pPr>
            <a:r>
              <a:rPr 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Calibri"/>
                <a:cs typeface="Times New Roman"/>
              </a:rPr>
              <a:t>Distinguish 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Calibri"/>
                <a:cs typeface="Times New Roman"/>
              </a:rPr>
              <a:t>the steps of hand washing and machine washing  </a:t>
            </a:r>
          </a:p>
          <a:p>
            <a:pPr algn="just" eaLnBrk="1" fontAlgn="auto" hangingPunct="1">
              <a:lnSpc>
                <a:spcPct val="115000"/>
              </a:lnSpc>
              <a:spcBef>
                <a:spcPts val="0"/>
              </a:spcBef>
              <a:defRPr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Calibri"/>
                <a:cs typeface="Times New Roman"/>
              </a:rPr>
              <a:t>Illustrate how clean textiles should be stored, transported, and distributed hygienically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1565275" y="1030288"/>
            <a:ext cx="9042400" cy="1189037"/>
          </a:xfrm>
        </p:spPr>
        <p:txBody>
          <a:bodyPr/>
          <a:lstStyle/>
          <a:p>
            <a:pPr eaLnBrk="1" hangingPunct="1"/>
            <a:r>
              <a:rPr lang="en-US" smtClean="0">
                <a:ln>
                  <a:noFill/>
                </a:ln>
              </a:rPr>
              <a:t>Brain storming 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4000" smtClean="0"/>
              <a:t>What is the Minimum requirements of standard laundry service in your facility?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1565275" y="1030288"/>
            <a:ext cx="9042400" cy="1189037"/>
          </a:xfrm>
        </p:spPr>
        <p:txBody>
          <a:bodyPr/>
          <a:lstStyle/>
          <a:p>
            <a:pPr eaLnBrk="1" hangingPunct="1"/>
            <a:r>
              <a:rPr lang="en-US" sz="3600" smtClean="0">
                <a:ln>
                  <a:noFill/>
                </a:ln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9:1 The Minimum requirements of standard laundry service</a:t>
            </a:r>
            <a:endParaRPr lang="en-US" sz="3600" smtClean="0">
              <a:ln>
                <a:noFill/>
              </a:ln>
              <a:solidFill>
                <a:schemeClr val="tx1"/>
              </a:solidFill>
            </a:endParaRP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1114425" y="2362200"/>
            <a:ext cx="10134600" cy="3886200"/>
          </a:xfrm>
        </p:spPr>
        <p:txBody>
          <a:bodyPr/>
          <a:lstStyle/>
          <a:p>
            <a:pPr algn="just" eaLnBrk="1" hangingPunct="1">
              <a:lnSpc>
                <a:spcPct val="95000"/>
              </a:lnSpc>
              <a:spcBef>
                <a:spcPts val="338"/>
              </a:spcBef>
              <a:tabLst>
                <a:tab pos="285750" algn="l"/>
              </a:tabLst>
            </a:pPr>
            <a:r>
              <a:rPr lang="en-US" sz="2500" smtClean="0">
                <a:latin typeface="Times New Roman" pitchFamily="18" charset="0"/>
                <a:cs typeface="Times New Roman" pitchFamily="18" charset="0"/>
              </a:rPr>
              <a:t>The receiving area for contaminated textiles </a:t>
            </a:r>
            <a:r>
              <a:rPr lang="en-US" sz="2500" b="1" i="1" smtClean="0">
                <a:latin typeface="Times New Roman" pitchFamily="18" charset="0"/>
                <a:cs typeface="Times New Roman" pitchFamily="18" charset="0"/>
              </a:rPr>
              <a:t>has bigger space</a:t>
            </a:r>
            <a:r>
              <a:rPr lang="en-US" sz="2500" smtClean="0">
                <a:latin typeface="Times New Roman" pitchFamily="18" charset="0"/>
                <a:cs typeface="Times New Roman" pitchFamily="18" charset="0"/>
              </a:rPr>
              <a:t> than clean areas of the laundry</a:t>
            </a:r>
            <a:endParaRPr lang="en-US" sz="2200" smtClean="0">
              <a:ea typeface="Calibri" pitchFamily="34" charset="0"/>
              <a:cs typeface="Times New Roman" pitchFamily="18" charset="0"/>
            </a:endParaRPr>
          </a:p>
          <a:p>
            <a:pPr algn="just" eaLnBrk="1" hangingPunct="1">
              <a:lnSpc>
                <a:spcPct val="95000"/>
              </a:lnSpc>
              <a:spcBef>
                <a:spcPts val="338"/>
              </a:spcBef>
              <a:tabLst>
                <a:tab pos="285750" algn="l"/>
              </a:tabLst>
            </a:pPr>
            <a:r>
              <a:rPr lang="en-US" sz="2500" smtClean="0">
                <a:latin typeface="Times New Roman" pitchFamily="18" charset="0"/>
                <a:cs typeface="Times New Roman" pitchFamily="18" charset="0"/>
              </a:rPr>
              <a:t>Laundry areas should have </a:t>
            </a:r>
            <a:r>
              <a:rPr lang="en-US" sz="2500" b="1" smtClean="0">
                <a:latin typeface="Times New Roman" pitchFamily="18" charset="0"/>
                <a:cs typeface="Times New Roman" pitchFamily="18" charset="0"/>
              </a:rPr>
              <a:t>hand washing facilities </a:t>
            </a:r>
            <a:r>
              <a:rPr lang="en-US" sz="2500" smtClean="0">
                <a:latin typeface="Times New Roman" pitchFamily="18" charset="0"/>
                <a:cs typeface="Times New Roman" pitchFamily="18" charset="0"/>
              </a:rPr>
              <a:t>and products and appropriate </a:t>
            </a:r>
            <a:r>
              <a:rPr lang="en-US" sz="2500" b="1" smtClean="0">
                <a:latin typeface="Times New Roman" pitchFamily="18" charset="0"/>
                <a:cs typeface="Times New Roman" pitchFamily="18" charset="0"/>
              </a:rPr>
              <a:t>PPE</a:t>
            </a:r>
            <a:endParaRPr lang="en-US" sz="2200" b="1" smtClean="0">
              <a:cs typeface="Calibri" pitchFamily="34" charset="0"/>
            </a:endParaRPr>
          </a:p>
          <a:p>
            <a:pPr eaLnBrk="1" hangingPunct="1">
              <a:lnSpc>
                <a:spcPct val="95000"/>
              </a:lnSpc>
              <a:spcBef>
                <a:spcPts val="350"/>
              </a:spcBef>
              <a:tabLst>
                <a:tab pos="285750" algn="l"/>
              </a:tabLst>
            </a:pPr>
            <a:r>
              <a:rPr lang="en-US" sz="2500" smtClean="0">
                <a:latin typeface="Times New Roman" pitchFamily="18" charset="0"/>
                <a:cs typeface="Times New Roman" pitchFamily="18" charset="0"/>
              </a:rPr>
              <a:t>Laundry equipment are used and maintained according to manufacturers' instructions.</a:t>
            </a:r>
            <a:endParaRPr lang="en-US" sz="2200" smtClean="0">
              <a:cs typeface="Calibri" pitchFamily="34" charset="0"/>
            </a:endParaRPr>
          </a:p>
          <a:p>
            <a:pPr eaLnBrk="1" hangingPunct="1">
              <a:lnSpc>
                <a:spcPct val="95000"/>
              </a:lnSpc>
              <a:spcBef>
                <a:spcPts val="338"/>
              </a:spcBef>
              <a:tabLst>
                <a:tab pos="285750" algn="l"/>
              </a:tabLst>
            </a:pPr>
            <a:r>
              <a:rPr lang="en-US" sz="2500" smtClean="0">
                <a:latin typeface="Times New Roman" pitchFamily="18" charset="0"/>
                <a:cs typeface="Times New Roman" pitchFamily="18" charset="0"/>
              </a:rPr>
              <a:t>Textiles or fabrics not left in machines overnight.</a:t>
            </a:r>
            <a:endParaRPr lang="en-US" sz="2200" smtClean="0">
              <a:cs typeface="Calibri" pitchFamily="34" charset="0"/>
            </a:endParaRPr>
          </a:p>
          <a:p>
            <a:pPr algn="just" eaLnBrk="1" hangingPunct="1">
              <a:lnSpc>
                <a:spcPct val="95000"/>
              </a:lnSpc>
              <a:spcBef>
                <a:spcPct val="0"/>
              </a:spcBef>
              <a:tabLst>
                <a:tab pos="285750" algn="l"/>
              </a:tabLst>
            </a:pPr>
            <a:r>
              <a:rPr lang="en-US" sz="2500" smtClean="0">
                <a:latin typeface="Times New Roman" pitchFamily="18" charset="0"/>
                <a:cs typeface="Times New Roman" pitchFamily="18" charset="0"/>
              </a:rPr>
              <a:t>Gross soil from items should be removed off from washing and drying machines before washing</a:t>
            </a:r>
            <a:endParaRPr lang="en-US" sz="25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1565275" y="1066800"/>
            <a:ext cx="9042400" cy="1295400"/>
          </a:xfrm>
        </p:spPr>
        <p:txBody>
          <a:bodyPr/>
          <a:lstStyle/>
          <a:p>
            <a:pPr eaLnBrk="1" hangingPunct="1"/>
            <a:r>
              <a:rPr lang="en-US" sz="3200" smtClean="0">
                <a:ln>
                  <a:noFill/>
                </a:ln>
                <a:ea typeface="Calibri" pitchFamily="34" charset="0"/>
                <a:cs typeface="Times New Roman" pitchFamily="18" charset="0"/>
              </a:rPr>
              <a:t>9.2 Periodic Monitoring and routine maintenance of laundry service </a:t>
            </a:r>
            <a:endParaRPr lang="en-US" sz="5400" smtClean="0">
              <a:ln>
                <a:noFill/>
              </a:ln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1565275" y="2490788"/>
            <a:ext cx="9380538" cy="3681412"/>
          </a:xfrm>
        </p:spPr>
        <p:txBody>
          <a:bodyPr/>
          <a:lstStyle/>
          <a:p>
            <a:pPr eaLnBrk="1" hangingPunct="1"/>
            <a:r>
              <a:rPr lang="en-US" b="1" smtClean="0"/>
              <a:t>Facility should conduct monitoring and check </a:t>
            </a:r>
          </a:p>
          <a:p>
            <a:pPr lvl="1" eaLnBrk="1" hangingPunct="1"/>
            <a:r>
              <a:rPr lang="en-US" smtClean="0"/>
              <a:t>Cleanness, functionality, </a:t>
            </a:r>
          </a:p>
          <a:p>
            <a:pPr lvl="1" eaLnBrk="1" hangingPunct="1"/>
            <a:r>
              <a:rPr lang="en-US" smtClean="0"/>
              <a:t>Availability  of  all  necessary  detergent,  </a:t>
            </a:r>
          </a:p>
          <a:p>
            <a:pPr lvl="1" eaLnBrk="1" hangingPunct="1"/>
            <a:r>
              <a:rPr lang="en-US" smtClean="0"/>
              <a:t>PPE, water  and  space for  collection, storage  </a:t>
            </a:r>
            <a:endParaRPr lang="en-US" b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1565275" y="1030288"/>
            <a:ext cx="9042400" cy="1189037"/>
          </a:xfrm>
        </p:spPr>
        <p:txBody>
          <a:bodyPr/>
          <a:lstStyle/>
          <a:p>
            <a:pPr eaLnBrk="1" hangingPunct="1"/>
            <a:r>
              <a:rPr lang="en-US" sz="4400" smtClean="0">
                <a:ln>
                  <a:noFill/>
                </a:ln>
                <a:solidFill>
                  <a:schemeClr val="tx1"/>
                </a:solidFill>
              </a:rPr>
              <a:t>Recommended PPE for Processing Textiles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1317625" y="2362200"/>
            <a:ext cx="9424988" cy="3962400"/>
          </a:xfrm>
        </p:spPr>
        <p:txBody>
          <a:bodyPr/>
          <a:lstStyle/>
          <a:p>
            <a:pPr eaLnBrk="1" hangingPunct="1"/>
            <a:r>
              <a:rPr lang="en-US" b="1" smtClean="0"/>
              <a:t>When collecting and handling, transporting and sorting use PPE: </a:t>
            </a:r>
            <a:endParaRPr lang="en-US" smtClean="0"/>
          </a:p>
          <a:p>
            <a:pPr lvl="1" eaLnBrk="1" hangingPunct="1"/>
            <a:r>
              <a:rPr lang="en-US" smtClean="0"/>
              <a:t>Utility gloves</a:t>
            </a:r>
          </a:p>
          <a:p>
            <a:pPr lvl="1" eaLnBrk="1" hangingPunct="1"/>
            <a:r>
              <a:rPr lang="en-US" smtClean="0"/>
              <a:t>plastic or rubber apron</a:t>
            </a:r>
          </a:p>
          <a:p>
            <a:pPr lvl="1" eaLnBrk="1" hangingPunct="1"/>
            <a:r>
              <a:rPr lang="en-US" smtClean="0"/>
              <a:t>protective eyewear and </a:t>
            </a:r>
          </a:p>
          <a:p>
            <a:pPr lvl="1" eaLnBrk="1" hangingPunct="1"/>
            <a:r>
              <a:rPr lang="en-US" smtClean="0"/>
              <a:t>closed shoes (boot if available))that protect feet from dropped items/blood/fluid </a:t>
            </a:r>
          </a:p>
          <a:p>
            <a:pPr eaLnBrk="1" hangingPunct="1"/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ctrTitle"/>
          </p:nvPr>
        </p:nvSpPr>
        <p:spPr>
          <a:xfrm>
            <a:off x="2205038" y="1879600"/>
            <a:ext cx="7739062" cy="1528763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sz="4000">
                <a:ln>
                  <a:noFill/>
                </a:ln>
                <a:solidFill>
                  <a:srgbClr val="000000"/>
                </a:solidFill>
                <a:latin typeface="Times New Roman" pitchFamily="18" charset="0"/>
                <a:ea typeface="TimesNewRomanPS-BoldMT"/>
                <a:cs typeface="Times New Roman" pitchFamily="18" charset="0"/>
              </a:rPr>
              <a:t>Collecting, transporting and sorting used textile,</a:t>
            </a:r>
            <a:endParaRPr>
              <a:ln>
                <a:noFill/>
              </a:ln>
              <a:ea typeface="TimesNewRomanPS-BoldMT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0838" y="1143000"/>
            <a:ext cx="9043987" cy="1189038"/>
          </a:xfrm>
        </p:spPr>
        <p:txBody>
          <a:bodyPr rtlCol="0">
            <a:normAutofit fontScale="90000"/>
          </a:bodyPr>
          <a:lstStyle/>
          <a:p>
            <a:pPr algn="just" eaLnBrk="1" fontAlgn="auto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  <a:ea typeface="Calibri"/>
                <a:cs typeface="Times New Roman"/>
              </a:rPr>
              <a:t/>
            </a:r>
            <a:b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  <a:ea typeface="Calibri"/>
                <a:cs typeface="Times New Roman"/>
              </a:rPr>
            </a:br>
            <a:r>
              <a:rPr lang="en-US" dirty="0" smtClean="0">
                <a:solidFill>
                  <a:schemeClr val="tx1"/>
                </a:solidFill>
                <a:ea typeface="Calibri"/>
                <a:cs typeface="Times New Roman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Collecting</a:t>
            </a:r>
            <a:r>
              <a:rPr lang="en-US" sz="4000" dirty="0">
                <a:solidFill>
                  <a:schemeClr val="bg1"/>
                </a:solidFill>
                <a:ea typeface="Calibri"/>
                <a:cs typeface="Times New Roman"/>
              </a:rPr>
              <a:t/>
            </a:r>
            <a:br>
              <a:rPr lang="en-US" sz="4000" dirty="0">
                <a:solidFill>
                  <a:schemeClr val="bg1"/>
                </a:solidFill>
                <a:ea typeface="Calibri"/>
                <a:cs typeface="Times New Roman"/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1204913" y="2438400"/>
            <a:ext cx="10044112" cy="3733800"/>
          </a:xfrm>
        </p:spPr>
        <p:txBody>
          <a:bodyPr/>
          <a:lstStyle/>
          <a:p>
            <a:pPr eaLnBrk="1" hangingPunct="1">
              <a:spcBef>
                <a:spcPts val="600"/>
              </a:spcBef>
              <a:tabLst>
                <a:tab pos="228600" algn="l"/>
                <a:tab pos="857250" algn="l"/>
              </a:tabLst>
            </a:pPr>
            <a:r>
              <a:rPr lang="en-US" sz="2400" smtClean="0">
                <a:solidFill>
                  <a:schemeClr val="tx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Collect and remove soiled textiles from patient rooms after each procedure daily, or as needed.</a:t>
            </a:r>
            <a:endParaRPr lang="en-US" sz="2400" smtClean="0">
              <a:solidFill>
                <a:schemeClr val="tx1"/>
              </a:solidFill>
              <a:ea typeface="Calibri" pitchFamily="34" charset="0"/>
              <a:cs typeface="Times New Roman" pitchFamily="18" charset="0"/>
            </a:endParaRPr>
          </a:p>
          <a:p>
            <a:pPr eaLnBrk="1" hangingPunct="1">
              <a:spcBef>
                <a:spcPts val="600"/>
              </a:spcBef>
              <a:tabLst>
                <a:tab pos="228600" algn="l"/>
                <a:tab pos="857250" algn="l"/>
              </a:tabLst>
            </a:pPr>
            <a:r>
              <a:rPr lang="en-US" sz="2400" smtClean="0">
                <a:solidFill>
                  <a:schemeClr val="tx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Use Standard Precautions, including PPE , when collecting used textiles. </a:t>
            </a:r>
            <a:endParaRPr lang="en-US" sz="2400" smtClean="0">
              <a:solidFill>
                <a:schemeClr val="tx1"/>
              </a:solidFill>
              <a:ea typeface="Calibri" pitchFamily="34" charset="0"/>
              <a:cs typeface="Times New Roman" pitchFamily="18" charset="0"/>
            </a:endParaRPr>
          </a:p>
          <a:p>
            <a:pPr eaLnBrk="1" hangingPunct="1">
              <a:spcBef>
                <a:spcPts val="600"/>
              </a:spcBef>
              <a:tabLst>
                <a:tab pos="228600" algn="l"/>
                <a:tab pos="857250" algn="l"/>
              </a:tabLst>
            </a:pPr>
            <a:r>
              <a:rPr lang="en-US" sz="2400" smtClean="0">
                <a:solidFill>
                  <a:schemeClr val="tx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Do not sort textiles in patient care areas.</a:t>
            </a:r>
            <a:endParaRPr lang="en-US" sz="2400" smtClean="0">
              <a:solidFill>
                <a:schemeClr val="tx1"/>
              </a:solidFill>
              <a:ea typeface="Calibri" pitchFamily="34" charset="0"/>
              <a:cs typeface="Times New Roman" pitchFamily="18" charset="0"/>
            </a:endParaRPr>
          </a:p>
          <a:p>
            <a:pPr eaLnBrk="1" hangingPunct="1">
              <a:spcBef>
                <a:spcPts val="600"/>
              </a:spcBef>
              <a:tabLst>
                <a:tab pos="228600" algn="l"/>
                <a:tab pos="857250" algn="l"/>
              </a:tabLst>
            </a:pPr>
            <a:r>
              <a:rPr lang="en-US" sz="2400" i="1" smtClean="0">
                <a:solidFill>
                  <a:schemeClr val="tx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Use leak-proof containers for all textiles</a:t>
            </a:r>
            <a:endParaRPr lang="en-US" sz="2400" smtClean="0">
              <a:solidFill>
                <a:schemeClr val="tx1"/>
              </a:solidFill>
              <a:ea typeface="Calibri" pitchFamily="34" charset="0"/>
              <a:cs typeface="Times New Roman" pitchFamily="18" charset="0"/>
            </a:endParaRPr>
          </a:p>
          <a:p>
            <a:pPr eaLnBrk="1" hangingPunct="1">
              <a:spcBef>
                <a:spcPts val="600"/>
              </a:spcBef>
              <a:tabLst>
                <a:tab pos="228600" algn="l"/>
                <a:tab pos="857250" algn="l"/>
              </a:tabLst>
            </a:pPr>
            <a:r>
              <a:rPr lang="en-US" sz="2400" smtClean="0">
                <a:solidFill>
                  <a:schemeClr val="tx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Roll items that are heavily contaminated with blood or body fluids carefully into the center of the item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5" y="1258888"/>
            <a:ext cx="9042400" cy="87471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  <a:ea typeface="Calibri"/>
                <a:cs typeface="Times New Roman"/>
              </a:rPr>
              <a:t/>
            </a:r>
            <a:b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  <a:ea typeface="Calibri"/>
                <a:cs typeface="Times New Roman"/>
              </a:rPr>
            </a:br>
            <a:r>
              <a:rPr lang="en-US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Collecting cont’d…</a:t>
            </a:r>
            <a:r>
              <a:rPr lang="en-US" sz="4000" dirty="0">
                <a:solidFill>
                  <a:schemeClr val="tx1"/>
                </a:solidFill>
                <a:ea typeface="Calibri"/>
                <a:cs typeface="Times New Roman"/>
              </a:rPr>
              <a:t/>
            </a:r>
            <a:br>
              <a:rPr lang="en-US" sz="4000" dirty="0">
                <a:solidFill>
                  <a:schemeClr val="tx1"/>
                </a:solidFill>
                <a:ea typeface="Calibri"/>
                <a:cs typeface="Times New Roman"/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1012825" y="2362200"/>
            <a:ext cx="10236200" cy="3657600"/>
          </a:xfrm>
        </p:spPr>
        <p:txBody>
          <a:bodyPr/>
          <a:lstStyle/>
          <a:p>
            <a:pPr eaLnBrk="1" hangingPunct="1">
              <a:spcBef>
                <a:spcPts val="600"/>
              </a:spcBef>
              <a:tabLst>
                <a:tab pos="457200" algn="l"/>
              </a:tabLst>
            </a:pPr>
            <a:r>
              <a:rPr lang="en-US" smtClean="0">
                <a:solidFill>
                  <a:schemeClr val="tx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Do not sort or rinse textiles heavily contaminated with blood and body fluids in patient care areas.</a:t>
            </a:r>
            <a:endParaRPr lang="en-US" sz="2800" smtClean="0">
              <a:solidFill>
                <a:schemeClr val="tx1"/>
              </a:solidFill>
              <a:ea typeface="Calibri" pitchFamily="34" charset="0"/>
              <a:cs typeface="Times New Roman" pitchFamily="18" charset="0"/>
            </a:endParaRPr>
          </a:p>
          <a:p>
            <a:pPr eaLnBrk="1" hangingPunct="1">
              <a:spcBef>
                <a:spcPts val="600"/>
              </a:spcBef>
              <a:tabLst>
                <a:tab pos="457200" algn="l"/>
              </a:tabLst>
            </a:pPr>
            <a:r>
              <a:rPr lang="en-US" smtClean="0">
                <a:solidFill>
                  <a:schemeClr val="tx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Label clearly or use color-code containers for collecting and transporting used textiles.</a:t>
            </a:r>
          </a:p>
          <a:p>
            <a:pPr eaLnBrk="1" hangingPunct="1">
              <a:spcBef>
                <a:spcPts val="600"/>
              </a:spcBef>
              <a:tabLst>
                <a:tab pos="457200" algn="l"/>
              </a:tabLst>
            </a:pPr>
            <a:r>
              <a:rPr lang="en-US" smtClean="0">
                <a:solidFill>
                  <a:schemeClr val="tx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Wash and dry containers routinely before subsequent use. </a:t>
            </a:r>
            <a:endParaRPr lang="en-US" sz="2800" smtClean="0">
              <a:solidFill>
                <a:schemeClr val="tx1"/>
              </a:solidFill>
              <a:ea typeface="Calibri" pitchFamily="34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565275" y="1030288"/>
            <a:ext cx="9042400" cy="1189037"/>
          </a:xfrm>
        </p:spPr>
        <p:txBody>
          <a:bodyPr/>
          <a:lstStyle/>
          <a:p>
            <a:pPr eaLnBrk="1" hangingPunct="1"/>
            <a:r>
              <a:rPr lang="en-US" sz="4300" smtClean="0">
                <a:ln>
                  <a:noFill/>
                </a:ln>
                <a:solidFill>
                  <a:schemeClr val="tx1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Soiled linen thrown to the floor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E57BC2B-DC21-4026-A3ED-53DD63A06209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US" smtClean="0"/>
          </a:p>
        </p:txBody>
      </p:sp>
      <p:pic>
        <p:nvPicPr>
          <p:cNvPr id="24581" name="Picture 4" descr="Alert Picture 02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838" y="2514600"/>
            <a:ext cx="8920162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5" y="1030288"/>
            <a:ext cx="9042400" cy="1189037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ea typeface="Times New Roman"/>
                <a:cs typeface="Times New Roman"/>
              </a:rPr>
              <a:t/>
            </a:r>
            <a:b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ea typeface="Times New Roman"/>
                <a:cs typeface="Times New Roman"/>
              </a:rPr>
            </a:br>
            <a:r>
              <a:rPr lang="en-US" dirty="0" smtClean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Handling</a:t>
            </a:r>
            <a:r>
              <a:rPr lang="en-US" dirty="0">
                <a:solidFill>
                  <a:schemeClr val="bg1"/>
                </a:solidFill>
                <a:ea typeface="Calibri"/>
                <a:cs typeface="Times New Roman"/>
              </a:rPr>
              <a:t/>
            </a:r>
            <a:br>
              <a:rPr lang="en-US" dirty="0">
                <a:solidFill>
                  <a:schemeClr val="bg1"/>
                </a:solidFill>
                <a:ea typeface="Calibri"/>
                <a:cs typeface="Times New Roman"/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ts val="600"/>
              </a:spcBef>
              <a:tabLst>
                <a:tab pos="228600" algn="l"/>
                <a:tab pos="400050" algn="l"/>
                <a:tab pos="857250" algn="l"/>
              </a:tabLst>
            </a:pPr>
            <a:r>
              <a:rPr lang="en-US" sz="2400" smtClean="0">
                <a:solidFill>
                  <a:srgbClr val="3F3E3E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Handle soiled textiles as little as possible. </a:t>
            </a:r>
          </a:p>
          <a:p>
            <a:pPr eaLnBrk="1" hangingPunct="1">
              <a:spcBef>
                <a:spcPts val="600"/>
              </a:spcBef>
              <a:tabLst>
                <a:tab pos="228600" algn="l"/>
                <a:tab pos="400050" algn="l"/>
                <a:tab pos="857250" algn="l"/>
              </a:tabLst>
            </a:pPr>
            <a:r>
              <a:rPr lang="en-US" sz="2400" smtClean="0">
                <a:solidFill>
                  <a:srgbClr val="3F3E3E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To avoid the spread of microorganisms in the environment and among HCWs and patients, do not shake soiled textiles.</a:t>
            </a:r>
            <a:endParaRPr lang="en-US" sz="2000" smtClean="0">
              <a:solidFill>
                <a:srgbClr val="3F3E3E"/>
              </a:solidFill>
              <a:ea typeface="Calibri" pitchFamily="34" charset="0"/>
              <a:cs typeface="Times New Roman" pitchFamily="18" charset="0"/>
            </a:endParaRPr>
          </a:p>
          <a:p>
            <a:pPr eaLnBrk="1" hangingPunct="1">
              <a:spcBef>
                <a:spcPts val="600"/>
              </a:spcBef>
              <a:tabLst>
                <a:tab pos="228600" algn="l"/>
                <a:tab pos="400050" algn="l"/>
                <a:tab pos="857250" algn="l"/>
              </a:tabLst>
            </a:pPr>
            <a:r>
              <a:rPr lang="en-US" sz="2400" smtClean="0">
                <a:solidFill>
                  <a:srgbClr val="3F3E3E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Two bags may be indicated for highly soiled and non soiled </a:t>
            </a:r>
            <a:endParaRPr lang="en-US" smtClean="0">
              <a:ea typeface="Calibri" pitchFamily="34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5" y="1335088"/>
            <a:ext cx="9042400" cy="72231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Transporting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2813" y="2408238"/>
            <a:ext cx="10336212" cy="3763962"/>
          </a:xfrm>
        </p:spPr>
        <p:txBody>
          <a:bodyPr rtlCol="0">
            <a:noAutofit/>
          </a:bodyPr>
          <a:lstStyle/>
          <a:p>
            <a:pPr eaLnBrk="1" fontAlgn="auto" hangingPunct="1">
              <a:spcBef>
                <a:spcPts val="600"/>
              </a:spcBef>
              <a:tabLst>
                <a:tab pos="228600" algn="l"/>
                <a:tab pos="857250" algn="l"/>
                <a:tab pos="400050" algn="l"/>
                <a:tab pos="857250" algn="l"/>
              </a:tabLst>
              <a:defRPr/>
            </a:pPr>
            <a:r>
              <a:rPr lang="en-US" sz="2400" dirty="0" smtClean="0">
                <a:solidFill>
                  <a:srgbClr val="3F3E3E"/>
                </a:solidFill>
                <a:latin typeface="Times New Roman"/>
                <a:ea typeface="Calibri"/>
                <a:cs typeface="Times New Roman"/>
              </a:rPr>
              <a:t>Transport </a:t>
            </a:r>
            <a:r>
              <a:rPr lang="en-US" sz="2400" dirty="0">
                <a:solidFill>
                  <a:srgbClr val="3F3E3E"/>
                </a:solidFill>
                <a:latin typeface="Times New Roman"/>
                <a:ea typeface="Calibri"/>
                <a:cs typeface="Times New Roman"/>
              </a:rPr>
              <a:t>collected used textiles to the processing area in closed bags, containers with lids, or covered carts</a:t>
            </a:r>
            <a:r>
              <a:rPr lang="en-US" sz="2400" dirty="0" smtClean="0">
                <a:solidFill>
                  <a:srgbClr val="3F3E3E"/>
                </a:solidFill>
                <a:latin typeface="Times New Roman"/>
                <a:ea typeface="Calibri"/>
                <a:cs typeface="Times New Roman"/>
              </a:rPr>
              <a:t>.</a:t>
            </a:r>
            <a:endParaRPr lang="en-US" sz="2000" dirty="0">
              <a:solidFill>
                <a:srgbClr val="3F3E3E"/>
              </a:solidFill>
              <a:ea typeface="Calibri"/>
              <a:cs typeface="Times New Roman"/>
            </a:endParaRPr>
          </a:p>
          <a:p>
            <a:pPr eaLnBrk="1" fontAlgn="auto" hangingPunct="1">
              <a:spcBef>
                <a:spcPts val="600"/>
              </a:spcBef>
              <a:tabLst>
                <a:tab pos="228600" algn="l"/>
                <a:tab pos="857250" algn="l"/>
                <a:tab pos="400050" algn="l"/>
                <a:tab pos="857250" algn="l"/>
              </a:tabLst>
              <a:defRPr/>
            </a:pPr>
            <a:r>
              <a:rPr lang="en-US" sz="2400" dirty="0">
                <a:solidFill>
                  <a:srgbClr val="3F3E3E"/>
                </a:solidFill>
                <a:latin typeface="Times New Roman"/>
                <a:ea typeface="Calibri"/>
                <a:cs typeface="Times New Roman"/>
              </a:rPr>
              <a:t>Transport soiled textiles and clean textiles separately. </a:t>
            </a:r>
            <a:r>
              <a:rPr lang="en-US" sz="2400" i="1" dirty="0">
                <a:solidFill>
                  <a:srgbClr val="3F3E3E"/>
                </a:solidFill>
                <a:latin typeface="Times New Roman"/>
                <a:ea typeface="Calibri"/>
                <a:cs typeface="Times New Roman"/>
              </a:rPr>
              <a:t>If there are separate carts, trolleys, or containers available for soiled and clean textiles, they should be labeled accordingly. </a:t>
            </a:r>
            <a:endParaRPr lang="en-US" sz="2400" i="1" dirty="0" smtClean="0">
              <a:solidFill>
                <a:srgbClr val="3F3E3E"/>
              </a:solidFill>
              <a:latin typeface="Times New Roman"/>
              <a:ea typeface="Calibri"/>
              <a:cs typeface="Times New Roman"/>
            </a:endParaRPr>
          </a:p>
          <a:p>
            <a:pPr eaLnBrk="1" fontAlgn="auto" hangingPunct="1">
              <a:spcBef>
                <a:spcPts val="600"/>
              </a:spcBef>
              <a:tabLst>
                <a:tab pos="228600" algn="l"/>
                <a:tab pos="857250" algn="l"/>
                <a:tab pos="400050" algn="l"/>
                <a:tab pos="857250" algn="l"/>
              </a:tabLst>
              <a:defRPr/>
            </a:pPr>
            <a:r>
              <a:rPr lang="en-US" sz="2400" dirty="0" smtClean="0">
                <a:solidFill>
                  <a:srgbClr val="3F3E3E"/>
                </a:solidFill>
                <a:latin typeface="Times New Roman"/>
                <a:ea typeface="Calibri"/>
                <a:cs typeface="Times New Roman"/>
              </a:rPr>
              <a:t>If </a:t>
            </a:r>
            <a:r>
              <a:rPr lang="en-US" sz="2400" dirty="0">
                <a:solidFill>
                  <a:srgbClr val="3F3E3E"/>
                </a:solidFill>
                <a:latin typeface="Times New Roman"/>
                <a:ea typeface="Calibri"/>
                <a:cs typeface="Times New Roman"/>
              </a:rPr>
              <a:t>soiled and clean textiles are transported in the same cart or container:</a:t>
            </a:r>
            <a:endParaRPr lang="en-US" sz="2000" dirty="0">
              <a:solidFill>
                <a:srgbClr val="3F3E3E"/>
              </a:solidFill>
              <a:ea typeface="Calibri"/>
              <a:cs typeface="Times New Roman"/>
            </a:endParaRPr>
          </a:p>
          <a:p>
            <a:pPr lvl="1" eaLnBrk="1" fontAlgn="auto" hangingPunct="1">
              <a:spcBef>
                <a:spcPts val="600"/>
              </a:spcBef>
              <a:tabLst>
                <a:tab pos="228600" algn="l"/>
                <a:tab pos="857250" algn="l"/>
              </a:tabLst>
              <a:defRPr/>
            </a:pPr>
            <a:r>
              <a:rPr lang="en-US" sz="2400" dirty="0">
                <a:solidFill>
                  <a:srgbClr val="3F3E3E"/>
                </a:solidFill>
                <a:latin typeface="Times New Roman"/>
                <a:ea typeface="Calibri"/>
                <a:cs typeface="Times New Roman"/>
              </a:rPr>
              <a:t>Clean the containers and trolleys or carts thoroughly after transporting soiled textiles using disinfectant cleaning solution 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TimesNewRomanPS-BoldMT"/>
                <a:cs typeface="Times New Roman"/>
              </a:rPr>
              <a:t> 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ea typeface="Calibri"/>
              <a:cs typeface="Times New Roman"/>
            </a:endParaRPr>
          </a:p>
          <a:p>
            <a:pPr eaLnBrk="1" fontAlgn="auto" hangingPunct="1">
              <a:defRPr/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747713" y="1295400"/>
            <a:ext cx="10944225" cy="792163"/>
          </a:xfrm>
        </p:spPr>
        <p:txBody>
          <a:bodyPr/>
          <a:lstStyle/>
          <a:p>
            <a:pPr eaLnBrk="1" hangingPunct="1"/>
            <a:r>
              <a:rPr lang="en-US" sz="3600" smtClean="0">
                <a:ln>
                  <a:noFill/>
                </a:ln>
                <a:solidFill>
                  <a:schemeClr val="tx1"/>
                </a:solidFill>
              </a:rPr>
              <a:t>Sorting Soiled textiles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1050925" y="2438400"/>
            <a:ext cx="10136188" cy="3733800"/>
          </a:xfrm>
        </p:spPr>
        <p:txBody>
          <a:bodyPr/>
          <a:lstStyle/>
          <a:p>
            <a:pPr eaLnBrk="1" hangingPunct="1">
              <a:spcBef>
                <a:spcPts val="600"/>
              </a:spcBef>
              <a:tabLst>
                <a:tab pos="228600" algn="l"/>
                <a:tab pos="342900" algn="l"/>
                <a:tab pos="857250" algn="l"/>
              </a:tabLst>
            </a:pPr>
            <a:r>
              <a:rPr lang="en-US" sz="2800" smtClean="0">
                <a:solidFill>
                  <a:srgbClr val="3F3E3E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The processing area for soiled textile must be separate from areas used for folding and storing </a:t>
            </a:r>
            <a:r>
              <a:rPr lang="en-US" sz="2400" b="1" i="1" smtClean="0">
                <a:solidFill>
                  <a:srgbClr val="3F3E3E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</a:t>
            </a:r>
          </a:p>
          <a:p>
            <a:pPr eaLnBrk="1" hangingPunct="1">
              <a:spcBef>
                <a:spcPts val="600"/>
              </a:spcBef>
              <a:tabLst>
                <a:tab pos="228600" algn="l"/>
                <a:tab pos="342900" algn="l"/>
                <a:tab pos="857250" algn="l"/>
              </a:tabLst>
            </a:pPr>
            <a:r>
              <a:rPr lang="en-US" sz="2800" smtClean="0">
                <a:solidFill>
                  <a:srgbClr val="3F3E3E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Maintain adequate ventilation and physical barriers between the clean and soiled textile areas.</a:t>
            </a:r>
          </a:p>
          <a:p>
            <a:pPr eaLnBrk="1" hangingPunct="1">
              <a:spcBef>
                <a:spcPts val="600"/>
              </a:spcBef>
              <a:tabLst>
                <a:tab pos="228600" algn="l"/>
                <a:tab pos="342900" algn="l"/>
                <a:tab pos="857250" algn="l"/>
              </a:tabLst>
            </a:pPr>
            <a:r>
              <a:rPr lang="en-US" sz="2800" smtClean="0">
                <a:solidFill>
                  <a:srgbClr val="3F3E3E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Do not sort or pre-rinse soiled textiles in patient care areas; </a:t>
            </a:r>
          </a:p>
          <a:p>
            <a:pPr eaLnBrk="1" hangingPunct="1">
              <a:spcBef>
                <a:spcPts val="600"/>
              </a:spcBef>
              <a:tabLst>
                <a:tab pos="228600" algn="l"/>
                <a:tab pos="342900" algn="l"/>
                <a:tab pos="857250" algn="l"/>
              </a:tabLst>
            </a:pPr>
            <a:r>
              <a:rPr lang="en-US" sz="2800" smtClean="0">
                <a:solidFill>
                  <a:srgbClr val="3F3E3E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They should be sorted in the laundry area.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608013" y="990600"/>
            <a:ext cx="10945812" cy="1173163"/>
          </a:xfrm>
        </p:spPr>
        <p:txBody>
          <a:bodyPr/>
          <a:lstStyle/>
          <a:p>
            <a:pPr eaLnBrk="1" hangingPunct="1"/>
            <a:r>
              <a:rPr lang="en-US" sz="3600" smtClean="0">
                <a:ln>
                  <a:noFill/>
                </a:ln>
                <a:solidFill>
                  <a:schemeClr val="tx1"/>
                </a:solidFill>
              </a:rPr>
              <a:t>Sorting Soiled textiles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1012825" y="2438400"/>
            <a:ext cx="10136188" cy="3810000"/>
          </a:xfrm>
        </p:spPr>
        <p:txBody>
          <a:bodyPr/>
          <a:lstStyle/>
          <a:p>
            <a:pPr algn="just" eaLnBrk="1" hangingPunct="1">
              <a:spcBef>
                <a:spcPts val="350"/>
              </a:spcBef>
              <a:tabLst>
                <a:tab pos="228600" algn="l"/>
                <a:tab pos="285750" algn="l"/>
                <a:tab pos="342900" algn="l"/>
                <a:tab pos="520700" algn="l"/>
                <a:tab pos="857250" algn="l"/>
              </a:tabLst>
            </a:pPr>
            <a:r>
              <a:rPr lang="en-US" sz="2800" smtClean="0">
                <a:solidFill>
                  <a:srgbClr val="3F3E3E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Sort soiled textiles into appropriate wash loads by classification such as (e.g., whites’ items,</a:t>
            </a:r>
            <a:r>
              <a:rPr lang="en-US" sz="2800" b="1" i="1" smtClean="0">
                <a:solidFill>
                  <a:srgbClr val="3F3E3E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type of fabric, soil type or soil load, </a:t>
            </a:r>
            <a:r>
              <a:rPr lang="en-US" sz="2800" smtClean="0">
                <a:solidFill>
                  <a:srgbClr val="3F3E3E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cotton/wool items, mop heads, surgical drapes, etc.)</a:t>
            </a:r>
            <a:endParaRPr lang="en-US" sz="1300" smtClean="0">
              <a:solidFill>
                <a:srgbClr val="3F3E3E"/>
              </a:solidFill>
              <a:ea typeface="Calibri" pitchFamily="34" charset="0"/>
              <a:cs typeface="Times New Roman" pitchFamily="18" charset="0"/>
            </a:endParaRPr>
          </a:p>
          <a:p>
            <a:pPr algn="just" eaLnBrk="1" hangingPunct="1">
              <a:spcBef>
                <a:spcPts val="350"/>
              </a:spcBef>
              <a:tabLst>
                <a:tab pos="228600" algn="l"/>
                <a:tab pos="285750" algn="l"/>
                <a:tab pos="342900" algn="l"/>
                <a:tab pos="520700" algn="l"/>
                <a:tab pos="857250" algn="l"/>
              </a:tabLst>
            </a:pPr>
            <a:r>
              <a:rPr lang="en-US" sz="2800" smtClean="0">
                <a:solidFill>
                  <a:srgbClr val="3F3E3E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Always  wear  protective  eyewear,  utility  gloves,  appropriate  footwear  and  plastic  or rubber apron while handling soiled textile. </a:t>
            </a:r>
          </a:p>
          <a:p>
            <a:pPr algn="just" eaLnBrk="1" hangingPunct="1">
              <a:spcBef>
                <a:spcPts val="350"/>
              </a:spcBef>
              <a:tabLst>
                <a:tab pos="228600" algn="l"/>
                <a:tab pos="285750" algn="l"/>
                <a:tab pos="342900" algn="l"/>
                <a:tab pos="520700" algn="l"/>
                <a:tab pos="857250" algn="l"/>
              </a:tabLst>
            </a:pPr>
            <a:r>
              <a:rPr lang="en-US" sz="2800" smtClean="0">
                <a:solidFill>
                  <a:srgbClr val="3F3E3E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Wash hands after removing the gloves. </a:t>
            </a:r>
            <a:endParaRPr lang="en-US" sz="2400" smtClean="0">
              <a:solidFill>
                <a:srgbClr val="3F3E3E"/>
              </a:solidFill>
              <a:ea typeface="Calibri" pitchFamily="34" charset="0"/>
              <a:cs typeface="Times New Roman" pitchFamily="18" charset="0"/>
            </a:endParaRPr>
          </a:p>
          <a:p>
            <a:pPr algn="just" eaLnBrk="1" hangingPunct="1">
              <a:spcBef>
                <a:spcPts val="350"/>
              </a:spcBef>
              <a:tabLst>
                <a:tab pos="228600" algn="l"/>
                <a:tab pos="285750" algn="l"/>
                <a:tab pos="342900" algn="l"/>
                <a:tab pos="520700" algn="l"/>
                <a:tab pos="857250" algn="l"/>
              </a:tabLst>
            </a:pPr>
            <a:endParaRPr lang="en-US" sz="2800" smtClean="0">
              <a:solidFill>
                <a:srgbClr val="3F3E3E"/>
              </a:solidFill>
              <a:ea typeface="Calibri" pitchFamily="34" charset="0"/>
              <a:cs typeface="Times New Roman" pitchFamily="18" charset="0"/>
            </a:endParaRPr>
          </a:p>
          <a:p>
            <a:pPr eaLnBrk="1" hangingPunct="1">
              <a:tabLst>
                <a:tab pos="228600" algn="l"/>
                <a:tab pos="285750" algn="l"/>
                <a:tab pos="342900" algn="l"/>
                <a:tab pos="520700" algn="l"/>
                <a:tab pos="857250" algn="l"/>
              </a:tabLst>
            </a:pPr>
            <a:endParaRPr lang="en-US" smtClean="0">
              <a:ea typeface="Calibri" pitchFamily="34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1565275" y="1030288"/>
            <a:ext cx="9042400" cy="1189037"/>
          </a:xfrm>
        </p:spPr>
        <p:txBody>
          <a:bodyPr/>
          <a:lstStyle/>
          <a:p>
            <a:pPr eaLnBrk="1" hangingPunct="1"/>
            <a:r>
              <a:rPr lang="en-US" smtClean="0">
                <a:ln>
                  <a:noFill/>
                </a:ln>
              </a:rPr>
              <a:t>Sorting textile</a:t>
            </a:r>
          </a:p>
        </p:txBody>
      </p:sp>
      <p:pic>
        <p:nvPicPr>
          <p:cNvPr id="4" name="Picture 4" descr="laundry sorti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4425" y="2438400"/>
            <a:ext cx="9729788" cy="3505200"/>
          </a:xfr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ctrTitle"/>
          </p:nvPr>
        </p:nvSpPr>
        <p:spPr>
          <a:xfrm>
            <a:off x="2205038" y="1879600"/>
            <a:ext cx="7739062" cy="1528763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sz="5400">
                <a:ln>
                  <a:noFill/>
                </a:ln>
              </a:rPr>
              <a:t>Washing Textiles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6025" y="1295400"/>
            <a:ext cx="9729788" cy="79216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/>
              <a:t>Washing textiles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4425" y="2438400"/>
            <a:ext cx="10034588" cy="3733800"/>
          </a:xfrm>
        </p:spPr>
        <p:txBody>
          <a:bodyPr rtlCol="0"/>
          <a:lstStyle/>
          <a:p>
            <a:pPr eaLnBrk="1" fontAlgn="auto" hangingPunct="1">
              <a:defRPr/>
            </a:pPr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Effective 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laundering is dependent on the following factors, when used together, have a greater effect than when used separately: </a:t>
            </a:r>
          </a:p>
          <a:p>
            <a:pPr lvl="1" eaLnBrk="1" fontAlgn="auto" hangingPunct="1">
              <a:defRPr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Duration of cleaning </a:t>
            </a:r>
          </a:p>
          <a:p>
            <a:pPr lvl="1" eaLnBrk="1" fontAlgn="auto" hangingPunct="1">
              <a:defRPr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Mechanical action (i.e., agitation) </a:t>
            </a:r>
            <a:endParaRPr lang="en-US" sz="24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1" eaLnBrk="1" fontAlgn="auto" hangingPunct="1">
              <a:defRPr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Chemicals used in the process </a:t>
            </a:r>
          </a:p>
          <a:p>
            <a:pPr lvl="1" eaLnBrk="1" fontAlgn="auto" hangingPunct="1">
              <a:defRPr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Temperature of water and air in the dryer machine</a:t>
            </a:r>
          </a:p>
          <a:p>
            <a:pPr marL="0" indent="0" eaLnBrk="1" fontAlgn="auto" hangingPunct="1">
              <a:buFont typeface="Arial"/>
              <a:buNone/>
              <a:defRPr/>
            </a:pP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2813" y="1371600"/>
            <a:ext cx="10134600" cy="79216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/>
              <a:t>Washing </a:t>
            </a:r>
            <a:r>
              <a:rPr lang="en-US" sz="3600" dirty="0" smtClean="0"/>
              <a:t>textiles cont’d…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>
          <a:xfrm>
            <a:off x="1114425" y="2438400"/>
            <a:ext cx="9729788" cy="3352800"/>
          </a:xfrm>
        </p:spPr>
        <p:txBody>
          <a:bodyPr/>
          <a:lstStyle/>
          <a:p>
            <a:pPr eaLnBrk="1" hangingPunct="1"/>
            <a:r>
              <a:rPr lang="en-US" sz="2800" smtClean="0"/>
              <a:t>If one of these factors is decreased (e.g., temperature), then other factors (e.g., chemicals, mechanical action, or time) must be increased to result in the same level of cleanliness.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5" y="1030288"/>
            <a:ext cx="9042400" cy="1189037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/>
                </a:solidFill>
              </a:rPr>
              <a:t>Drying, inspecting, and folding textiles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1012825" y="2590800"/>
            <a:ext cx="10034588" cy="3535363"/>
          </a:xfrm>
        </p:spPr>
        <p:txBody>
          <a:bodyPr/>
          <a:lstStyle/>
          <a:p>
            <a:pPr eaLnBrk="1" hangingPunct="1"/>
            <a:r>
              <a:rPr lang="en-US" smtClean="0"/>
              <a:t>Completely air or machine-dry cleaned </a:t>
            </a:r>
          </a:p>
          <a:p>
            <a:pPr eaLnBrk="1" hangingPunct="1"/>
            <a:r>
              <a:rPr lang="en-US" smtClean="0"/>
              <a:t>check for holes and threadbare (worn) areas</a:t>
            </a:r>
          </a:p>
          <a:p>
            <a:pPr eaLnBrk="1" hangingPunct="1"/>
            <a:r>
              <a:rPr lang="en-US" smtClean="0"/>
              <a:t>Air-dried textiles should be ironed</a:t>
            </a:r>
          </a:p>
          <a:p>
            <a:pPr eaLnBrk="1" hangingPunct="1"/>
            <a:r>
              <a:rPr lang="en-US" smtClean="0"/>
              <a:t>Clean, dry textiles should be folded</a:t>
            </a:r>
          </a:p>
          <a:p>
            <a:pPr eaLnBrk="1" hangingPunct="1"/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5" y="1030288"/>
            <a:ext cx="9042400" cy="1189037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pc="-10" dirty="0" smtClean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pc="-10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Steps </a:t>
            </a:r>
            <a:r>
              <a:rPr lang="en-US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for Machine Washing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2825" y="2514600"/>
            <a:ext cx="10236200" cy="3886200"/>
          </a:xfrm>
        </p:spPr>
        <p:txBody>
          <a:bodyPr rtlCol="0"/>
          <a:lstStyle/>
          <a:p>
            <a:pPr eaLnBrk="1" fontAlgn="auto" hangingPunct="1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tabLst>
                <a:tab pos="228600" algn="l"/>
                <a:tab pos="857250" algn="l"/>
              </a:tabLst>
              <a:defRPr/>
            </a:pPr>
            <a:r>
              <a:rPr lang="en-US" b="1" dirty="0" smtClean="0">
                <a:solidFill>
                  <a:srgbClr val="3F3E3E"/>
                </a:solidFill>
                <a:latin typeface="Times New Roman"/>
                <a:ea typeface="Calibri"/>
                <a:cs typeface="Times New Roman"/>
              </a:rPr>
              <a:t>STEP </a:t>
            </a:r>
            <a:r>
              <a:rPr lang="en-US" b="1" dirty="0">
                <a:solidFill>
                  <a:srgbClr val="3F3E3E"/>
                </a:solidFill>
                <a:latin typeface="Times New Roman"/>
                <a:ea typeface="Calibri"/>
                <a:cs typeface="Times New Roman"/>
              </a:rPr>
              <a:t>1</a:t>
            </a:r>
            <a:r>
              <a:rPr lang="en-US" dirty="0">
                <a:solidFill>
                  <a:srgbClr val="3F3E3E"/>
                </a:solidFill>
                <a:latin typeface="Times New Roman"/>
                <a:ea typeface="Calibri"/>
                <a:cs typeface="Times New Roman"/>
              </a:rPr>
              <a:t>: Wear PPE while handling and loading </a:t>
            </a:r>
            <a:r>
              <a:rPr lang="en-US" dirty="0" smtClean="0">
                <a:solidFill>
                  <a:srgbClr val="3F3E3E"/>
                </a:solidFill>
                <a:latin typeface="Times New Roman"/>
                <a:ea typeface="Calibri"/>
                <a:cs typeface="Times New Roman"/>
              </a:rPr>
              <a:t>machines.</a:t>
            </a:r>
          </a:p>
          <a:p>
            <a:pPr eaLnBrk="1" fontAlgn="auto" hangingPunct="1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tabLst>
                <a:tab pos="228600" algn="l"/>
                <a:tab pos="857250" algn="l"/>
              </a:tabLst>
              <a:defRPr/>
            </a:pPr>
            <a:r>
              <a:rPr lang="en-US" b="1" dirty="0" smtClean="0">
                <a:solidFill>
                  <a:srgbClr val="3F3E3E"/>
                </a:solidFill>
                <a:latin typeface="Times New Roman"/>
                <a:ea typeface="Calibri"/>
                <a:cs typeface="Times New Roman"/>
              </a:rPr>
              <a:t>STEP </a:t>
            </a:r>
            <a:r>
              <a:rPr lang="en-US" b="1" dirty="0">
                <a:solidFill>
                  <a:srgbClr val="3F3E3E"/>
                </a:solidFill>
                <a:latin typeface="Times New Roman"/>
                <a:ea typeface="Calibri"/>
                <a:cs typeface="Times New Roman"/>
              </a:rPr>
              <a:t>2</a:t>
            </a:r>
            <a:r>
              <a:rPr lang="en-US" dirty="0">
                <a:solidFill>
                  <a:srgbClr val="3F3E3E"/>
                </a:solidFill>
                <a:latin typeface="Times New Roman"/>
                <a:ea typeface="Calibri"/>
                <a:cs typeface="Times New Roman"/>
              </a:rPr>
              <a:t>: Separate heavily soiled textiles from non-soiled textiles and wash </a:t>
            </a:r>
            <a:r>
              <a:rPr lang="en-US" dirty="0" smtClean="0">
                <a:solidFill>
                  <a:srgbClr val="3F3E3E"/>
                </a:solidFill>
                <a:latin typeface="Times New Roman"/>
                <a:ea typeface="Calibri"/>
                <a:cs typeface="Times New Roman"/>
              </a:rPr>
              <a:t>separately.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ea typeface="Calibri"/>
              <a:cs typeface="Times New Roman"/>
            </a:endParaRPr>
          </a:p>
          <a:p>
            <a:pPr eaLnBrk="1" fontAlgn="auto" hangingPunct="1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tabLst>
                <a:tab pos="228600" algn="l"/>
                <a:tab pos="857250" algn="l"/>
              </a:tabLst>
              <a:defRPr/>
            </a:pPr>
            <a:r>
              <a:rPr lang="en-US" b="1" dirty="0" smtClean="0">
                <a:solidFill>
                  <a:srgbClr val="3F3E3E"/>
                </a:solidFill>
                <a:latin typeface="Times New Roman"/>
                <a:ea typeface="Calibri"/>
                <a:cs typeface="Times New Roman"/>
              </a:rPr>
              <a:t>STEP </a:t>
            </a:r>
            <a:r>
              <a:rPr lang="en-US" b="1" dirty="0">
                <a:solidFill>
                  <a:srgbClr val="3F3E3E"/>
                </a:solidFill>
                <a:latin typeface="Times New Roman"/>
                <a:ea typeface="Calibri"/>
                <a:cs typeface="Times New Roman"/>
              </a:rPr>
              <a:t>3</a:t>
            </a:r>
            <a:r>
              <a:rPr lang="en-US" dirty="0">
                <a:solidFill>
                  <a:srgbClr val="3F3E3E"/>
                </a:solidFill>
                <a:latin typeface="Times New Roman"/>
                <a:ea typeface="Calibri"/>
                <a:cs typeface="Times New Roman"/>
              </a:rPr>
              <a:t>:Follow manufacturers’ instructions to adjust temperature settings, cycle time, type of soap, and other washing agents to be added. </a:t>
            </a:r>
            <a:endParaRPr lang="en-US" dirty="0" smtClean="0">
              <a:solidFill>
                <a:srgbClr val="3F3E3E"/>
              </a:solidFill>
              <a:latin typeface="Times New Roman"/>
              <a:ea typeface="Calibri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2825" y="1030288"/>
            <a:ext cx="9831388" cy="1189037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pc="-10" dirty="0" smtClean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3600" spc="-10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Steps </a:t>
            </a:r>
            <a:r>
              <a:rPr lang="en-US" sz="3600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for Machine </a:t>
            </a:r>
            <a:r>
              <a:rPr lang="en-US" sz="3600" spc="-10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Washing Cont’d… 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6025" y="2514600"/>
            <a:ext cx="10033000" cy="3886200"/>
          </a:xfrm>
        </p:spPr>
        <p:txBody>
          <a:bodyPr rtlCol="0">
            <a:normAutofit fontScale="85000" lnSpcReduction="20000"/>
          </a:bodyPr>
          <a:lstStyle/>
          <a:p>
            <a:pPr algn="just" eaLnBrk="1" fontAlgn="auto" hangingPunct="1">
              <a:lnSpc>
                <a:spcPct val="115000"/>
              </a:lnSpc>
              <a:spcBef>
                <a:spcPts val="600"/>
              </a:spcBef>
              <a:spcAft>
                <a:spcPts val="1000"/>
              </a:spcAft>
              <a:buFont typeface="Arial"/>
              <a:buChar char="•"/>
              <a:tabLst>
                <a:tab pos="228600" algn="l"/>
                <a:tab pos="857250" algn="l"/>
              </a:tabLst>
              <a:defRPr/>
            </a:pPr>
            <a:r>
              <a:rPr lang="en-US" b="1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STEP </a:t>
            </a:r>
            <a:r>
              <a:rPr lang="en-US" b="1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4</a:t>
            </a:r>
            <a:r>
              <a:rPr lang="en-US" b="1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: For </a:t>
            </a:r>
            <a:r>
              <a:rPr lang="en-US" b="1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hot-water washing </a:t>
            </a:r>
            <a:r>
              <a:rPr lang="en-US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at 70–80</a:t>
            </a:r>
            <a:r>
              <a:rPr lang="en-US" baseline="3000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o</a:t>
            </a:r>
            <a:r>
              <a:rPr lang="en-US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C (158–176</a:t>
            </a:r>
            <a:r>
              <a:rPr lang="en-US" baseline="3000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o</a:t>
            </a:r>
            <a:r>
              <a:rPr lang="en-US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F), use soap for ≥ 25 minutes to aid in loosening soil. Add bleach and sour if stain removal is required. </a:t>
            </a:r>
          </a:p>
          <a:p>
            <a:pPr lvl="1" algn="just" eaLnBrk="1" fontAlgn="auto" hangingPunct="1">
              <a:lnSpc>
                <a:spcPct val="115000"/>
              </a:lnSpc>
              <a:spcBef>
                <a:spcPts val="600"/>
              </a:spcBef>
              <a:spcAft>
                <a:spcPts val="1000"/>
              </a:spcAft>
              <a:buFont typeface="Arial"/>
              <a:buChar char="•"/>
              <a:tabLst>
                <a:tab pos="228600" algn="l"/>
                <a:tab pos="857250" algn="l"/>
              </a:tabLst>
              <a:defRPr/>
            </a:pPr>
            <a:r>
              <a:rPr lang="en-US" b="1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If </a:t>
            </a:r>
            <a:r>
              <a:rPr lang="en-US" b="1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not using hot water, </a:t>
            </a:r>
            <a:r>
              <a:rPr lang="en-US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soaking textiles in 0.05%–0.5% chlorine solution for 15–30 minutes and then wash with soap and water to remove the bleach. </a:t>
            </a:r>
            <a:endParaRPr lang="en-US" dirty="0" smtClean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  <a:p>
            <a:pPr eaLnBrk="1" fontAlgn="auto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  <a:tabLst>
                <a:tab pos="228600" algn="l"/>
                <a:tab pos="857250" algn="l"/>
              </a:tabLst>
              <a:defRPr/>
            </a:pPr>
            <a:r>
              <a:rPr lang="en-US" b="1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STEP </a:t>
            </a:r>
            <a:r>
              <a:rPr lang="en-US" b="1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5</a:t>
            </a:r>
            <a:r>
              <a:rPr lang="en-US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: When the wash cycle is complete, check the item for cleanliness. Rewash if it is dirty or stained. (Heavily soiled textiles may require two wash cycles.) </a:t>
            </a:r>
            <a:endParaRPr lang="en-US" sz="2800" dirty="0">
              <a:solidFill>
                <a:schemeClr val="tx1"/>
              </a:solidFill>
              <a:ea typeface="Calibri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13" y="1447800"/>
            <a:ext cx="10945812" cy="8382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0D0D0D"/>
                </a:solidFill>
                <a:latin typeface="Times New Roman"/>
                <a:ea typeface="Calibri"/>
                <a:cs typeface="Times New Roman"/>
              </a:rPr>
              <a:t/>
            </a:r>
            <a:br>
              <a:rPr lang="en-US" dirty="0" smtClean="0">
                <a:solidFill>
                  <a:srgbClr val="0D0D0D"/>
                </a:solidFill>
                <a:latin typeface="Times New Roman"/>
                <a:ea typeface="Calibri"/>
                <a:cs typeface="Times New Roman"/>
              </a:rPr>
            </a:br>
            <a:r>
              <a:rPr lang="en-US" sz="4000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Washing </a:t>
            </a:r>
            <a:r>
              <a:rPr lang="en-US" sz="400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textiles by hand</a:t>
            </a:r>
            <a:r>
              <a:rPr lang="en-US" sz="3600" dirty="0">
                <a:solidFill>
                  <a:schemeClr val="tx1"/>
                </a:solidFill>
                <a:ea typeface="Calibri"/>
                <a:cs typeface="Times New Roman"/>
              </a:rPr>
              <a:t/>
            </a:r>
            <a:br>
              <a:rPr lang="en-US" sz="3600" dirty="0">
                <a:solidFill>
                  <a:schemeClr val="tx1"/>
                </a:solidFill>
                <a:ea typeface="Calibri"/>
                <a:cs typeface="Times New Roman"/>
              </a:rPr>
            </a:b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4425" y="2514600"/>
            <a:ext cx="10034588" cy="3810000"/>
          </a:xfrm>
        </p:spPr>
        <p:txBody>
          <a:bodyPr rtlCol="0"/>
          <a:lstStyle/>
          <a:p>
            <a:pPr marL="0" indent="0" eaLnBrk="1" fontAlgn="auto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r>
              <a:rPr lang="en-US" sz="2400" spc="-10" dirty="0" smtClean="0">
                <a:solidFill>
                  <a:srgbClr val="0D0D0D"/>
                </a:solidFill>
                <a:latin typeface="Times New Roman"/>
                <a:ea typeface="Calibri"/>
                <a:cs typeface="Times New Roman"/>
              </a:rPr>
              <a:t>The </a:t>
            </a:r>
            <a:r>
              <a:rPr lang="en-US" sz="2400" spc="-10" dirty="0">
                <a:solidFill>
                  <a:srgbClr val="0D0D0D"/>
                </a:solidFill>
                <a:latin typeface="Times New Roman"/>
                <a:ea typeface="Calibri"/>
                <a:cs typeface="Times New Roman"/>
              </a:rPr>
              <a:t>steps to properly hand wash textiles are: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ea typeface="Calibri"/>
              <a:cs typeface="Times New Roman"/>
            </a:endParaRPr>
          </a:p>
          <a:p>
            <a:pPr eaLnBrk="1" fontAlgn="auto" hangingPunct="1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tabLst>
                <a:tab pos="228600" algn="l"/>
                <a:tab pos="857250" algn="l"/>
              </a:tabLst>
              <a:defRPr/>
            </a:pPr>
            <a:r>
              <a:rPr lang="en-US" sz="2400" b="1" dirty="0">
                <a:solidFill>
                  <a:srgbClr val="0D0D0D"/>
                </a:solidFill>
                <a:latin typeface="Times New Roman"/>
                <a:ea typeface="Calibri"/>
                <a:cs typeface="Times New Roman"/>
              </a:rPr>
              <a:t>STEP 1</a:t>
            </a:r>
            <a:r>
              <a:rPr lang="en-US" sz="2400" dirty="0">
                <a:solidFill>
                  <a:srgbClr val="0D0D0D"/>
                </a:solidFill>
                <a:latin typeface="Times New Roman"/>
                <a:ea typeface="Calibri"/>
                <a:cs typeface="Times New Roman"/>
              </a:rPr>
              <a:t>: Wear PPE while washing textiles by hand.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ea typeface="Calibri"/>
              <a:cs typeface="Times New Roman"/>
            </a:endParaRPr>
          </a:p>
          <a:p>
            <a:pPr eaLnBrk="1" fontAlgn="auto" hangingPunct="1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tabLst>
                <a:tab pos="228600" algn="l"/>
                <a:tab pos="857250" algn="l"/>
              </a:tabLst>
              <a:defRPr/>
            </a:pPr>
            <a:r>
              <a:rPr lang="en-US" sz="2400" b="1" dirty="0">
                <a:solidFill>
                  <a:srgbClr val="0D0D0D"/>
                </a:solidFill>
                <a:latin typeface="Times New Roman"/>
                <a:ea typeface="Calibri"/>
                <a:cs typeface="Times New Roman"/>
              </a:rPr>
              <a:t>STEP 2</a:t>
            </a:r>
            <a:r>
              <a:rPr lang="en-US" sz="2400" dirty="0">
                <a:solidFill>
                  <a:srgbClr val="0D0D0D"/>
                </a:solidFill>
                <a:latin typeface="Times New Roman"/>
                <a:ea typeface="Calibri"/>
                <a:cs typeface="Times New Roman"/>
              </a:rPr>
              <a:t>: Separate heavily soiled textiles from non-soiled textiles and </a:t>
            </a:r>
            <a:r>
              <a:rPr lang="en-US" sz="2400" b="1" i="1" dirty="0">
                <a:solidFill>
                  <a:srgbClr val="0D0D0D"/>
                </a:solidFill>
                <a:latin typeface="Times New Roman"/>
                <a:ea typeface="Calibri"/>
                <a:cs typeface="Times New Roman"/>
              </a:rPr>
              <a:t>wash separately</a:t>
            </a:r>
            <a:r>
              <a:rPr lang="en-US" sz="2400" dirty="0">
                <a:solidFill>
                  <a:srgbClr val="0D0D0D"/>
                </a:solidFill>
                <a:latin typeface="Times New Roman"/>
                <a:ea typeface="Calibri"/>
                <a:cs typeface="Times New Roman"/>
              </a:rPr>
              <a:t>.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ea typeface="Calibri"/>
              <a:cs typeface="Times New Roman"/>
            </a:endParaRPr>
          </a:p>
          <a:p>
            <a:pPr eaLnBrk="1" fontAlgn="auto" hangingPunct="1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tabLst>
                <a:tab pos="228600" algn="l"/>
                <a:tab pos="857250" algn="l"/>
              </a:tabLst>
              <a:defRPr/>
            </a:pPr>
            <a:r>
              <a:rPr lang="en-US" sz="2400" b="1" dirty="0">
                <a:solidFill>
                  <a:srgbClr val="0D0D0D"/>
                </a:solidFill>
                <a:latin typeface="Times New Roman"/>
                <a:ea typeface="Calibri"/>
                <a:cs typeface="Times New Roman"/>
              </a:rPr>
              <a:t>STEP 3</a:t>
            </a:r>
            <a:r>
              <a:rPr lang="en-US" sz="2400" dirty="0">
                <a:solidFill>
                  <a:srgbClr val="0D0D0D"/>
                </a:solidFill>
                <a:latin typeface="Times New Roman"/>
                <a:ea typeface="Calibri"/>
                <a:cs typeface="Times New Roman"/>
              </a:rPr>
              <a:t>: Wash the entire item in water with soap to remove all dirt and debris, </a:t>
            </a:r>
            <a:r>
              <a:rPr lang="en-US" sz="2400" dirty="0" smtClean="0">
                <a:solidFill>
                  <a:srgbClr val="0D0D0D"/>
                </a:solidFill>
                <a:latin typeface="Times New Roman"/>
                <a:ea typeface="Calibri"/>
                <a:cs typeface="Times New Roman"/>
              </a:rPr>
              <a:t>even </a:t>
            </a:r>
            <a:r>
              <a:rPr lang="en-US" sz="2400" dirty="0">
                <a:solidFill>
                  <a:srgbClr val="0D0D0D"/>
                </a:solidFill>
                <a:latin typeface="Times New Roman"/>
                <a:ea typeface="Calibri"/>
                <a:cs typeface="Times New Roman"/>
              </a:rPr>
              <a:t>if not visible.</a:t>
            </a:r>
            <a:r>
              <a:rPr lang="en-US" sz="2400" b="1" dirty="0">
                <a:solidFill>
                  <a:srgbClr val="0D0D0D"/>
                </a:solidFill>
                <a:latin typeface="Times New Roman"/>
                <a:ea typeface="Calibri"/>
                <a:cs typeface="Times New Roman"/>
              </a:rPr>
              <a:t> 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ea typeface="Calibri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9613" y="1295400"/>
            <a:ext cx="10945812" cy="8382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0D0D0D"/>
                </a:solidFill>
                <a:latin typeface="Times New Roman"/>
                <a:ea typeface="Calibri"/>
                <a:cs typeface="Times New Roman"/>
              </a:rPr>
              <a:t/>
            </a:r>
            <a:br>
              <a:rPr lang="en-US" dirty="0" smtClean="0">
                <a:solidFill>
                  <a:srgbClr val="0D0D0D"/>
                </a:solidFill>
                <a:latin typeface="Times New Roman"/>
                <a:ea typeface="Calibri"/>
                <a:cs typeface="Times New Roman"/>
              </a:rPr>
            </a:br>
            <a:r>
              <a:rPr lang="en-US" sz="4000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Washing </a:t>
            </a:r>
            <a:r>
              <a:rPr lang="en-US" sz="400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textiles by </a:t>
            </a:r>
            <a:r>
              <a:rPr lang="en-US" sz="4000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hand cont’d… </a:t>
            </a:r>
            <a:r>
              <a:rPr lang="en-US" sz="3600" dirty="0">
                <a:solidFill>
                  <a:schemeClr val="tx1"/>
                </a:solidFill>
                <a:ea typeface="Calibri"/>
                <a:cs typeface="Times New Roman"/>
              </a:rPr>
              <a:t/>
            </a:r>
            <a:br>
              <a:rPr lang="en-US" sz="3600" dirty="0">
                <a:solidFill>
                  <a:schemeClr val="tx1"/>
                </a:solidFill>
                <a:ea typeface="Calibri"/>
                <a:cs typeface="Times New Roman"/>
              </a:rPr>
            </a:b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>
          <a:xfrm>
            <a:off x="1012825" y="2514600"/>
            <a:ext cx="10236200" cy="3657600"/>
          </a:xfrm>
        </p:spPr>
        <p:txBody>
          <a:bodyPr/>
          <a:lstStyle/>
          <a:p>
            <a:pPr eaLnBrk="1" hangingPunct="1">
              <a:lnSpc>
                <a:spcPct val="115000"/>
              </a:lnSpc>
              <a:spcBef>
                <a:spcPts val="600"/>
              </a:spcBef>
              <a:spcAft>
                <a:spcPct val="0"/>
              </a:spcAft>
              <a:tabLst>
                <a:tab pos="228600" algn="l"/>
                <a:tab pos="857250" algn="l"/>
              </a:tabLst>
            </a:pPr>
            <a:r>
              <a:rPr lang="en-US" sz="2400" b="1" smtClean="0">
                <a:solidFill>
                  <a:srgbClr val="0D0D0D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STEP 4</a:t>
            </a:r>
            <a:r>
              <a:rPr lang="en-US" sz="2400" smtClean="0">
                <a:solidFill>
                  <a:srgbClr val="0D0D0D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: Soak in clean water with chlorine solution (0.005–0.015% or 50–150 parts per million [ppm]) for 30 minutes.  </a:t>
            </a:r>
          </a:p>
          <a:p>
            <a:pPr lvl="1" eaLnBrk="1" hangingPunct="1">
              <a:lnSpc>
                <a:spcPct val="115000"/>
              </a:lnSpc>
              <a:spcBef>
                <a:spcPts val="600"/>
              </a:spcBef>
              <a:spcAft>
                <a:spcPct val="0"/>
              </a:spcAft>
              <a:tabLst>
                <a:tab pos="228600" algn="l"/>
                <a:tab pos="857250" algn="l"/>
              </a:tabLst>
            </a:pPr>
            <a:r>
              <a:rPr lang="en-US" sz="2000" smtClean="0">
                <a:solidFill>
                  <a:srgbClr val="0D0D0D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Add sour (a mild acid agent) to prevent yellowing of the textile.</a:t>
            </a:r>
            <a:endParaRPr lang="en-US" sz="2000" smtClean="0">
              <a:ea typeface="Calibri" pitchFamily="34" charset="0"/>
              <a:cs typeface="Times New Roman" pitchFamily="18" charset="0"/>
            </a:endParaRPr>
          </a:p>
          <a:p>
            <a:pPr eaLnBrk="1" hangingPunct="1">
              <a:lnSpc>
                <a:spcPct val="115000"/>
              </a:lnSpc>
              <a:spcBef>
                <a:spcPts val="600"/>
              </a:spcBef>
              <a:spcAft>
                <a:spcPct val="0"/>
              </a:spcAft>
              <a:tabLst>
                <a:tab pos="228600" algn="l"/>
                <a:tab pos="857250" algn="l"/>
              </a:tabLst>
            </a:pPr>
            <a:r>
              <a:rPr lang="en-US" sz="2400" b="1" smtClean="0">
                <a:solidFill>
                  <a:srgbClr val="0D0D0D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STEP 5</a:t>
            </a:r>
            <a:r>
              <a:rPr lang="en-US" sz="2400" smtClean="0">
                <a:solidFill>
                  <a:srgbClr val="0D0D0D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: Wash again with soap and water to remove bleach.</a:t>
            </a:r>
            <a:endParaRPr lang="en-US" sz="2400" smtClean="0">
              <a:ea typeface="Calibri" pitchFamily="34" charset="0"/>
              <a:cs typeface="Times New Roman" pitchFamily="18" charset="0"/>
            </a:endParaRPr>
          </a:p>
          <a:p>
            <a:pPr eaLnBrk="1" hangingPunct="1">
              <a:lnSpc>
                <a:spcPct val="115000"/>
              </a:lnSpc>
              <a:spcBef>
                <a:spcPts val="600"/>
              </a:spcBef>
              <a:spcAft>
                <a:spcPct val="0"/>
              </a:spcAft>
              <a:tabLst>
                <a:tab pos="228600" algn="l"/>
                <a:tab pos="857250" algn="l"/>
              </a:tabLst>
            </a:pPr>
            <a:r>
              <a:rPr lang="en-US" sz="2400" b="1" smtClean="0">
                <a:solidFill>
                  <a:srgbClr val="0D0D0D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STEP 6</a:t>
            </a:r>
            <a:r>
              <a:rPr lang="en-US" sz="2400" smtClean="0">
                <a:solidFill>
                  <a:srgbClr val="0D0D0D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: Check the item for cleanliness. Rewash if it is still dirty or stained. </a:t>
            </a:r>
            <a:endParaRPr lang="en-US" sz="2400" smtClean="0">
              <a:ea typeface="Calibri" pitchFamily="34" charset="0"/>
              <a:cs typeface="Times New Roman" pitchFamily="18" charset="0"/>
            </a:endParaRPr>
          </a:p>
          <a:p>
            <a:pPr eaLnBrk="1" hangingPunct="1">
              <a:lnSpc>
                <a:spcPct val="115000"/>
              </a:lnSpc>
              <a:spcBef>
                <a:spcPts val="600"/>
              </a:spcBef>
              <a:spcAft>
                <a:spcPct val="0"/>
              </a:spcAft>
              <a:tabLst>
                <a:tab pos="228600" algn="l"/>
                <a:tab pos="857250" algn="l"/>
              </a:tabLst>
            </a:pPr>
            <a:r>
              <a:rPr lang="en-US" sz="2400" b="1" smtClean="0">
                <a:solidFill>
                  <a:srgbClr val="0D0D0D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STEP 7</a:t>
            </a:r>
            <a:r>
              <a:rPr lang="en-US" sz="2400" smtClean="0">
                <a:solidFill>
                  <a:srgbClr val="0D0D0D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: Rinse the item with clean water.</a:t>
            </a:r>
            <a:endParaRPr lang="en-US" sz="2400" smtClean="0">
              <a:solidFill>
                <a:srgbClr val="000000"/>
              </a:solidFill>
              <a:ea typeface="Calibri" pitchFamily="34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3"/>
          <p:cNvSpPr>
            <a:spLocks noGrp="1"/>
          </p:cNvSpPr>
          <p:nvPr>
            <p:ph type="ctrTitle"/>
          </p:nvPr>
        </p:nvSpPr>
        <p:spPr>
          <a:xfrm>
            <a:off x="2205038" y="1879600"/>
            <a:ext cx="7739062" cy="1528763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sz="2400">
                <a:ln>
                  <a:noFill/>
                </a:ln>
              </a:rPr>
              <a:t/>
            </a:r>
            <a:br>
              <a:rPr sz="2400">
                <a:ln>
                  <a:noFill/>
                </a:ln>
              </a:rPr>
            </a:br>
            <a:r>
              <a:rPr>
                <a:ln>
                  <a:noFill/>
                </a:ln>
              </a:rPr>
              <a:t>Storing, Transporting, and Distributing Clean Textiles</a:t>
            </a:r>
            <a:endParaRPr sz="2400">
              <a:ln>
                <a:noFill/>
              </a:ln>
            </a:endParaRPr>
          </a:p>
        </p:txBody>
      </p:sp>
      <p:sp>
        <p:nvSpPr>
          <p:cNvPr id="38915" name="Content Placeholder 2"/>
          <p:cNvSpPr>
            <a:spLocks noGrp="1"/>
          </p:cNvSpPr>
          <p:nvPr>
            <p:ph type="subTitle" idx="1"/>
          </p:nvPr>
        </p:nvSpPr>
        <p:spPr>
          <a:xfrm>
            <a:off x="3101975" y="3597275"/>
            <a:ext cx="5957888" cy="1012825"/>
          </a:xfrm>
        </p:spPr>
        <p:txBody>
          <a:bodyPr/>
          <a:lstStyle/>
          <a:p>
            <a:pPr eaLnBrk="1" hangingPunct="1"/>
            <a:endParaRPr lang="en-US" sz="400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3"/>
          <p:cNvSpPr>
            <a:spLocks noGrp="1"/>
          </p:cNvSpPr>
          <p:nvPr>
            <p:ph type="title"/>
          </p:nvPr>
        </p:nvSpPr>
        <p:spPr>
          <a:xfrm>
            <a:off x="1565275" y="1030288"/>
            <a:ext cx="9042400" cy="1189037"/>
          </a:xfrm>
        </p:spPr>
        <p:txBody>
          <a:bodyPr/>
          <a:lstStyle/>
          <a:p>
            <a:pPr eaLnBrk="1" hangingPunct="1"/>
            <a:endParaRPr lang="en-US" smtClean="0">
              <a:ln>
                <a:noFill/>
              </a:ln>
            </a:endParaRPr>
          </a:p>
        </p:txBody>
      </p:sp>
      <p:sp>
        <p:nvSpPr>
          <p:cNvPr id="39939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How do you do Store, Transporting, and Distributing hygienically clean textiles at your facility?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5" y="1030288"/>
            <a:ext cx="9042400" cy="1189037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Storing Hygienically Clean </a:t>
            </a: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Textiles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2825" y="2438400"/>
            <a:ext cx="10236200" cy="3886200"/>
          </a:xfrm>
        </p:spPr>
        <p:txBody>
          <a:bodyPr rtlCol="0"/>
          <a:lstStyle/>
          <a:p>
            <a:pPr eaLnBrk="1" fontAlgn="auto" hangingPunct="1">
              <a:buFont typeface="Arial"/>
              <a:buChar char="•"/>
              <a:defRPr/>
            </a:pP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Procedures for proper storing of hygienically clean textiles: </a:t>
            </a:r>
            <a:endParaRPr lang="en-US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1" eaLnBrk="1" fontAlgn="auto" hangingPunct="1">
              <a:defRPr/>
            </a:pP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Store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clean textiles in clean, closed storage areas. </a:t>
            </a:r>
            <a:endParaRPr lang="en-US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1" eaLnBrk="1" fontAlgn="auto" hangingPunct="1">
              <a:defRPr/>
            </a:pP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Store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clean textiles in an area free of pests, dust, and lint and at room temperatures of 20–25.6°C (68–78°F). </a:t>
            </a:r>
            <a:endParaRPr lang="en-US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1" eaLnBrk="1" fontAlgn="auto" hangingPunct="1">
              <a:defRPr/>
            </a:pP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Use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physical barriers to separate folding and storage rooms from soiled areas.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>
          <a:xfrm>
            <a:off x="1565275" y="1030288"/>
            <a:ext cx="9042400" cy="1189037"/>
          </a:xfrm>
        </p:spPr>
        <p:txBody>
          <a:bodyPr/>
          <a:lstStyle/>
          <a:p>
            <a:pPr eaLnBrk="1" hangingPunct="1"/>
            <a:r>
              <a:rPr lang="en-US" sz="4400" smtClean="0">
                <a:ln>
                  <a:noFill/>
                </a:ln>
              </a:rPr>
              <a:t>Storing Hygienically Clean Textiles Cont’d…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2825" y="2438400"/>
            <a:ext cx="10136188" cy="3810000"/>
          </a:xfrm>
        </p:spPr>
        <p:txBody>
          <a:bodyPr rtlCol="0">
            <a:normAutofit fontScale="77500" lnSpcReduction="20000"/>
          </a:bodyPr>
          <a:lstStyle/>
          <a:p>
            <a:pPr eaLnBrk="1" fontAlgn="auto" hangingPunct="1">
              <a:buFont typeface="Arial"/>
              <a:buChar char="•"/>
              <a:defRPr/>
            </a:pP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Ensure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that storage shelves are: </a:t>
            </a:r>
            <a:endParaRPr lang="en-US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1" eaLnBrk="1" fontAlgn="auto" hangingPunct="1">
              <a:buFont typeface="Arial"/>
              <a:buChar char="•"/>
              <a:defRPr/>
            </a:pP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2.5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to 5 cm (1 to 2 inches) from the wall </a:t>
            </a:r>
          </a:p>
          <a:p>
            <a:pPr lvl="1" eaLnBrk="1" fontAlgn="auto" hangingPunct="1">
              <a:buFont typeface="Arial"/>
              <a:buChar char="•"/>
              <a:defRPr/>
            </a:pP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Bottom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shelf: 15 to 20 cm (6 to 8 inches) from the floor </a:t>
            </a:r>
          </a:p>
          <a:p>
            <a:pPr lvl="1" eaLnBrk="1" fontAlgn="auto" hangingPunct="1">
              <a:buFont typeface="Arial"/>
              <a:buChar char="•"/>
              <a:defRPr/>
            </a:pP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Top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shelf: 30 to 45 cm (12 to 18 inches) below the ceiling </a:t>
            </a:r>
          </a:p>
          <a:p>
            <a:pPr eaLnBrk="1" fontAlgn="auto" hangingPunct="1">
              <a:buFont typeface="Arial"/>
              <a:buChar char="•"/>
              <a:defRPr/>
            </a:pP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Keep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shelves clean and textiles covered, which can be achieved </a:t>
            </a: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by:</a:t>
            </a:r>
          </a:p>
          <a:p>
            <a:pPr lvl="1" eaLnBrk="1" fontAlgn="auto" hangingPunct="1">
              <a:buFont typeface="Arial"/>
              <a:buChar char="•"/>
              <a:defRPr/>
            </a:pP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Covering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clean textiles on a clean cart </a:t>
            </a: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  <a:p>
            <a:pPr lvl="1" eaLnBrk="1" fontAlgn="auto" hangingPunct="1">
              <a:buFont typeface="Arial"/>
              <a:buChar char="•"/>
              <a:defRPr/>
            </a:pP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Wrapping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bundles of clean textiles in plastic or other suitable material and closing </a:t>
            </a: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securely.</a:t>
            </a:r>
          </a:p>
          <a:p>
            <a:pPr eaLnBrk="1" fontAlgn="auto" hangingPunct="1">
              <a:buFont typeface="Arial"/>
              <a:buChar char="•"/>
              <a:defRPr/>
            </a:pP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Restrict access to the laundry storage room to authorized staff.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242" name="Picture 2" descr="clean floor laundry room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1863" y="993775"/>
            <a:ext cx="3984625" cy="192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8243" name="Picture 3" descr="woman in laundry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213" y="609600"/>
            <a:ext cx="4052887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8244" name="Picture 4" descr="linen shelve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0238" y="4187825"/>
            <a:ext cx="4427537" cy="206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8245" name="Text Box 5"/>
          <p:cNvSpPr txBox="1">
            <a:spLocks noChangeArrowheads="1"/>
          </p:cNvSpPr>
          <p:nvPr/>
        </p:nvSpPr>
        <p:spPr bwMode="auto">
          <a:xfrm>
            <a:off x="7299325" y="469900"/>
            <a:ext cx="33448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  <a:cs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800" b="1">
                <a:solidFill>
                  <a:srgbClr val="080808"/>
                </a:solidFill>
                <a:latin typeface="Calibri" pitchFamily="34" charset="0"/>
                <a:cs typeface="Calibri" pitchFamily="34" charset="0"/>
              </a:rPr>
              <a:t>Washing linen</a:t>
            </a:r>
          </a:p>
        </p:txBody>
      </p:sp>
      <p:sp>
        <p:nvSpPr>
          <p:cNvPr id="138246" name="Text Box 6"/>
          <p:cNvSpPr txBox="1">
            <a:spLocks noChangeArrowheads="1"/>
          </p:cNvSpPr>
          <p:nvPr/>
        </p:nvSpPr>
        <p:spPr bwMode="auto">
          <a:xfrm>
            <a:off x="6435725" y="3367088"/>
            <a:ext cx="28384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  <a:cs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800" b="1">
                <a:solidFill>
                  <a:srgbClr val="080808"/>
                </a:solidFill>
                <a:latin typeface="Calibri" pitchFamily="34" charset="0"/>
                <a:cs typeface="Calibri" pitchFamily="34" charset="0"/>
              </a:rPr>
              <a:t>Drying linen</a:t>
            </a:r>
          </a:p>
        </p:txBody>
      </p:sp>
      <p:sp>
        <p:nvSpPr>
          <p:cNvPr id="138247" name="Text Box 7"/>
          <p:cNvSpPr txBox="1">
            <a:spLocks noChangeArrowheads="1"/>
          </p:cNvSpPr>
          <p:nvPr/>
        </p:nvSpPr>
        <p:spPr bwMode="auto">
          <a:xfrm>
            <a:off x="3490913" y="5756275"/>
            <a:ext cx="33432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aramond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aramond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aramond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aramond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aramond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  <a:cs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800" b="1">
                <a:solidFill>
                  <a:srgbClr val="080808"/>
                </a:solidFill>
                <a:latin typeface="Calibri" pitchFamily="34" charset="0"/>
                <a:cs typeface="Calibri" pitchFamily="34" charset="0"/>
              </a:rPr>
              <a:t>Storing linen</a:t>
            </a:r>
          </a:p>
        </p:txBody>
      </p:sp>
      <p:pic>
        <p:nvPicPr>
          <p:cNvPr id="138248" name="Picture 8" descr="laundry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6025" y="3013075"/>
            <a:ext cx="2870200" cy="243205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249" name="Picture 9" descr="j0269288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5525" y="1738313"/>
            <a:ext cx="1566863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8250" name="Picture 10" descr="HH01920_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3725" y="3352800"/>
            <a:ext cx="18319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8251" name="Picture 11" descr="HH00833_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2388" y="987425"/>
            <a:ext cx="871537" cy="118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16" name="Slide Number Placeholder 1"/>
          <p:cNvSpPr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358814E-8A15-4346-8FE6-E59FD71B5502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28</a:t>
            </a:fld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5" grpId="0" autoUpdateAnimBg="0"/>
      <p:bldP spid="138246" grpId="0" autoUpdateAnimBg="0"/>
      <p:bldP spid="138247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ctrTitle"/>
          </p:nvPr>
        </p:nvSpPr>
        <p:spPr>
          <a:xfrm>
            <a:off x="2205038" y="1879600"/>
            <a:ext cx="7739062" cy="1528763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>
                <a:ln>
                  <a:noFill/>
                </a:ln>
              </a:rPr>
              <a:t>Thank you</a:t>
            </a:r>
          </a:p>
        </p:txBody>
      </p:sp>
      <p:sp>
        <p:nvSpPr>
          <p:cNvPr id="44035" name="Subtitle 2"/>
          <p:cNvSpPr>
            <a:spLocks noGrp="1"/>
          </p:cNvSpPr>
          <p:nvPr>
            <p:ph type="subTitle" idx="1"/>
          </p:nvPr>
        </p:nvSpPr>
        <p:spPr>
          <a:xfrm>
            <a:off x="3101975" y="3597275"/>
            <a:ext cx="5957888" cy="1012825"/>
          </a:xfrm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2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Presentation1" id="{FF8D033B-E2B8-2549-8206-D2592AE46FED}" vid="{E3C3ECE2-B6B8-A844-8217-32346E25080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Theme2</Template>
  <TotalTime>1256</TotalTime>
  <Words>1216</Words>
  <Application>Microsoft Office PowerPoint</Application>
  <PresentationFormat>Custom</PresentationFormat>
  <Paragraphs>120</Paragraphs>
  <Slides>29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Theme2</vt:lpstr>
      <vt:lpstr>  Volume 1_Section 1  Chapter 9: Processing Reusable Textiles and Laundry Service</vt:lpstr>
      <vt:lpstr>Learning objectives</vt:lpstr>
      <vt:lpstr>Brain storming </vt:lpstr>
      <vt:lpstr>9:1 The Minimum requirements of standard laundry service</vt:lpstr>
      <vt:lpstr>9.2 Periodic Monitoring and routine maintenance of laundry service </vt:lpstr>
      <vt:lpstr>Recommended PPE for Processing Textiles</vt:lpstr>
      <vt:lpstr>Collecting, transporting and sorting used textile,</vt:lpstr>
      <vt:lpstr>  Collecting </vt:lpstr>
      <vt:lpstr> Collecting cont’d… </vt:lpstr>
      <vt:lpstr>Soiled linen thrown to the floor</vt:lpstr>
      <vt:lpstr> Handling </vt:lpstr>
      <vt:lpstr>Transporting</vt:lpstr>
      <vt:lpstr>Sorting Soiled textiles</vt:lpstr>
      <vt:lpstr>Sorting Soiled textiles</vt:lpstr>
      <vt:lpstr>Sorting textile</vt:lpstr>
      <vt:lpstr>Washing Textiles</vt:lpstr>
      <vt:lpstr>Washing textiles</vt:lpstr>
      <vt:lpstr>Washing textiles cont’d…</vt:lpstr>
      <vt:lpstr>Drying, inspecting, and folding textiles</vt:lpstr>
      <vt:lpstr> Steps for Machine Washing </vt:lpstr>
      <vt:lpstr> Steps for Machine Washing Cont’d… </vt:lpstr>
      <vt:lpstr> Washing textiles by hand </vt:lpstr>
      <vt:lpstr> Washing textiles by hand cont’d…  </vt:lpstr>
      <vt:lpstr> Storing, Transporting, and Distributing Clean Textiles</vt:lpstr>
      <vt:lpstr>PowerPoint Presentation</vt:lpstr>
      <vt:lpstr>Storing Hygienically Clean Textiles</vt:lpstr>
      <vt:lpstr>Storing Hygienically Clean Textiles Cont’d…</vt:lpstr>
      <vt:lpstr>PowerPoint Presentation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Chapter-9</dc:title>
  <dc:creator>Fahmi Mohammed (Dr.)</dc:creator>
  <cp:lastModifiedBy>moh</cp:lastModifiedBy>
  <cp:revision>44</cp:revision>
  <dcterms:created xsi:type="dcterms:W3CDTF">2006-08-16T00:00:00Z</dcterms:created>
  <dcterms:modified xsi:type="dcterms:W3CDTF">2019-07-07T06:52:31Z</dcterms:modified>
</cp:coreProperties>
</file>