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60" r:id="rId5"/>
    <p:sldId id="259" r:id="rId6"/>
    <p:sldId id="263" r:id="rId7"/>
    <p:sldId id="264" r:id="rId8"/>
    <p:sldId id="265" r:id="rId9"/>
    <p:sldId id="266" r:id="rId10"/>
    <p:sldId id="267" r:id="rId11"/>
    <p:sldId id="268" r:id="rId12"/>
    <p:sldId id="269" r:id="rId13"/>
    <p:sldId id="271" r:id="rId14"/>
    <p:sldId id="272" r:id="rId15"/>
    <p:sldId id="273" r:id="rId16"/>
    <p:sldId id="274" r:id="rId17"/>
    <p:sldId id="275" r:id="rId18"/>
    <p:sldId id="276" r:id="rId19"/>
    <p:sldId id="277" r:id="rId20"/>
    <p:sldId id="279" r:id="rId21"/>
    <p:sldId id="281" r:id="rId22"/>
    <p:sldId id="280" r:id="rId23"/>
    <p:sldId id="282" r:id="rId24"/>
    <p:sldId id="283" r:id="rId25"/>
    <p:sldId id="288" r:id="rId26"/>
    <p:sldId id="284" r:id="rId27"/>
    <p:sldId id="285" r:id="rId28"/>
    <p:sldId id="286" r:id="rId29"/>
    <p:sldId id="287" r:id="rId30"/>
    <p:sldId id="289" r:id="rId31"/>
    <p:sldId id="290" r:id="rId32"/>
    <p:sldId id="291" r:id="rId33"/>
    <p:sldId id="292" r:id="rId34"/>
    <p:sldId id="293" r:id="rId35"/>
    <p:sldId id="294" r:id="rId36"/>
    <p:sldId id="295" r:id="rId37"/>
    <p:sldId id="298" r:id="rId38"/>
    <p:sldId id="296" r:id="rId39"/>
    <p:sldId id="297" r:id="rId40"/>
    <p:sldId id="27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270" r:id="rId60"/>
    <p:sldId id="319" r:id="rId61"/>
    <p:sldId id="261" r:id="rId62"/>
    <p:sldId id="262" r:id="rId63"/>
    <p:sldId id="317" r:id="rId64"/>
    <p:sldId id="318" r:id="rId65"/>
    <p:sldId id="321" r:id="rId66"/>
    <p:sldId id="322" r:id="rId67"/>
    <p:sldId id="325" r:id="rId68"/>
    <p:sldId id="326" r:id="rId69"/>
    <p:sldId id="324" r:id="rId70"/>
    <p:sldId id="327" r:id="rId71"/>
    <p:sldId id="328" r:id="rId72"/>
    <p:sldId id="329" r:id="rId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03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7" autoAdjust="0"/>
    <p:restoredTop sz="94660"/>
  </p:normalViewPr>
  <p:slideViewPr>
    <p:cSldViewPr>
      <p:cViewPr>
        <p:scale>
          <a:sx n="50" d="100"/>
          <a:sy n="50" d="100"/>
        </p:scale>
        <p:origin x="4" y="-18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0" y="109830"/>
            <a:ext cx="927462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1656662" y="1879926"/>
            <a:ext cx="5820385"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2332652" y="3597481"/>
            <a:ext cx="4478695"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71241" y="4972192"/>
            <a:ext cx="972156" cy="361810"/>
          </a:xfrm>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a:xfrm>
            <a:off x="1921934" y="4972193"/>
            <a:ext cx="3749306" cy="361809"/>
          </a:xfrm>
        </p:spPr>
        <p:txBody>
          <a:bodyPr/>
          <a:lstStyle/>
          <a:p>
            <a:endParaRPr lang="en-US"/>
          </a:p>
        </p:txBody>
      </p:sp>
      <p:sp>
        <p:nvSpPr>
          <p:cNvPr id="6" name="Slide Number Placeholder 5"/>
          <p:cNvSpPr>
            <a:spLocks noGrp="1"/>
          </p:cNvSpPr>
          <p:nvPr>
            <p:ph type="sldNum" sz="quarter" idx="12"/>
          </p:nvPr>
        </p:nvSpPr>
        <p:spPr>
          <a:xfrm>
            <a:off x="6811347" y="4972192"/>
            <a:ext cx="726151" cy="361809"/>
          </a:xfrm>
        </p:spPr>
        <p:txBody>
          <a:bodyPr/>
          <a:lstStyle/>
          <a:p>
            <a:fld id="{B1E92267-C364-4AC0-B02A-7C708D31C18D}"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2979689" y="76751"/>
            <a:ext cx="3029101" cy="1142630"/>
            <a:chOff x="2823850" y="0"/>
            <a:chExt cx="3344655" cy="1448456"/>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410882"/>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1030778"/>
            <a:ext cx="6798734"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356671" y="5960533"/>
            <a:ext cx="850200" cy="279400"/>
          </a:xfrm>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206871" y="5960533"/>
            <a:ext cx="724154" cy="279400"/>
          </a:xfrm>
        </p:spPr>
        <p:txBody>
          <a:bodyPr/>
          <a:lstStyle/>
          <a:p>
            <a:fld id="{B1E92267-C364-4AC0-B02A-7C708D31C18D}" type="slidenum">
              <a:rPr lang="en-US" smtClean="0"/>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580091" y="5960533"/>
            <a:ext cx="865640" cy="279400"/>
          </a:xfrm>
        </p:spPr>
        <p:txBody>
          <a:bodyPr/>
          <a:lstStyle/>
          <a:p>
            <a:fld id="{B1E92267-C364-4AC0-B02A-7C708D31C18D}"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1052393"/>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D60E630-BE03-4633-AFA9-D9696EF43F1D}" type="datetimeFigureOut">
              <a:rPr lang="en-US" smtClean="0"/>
              <a:t>12/11/2019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580091" y="5934456"/>
            <a:ext cx="765888" cy="305477"/>
          </a:xfrm>
        </p:spPr>
        <p:txBody>
          <a:bodyPr/>
          <a:lstStyle/>
          <a:p>
            <a:fld id="{B1E92267-C364-4AC0-B02A-7C708D31C18D}" type="slidenum">
              <a:rPr lang="en-US" smtClean="0"/>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D60E630-BE03-4633-AFA9-D9696EF43F1D}" type="datetimeFigureOut">
              <a:rPr lang="en-US" smtClean="0"/>
              <a:t>12/11/2019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E92267-C364-4AC0-B02A-7C708D31C18D}"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D60E630-BE03-4633-AFA9-D9696EF43F1D}" type="datetimeFigureOut">
              <a:rPr lang="en-US" smtClean="0"/>
              <a:t>12/11/2019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E92267-C364-4AC0-B02A-7C708D31C18D}"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60E630-BE03-4633-AFA9-D9696EF43F1D}" type="datetimeFigureOut">
              <a:rPr lang="en-US" smtClean="0"/>
              <a:t>12/11/2019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E92267-C364-4AC0-B02A-7C708D31C18D}" type="slidenum">
              <a:rPr lang="en-US" smtClean="0"/>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60E630-BE03-4633-AFA9-D9696EF43F1D}" type="datetimeFigureOut">
              <a:rPr lang="en-US" smtClean="0"/>
              <a:t>12/11/2019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E92267-C364-4AC0-B02A-7C708D31C18D}"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60E630-BE03-4633-AFA9-D9696EF43F1D}" type="datetimeFigureOut">
              <a:rPr lang="en-US" smtClean="0"/>
              <a:t>12/11/2019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E92267-C364-4AC0-B02A-7C708D31C18D}" type="slidenum">
              <a:rPr lang="en-US" smtClean="0"/>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60E630-BE03-4633-AFA9-D9696EF43F1D}" type="datetimeFigureOut">
              <a:rPr lang="en-US" smtClean="0"/>
              <a:t>12/11/2019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E92267-C364-4AC0-B02A-7C708D31C18D}" type="slidenum">
              <a:rPr lang="en-US" smtClean="0"/>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92267-C364-4AC0-B02A-7C708D31C18D}"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92267-C364-4AC0-B02A-7C708D31C18D}"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92267-C364-4AC0-B02A-7C708D31C18D}" type="slidenum">
              <a:rPr lang="en-US" smtClean="0"/>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92267-C364-4AC0-B02A-7C708D31C18D}"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92267-C364-4AC0-B02A-7C708D31C18D}"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92267-C364-4AC0-B02A-7C708D31C18D}"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60E630-BE03-4633-AFA9-D9696EF43F1D}" type="datetimeFigureOut">
              <a:rPr lang="en-US" smtClean="0"/>
              <a:t>12/11/2019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92267-C364-4AC0-B02A-7C708D31C18D}"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35132"/>
            <a:ext cx="673085"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D60E630-BE03-4633-AFA9-D9696EF43F1D}" type="datetimeFigureOut">
              <a:rPr lang="en-US" smtClean="0"/>
              <a:t>12/11/2019</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029755" y="5960533"/>
            <a:ext cx="945846"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E92267-C364-4AC0-B02A-7C708D31C18D}" type="slidenum">
              <a:rPr lang="en-US" smtClean="0"/>
              <a:t>‹#›</a:t>
            </a:fld>
            <a:endParaRPr lang="en-US"/>
          </a:p>
        </p:txBody>
      </p:sp>
      <p:grpSp>
        <p:nvGrpSpPr>
          <p:cNvPr id="12" name="Group 11"/>
          <p:cNvGrpSpPr/>
          <p:nvPr/>
        </p:nvGrpSpPr>
        <p:grpSpPr>
          <a:xfrm>
            <a:off x="3372583" y="4072"/>
            <a:ext cx="2407298" cy="1306286"/>
            <a:chOff x="2823850" y="0"/>
            <a:chExt cx="3344655" cy="1951286"/>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4"/>
              <a:ext cx="3344655" cy="913712"/>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6662" y="1468546"/>
            <a:ext cx="5820385" cy="2036654"/>
          </a:xfrm>
        </p:spPr>
        <p:txBody>
          <a:bodyPr/>
          <a:lstStyle/>
          <a:p>
            <a:r>
              <a:rPr lang="en-US" sz="3200" dirty="0" smtClean="0"/>
              <a:t>Volume 1_Section 1</a:t>
            </a:r>
            <a:br>
              <a:rPr lang="en-US" sz="3200" dirty="0" smtClean="0"/>
            </a:br>
            <a:r>
              <a:rPr lang="en-US" sz="3200" dirty="0" smtClean="0"/>
              <a:t/>
            </a:r>
            <a:br>
              <a:rPr lang="en-US" sz="3200" dirty="0" smtClean="0"/>
            </a:br>
            <a:r>
              <a:rPr lang="en-US" sz="3200" dirty="0" smtClean="0"/>
              <a:t>Chapter 5:</a:t>
            </a:r>
            <a:br>
              <a:rPr lang="en-US" sz="3200" dirty="0" smtClean="0"/>
            </a:br>
            <a:r>
              <a:rPr lang="en-US" sz="3200" dirty="0" smtClean="0"/>
              <a:t>Personal Protective Equipment</a:t>
            </a:r>
            <a:endParaRPr lang="en-US" sz="3200" dirty="0"/>
          </a:p>
        </p:txBody>
      </p:sp>
      <p:sp>
        <p:nvSpPr>
          <p:cNvPr id="3" name="Subtitle 2"/>
          <p:cNvSpPr>
            <a:spLocks noGrp="1"/>
          </p:cNvSpPr>
          <p:nvPr>
            <p:ph type="subTitle" idx="1"/>
          </p:nvPr>
        </p:nvSpPr>
        <p:spPr/>
        <p:txBody>
          <a:bodyPr>
            <a:normAutofit fontScale="85000" lnSpcReduction="10000"/>
          </a:bodyPr>
          <a:lstStyle/>
          <a:p>
            <a:r>
              <a:rPr lang="en-US" b="1" dirty="0">
                <a:ln w="3175" cmpd="sng">
                  <a:noFill/>
                </a:ln>
                <a:solidFill>
                  <a:schemeClr val="tx1">
                    <a:lumMod val="85000"/>
                    <a:lumOff val="15000"/>
                  </a:schemeClr>
                </a:solidFill>
                <a:latin typeface="+mn-lt"/>
              </a:rPr>
              <a:t>IPC and PS for Healthcare Setting in Ethiopia</a:t>
            </a:r>
          </a:p>
        </p:txBody>
      </p:sp>
    </p:spTree>
    <p:extLst>
      <p:ext uri="{BB962C8B-B14F-4D97-AF65-F5344CB8AC3E}">
        <p14:creationId xmlns:p14="http://schemas.microsoft.com/office/powerpoint/2010/main" val="38471195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Outline</a:t>
            </a:r>
            <a:endParaRPr lang="en-US" dirty="0"/>
          </a:p>
        </p:txBody>
      </p:sp>
      <p:sp>
        <p:nvSpPr>
          <p:cNvPr id="3" name="Content Placeholder 2"/>
          <p:cNvSpPr>
            <a:spLocks noGrp="1"/>
          </p:cNvSpPr>
          <p:nvPr>
            <p:ph idx="1"/>
          </p:nvPr>
        </p:nvSpPr>
        <p:spPr>
          <a:xfrm>
            <a:off x="1176865" y="2490135"/>
            <a:ext cx="6798736" cy="3605865"/>
          </a:xfrm>
        </p:spPr>
        <p:txBody>
          <a:bodyPr>
            <a:normAutofit fontScale="77500" lnSpcReduction="20000"/>
          </a:bodyPr>
          <a:lstStyle/>
          <a:p>
            <a:r>
              <a:rPr lang="en-US" dirty="0"/>
              <a:t>PPP 5.1: Overview </a:t>
            </a:r>
            <a:endParaRPr lang="en-US" dirty="0" smtClean="0"/>
          </a:p>
          <a:p>
            <a:pPr lvl="0"/>
            <a:r>
              <a:rPr lang="en-US" dirty="0" smtClean="0"/>
              <a:t>PPP 5.2: Types</a:t>
            </a:r>
            <a:r>
              <a:rPr lang="en-US" dirty="0"/>
              <a:t>, Uses, effectiveness and limitation of </a:t>
            </a:r>
            <a:r>
              <a:rPr lang="en-US" dirty="0" smtClean="0"/>
              <a:t>PPE</a:t>
            </a:r>
          </a:p>
          <a:p>
            <a:pPr lvl="0"/>
            <a:r>
              <a:rPr lang="en-US" dirty="0" smtClean="0"/>
              <a:t>PPP 5.3: Choosing PPE for standard and transmission based precaution </a:t>
            </a:r>
            <a:endParaRPr lang="en-US" dirty="0"/>
          </a:p>
          <a:p>
            <a:pPr lvl="0"/>
            <a:r>
              <a:rPr lang="en-US" dirty="0"/>
              <a:t>PPP </a:t>
            </a:r>
            <a:r>
              <a:rPr lang="en-US" dirty="0" smtClean="0"/>
              <a:t>5.4: </a:t>
            </a:r>
            <a:r>
              <a:rPr lang="en-US" dirty="0"/>
              <a:t>Instruction for putting on and removing PPE</a:t>
            </a:r>
          </a:p>
          <a:p>
            <a:r>
              <a:rPr lang="en-US" dirty="0" smtClean="0"/>
              <a:t>PPP 5.5: Type </a:t>
            </a:r>
            <a:r>
              <a:rPr lang="en-US" dirty="0"/>
              <a:t>of PPE to prevent transmission of infection during out break</a:t>
            </a:r>
          </a:p>
        </p:txBody>
      </p:sp>
    </p:spTree>
    <p:extLst>
      <p:ext uri="{BB962C8B-B14F-4D97-AF65-F5344CB8AC3E}">
        <p14:creationId xmlns:p14="http://schemas.microsoft.com/office/powerpoint/2010/main" val="42283197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a:t>
            </a:r>
            <a:endParaRPr lang="en-US" dirty="0"/>
          </a:p>
        </p:txBody>
      </p:sp>
      <p:sp>
        <p:nvSpPr>
          <p:cNvPr id="3" name="Content Placeholder 2"/>
          <p:cNvSpPr>
            <a:spLocks noGrp="1"/>
          </p:cNvSpPr>
          <p:nvPr>
            <p:ph idx="1"/>
          </p:nvPr>
        </p:nvSpPr>
        <p:spPr/>
        <p:txBody>
          <a:bodyPr>
            <a:normAutofit lnSpcReduction="10000"/>
          </a:bodyPr>
          <a:lstStyle/>
          <a:p>
            <a:pPr lvl="0"/>
            <a:r>
              <a:rPr lang="en-US" dirty="0" smtClean="0"/>
              <a:t>Describe the benefit of PPE </a:t>
            </a:r>
          </a:p>
          <a:p>
            <a:pPr lvl="0"/>
            <a:r>
              <a:rPr lang="en-US" dirty="0" smtClean="0"/>
              <a:t>List </a:t>
            </a:r>
            <a:r>
              <a:rPr lang="en-US" dirty="0"/>
              <a:t>the types, uses, effectiveness and limitation of PPE’s</a:t>
            </a:r>
          </a:p>
          <a:p>
            <a:pPr lvl="0"/>
            <a:r>
              <a:rPr lang="en-US" dirty="0" smtClean="0"/>
              <a:t>Demonstrate </a:t>
            </a:r>
            <a:r>
              <a:rPr lang="en-US" dirty="0"/>
              <a:t>the correct way of donning and removing PPE</a:t>
            </a:r>
          </a:p>
          <a:p>
            <a:pPr lvl="0"/>
            <a:r>
              <a:rPr lang="en-US" dirty="0" smtClean="0"/>
              <a:t>PPE’s </a:t>
            </a:r>
            <a:r>
              <a:rPr lang="en-US" dirty="0"/>
              <a:t>used in out </a:t>
            </a:r>
            <a:r>
              <a:rPr lang="en-US" dirty="0" smtClean="0"/>
              <a:t>breaks management</a:t>
            </a:r>
            <a:r>
              <a:rPr lang="en-US" dirty="0"/>
              <a:t>.</a:t>
            </a:r>
          </a:p>
          <a:p>
            <a:endParaRPr lang="en-US" dirty="0"/>
          </a:p>
        </p:txBody>
      </p:sp>
    </p:spTree>
    <p:extLst>
      <p:ext uri="{BB962C8B-B14F-4D97-AF65-F5344CB8AC3E}">
        <p14:creationId xmlns:p14="http://schemas.microsoft.com/office/powerpoint/2010/main" val="8375718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lvl="0"/>
            <a:r>
              <a:rPr lang="en-US" sz="6000" b="1" dirty="0"/>
              <a:t>PPP 5.1: </a:t>
            </a:r>
            <a:r>
              <a:rPr lang="en-US" sz="6000" b="1" dirty="0" smtClean="0"/>
              <a:t/>
            </a:r>
            <a:br>
              <a:rPr lang="en-US" sz="6000" b="1" dirty="0" smtClean="0"/>
            </a:br>
            <a:r>
              <a:rPr lang="en-US" sz="6000" b="1" dirty="0" smtClean="0"/>
              <a:t>Overview</a:t>
            </a:r>
            <a:endParaRPr lang="en-US" sz="6000"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40320818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a:xfrm>
            <a:off x="762000" y="2490135"/>
            <a:ext cx="7620000" cy="3758265"/>
          </a:xfrm>
        </p:spPr>
        <p:txBody>
          <a:bodyPr>
            <a:normAutofit fontScale="70000" lnSpcReduction="20000"/>
          </a:bodyPr>
          <a:lstStyle/>
          <a:p>
            <a:pPr algn="just"/>
            <a:r>
              <a:rPr lang="en-US" dirty="0"/>
              <a:t>Healthcare workers are confronted each day with the difficult question of how to work safely within the potentially hazardous environment of health care facilities. </a:t>
            </a:r>
            <a:endParaRPr lang="en-US" dirty="0" smtClean="0"/>
          </a:p>
          <a:p>
            <a:pPr algn="just"/>
            <a:r>
              <a:rPr lang="en-US" dirty="0" smtClean="0"/>
              <a:t>The </a:t>
            </a:r>
            <a:r>
              <a:rPr lang="en-US" dirty="0"/>
              <a:t>most common occupational risk the healthcare personnel face is due to contact with blood and body fluids during routine works like cleaning, instrument processing and patient care. </a:t>
            </a:r>
            <a:endParaRPr lang="en-US" dirty="0" smtClean="0"/>
          </a:p>
          <a:p>
            <a:pPr algn="just"/>
            <a:r>
              <a:rPr lang="en-US" dirty="0" smtClean="0"/>
              <a:t>This </a:t>
            </a:r>
            <a:r>
              <a:rPr lang="en-US" dirty="0"/>
              <a:t>exposure to pathogens increases risk of getting are Healthcare Associated Infections and possible death. </a:t>
            </a:r>
            <a:endParaRPr lang="en-US" dirty="0" smtClean="0"/>
          </a:p>
          <a:p>
            <a:pPr algn="just"/>
            <a:r>
              <a:rPr lang="en-US" dirty="0" smtClean="0"/>
              <a:t>Use </a:t>
            </a:r>
            <a:r>
              <a:rPr lang="en-US" dirty="0"/>
              <a:t>of risk appropriate personal protective equipment (PPE) is one of the components of Standard Precautions, which refers to wearing of protective barriers or clothing.</a:t>
            </a:r>
          </a:p>
        </p:txBody>
      </p:sp>
    </p:spTree>
    <p:extLst>
      <p:ext uri="{BB962C8B-B14F-4D97-AF65-F5344CB8AC3E}">
        <p14:creationId xmlns:p14="http://schemas.microsoft.com/office/powerpoint/2010/main" val="11818430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cont’d…</a:t>
            </a:r>
            <a:endParaRPr lang="en-US" dirty="0"/>
          </a:p>
        </p:txBody>
      </p:sp>
      <p:sp>
        <p:nvSpPr>
          <p:cNvPr id="3" name="Content Placeholder 2"/>
          <p:cNvSpPr>
            <a:spLocks noGrp="1"/>
          </p:cNvSpPr>
          <p:nvPr>
            <p:ph idx="1"/>
          </p:nvPr>
        </p:nvSpPr>
        <p:spPr>
          <a:xfrm>
            <a:off x="914400" y="2490135"/>
            <a:ext cx="7061201" cy="3682065"/>
          </a:xfrm>
        </p:spPr>
        <p:txBody>
          <a:bodyPr>
            <a:normAutofit fontScale="70000" lnSpcReduction="20000"/>
          </a:bodyPr>
          <a:lstStyle/>
          <a:p>
            <a:pPr algn="just"/>
            <a:r>
              <a:rPr lang="en-US" dirty="0"/>
              <a:t>The basic principle behind wearing personal protective equipment is to get physical barrier/protection from pathogenic microorganisms. </a:t>
            </a:r>
            <a:endParaRPr lang="en-US" dirty="0" smtClean="0"/>
          </a:p>
          <a:p>
            <a:pPr algn="just"/>
            <a:r>
              <a:rPr lang="en-US" dirty="0" smtClean="0"/>
              <a:t>PPE </a:t>
            </a:r>
            <a:r>
              <a:rPr lang="en-US" dirty="0"/>
              <a:t>includes:  gloves, masks/respirators, eyewear (face shields, goggles or glasses), caps, gowns, aprons, boots and other items. </a:t>
            </a:r>
            <a:endParaRPr lang="en-US" dirty="0" smtClean="0"/>
          </a:p>
          <a:p>
            <a:pPr algn="just"/>
            <a:r>
              <a:rPr lang="en-US" dirty="0" smtClean="0"/>
              <a:t>The </a:t>
            </a:r>
            <a:r>
              <a:rPr lang="en-US" dirty="0"/>
              <a:t>most effective barriers are made of </a:t>
            </a:r>
            <a:r>
              <a:rPr lang="en-US" b="1" i="1" dirty="0"/>
              <a:t>treated fabrics or synthetic materials</a:t>
            </a:r>
            <a:r>
              <a:rPr lang="en-US" dirty="0"/>
              <a:t> that do not allow water or other liquids (blood or body fluids) to penetrate them. </a:t>
            </a:r>
            <a:endParaRPr lang="en-US" dirty="0" smtClean="0"/>
          </a:p>
          <a:p>
            <a:pPr algn="just"/>
            <a:r>
              <a:rPr lang="en-US" dirty="0" smtClean="0"/>
              <a:t>These </a:t>
            </a:r>
            <a:r>
              <a:rPr lang="en-US" dirty="0"/>
              <a:t>fluid-resistant materials are not, </a:t>
            </a:r>
            <a:r>
              <a:rPr lang="en-US" dirty="0" smtClean="0"/>
              <a:t>however </a:t>
            </a:r>
            <a:r>
              <a:rPr lang="en-US" dirty="0"/>
              <a:t>widely available because they are expensive. </a:t>
            </a:r>
          </a:p>
        </p:txBody>
      </p:sp>
    </p:spTree>
    <p:extLst>
      <p:ext uri="{BB962C8B-B14F-4D97-AF65-F5344CB8AC3E}">
        <p14:creationId xmlns:p14="http://schemas.microsoft.com/office/powerpoint/2010/main" val="29714307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cont’d…</a:t>
            </a:r>
          </a:p>
        </p:txBody>
      </p:sp>
      <p:sp>
        <p:nvSpPr>
          <p:cNvPr id="3" name="Content Placeholder 2"/>
          <p:cNvSpPr>
            <a:spLocks noGrp="1"/>
          </p:cNvSpPr>
          <p:nvPr>
            <p:ph idx="1"/>
          </p:nvPr>
        </p:nvSpPr>
        <p:spPr>
          <a:xfrm>
            <a:off x="685800" y="2438400"/>
            <a:ext cx="7772400" cy="3733800"/>
          </a:xfrm>
        </p:spPr>
        <p:txBody>
          <a:bodyPr>
            <a:noAutofit/>
          </a:bodyPr>
          <a:lstStyle/>
          <a:p>
            <a:pPr algn="just"/>
            <a:r>
              <a:rPr lang="en-US" sz="2400" dirty="0"/>
              <a:t>Lightweight cotton clothes are materials most commonly used for surgical clothing (masks, caps and gowns) and drapes in many countries</a:t>
            </a:r>
          </a:p>
          <a:p>
            <a:pPr algn="just"/>
            <a:r>
              <a:rPr lang="en-US" sz="2400" dirty="0" smtClean="0"/>
              <a:t>Unfortunately</a:t>
            </a:r>
            <a:r>
              <a:rPr lang="en-US" sz="2400" dirty="0"/>
              <a:t>, lightweight cotton does not provide an effective barrier because moisture can pass through it easily, allowing contamination.</a:t>
            </a:r>
          </a:p>
          <a:p>
            <a:pPr algn="just"/>
            <a:r>
              <a:rPr lang="en-US" sz="2400" dirty="0"/>
              <a:t>The state of the PPE is </a:t>
            </a:r>
            <a:r>
              <a:rPr lang="en-US" sz="2400" dirty="0" smtClean="0"/>
              <a:t>important </a:t>
            </a:r>
            <a:r>
              <a:rPr lang="en-US" sz="2400" dirty="0"/>
              <a:t>for it to effectively provide protection. </a:t>
            </a:r>
            <a:endParaRPr lang="en-US" sz="2400" dirty="0" smtClean="0"/>
          </a:p>
        </p:txBody>
      </p:sp>
    </p:spTree>
    <p:extLst>
      <p:ext uri="{BB962C8B-B14F-4D97-AF65-F5344CB8AC3E}">
        <p14:creationId xmlns:p14="http://schemas.microsoft.com/office/powerpoint/2010/main" val="25596238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cont’d…</a:t>
            </a:r>
          </a:p>
        </p:txBody>
      </p:sp>
      <p:sp>
        <p:nvSpPr>
          <p:cNvPr id="3" name="Content Placeholder 2"/>
          <p:cNvSpPr>
            <a:spLocks noGrp="1"/>
          </p:cNvSpPr>
          <p:nvPr>
            <p:ph idx="1"/>
          </p:nvPr>
        </p:nvSpPr>
        <p:spPr>
          <a:xfrm>
            <a:off x="838200" y="2209800"/>
            <a:ext cx="7772400" cy="3886200"/>
          </a:xfrm>
        </p:spPr>
        <p:txBody>
          <a:bodyPr>
            <a:noAutofit/>
          </a:bodyPr>
          <a:lstStyle/>
          <a:p>
            <a:r>
              <a:rPr lang="en-US" sz="2400" dirty="0"/>
              <a:t>For example, surgical gowns and drapes have proved to be preventive for impending wound infection only when dry. </a:t>
            </a:r>
            <a:endParaRPr lang="en-US" sz="2400" dirty="0" smtClean="0"/>
          </a:p>
          <a:p>
            <a:r>
              <a:rPr lang="en-US" sz="2400" dirty="0" smtClean="0"/>
              <a:t>When wet, however, clothes act as a wick or sponge to draw bacteria from the skin or equipment up through the fabric that can then contaminate a surgical wound.</a:t>
            </a:r>
          </a:p>
          <a:p>
            <a:r>
              <a:rPr lang="en-US" sz="2400" dirty="0" smtClean="0"/>
              <a:t>To </a:t>
            </a:r>
            <a:r>
              <a:rPr lang="en-US" sz="2400" dirty="0"/>
              <a:t>be effective, PPE must be selected, worn and removed correctly.</a:t>
            </a:r>
          </a:p>
          <a:p>
            <a:pPr marL="0" indent="0">
              <a:buNone/>
            </a:pPr>
            <a:endParaRPr lang="en-US" sz="600" dirty="0" smtClean="0"/>
          </a:p>
          <a:p>
            <a:pPr marL="0" indent="0">
              <a:buNone/>
            </a:pPr>
            <a:r>
              <a:rPr lang="en-US" sz="2400" b="1" i="1" dirty="0" smtClean="0"/>
              <a:t>In participant manual Table </a:t>
            </a:r>
            <a:r>
              <a:rPr lang="en-US" sz="2400" b="1" i="1" dirty="0" smtClean="0"/>
              <a:t>5.0-1 </a:t>
            </a:r>
            <a:r>
              <a:rPr lang="en-US" sz="2400" b="1" i="1" dirty="0" smtClean="0"/>
              <a:t>describes </a:t>
            </a:r>
            <a:r>
              <a:rPr lang="en-US" sz="2400" b="1" i="1" dirty="0"/>
              <a:t>how personal protective equipment blocks the spread of </a:t>
            </a:r>
            <a:r>
              <a:rPr lang="en-US" sz="2400" b="1" i="1" dirty="0" smtClean="0"/>
              <a:t>Mos. </a:t>
            </a:r>
            <a:endParaRPr lang="en-US" sz="2400" b="1" i="1" dirty="0"/>
          </a:p>
        </p:txBody>
      </p:sp>
    </p:spTree>
    <p:extLst>
      <p:ext uri="{BB962C8B-B14F-4D97-AF65-F5344CB8AC3E}">
        <p14:creationId xmlns:p14="http://schemas.microsoft.com/office/powerpoint/2010/main" val="8594706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cont’d…</a:t>
            </a:r>
          </a:p>
        </p:txBody>
      </p:sp>
      <p:sp>
        <p:nvSpPr>
          <p:cNvPr id="3" name="Content Placeholder 2"/>
          <p:cNvSpPr>
            <a:spLocks noGrp="1"/>
          </p:cNvSpPr>
          <p:nvPr>
            <p:ph idx="1"/>
          </p:nvPr>
        </p:nvSpPr>
        <p:spPr>
          <a:xfrm>
            <a:off x="838200" y="2490135"/>
            <a:ext cx="7137401" cy="3444997"/>
          </a:xfrm>
        </p:spPr>
        <p:txBody>
          <a:bodyPr>
            <a:normAutofit fontScale="85000" lnSpcReduction="20000"/>
          </a:bodyPr>
          <a:lstStyle/>
          <a:p>
            <a:pPr algn="just"/>
            <a:r>
              <a:rPr lang="en-US" dirty="0"/>
              <a:t>As a rule, PPE selection should be based on </a:t>
            </a:r>
            <a:r>
              <a:rPr lang="en-US" dirty="0">
                <a:solidFill>
                  <a:srgbClr val="0070C0"/>
                </a:solidFill>
              </a:rPr>
              <a:t>risk assessment. </a:t>
            </a:r>
            <a:endParaRPr lang="en-US" dirty="0" smtClean="0">
              <a:solidFill>
                <a:srgbClr val="0070C0"/>
              </a:solidFill>
            </a:endParaRPr>
          </a:p>
          <a:p>
            <a:pPr algn="just"/>
            <a:r>
              <a:rPr lang="en-US" dirty="0" smtClean="0"/>
              <a:t>If </a:t>
            </a:r>
            <a:r>
              <a:rPr lang="en-US" dirty="0"/>
              <a:t>there is risk of exposure of patients or health workers then the PPE or combination of PPEs appropriate for the identified risk should be used.  </a:t>
            </a:r>
            <a:endParaRPr lang="en-US" dirty="0" smtClean="0"/>
          </a:p>
          <a:p>
            <a:pPr algn="just"/>
            <a:r>
              <a:rPr lang="en-US" b="1" dirty="0" smtClean="0"/>
              <a:t>Effectiveness</a:t>
            </a:r>
            <a:r>
              <a:rPr lang="en-US" dirty="0" smtClean="0"/>
              <a:t> </a:t>
            </a:r>
            <a:r>
              <a:rPr lang="en-US" dirty="0"/>
              <a:t>in protection is also dependent on the </a:t>
            </a:r>
            <a:r>
              <a:rPr lang="en-US" b="1" i="1" dirty="0">
                <a:solidFill>
                  <a:srgbClr val="0070C0"/>
                </a:solidFill>
              </a:rPr>
              <a:t>practice of correct procedures and adherence to rules for wearing (putting-on) and removing (putting-off) of PPE</a:t>
            </a:r>
          </a:p>
        </p:txBody>
      </p:sp>
    </p:spTree>
    <p:extLst>
      <p:ext uri="{BB962C8B-B14F-4D97-AF65-F5344CB8AC3E}">
        <p14:creationId xmlns:p14="http://schemas.microsoft.com/office/powerpoint/2010/main" val="33849447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cont’d…</a:t>
            </a:r>
          </a:p>
        </p:txBody>
      </p:sp>
      <p:sp>
        <p:nvSpPr>
          <p:cNvPr id="3" name="Content Placeholder 2"/>
          <p:cNvSpPr>
            <a:spLocks noGrp="1"/>
          </p:cNvSpPr>
          <p:nvPr>
            <p:ph idx="1"/>
          </p:nvPr>
        </p:nvSpPr>
        <p:spPr>
          <a:xfrm>
            <a:off x="762000" y="2490135"/>
            <a:ext cx="7620000" cy="3758265"/>
          </a:xfrm>
        </p:spPr>
        <p:txBody>
          <a:bodyPr>
            <a:normAutofit fontScale="70000" lnSpcReduction="20000"/>
          </a:bodyPr>
          <a:lstStyle/>
          <a:p>
            <a:pPr marL="0" indent="0" algn="just">
              <a:buNone/>
            </a:pPr>
            <a:r>
              <a:rPr lang="en-US" b="1" dirty="0"/>
              <a:t>PPE should be;</a:t>
            </a:r>
            <a:endParaRPr lang="en-US" dirty="0"/>
          </a:p>
          <a:p>
            <a:pPr lvl="0" algn="just"/>
            <a:r>
              <a:rPr lang="en-US" dirty="0"/>
              <a:t>Made available close to the point of use for easy accessibility</a:t>
            </a:r>
          </a:p>
          <a:p>
            <a:pPr lvl="0" algn="just"/>
            <a:r>
              <a:rPr lang="en-US" dirty="0"/>
              <a:t>Stored neatly in a clean / dry area to prevent contamination until required for use.</a:t>
            </a:r>
          </a:p>
          <a:p>
            <a:pPr lvl="0" algn="just"/>
            <a:r>
              <a:rPr lang="en-US" dirty="0"/>
              <a:t>Preferably single use if reusable there must be a clear policy and SOP for placement in bins after use and removal for laundering and recycling.</a:t>
            </a:r>
          </a:p>
          <a:p>
            <a:pPr lvl="0" algn="just"/>
            <a:r>
              <a:rPr lang="en-US" dirty="0"/>
              <a:t>Have an SOP for stock ordering and rotation to ensure there is always an adequate supply based on usage and that older items are always used first. </a:t>
            </a:r>
          </a:p>
          <a:p>
            <a:pPr lvl="0" algn="just"/>
            <a:r>
              <a:rPr lang="en-US" dirty="0"/>
              <a:t>Do not wait for stocks to run out before ordering more</a:t>
            </a:r>
            <a:r>
              <a:rPr lang="en-US" dirty="0" smtClean="0"/>
              <a:t>.</a:t>
            </a:r>
            <a:endParaRPr lang="en-US" dirty="0"/>
          </a:p>
        </p:txBody>
      </p:sp>
    </p:spTree>
    <p:extLst>
      <p:ext uri="{BB962C8B-B14F-4D97-AF65-F5344CB8AC3E}">
        <p14:creationId xmlns:p14="http://schemas.microsoft.com/office/powerpoint/2010/main" val="21664858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78465" y="1524000"/>
            <a:ext cx="6595534" cy="1939927"/>
          </a:xfrm>
        </p:spPr>
        <p:txBody>
          <a:bodyPr>
            <a:noAutofit/>
          </a:bodyPr>
          <a:lstStyle/>
          <a:p>
            <a:pPr lvl="0"/>
            <a:r>
              <a:rPr lang="en-US" sz="4400" b="1" dirty="0"/>
              <a:t>PPP </a:t>
            </a:r>
            <a:r>
              <a:rPr lang="en-US" sz="4400" b="1" dirty="0" smtClean="0"/>
              <a:t>5.2: </a:t>
            </a:r>
            <a:br>
              <a:rPr lang="en-US" sz="4400" b="1" dirty="0" smtClean="0"/>
            </a:br>
            <a:r>
              <a:rPr lang="en-US" sz="4400" b="1" dirty="0" smtClean="0"/>
              <a:t>Types</a:t>
            </a:r>
            <a:r>
              <a:rPr lang="en-US" sz="4400" b="1" dirty="0"/>
              <a:t>, Uses, </a:t>
            </a:r>
            <a:r>
              <a:rPr lang="en-US" sz="4400" b="1" dirty="0" smtClean="0"/>
              <a:t>Effectiveness </a:t>
            </a:r>
            <a:r>
              <a:rPr lang="en-US" sz="4400" b="1" dirty="0"/>
              <a:t>and </a:t>
            </a:r>
            <a:r>
              <a:rPr lang="en-US" sz="4400" b="1" dirty="0" smtClean="0"/>
              <a:t>Limitation </a:t>
            </a:r>
            <a:r>
              <a:rPr lang="en-US" sz="4400" b="1" dirty="0"/>
              <a:t>of </a:t>
            </a:r>
            <a:r>
              <a:rPr lang="en-US" sz="4400" b="1" dirty="0" smtClean="0"/>
              <a:t>PPE</a:t>
            </a:r>
            <a:endParaRPr lang="en-US" sz="4400"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3689796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List of PPE and </a:t>
            </a:r>
            <a:r>
              <a:rPr lang="en-US" dirty="0" smtClean="0"/>
              <a:t>Area </a:t>
            </a:r>
            <a:r>
              <a:rPr lang="en-US" dirty="0"/>
              <a:t>of Protection</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94969456"/>
              </p:ext>
            </p:extLst>
          </p:nvPr>
        </p:nvGraphicFramePr>
        <p:xfrm>
          <a:off x="1176338" y="2490788"/>
          <a:ext cx="6799262" cy="3708400"/>
        </p:xfrm>
        <a:graphic>
          <a:graphicData uri="http://schemas.openxmlformats.org/drawingml/2006/table">
            <a:tbl>
              <a:tblPr firstRow="1" bandRow="1">
                <a:tableStyleId>{00A15C55-8517-42AA-B614-E9B94910E393}</a:tableStyleId>
              </a:tblPr>
              <a:tblGrid>
                <a:gridCol w="3399631"/>
                <a:gridCol w="3399631"/>
              </a:tblGrid>
              <a:tr h="370840">
                <a:tc>
                  <a:txBody>
                    <a:bodyPr/>
                    <a:lstStyle/>
                    <a:p>
                      <a:pPr marL="0" marR="4445" algn="ctr">
                        <a:lnSpc>
                          <a:spcPct val="115000"/>
                        </a:lnSpc>
                        <a:spcBef>
                          <a:spcPts val="0"/>
                        </a:spcBef>
                        <a:spcAft>
                          <a:spcPts val="0"/>
                        </a:spcAft>
                      </a:pPr>
                      <a:r>
                        <a:rPr lang="en-US" sz="1800" dirty="0">
                          <a:effectLst/>
                        </a:rPr>
                        <a:t>Types of PPE</a:t>
                      </a:r>
                      <a:endParaRPr lang="en-US" sz="1600"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dirty="0">
                          <a:effectLst/>
                        </a:rPr>
                        <a:t>Provides protection for</a:t>
                      </a:r>
                      <a:endParaRPr lang="en-US" sz="1600" dirty="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dirty="0">
                          <a:effectLst/>
                        </a:rPr>
                        <a:t>Cap</a:t>
                      </a:r>
                      <a:endParaRPr lang="en-US" sz="1600" b="1"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dirty="0">
                          <a:effectLst/>
                        </a:rPr>
                        <a:t>Hair and Scalp</a:t>
                      </a:r>
                      <a:endParaRPr lang="en-US" sz="1600" dirty="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dirty="0">
                          <a:effectLst/>
                        </a:rPr>
                        <a:t>Google</a:t>
                      </a:r>
                      <a:endParaRPr lang="en-US" sz="1600" b="1"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dirty="0">
                          <a:effectLst/>
                        </a:rPr>
                        <a:t>Eyes</a:t>
                      </a:r>
                      <a:endParaRPr lang="en-US" sz="1600" dirty="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dirty="0">
                          <a:effectLst/>
                        </a:rPr>
                        <a:t>Face Masks</a:t>
                      </a:r>
                      <a:endParaRPr lang="en-US" sz="1600" b="1"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dirty="0">
                          <a:effectLst/>
                        </a:rPr>
                        <a:t>Nose, Mouth and Lower Jaw</a:t>
                      </a:r>
                      <a:endParaRPr lang="en-US" sz="1600" dirty="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dirty="0">
                          <a:effectLst/>
                        </a:rPr>
                        <a:t>Face Shield</a:t>
                      </a:r>
                      <a:endParaRPr lang="en-US" sz="1600" b="1"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dirty="0">
                          <a:effectLst/>
                        </a:rPr>
                        <a:t>Face</a:t>
                      </a:r>
                      <a:endParaRPr lang="en-US" sz="1600" dirty="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a:effectLst/>
                        </a:rPr>
                        <a:t>Gloves</a:t>
                      </a:r>
                      <a:endParaRPr lang="en-US" sz="1600" b="1">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a:effectLst/>
                        </a:rPr>
                        <a:t>Hand</a:t>
                      </a:r>
                      <a:endParaRPr lang="en-US" sz="160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dirty="0">
                          <a:effectLst/>
                        </a:rPr>
                        <a:t>Gowns</a:t>
                      </a:r>
                      <a:endParaRPr lang="en-US" sz="1600" b="1"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dirty="0">
                          <a:effectLst/>
                        </a:rPr>
                        <a:t>Upper body, skin and cloth</a:t>
                      </a:r>
                      <a:endParaRPr lang="en-US" sz="1600" dirty="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dirty="0">
                          <a:effectLst/>
                        </a:rPr>
                        <a:t>Apron</a:t>
                      </a:r>
                      <a:endParaRPr lang="en-US" sz="1600" b="1"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a:effectLst/>
                        </a:rPr>
                        <a:t>Front of the body</a:t>
                      </a:r>
                      <a:endParaRPr lang="en-US" sz="160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dirty="0">
                          <a:effectLst/>
                        </a:rPr>
                        <a:t>Boots</a:t>
                      </a:r>
                      <a:endParaRPr lang="en-US" sz="1600" b="1"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dirty="0">
                          <a:effectLst/>
                        </a:rPr>
                        <a:t>Lower legs and feet</a:t>
                      </a:r>
                      <a:endParaRPr lang="en-US" sz="1600" dirty="0">
                        <a:effectLst/>
                        <a:latin typeface="Calibri"/>
                        <a:ea typeface="Calibri"/>
                        <a:cs typeface="Times New Roman"/>
                      </a:endParaRPr>
                    </a:p>
                  </a:txBody>
                  <a:tcPr marL="68580" marR="68580" marT="0" marB="0"/>
                </a:tc>
              </a:tr>
              <a:tr h="370840">
                <a:tc>
                  <a:txBody>
                    <a:bodyPr/>
                    <a:lstStyle/>
                    <a:p>
                      <a:pPr marL="0" marR="4445" algn="ctr">
                        <a:lnSpc>
                          <a:spcPct val="115000"/>
                        </a:lnSpc>
                        <a:spcBef>
                          <a:spcPts val="0"/>
                        </a:spcBef>
                        <a:spcAft>
                          <a:spcPts val="0"/>
                        </a:spcAft>
                      </a:pPr>
                      <a:r>
                        <a:rPr lang="en-US" sz="1800" b="1" dirty="0">
                          <a:effectLst/>
                        </a:rPr>
                        <a:t>Shoe cover</a:t>
                      </a:r>
                      <a:endParaRPr lang="en-US" sz="1600" b="1" dirty="0">
                        <a:effectLst/>
                        <a:latin typeface="Calibri"/>
                        <a:ea typeface="Calibri"/>
                        <a:cs typeface="Times New Roman"/>
                      </a:endParaRPr>
                    </a:p>
                  </a:txBody>
                  <a:tcPr marL="68580" marR="68580" marT="0" marB="0"/>
                </a:tc>
                <a:tc>
                  <a:txBody>
                    <a:bodyPr/>
                    <a:lstStyle/>
                    <a:p>
                      <a:pPr marL="0" marR="4445" algn="ctr">
                        <a:lnSpc>
                          <a:spcPct val="115000"/>
                        </a:lnSpc>
                        <a:spcBef>
                          <a:spcPts val="0"/>
                        </a:spcBef>
                        <a:spcAft>
                          <a:spcPts val="0"/>
                        </a:spcAft>
                      </a:pPr>
                      <a:r>
                        <a:rPr lang="en-US" sz="1800" dirty="0">
                          <a:effectLst/>
                        </a:rPr>
                        <a:t>Shoe</a:t>
                      </a:r>
                      <a:endParaRPr lang="en-US" sz="1600"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17264400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5400" b="1" dirty="0" smtClean="0">
                <a:latin typeface="+mj-lt"/>
              </a:rPr>
              <a:t>Caps</a:t>
            </a:r>
            <a:endParaRPr lang="en-US" sz="5400" dirty="0">
              <a:latin typeface="+mj-lt"/>
            </a:endParaRPr>
          </a:p>
        </p:txBody>
      </p:sp>
      <p:sp>
        <p:nvSpPr>
          <p:cNvPr id="3" name="Content Placeholder 2"/>
          <p:cNvSpPr>
            <a:spLocks noGrp="1"/>
          </p:cNvSpPr>
          <p:nvPr>
            <p:ph idx="1"/>
          </p:nvPr>
        </p:nvSpPr>
        <p:spPr>
          <a:xfrm>
            <a:off x="762000" y="2362200"/>
            <a:ext cx="7619999" cy="3758265"/>
          </a:xfrm>
        </p:spPr>
        <p:txBody>
          <a:bodyPr>
            <a:noAutofit/>
          </a:bodyPr>
          <a:lstStyle/>
          <a:p>
            <a:pPr algn="just"/>
            <a:r>
              <a:rPr lang="en-US" sz="1800" dirty="0">
                <a:latin typeface="Times New Roman" pitchFamily="18" charset="0"/>
                <a:cs typeface="Times New Roman" pitchFamily="18" charset="0"/>
              </a:rPr>
              <a:t>Head covers are most commonly used as part of surgical attire in surgical and procedure areas. </a:t>
            </a:r>
            <a:r>
              <a:rPr lang="en-US" sz="1800" dirty="0" smtClean="0">
                <a:latin typeface="Times New Roman" pitchFamily="18" charset="0"/>
                <a:cs typeface="Times New Roman" pitchFamily="18" charset="0"/>
              </a:rPr>
              <a:t>They are not necessary in most other areas in the HCF.</a:t>
            </a:r>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When </a:t>
            </a:r>
            <a:r>
              <a:rPr lang="en-US" sz="1800" dirty="0">
                <a:latin typeface="Times New Roman" pitchFamily="18" charset="0"/>
                <a:cs typeface="Times New Roman" pitchFamily="18" charset="0"/>
              </a:rPr>
              <a:t>used, head covers or caps should be large enough to cover the entire scalp and </a:t>
            </a:r>
            <a:r>
              <a:rPr lang="en-US" sz="1800" dirty="0" smtClean="0">
                <a:latin typeface="Times New Roman" pitchFamily="18" charset="0"/>
                <a:cs typeface="Times New Roman" pitchFamily="18" charset="0"/>
              </a:rPr>
              <a:t>hair.</a:t>
            </a:r>
            <a:endParaRPr lang="en-US" sz="1800" dirty="0">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Facial hair is also required to be covered for surgical procedures in sterile areas (e.g., in the operating theater) using a facial hair covering. </a:t>
            </a:r>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They </a:t>
            </a:r>
            <a:r>
              <a:rPr lang="en-US" sz="1800" dirty="0">
                <a:latin typeface="Times New Roman" pitchFamily="18" charset="0"/>
                <a:cs typeface="Times New Roman" pitchFamily="18" charset="0"/>
              </a:rPr>
              <a:t>can be disposable or made of reusable cloth that can be laundered. </a:t>
            </a:r>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In </a:t>
            </a:r>
            <a:r>
              <a:rPr lang="en-US" sz="1800" dirty="0">
                <a:latin typeface="Times New Roman" pitchFamily="18" charset="0"/>
                <a:cs typeface="Times New Roman" pitchFamily="18" charset="0"/>
              </a:rPr>
              <a:t>the surgical and procedure areas, a new clean head covering should be worn each day and changed sooner when soiled with blood or body fluids. </a:t>
            </a:r>
          </a:p>
          <a:p>
            <a:pPr algn="just"/>
            <a:r>
              <a:rPr lang="en-US" sz="1800" dirty="0" smtClean="0">
                <a:latin typeface="Times New Roman" pitchFamily="18" charset="0"/>
                <a:cs typeface="Times New Roman" pitchFamily="18" charset="0"/>
              </a:rPr>
              <a:t>Head </a:t>
            </a:r>
            <a:r>
              <a:rPr lang="en-US" sz="1800" dirty="0">
                <a:latin typeface="Times New Roman" pitchFamily="18" charset="0"/>
                <a:cs typeface="Times New Roman" pitchFamily="18" charset="0"/>
              </a:rPr>
              <a:t>covers are not part of routine PPE for Contact, Droplet or Airborne Precautions but are used for during outbreaks for VHF</a:t>
            </a:r>
            <a:r>
              <a:rPr lang="en-US" sz="1800" dirty="0" smtClean="0">
                <a:latin typeface="Times New Roman" pitchFamily="18" charset="0"/>
                <a:cs typeface="Times New Roman" pitchFamily="18" charset="0"/>
              </a:rPr>
              <a:t>.</a:t>
            </a: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30114822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Surgical Head Coverings</a:t>
            </a:r>
            <a:endParaRPr lang="en-US" dirty="0"/>
          </a:p>
        </p:txBody>
      </p:sp>
      <p:pic>
        <p:nvPicPr>
          <p:cNvPr id="5" name="Picture 4"/>
          <p:cNvPicPr/>
          <p:nvPr/>
        </p:nvPicPr>
        <p:blipFill>
          <a:blip r:embed="rId2"/>
          <a:stretch>
            <a:fillRect/>
          </a:stretch>
        </p:blipFill>
        <p:spPr>
          <a:xfrm>
            <a:off x="990600" y="2590800"/>
            <a:ext cx="7239000" cy="3352800"/>
          </a:xfrm>
          <a:prstGeom prst="rect">
            <a:avLst/>
          </a:prstGeom>
        </p:spPr>
      </p:pic>
    </p:spTree>
    <p:extLst>
      <p:ext uri="{BB962C8B-B14F-4D97-AF65-F5344CB8AC3E}">
        <p14:creationId xmlns:p14="http://schemas.microsoft.com/office/powerpoint/2010/main" val="4525813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Caps cont’d…</a:t>
            </a:r>
            <a:endParaRPr lang="en-US" dirty="0"/>
          </a:p>
        </p:txBody>
      </p:sp>
      <p:sp>
        <p:nvSpPr>
          <p:cNvPr id="4" name="Content Placeholder 3"/>
          <p:cNvSpPr>
            <a:spLocks noGrp="1"/>
          </p:cNvSpPr>
          <p:nvPr>
            <p:ph idx="1"/>
          </p:nvPr>
        </p:nvSpPr>
        <p:spPr>
          <a:xfrm>
            <a:off x="1176865" y="2490135"/>
            <a:ext cx="6798736" cy="3605865"/>
          </a:xfrm>
        </p:spPr>
        <p:txBody>
          <a:bodyPr>
            <a:normAutofit fontScale="85000" lnSpcReduction="20000"/>
          </a:bodyPr>
          <a:lstStyle/>
          <a:p>
            <a:pPr algn="just"/>
            <a:r>
              <a:rPr lang="en-US" b="1" dirty="0"/>
              <a:t>Health care works wear caps</a:t>
            </a:r>
            <a:endParaRPr lang="en-US" dirty="0"/>
          </a:p>
          <a:p>
            <a:pPr lvl="1" algn="just"/>
            <a:r>
              <a:rPr lang="en-US" dirty="0"/>
              <a:t>To protect the patient </a:t>
            </a:r>
            <a:r>
              <a:rPr lang="en-US" dirty="0" smtClean="0"/>
              <a:t>from </a:t>
            </a:r>
            <a:r>
              <a:rPr lang="en-US" dirty="0"/>
              <a:t>infection coming from hair and scalp and </a:t>
            </a:r>
          </a:p>
          <a:p>
            <a:pPr lvl="1" algn="just">
              <a:spcAft>
                <a:spcPts val="2400"/>
              </a:spcAft>
            </a:pPr>
            <a:r>
              <a:rPr lang="en-US" dirty="0"/>
              <a:t>To protect the staff from splashes and exposure to blood.</a:t>
            </a:r>
          </a:p>
          <a:p>
            <a:pPr algn="just"/>
            <a:r>
              <a:rPr lang="en-US" b="1" dirty="0"/>
              <a:t>Patients wear caps</a:t>
            </a:r>
            <a:endParaRPr lang="en-US" dirty="0"/>
          </a:p>
          <a:p>
            <a:pPr lvl="1" algn="just"/>
            <a:r>
              <a:rPr lang="en-US" dirty="0"/>
              <a:t>To keep the sterile field during invasive procedure </a:t>
            </a:r>
          </a:p>
          <a:p>
            <a:pPr algn="just"/>
            <a:endParaRPr lang="en-US" dirty="0"/>
          </a:p>
        </p:txBody>
      </p:sp>
    </p:spTree>
    <p:extLst>
      <p:ext uri="{BB962C8B-B14F-4D97-AF65-F5344CB8AC3E}">
        <p14:creationId xmlns:p14="http://schemas.microsoft.com/office/powerpoint/2010/main" val="9871175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3600" b="1" dirty="0">
                <a:latin typeface="+mj-lt"/>
              </a:rPr>
              <a:t>Protective Eye Wear </a:t>
            </a:r>
            <a:endParaRPr lang="en-US" sz="3600" dirty="0">
              <a:latin typeface="+mj-lt"/>
            </a:endParaRPr>
          </a:p>
        </p:txBody>
      </p:sp>
      <p:sp>
        <p:nvSpPr>
          <p:cNvPr id="3" name="Content Placeholder 2"/>
          <p:cNvSpPr>
            <a:spLocks noGrp="1"/>
          </p:cNvSpPr>
          <p:nvPr>
            <p:ph idx="1"/>
          </p:nvPr>
        </p:nvSpPr>
        <p:spPr/>
        <p:txBody>
          <a:bodyPr>
            <a:normAutofit fontScale="92500" lnSpcReduction="20000"/>
          </a:bodyPr>
          <a:lstStyle/>
          <a:p>
            <a:pPr algn="just"/>
            <a:r>
              <a:rPr lang="en-US" dirty="0"/>
              <a:t>There are four different types of eye protection that are effective in preventing infection in health care facilities </a:t>
            </a:r>
          </a:p>
          <a:p>
            <a:pPr lvl="1" algn="just"/>
            <a:r>
              <a:rPr lang="en-US" sz="3000" dirty="0"/>
              <a:t>Goggles</a:t>
            </a:r>
          </a:p>
          <a:p>
            <a:pPr lvl="1" algn="just"/>
            <a:r>
              <a:rPr lang="en-US" sz="3000" dirty="0"/>
              <a:t>Safety Glass</a:t>
            </a:r>
          </a:p>
          <a:p>
            <a:pPr lvl="1" algn="just"/>
            <a:r>
              <a:rPr lang="en-US" sz="3000" dirty="0"/>
              <a:t>Masks attached shield</a:t>
            </a:r>
          </a:p>
          <a:p>
            <a:pPr lvl="1" algn="just"/>
            <a:r>
              <a:rPr lang="en-US" sz="3000" dirty="0"/>
              <a:t>Face shield</a:t>
            </a:r>
          </a:p>
          <a:p>
            <a:pPr algn="just"/>
            <a:endParaRPr lang="en-US" dirty="0"/>
          </a:p>
        </p:txBody>
      </p:sp>
    </p:spTree>
    <p:extLst>
      <p:ext uri="{BB962C8B-B14F-4D97-AF65-F5344CB8AC3E}">
        <p14:creationId xmlns:p14="http://schemas.microsoft.com/office/powerpoint/2010/main" val="38696860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Protective Eye Wear </a:t>
            </a:r>
            <a:r>
              <a:rPr lang="en-US" dirty="0" smtClean="0"/>
              <a:t> cont’d…</a:t>
            </a:r>
            <a:endParaRPr lang="en-US" dirty="0"/>
          </a:p>
        </p:txBody>
      </p:sp>
      <p:sp>
        <p:nvSpPr>
          <p:cNvPr id="3" name="Content Placeholder 2"/>
          <p:cNvSpPr>
            <a:spLocks noGrp="1"/>
          </p:cNvSpPr>
          <p:nvPr>
            <p:ph idx="1"/>
          </p:nvPr>
        </p:nvSpPr>
        <p:spPr>
          <a:xfrm>
            <a:off x="762000" y="2490135"/>
            <a:ext cx="7620000" cy="3758265"/>
          </a:xfrm>
        </p:spPr>
        <p:txBody>
          <a:bodyPr>
            <a:normAutofit fontScale="70000" lnSpcReduction="20000"/>
          </a:bodyPr>
          <a:lstStyle/>
          <a:p>
            <a:pPr algn="just"/>
            <a:r>
              <a:rPr lang="en-US" dirty="0"/>
              <a:t>Eye protection should be comfortable, allow for sufficient peripheral vision (i.e., the area that is visible outside the central area of focus), and must be adjustable to ensure secure fit. </a:t>
            </a:r>
            <a:endParaRPr lang="en-US" dirty="0" smtClean="0"/>
          </a:p>
          <a:p>
            <a:pPr algn="just"/>
            <a:r>
              <a:rPr lang="en-US" dirty="0" smtClean="0"/>
              <a:t>Compared </a:t>
            </a:r>
            <a:r>
              <a:rPr lang="en-US" dirty="0"/>
              <a:t>to older styles of goggles, newer styles may provide better indirect airflow properties to reduce fogging, provide better peripheral vision, and offer more size options for fitting goggles to different HCWs</a:t>
            </a:r>
            <a:r>
              <a:rPr lang="en-US" dirty="0" smtClean="0"/>
              <a:t>.</a:t>
            </a:r>
          </a:p>
          <a:p>
            <a:pPr algn="just"/>
            <a:r>
              <a:rPr lang="en-US" dirty="0"/>
              <a:t>Eye wear protects the staff during accidental splash of blood or other body fluid by covering the eyes. </a:t>
            </a:r>
            <a:endParaRPr lang="en-US" dirty="0" smtClean="0"/>
          </a:p>
          <a:p>
            <a:pPr algn="just"/>
            <a:r>
              <a:rPr lang="en-US" b="1" dirty="0"/>
              <a:t>Note:</a:t>
            </a:r>
            <a:r>
              <a:rPr lang="en-US" dirty="0"/>
              <a:t> </a:t>
            </a:r>
            <a:r>
              <a:rPr lang="en-US" sz="4000" i="1" dirty="0" smtClean="0"/>
              <a:t>Personal eye glasses and contact lenses 	are NOT considered adequate eye 	protection. </a:t>
            </a:r>
            <a:endParaRPr lang="en-US" sz="4000" i="1" dirty="0"/>
          </a:p>
          <a:p>
            <a:pPr algn="just"/>
            <a:endParaRPr lang="en-US" dirty="0"/>
          </a:p>
        </p:txBody>
      </p:sp>
    </p:spTree>
    <p:extLst>
      <p:ext uri="{BB962C8B-B14F-4D97-AF65-F5344CB8AC3E}">
        <p14:creationId xmlns:p14="http://schemas.microsoft.com/office/powerpoint/2010/main" val="6966890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Protective Eye Wear  </a:t>
            </a:r>
            <a:r>
              <a:rPr lang="en-US" dirty="0" smtClean="0"/>
              <a:t>cont’d…</a:t>
            </a:r>
            <a:endParaRPr lang="en-US" dirty="0"/>
          </a:p>
        </p:txBody>
      </p:sp>
      <p:sp>
        <p:nvSpPr>
          <p:cNvPr id="3" name="Content Placeholder 2"/>
          <p:cNvSpPr>
            <a:spLocks noGrp="1"/>
          </p:cNvSpPr>
          <p:nvPr>
            <p:ph idx="1"/>
          </p:nvPr>
        </p:nvSpPr>
        <p:spPr>
          <a:xfrm>
            <a:off x="762000" y="2438400"/>
            <a:ext cx="7620000" cy="3886200"/>
          </a:xfrm>
        </p:spPr>
        <p:txBody>
          <a:bodyPr>
            <a:normAutofit fontScale="70000" lnSpcReduction="20000"/>
          </a:bodyPr>
          <a:lstStyle/>
          <a:p>
            <a:pPr algn="just"/>
            <a:r>
              <a:rPr lang="en-US" dirty="0" smtClean="0"/>
              <a:t>Masks </a:t>
            </a:r>
            <a:r>
              <a:rPr lang="en-US" dirty="0"/>
              <a:t>and eyewear should be worn when performing any task where an accidental splash into the face could occur (e.g. performing cesarean section, vaginal delivery or cleaning instruments)  when giving care to patients with droplet precautions. </a:t>
            </a:r>
            <a:endParaRPr lang="en-US" dirty="0" smtClean="0"/>
          </a:p>
          <a:p>
            <a:pPr algn="just"/>
            <a:r>
              <a:rPr lang="en-US" dirty="0" smtClean="0"/>
              <a:t>If </a:t>
            </a:r>
            <a:r>
              <a:rPr lang="en-US" dirty="0"/>
              <a:t>face shields are not available, goggles or glasses and mask can be used together. </a:t>
            </a:r>
            <a:endParaRPr lang="en-US" dirty="0" smtClean="0"/>
          </a:p>
          <a:p>
            <a:pPr algn="just"/>
            <a:r>
              <a:rPr lang="en-US" dirty="0" smtClean="0"/>
              <a:t>If </a:t>
            </a:r>
            <a:r>
              <a:rPr lang="en-US" dirty="0"/>
              <a:t>reusable eye/face protection is used, it should be decontaminated in accordance with the manufacturer’s guidelines. </a:t>
            </a:r>
            <a:endParaRPr lang="en-US" dirty="0" smtClean="0"/>
          </a:p>
          <a:p>
            <a:pPr algn="just"/>
            <a:r>
              <a:rPr lang="en-US" dirty="0" smtClean="0"/>
              <a:t>Hands </a:t>
            </a:r>
            <a:r>
              <a:rPr lang="en-US" dirty="0"/>
              <a:t>should always be decontaminated after removing the equipment</a:t>
            </a:r>
            <a:r>
              <a:rPr lang="en-US" dirty="0" smtClean="0"/>
              <a:t>.</a:t>
            </a:r>
            <a:endParaRPr lang="en-US" dirty="0"/>
          </a:p>
        </p:txBody>
      </p:sp>
    </p:spTree>
    <p:extLst>
      <p:ext uri="{BB962C8B-B14F-4D97-AF65-F5344CB8AC3E}">
        <p14:creationId xmlns:p14="http://schemas.microsoft.com/office/powerpoint/2010/main" val="6966890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b="1" dirty="0"/>
              <a:t>Different types of Eye Protection Equipment’s </a:t>
            </a:r>
          </a:p>
        </p:txBody>
      </p:sp>
      <p:pic>
        <p:nvPicPr>
          <p:cNvPr id="9" name="Picture 8"/>
          <p:cNvPicPr/>
          <p:nvPr/>
        </p:nvPicPr>
        <p:blipFill>
          <a:blip r:embed="rId2"/>
          <a:srcRect/>
          <a:stretch>
            <a:fillRect/>
          </a:stretch>
        </p:blipFill>
        <p:spPr bwMode="auto">
          <a:xfrm>
            <a:off x="762000" y="2438400"/>
            <a:ext cx="7620000" cy="3810000"/>
          </a:xfrm>
          <a:prstGeom prst="rect">
            <a:avLst/>
          </a:prstGeom>
          <a:noFill/>
          <a:ln w="9525">
            <a:noFill/>
            <a:miter lim="800000"/>
            <a:headEnd/>
            <a:tailEnd/>
          </a:ln>
        </p:spPr>
      </p:pic>
    </p:spTree>
    <p:extLst>
      <p:ext uri="{BB962C8B-B14F-4D97-AF65-F5344CB8AC3E}">
        <p14:creationId xmlns:p14="http://schemas.microsoft.com/office/powerpoint/2010/main" val="20180886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2632" y="914400"/>
            <a:ext cx="6798735" cy="1303867"/>
          </a:xfrm>
        </p:spPr>
        <p:txBody>
          <a:bodyPr>
            <a:normAutofit fontScale="90000"/>
          </a:bodyPr>
          <a:lstStyle/>
          <a:p>
            <a:r>
              <a:rPr lang="en-US" b="1" dirty="0"/>
              <a:t>How to </a:t>
            </a:r>
            <a:r>
              <a:rPr lang="en-US" b="1" dirty="0" smtClean="0"/>
              <a:t>put on </a:t>
            </a:r>
            <a:r>
              <a:rPr lang="en-US" b="1" dirty="0"/>
              <a:t>protective </a:t>
            </a:r>
            <a:r>
              <a:rPr lang="en-US" b="1" dirty="0" smtClean="0"/>
              <a:t>eyewear</a:t>
            </a:r>
            <a:endParaRPr lang="en-US" dirty="0"/>
          </a:p>
        </p:txBody>
      </p:sp>
      <p:sp>
        <p:nvSpPr>
          <p:cNvPr id="3" name="Rectangle 2"/>
          <p:cNvSpPr/>
          <p:nvPr/>
        </p:nvSpPr>
        <p:spPr>
          <a:xfrm>
            <a:off x="725128" y="2338662"/>
            <a:ext cx="7656871" cy="830997"/>
          </a:xfrm>
          <a:prstGeom prst="rect">
            <a:avLst/>
          </a:prstGeom>
        </p:spPr>
        <p:txBody>
          <a:bodyPr wrap="square">
            <a:spAutoFit/>
          </a:bodyPr>
          <a:lstStyle/>
          <a:p>
            <a:r>
              <a:rPr lang="en-US" sz="2400" dirty="0" smtClean="0"/>
              <a:t>Put on eye protection after putting on the isolation gown and mask (if used) but before putting on gloves </a:t>
            </a:r>
            <a:endParaRPr lang="en-US" sz="2400" dirty="0"/>
          </a:p>
        </p:txBody>
      </p:sp>
      <p:pic>
        <p:nvPicPr>
          <p:cNvPr id="4" name="Picture 3"/>
          <p:cNvPicPr/>
          <p:nvPr/>
        </p:nvPicPr>
        <p:blipFill>
          <a:blip r:embed="rId2"/>
          <a:stretch>
            <a:fillRect/>
          </a:stretch>
        </p:blipFill>
        <p:spPr>
          <a:xfrm>
            <a:off x="1066800" y="3124200"/>
            <a:ext cx="7010400" cy="3124200"/>
          </a:xfrm>
          <a:prstGeom prst="rect">
            <a:avLst/>
          </a:prstGeom>
        </p:spPr>
      </p:pic>
    </p:spTree>
    <p:extLst>
      <p:ext uri="{BB962C8B-B14F-4D97-AF65-F5344CB8AC3E}">
        <p14:creationId xmlns:p14="http://schemas.microsoft.com/office/powerpoint/2010/main" val="10099873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How to </a:t>
            </a:r>
            <a:r>
              <a:rPr lang="en-US" dirty="0" smtClean="0"/>
              <a:t>take off protective </a:t>
            </a:r>
            <a:r>
              <a:rPr lang="en-US" dirty="0"/>
              <a:t>eyewear</a:t>
            </a:r>
          </a:p>
        </p:txBody>
      </p:sp>
      <p:sp>
        <p:nvSpPr>
          <p:cNvPr id="4" name="Content Placeholder 3"/>
          <p:cNvSpPr>
            <a:spLocks noGrp="1"/>
          </p:cNvSpPr>
          <p:nvPr>
            <p:ph idx="1"/>
          </p:nvPr>
        </p:nvSpPr>
        <p:spPr>
          <a:xfrm>
            <a:off x="762000" y="2490135"/>
            <a:ext cx="7619999" cy="3682065"/>
          </a:xfrm>
        </p:spPr>
        <p:txBody>
          <a:bodyPr>
            <a:normAutofit fontScale="70000" lnSpcReduction="20000"/>
          </a:bodyPr>
          <a:lstStyle/>
          <a:p>
            <a:r>
              <a:rPr lang="en-US" dirty="0"/>
              <a:t>Removal of face shield, goggles, and mask can be performed safely after gloves have been </a:t>
            </a:r>
            <a:r>
              <a:rPr lang="en-US" dirty="0" smtClean="0"/>
              <a:t>removed). </a:t>
            </a:r>
          </a:p>
          <a:p>
            <a:r>
              <a:rPr lang="en-US" dirty="0" smtClean="0"/>
              <a:t>The </a:t>
            </a:r>
            <a:r>
              <a:rPr lang="en-US" dirty="0"/>
              <a:t>ties, ear pieces, and/or head band used to secure the equipment to the head are considered “clean” and safe to touch with bare hands</a:t>
            </a:r>
            <a:r>
              <a:rPr lang="en-US" dirty="0" smtClean="0"/>
              <a:t>.</a:t>
            </a:r>
          </a:p>
          <a:p>
            <a:r>
              <a:rPr lang="en-US" dirty="0" smtClean="0"/>
              <a:t> </a:t>
            </a:r>
            <a:r>
              <a:rPr lang="en-US" dirty="0"/>
              <a:t>If the ties, ear pieces, and/or head band are found to be contaminated, they should be removed using gloved hands and the skin/face should be rinsed using ample running water and soap. </a:t>
            </a:r>
            <a:endParaRPr lang="en-US" dirty="0" smtClean="0"/>
          </a:p>
          <a:p>
            <a:r>
              <a:rPr lang="en-US" dirty="0" smtClean="0"/>
              <a:t>The </a:t>
            </a:r>
            <a:r>
              <a:rPr lang="en-US" dirty="0"/>
              <a:t>front of a mask, goggles, and face shield is considered contaminated.</a:t>
            </a:r>
          </a:p>
          <a:p>
            <a:endParaRPr lang="en-US" dirty="0"/>
          </a:p>
        </p:txBody>
      </p:sp>
    </p:spTree>
    <p:extLst>
      <p:ext uri="{BB962C8B-B14F-4D97-AF65-F5344CB8AC3E}">
        <p14:creationId xmlns:p14="http://schemas.microsoft.com/office/powerpoint/2010/main" val="3746363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Taking off Eye </a:t>
            </a:r>
            <a:r>
              <a:rPr lang="en-US" b="1" dirty="0" smtClean="0"/>
              <a:t>Protection</a:t>
            </a:r>
            <a:endParaRPr lang="en-US" b="1" dirty="0"/>
          </a:p>
        </p:txBody>
      </p:sp>
      <p:pic>
        <p:nvPicPr>
          <p:cNvPr id="3" name="Picture 2"/>
          <p:cNvPicPr/>
          <p:nvPr/>
        </p:nvPicPr>
        <p:blipFill>
          <a:blip r:embed="rId2"/>
          <a:stretch>
            <a:fillRect/>
          </a:stretch>
        </p:blipFill>
        <p:spPr>
          <a:xfrm>
            <a:off x="1295400" y="2514600"/>
            <a:ext cx="6553200" cy="3124200"/>
          </a:xfrm>
          <a:prstGeom prst="rect">
            <a:avLst/>
          </a:prstGeom>
        </p:spPr>
      </p:pic>
    </p:spTree>
    <p:extLst>
      <p:ext uri="{BB962C8B-B14F-4D97-AF65-F5344CB8AC3E}">
        <p14:creationId xmlns:p14="http://schemas.microsoft.com/office/powerpoint/2010/main" val="42508116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1" algn="ctr" defTabSz="457200" rtl="0">
              <a:spcBef>
                <a:spcPct val="0"/>
              </a:spcBef>
            </a:pPr>
            <a:r>
              <a:rPr lang="en-US" sz="4400" b="1" dirty="0" smtClean="0">
                <a:latin typeface="+mj-lt"/>
              </a:rPr>
              <a:t>Masks</a:t>
            </a:r>
            <a:endParaRPr lang="en-US" sz="4400" dirty="0">
              <a:latin typeface="+mj-lt"/>
            </a:endParaRPr>
          </a:p>
        </p:txBody>
      </p:sp>
      <p:sp>
        <p:nvSpPr>
          <p:cNvPr id="4" name="Content Placeholder 3"/>
          <p:cNvSpPr>
            <a:spLocks noGrp="1"/>
          </p:cNvSpPr>
          <p:nvPr>
            <p:ph idx="1"/>
          </p:nvPr>
        </p:nvSpPr>
        <p:spPr>
          <a:xfrm>
            <a:off x="1176865" y="2490135"/>
            <a:ext cx="6798736" cy="3682065"/>
          </a:xfrm>
        </p:spPr>
        <p:txBody>
          <a:bodyPr>
            <a:normAutofit fontScale="85000" lnSpcReduction="20000"/>
          </a:bodyPr>
          <a:lstStyle/>
          <a:p>
            <a:pPr algn="just"/>
            <a:r>
              <a:rPr lang="en-US" dirty="0"/>
              <a:t>There are many different types of masks used to cover the mouth and nose. </a:t>
            </a:r>
            <a:endParaRPr lang="en-US" dirty="0" smtClean="0"/>
          </a:p>
          <a:p>
            <a:pPr algn="just"/>
            <a:r>
              <a:rPr lang="en-US" dirty="0" smtClean="0"/>
              <a:t>Masks </a:t>
            </a:r>
            <a:r>
              <a:rPr lang="en-US" dirty="0"/>
              <a:t>made from cotton or paper are comfortable but are not fluid-resistant (do not protect from splashes) and are not an effective filter to prevent inhalation of microorganisms transmitted via droplet nuclei (≤ 5 µm). Masks made from synthetic materials provide protection from large droplets (&gt; 5 µm) spread by coughs or sneezes. </a:t>
            </a:r>
            <a:endParaRPr lang="en-US" dirty="0" smtClean="0"/>
          </a:p>
        </p:txBody>
      </p:sp>
    </p:spTree>
    <p:extLst>
      <p:ext uri="{BB962C8B-B14F-4D97-AF65-F5344CB8AC3E}">
        <p14:creationId xmlns:p14="http://schemas.microsoft.com/office/powerpoint/2010/main" val="5007983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lvl="1" algn="ctr" defTabSz="457200" rtl="0">
              <a:spcBef>
                <a:spcPct val="0"/>
              </a:spcBef>
            </a:pPr>
            <a:r>
              <a:rPr lang="en-US" sz="4400" b="1" dirty="0" smtClean="0">
                <a:latin typeface="+mj-lt"/>
              </a:rPr>
              <a:t>Masks</a:t>
            </a:r>
            <a:endParaRPr lang="en-US" sz="4400" dirty="0">
              <a:latin typeface="+mj-lt"/>
            </a:endParaRPr>
          </a:p>
        </p:txBody>
      </p:sp>
      <p:sp>
        <p:nvSpPr>
          <p:cNvPr id="4" name="Content Placeholder 3"/>
          <p:cNvSpPr>
            <a:spLocks noGrp="1"/>
          </p:cNvSpPr>
          <p:nvPr>
            <p:ph idx="1"/>
          </p:nvPr>
        </p:nvSpPr>
        <p:spPr/>
        <p:txBody>
          <a:bodyPr>
            <a:normAutofit fontScale="92500" lnSpcReduction="10000"/>
          </a:bodyPr>
          <a:lstStyle/>
          <a:p>
            <a:pPr algn="just"/>
            <a:r>
              <a:rPr lang="en-US" dirty="0" smtClean="0"/>
              <a:t>They </a:t>
            </a:r>
            <a:r>
              <a:rPr lang="en-US" dirty="0"/>
              <a:t>may be more difficult to breathe through than cotton or paper masks. </a:t>
            </a:r>
            <a:endParaRPr lang="en-US" dirty="0" smtClean="0"/>
          </a:p>
          <a:p>
            <a:pPr algn="just"/>
            <a:r>
              <a:rPr lang="en-US" dirty="0" smtClean="0"/>
              <a:t>The </a:t>
            </a:r>
            <a:r>
              <a:rPr lang="en-US" dirty="0"/>
              <a:t>use of masks during patient care is part of Standard Precautions when there is a potential for splashes or droplet transmission and is part of Droplet Precautions.</a:t>
            </a:r>
          </a:p>
        </p:txBody>
      </p:sp>
    </p:spTree>
    <p:extLst>
      <p:ext uri="{BB962C8B-B14F-4D97-AF65-F5344CB8AC3E}">
        <p14:creationId xmlns:p14="http://schemas.microsoft.com/office/powerpoint/2010/main" val="5007983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Masks frequently used by health care workers</a:t>
            </a:r>
          </a:p>
        </p:txBody>
      </p:sp>
      <p:pic>
        <p:nvPicPr>
          <p:cNvPr id="4" name="Picture 3"/>
          <p:cNvPicPr/>
          <p:nvPr/>
        </p:nvPicPr>
        <p:blipFill>
          <a:blip r:embed="rId2"/>
          <a:stretch>
            <a:fillRect/>
          </a:stretch>
        </p:blipFill>
        <p:spPr>
          <a:xfrm>
            <a:off x="1295400" y="2514600"/>
            <a:ext cx="6629400" cy="2819400"/>
          </a:xfrm>
          <a:prstGeom prst="rect">
            <a:avLst/>
          </a:prstGeom>
        </p:spPr>
      </p:pic>
    </p:spTree>
    <p:extLst>
      <p:ext uri="{BB962C8B-B14F-4D97-AF65-F5344CB8AC3E}">
        <p14:creationId xmlns:p14="http://schemas.microsoft.com/office/powerpoint/2010/main" val="9015098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Masks </a:t>
            </a:r>
            <a:endParaRPr lang="en-US" dirty="0"/>
          </a:p>
        </p:txBody>
      </p:sp>
      <p:sp>
        <p:nvSpPr>
          <p:cNvPr id="3" name="Content Placeholder 2"/>
          <p:cNvSpPr>
            <a:spLocks noGrp="1"/>
          </p:cNvSpPr>
          <p:nvPr>
            <p:ph idx="1"/>
          </p:nvPr>
        </p:nvSpPr>
        <p:spPr>
          <a:xfrm>
            <a:off x="762000" y="2490135"/>
            <a:ext cx="7619999" cy="3758265"/>
          </a:xfrm>
        </p:spPr>
        <p:txBody>
          <a:bodyPr>
            <a:normAutofit fontScale="85000" lnSpcReduction="10000"/>
          </a:bodyPr>
          <a:lstStyle/>
          <a:p>
            <a:pPr algn="just"/>
            <a:r>
              <a:rPr lang="en-US" b="1" dirty="0"/>
              <a:t>Surgical masks:</a:t>
            </a:r>
            <a:r>
              <a:rPr lang="en-US" dirty="0"/>
              <a:t> </a:t>
            </a:r>
            <a:endParaRPr lang="en-US" dirty="0" smtClean="0"/>
          </a:p>
          <a:p>
            <a:pPr lvl="1" algn="just"/>
            <a:r>
              <a:rPr lang="en-US" sz="3000" dirty="0" smtClean="0"/>
              <a:t>Regulating </a:t>
            </a:r>
            <a:r>
              <a:rPr lang="en-US" sz="3000" dirty="0"/>
              <a:t>bodies (such as The United States Food and Drug Administration [FDA], the European Union, and WHO) require surgical masks to have fluid-resistant properties.</a:t>
            </a:r>
          </a:p>
          <a:p>
            <a:pPr algn="just"/>
            <a:r>
              <a:rPr lang="en-US" b="1" dirty="0"/>
              <a:t>Procedure/isolation masks:</a:t>
            </a:r>
            <a:r>
              <a:rPr lang="en-US" dirty="0"/>
              <a:t> </a:t>
            </a:r>
            <a:endParaRPr lang="en-US" dirty="0" smtClean="0"/>
          </a:p>
          <a:p>
            <a:pPr lvl="1" algn="just"/>
            <a:r>
              <a:rPr lang="en-US" sz="3300" dirty="0" smtClean="0"/>
              <a:t>These </a:t>
            </a:r>
            <a:r>
              <a:rPr lang="en-US" sz="3300" dirty="0"/>
              <a:t>are not regulated and they do not have any specifications for their manufacture.</a:t>
            </a:r>
          </a:p>
          <a:p>
            <a:pPr algn="just"/>
            <a:endParaRPr lang="en-US" sz="3300" dirty="0"/>
          </a:p>
        </p:txBody>
      </p:sp>
    </p:spTree>
    <p:extLst>
      <p:ext uri="{BB962C8B-B14F-4D97-AF65-F5344CB8AC3E}">
        <p14:creationId xmlns:p14="http://schemas.microsoft.com/office/powerpoint/2010/main" val="16005087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Surgical </a:t>
            </a:r>
            <a:r>
              <a:rPr lang="en-US" dirty="0" smtClean="0"/>
              <a:t>Masks</a:t>
            </a:r>
            <a:endParaRPr lang="en-US" dirty="0"/>
          </a:p>
        </p:txBody>
      </p:sp>
      <p:sp>
        <p:nvSpPr>
          <p:cNvPr id="3" name="Content Placeholder 2"/>
          <p:cNvSpPr>
            <a:spLocks noGrp="1"/>
          </p:cNvSpPr>
          <p:nvPr>
            <p:ph idx="1"/>
          </p:nvPr>
        </p:nvSpPr>
        <p:spPr>
          <a:xfrm>
            <a:off x="762000" y="2438400"/>
            <a:ext cx="7620000" cy="3809999"/>
          </a:xfrm>
        </p:spPr>
        <p:txBody>
          <a:bodyPr>
            <a:normAutofit fontScale="62500" lnSpcReduction="20000"/>
          </a:bodyPr>
          <a:lstStyle/>
          <a:p>
            <a:pPr algn="just"/>
            <a:r>
              <a:rPr lang="en-US" dirty="0"/>
              <a:t>Masks should be large enough to cover the nose, the lower part of the face, the jaw and all of the facial hair. </a:t>
            </a:r>
            <a:endParaRPr lang="en-US" dirty="0" smtClean="0"/>
          </a:p>
          <a:p>
            <a:pPr algn="just"/>
            <a:r>
              <a:rPr lang="en-US" dirty="0" smtClean="0"/>
              <a:t>They </a:t>
            </a:r>
            <a:r>
              <a:rPr lang="en-US" dirty="0"/>
              <a:t>are worn in an attempt to retain/confine moist droplets expelled as health workers or surgical staff speaks, cough or sneeze. </a:t>
            </a:r>
            <a:endParaRPr lang="en-US" dirty="0" smtClean="0"/>
          </a:p>
          <a:p>
            <a:pPr algn="just"/>
            <a:r>
              <a:rPr lang="en-US" dirty="0" smtClean="0"/>
              <a:t>Equally </a:t>
            </a:r>
            <a:r>
              <a:rPr lang="en-US" dirty="0"/>
              <a:t>important, is its protective function against accidental splashes of blood or other contaminated body fluids on the health workers’ nose or mouth. </a:t>
            </a:r>
            <a:endParaRPr lang="en-US" dirty="0" smtClean="0"/>
          </a:p>
          <a:p>
            <a:pPr algn="just"/>
            <a:r>
              <a:rPr lang="en-US" dirty="0" smtClean="0"/>
              <a:t>This </a:t>
            </a:r>
            <a:r>
              <a:rPr lang="en-US" dirty="0"/>
              <a:t>preventive function, however, would not be effective unless the masks are made of fluid-resistant materials.</a:t>
            </a:r>
          </a:p>
          <a:p>
            <a:pPr algn="just"/>
            <a:r>
              <a:rPr lang="en-US" dirty="0"/>
              <a:t>When removing, one should handle the masks by the strings, do it with great care as the center of the mask is the most contaminated site of all other parts </a:t>
            </a:r>
          </a:p>
        </p:txBody>
      </p:sp>
    </p:spTree>
    <p:extLst>
      <p:ext uri="{BB962C8B-B14F-4D97-AF65-F5344CB8AC3E}">
        <p14:creationId xmlns:p14="http://schemas.microsoft.com/office/powerpoint/2010/main" val="31941456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Respirators</a:t>
            </a:r>
            <a:endParaRPr lang="en-US" dirty="0"/>
          </a:p>
        </p:txBody>
      </p:sp>
      <p:sp>
        <p:nvSpPr>
          <p:cNvPr id="3" name="Content Placeholder 2"/>
          <p:cNvSpPr>
            <a:spLocks noGrp="1"/>
          </p:cNvSpPr>
          <p:nvPr>
            <p:ph idx="1"/>
          </p:nvPr>
        </p:nvSpPr>
        <p:spPr>
          <a:xfrm>
            <a:off x="762000" y="2362201"/>
            <a:ext cx="7620000" cy="3962400"/>
          </a:xfrm>
        </p:spPr>
        <p:txBody>
          <a:bodyPr>
            <a:normAutofit fontScale="92500" lnSpcReduction="20000"/>
          </a:bodyPr>
          <a:lstStyle/>
          <a:p>
            <a:pPr algn="just"/>
            <a:r>
              <a:rPr lang="en-US" dirty="0"/>
              <a:t>This</a:t>
            </a:r>
            <a:r>
              <a:rPr lang="en-US" b="1" dirty="0"/>
              <a:t> </a:t>
            </a:r>
            <a:r>
              <a:rPr lang="en-US" dirty="0"/>
              <a:t>are special types of masks called particulate respirators worn by healthcare personnel for protection against inhalation exposure to airborne infectious agents that are &lt; 5μm. </a:t>
            </a:r>
            <a:endParaRPr lang="en-US" dirty="0" smtClean="0"/>
          </a:p>
          <a:p>
            <a:pPr algn="just"/>
            <a:r>
              <a:rPr lang="en-US" dirty="0" smtClean="0"/>
              <a:t>These </a:t>
            </a:r>
            <a:r>
              <a:rPr lang="en-US" dirty="0"/>
              <a:t>include infectious droplet nuclei from patients with </a:t>
            </a:r>
            <a:r>
              <a:rPr lang="en-US" i="1" dirty="0" err="1"/>
              <a:t>Micobacterium</a:t>
            </a:r>
            <a:r>
              <a:rPr lang="en-US" i="1" dirty="0"/>
              <a:t> tuberculosis</a:t>
            </a:r>
            <a:r>
              <a:rPr lang="en-US" dirty="0"/>
              <a:t>, </a:t>
            </a:r>
            <a:r>
              <a:rPr lang="en-US" i="1" dirty="0" err="1"/>
              <a:t>Variola</a:t>
            </a:r>
            <a:r>
              <a:rPr lang="en-US" i="1" dirty="0"/>
              <a:t> virus </a:t>
            </a:r>
            <a:r>
              <a:rPr lang="en-US" dirty="0"/>
              <a:t>(smallpox), SARS-</a:t>
            </a:r>
            <a:r>
              <a:rPr lang="en-US" dirty="0" err="1"/>
              <a:t>CoV</a:t>
            </a:r>
            <a:r>
              <a:rPr lang="en-US" dirty="0"/>
              <a:t>, and dust particles containing infectious particles such as spores of environmental fungi (e.g. </a:t>
            </a:r>
            <a:r>
              <a:rPr lang="en-US" i="1" dirty="0" err="1"/>
              <a:t>Aspergillus</a:t>
            </a:r>
            <a:r>
              <a:rPr lang="en-US" i="1" dirty="0"/>
              <a:t> </a:t>
            </a:r>
            <a:r>
              <a:rPr lang="en-US" dirty="0"/>
              <a:t>sp.). </a:t>
            </a:r>
            <a:endParaRPr lang="en-US" dirty="0" smtClean="0"/>
          </a:p>
        </p:txBody>
      </p:sp>
    </p:spTree>
    <p:extLst>
      <p:ext uri="{BB962C8B-B14F-4D97-AF65-F5344CB8AC3E}">
        <p14:creationId xmlns:p14="http://schemas.microsoft.com/office/powerpoint/2010/main" val="41661389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Respirators cont’d…</a:t>
            </a:r>
          </a:p>
        </p:txBody>
      </p:sp>
      <p:sp>
        <p:nvSpPr>
          <p:cNvPr id="3" name="Content Placeholder 2"/>
          <p:cNvSpPr>
            <a:spLocks noGrp="1"/>
          </p:cNvSpPr>
          <p:nvPr>
            <p:ph idx="1"/>
          </p:nvPr>
        </p:nvSpPr>
        <p:spPr>
          <a:xfrm>
            <a:off x="762000" y="2362201"/>
            <a:ext cx="7620000" cy="3962400"/>
          </a:xfrm>
        </p:spPr>
        <p:txBody>
          <a:bodyPr>
            <a:normAutofit fontScale="77500" lnSpcReduction="20000"/>
          </a:bodyPr>
          <a:lstStyle/>
          <a:p>
            <a:pPr algn="just"/>
            <a:r>
              <a:rPr lang="en-US" dirty="0" smtClean="0"/>
              <a:t>Respirators </a:t>
            </a:r>
            <a:r>
              <a:rPr lang="en-US" dirty="0"/>
              <a:t>should be worn when filtering inhaled air is deemed important. These articles contain multiple layers of filter material and fit into the face tightly allowing no air leaks around the mask when breathing. </a:t>
            </a:r>
            <a:endParaRPr lang="en-US" dirty="0" smtClean="0"/>
          </a:p>
          <a:p>
            <a:pPr algn="just"/>
            <a:r>
              <a:rPr lang="en-US" dirty="0" smtClean="0"/>
              <a:t>The </a:t>
            </a:r>
            <a:r>
              <a:rPr lang="en-US" dirty="0"/>
              <a:t>N95 disposable particulate and air purifying respirator is the type used most commonly by healthcare personnel. </a:t>
            </a:r>
            <a:endParaRPr lang="en-US" dirty="0" smtClean="0"/>
          </a:p>
          <a:p>
            <a:pPr algn="just"/>
            <a:r>
              <a:rPr lang="en-US" dirty="0" smtClean="0"/>
              <a:t>Other </a:t>
            </a:r>
            <a:r>
              <a:rPr lang="en-US" dirty="0"/>
              <a:t>respirators used include N-99 and N-100 particulate respirators; powered air-purifying respirators with high efficiency filters; and non-powered full-face piece electrometric negative pressure respirators</a:t>
            </a:r>
          </a:p>
        </p:txBody>
      </p:sp>
    </p:spTree>
    <p:extLst>
      <p:ext uri="{BB962C8B-B14F-4D97-AF65-F5344CB8AC3E}">
        <p14:creationId xmlns:p14="http://schemas.microsoft.com/office/powerpoint/2010/main" val="41661389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5400" b="1" dirty="0">
                <a:latin typeface="+mj-lt"/>
              </a:rPr>
              <a:t>Gowns </a:t>
            </a:r>
            <a:endParaRPr lang="en-US" sz="5400" dirty="0">
              <a:latin typeface="+mj-lt"/>
            </a:endParaRPr>
          </a:p>
        </p:txBody>
      </p:sp>
      <p:sp>
        <p:nvSpPr>
          <p:cNvPr id="3" name="Content Placeholder 2"/>
          <p:cNvSpPr>
            <a:spLocks noGrp="1"/>
          </p:cNvSpPr>
          <p:nvPr>
            <p:ph idx="1"/>
          </p:nvPr>
        </p:nvSpPr>
        <p:spPr>
          <a:xfrm>
            <a:off x="1176865" y="2490135"/>
            <a:ext cx="6798736" cy="3682065"/>
          </a:xfrm>
        </p:spPr>
        <p:txBody>
          <a:bodyPr>
            <a:normAutofit fontScale="77500" lnSpcReduction="20000"/>
          </a:bodyPr>
          <a:lstStyle/>
          <a:p>
            <a:pPr algn="just">
              <a:spcAft>
                <a:spcPts val="2400"/>
              </a:spcAft>
            </a:pPr>
            <a:r>
              <a:rPr lang="en-US" dirty="0"/>
              <a:t>Gowns should fully cover the torso of the HCW, fit comfortably over the body, and have long sleeves that fit snuggly at the wrists. </a:t>
            </a:r>
          </a:p>
          <a:p>
            <a:pPr algn="just"/>
            <a:r>
              <a:rPr lang="en-US" dirty="0"/>
              <a:t>There are three types of protective gowns used in health care facilities:</a:t>
            </a:r>
          </a:p>
          <a:p>
            <a:pPr lvl="1" algn="just"/>
            <a:r>
              <a:rPr lang="en-US" sz="3300" dirty="0"/>
              <a:t>Isolation gowns, </a:t>
            </a:r>
          </a:p>
          <a:p>
            <a:pPr lvl="1" algn="just"/>
            <a:r>
              <a:rPr lang="en-US" sz="3300" dirty="0"/>
              <a:t>Surgical gowns, and </a:t>
            </a:r>
          </a:p>
          <a:p>
            <a:pPr lvl="1" algn="just"/>
            <a:r>
              <a:rPr lang="en-US" sz="3300" dirty="0"/>
              <a:t>Coverall suits </a:t>
            </a:r>
          </a:p>
          <a:p>
            <a:pPr algn="just"/>
            <a:endParaRPr lang="en-US" dirty="0"/>
          </a:p>
        </p:txBody>
      </p:sp>
    </p:spTree>
    <p:extLst>
      <p:ext uri="{BB962C8B-B14F-4D97-AF65-F5344CB8AC3E}">
        <p14:creationId xmlns:p14="http://schemas.microsoft.com/office/powerpoint/2010/main" val="14927676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Isolation gowns </a:t>
            </a:r>
          </a:p>
        </p:txBody>
      </p:sp>
      <p:sp>
        <p:nvSpPr>
          <p:cNvPr id="3" name="Content Placeholder 2"/>
          <p:cNvSpPr>
            <a:spLocks noGrp="1"/>
          </p:cNvSpPr>
          <p:nvPr>
            <p:ph idx="1"/>
          </p:nvPr>
        </p:nvSpPr>
        <p:spPr>
          <a:xfrm>
            <a:off x="1176865" y="2490135"/>
            <a:ext cx="6798736" cy="3529665"/>
          </a:xfrm>
        </p:spPr>
        <p:txBody>
          <a:bodyPr>
            <a:normAutofit fontScale="77500" lnSpcReduction="20000"/>
          </a:bodyPr>
          <a:lstStyle/>
          <a:p>
            <a:pPr algn="just"/>
            <a:r>
              <a:rPr lang="en-US" dirty="0"/>
              <a:t>S</a:t>
            </a:r>
            <a:r>
              <a:rPr lang="en-US" dirty="0" smtClean="0"/>
              <a:t>hould </a:t>
            </a:r>
            <a:r>
              <a:rPr lang="en-US" dirty="0"/>
              <a:t>be long-sleeved, fluid-resistant, single- use, and preferably disposable. </a:t>
            </a:r>
            <a:endParaRPr lang="en-US" dirty="0" smtClean="0"/>
          </a:p>
          <a:p>
            <a:pPr algn="just"/>
            <a:r>
              <a:rPr lang="en-US" dirty="0" smtClean="0"/>
              <a:t>Isolation </a:t>
            </a:r>
            <a:r>
              <a:rPr lang="en-US" dirty="0"/>
              <a:t>gowns are designed to prevent contamination of HCWs’ arms, exposed areas of the body, and clothing from blood and body fluids and other potentially infectious material.	</a:t>
            </a:r>
            <a:endParaRPr lang="en-US" dirty="0" smtClean="0"/>
          </a:p>
          <a:p>
            <a:pPr algn="just"/>
            <a:r>
              <a:rPr lang="en-US" b="1" dirty="0"/>
              <a:t>Note:</a:t>
            </a:r>
            <a:r>
              <a:rPr lang="en-US" dirty="0"/>
              <a:t> </a:t>
            </a:r>
            <a:r>
              <a:rPr lang="en-US" sz="4000" i="1" dirty="0"/>
              <a:t>Isolation gowns should be worn in combination with gloves and other PPE, as recommended.</a:t>
            </a:r>
          </a:p>
          <a:p>
            <a:pPr algn="just"/>
            <a:endParaRPr lang="en-US" sz="4000" i="1" dirty="0" smtClean="0"/>
          </a:p>
          <a:p>
            <a:pPr algn="just"/>
            <a:endParaRPr lang="en-US" dirty="0"/>
          </a:p>
          <a:p>
            <a:pPr algn="just"/>
            <a:endParaRPr lang="en-US" dirty="0"/>
          </a:p>
        </p:txBody>
      </p:sp>
    </p:spTree>
    <p:extLst>
      <p:ext uri="{BB962C8B-B14F-4D97-AF65-F5344CB8AC3E}">
        <p14:creationId xmlns:p14="http://schemas.microsoft.com/office/powerpoint/2010/main" val="23325964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Surgical gowns </a:t>
            </a:r>
          </a:p>
        </p:txBody>
      </p:sp>
      <p:sp>
        <p:nvSpPr>
          <p:cNvPr id="3" name="Content Placeholder 2"/>
          <p:cNvSpPr>
            <a:spLocks noGrp="1"/>
          </p:cNvSpPr>
          <p:nvPr>
            <p:ph idx="1"/>
          </p:nvPr>
        </p:nvSpPr>
        <p:spPr>
          <a:xfrm>
            <a:off x="762000" y="2490135"/>
            <a:ext cx="7696199" cy="3758265"/>
          </a:xfrm>
        </p:spPr>
        <p:txBody>
          <a:bodyPr>
            <a:normAutofit fontScale="85000" lnSpcReduction="20000"/>
          </a:bodyPr>
          <a:lstStyle/>
          <a:p>
            <a:pPr algn="just"/>
            <a:r>
              <a:rPr lang="en-US" dirty="0" smtClean="0"/>
              <a:t>Should </a:t>
            </a:r>
            <a:r>
              <a:rPr lang="en-US" dirty="0"/>
              <a:t>sterile and preferably fluid-resistant, with sleeves that either taper gently toward the wrists or end with elastic or ties around the wrists. </a:t>
            </a:r>
            <a:endParaRPr lang="en-US" dirty="0" smtClean="0"/>
          </a:p>
          <a:p>
            <a:pPr algn="just"/>
            <a:r>
              <a:rPr lang="en-US" dirty="0" smtClean="0"/>
              <a:t>Large</a:t>
            </a:r>
            <a:r>
              <a:rPr lang="en-US" dirty="0"/>
              <a:t>, droopy sleeves are not recommended because they can cause accidental contamination. </a:t>
            </a:r>
            <a:endParaRPr lang="en-US" dirty="0" smtClean="0"/>
          </a:p>
          <a:p>
            <a:pPr algn="just"/>
            <a:r>
              <a:rPr lang="en-US" dirty="0" smtClean="0"/>
              <a:t>Surgical </a:t>
            </a:r>
            <a:r>
              <a:rPr lang="en-US" dirty="0"/>
              <a:t>gowns are used during surgery or procedures to protect patients and the sterile field from microorganisms from blood and other body fluids (e.g., amniotic fluid) present on the HCW’s clothing, the front of the HCW’s body, and the HCW’s arms</a:t>
            </a:r>
            <a:r>
              <a:rPr lang="en-US" dirty="0" smtClean="0"/>
              <a:t>.</a:t>
            </a:r>
            <a:endParaRPr lang="en-US" dirty="0"/>
          </a:p>
        </p:txBody>
      </p:sp>
    </p:spTree>
    <p:extLst>
      <p:ext uri="{BB962C8B-B14F-4D97-AF65-F5344CB8AC3E}">
        <p14:creationId xmlns:p14="http://schemas.microsoft.com/office/powerpoint/2010/main" val="19324765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Surgical </a:t>
            </a:r>
            <a:r>
              <a:rPr lang="en-US" dirty="0" smtClean="0"/>
              <a:t>gowns cont’d… </a:t>
            </a:r>
            <a:endParaRPr lang="en-US" dirty="0"/>
          </a:p>
        </p:txBody>
      </p:sp>
      <p:sp>
        <p:nvSpPr>
          <p:cNvPr id="3" name="Content Placeholder 2"/>
          <p:cNvSpPr>
            <a:spLocks noGrp="1"/>
          </p:cNvSpPr>
          <p:nvPr>
            <p:ph idx="1"/>
          </p:nvPr>
        </p:nvSpPr>
        <p:spPr>
          <a:xfrm>
            <a:off x="762000" y="2490135"/>
            <a:ext cx="7696199" cy="3758265"/>
          </a:xfrm>
        </p:spPr>
        <p:txBody>
          <a:bodyPr>
            <a:normAutofit fontScale="85000" lnSpcReduction="20000"/>
          </a:bodyPr>
          <a:lstStyle/>
          <a:p>
            <a:pPr algn="just"/>
            <a:r>
              <a:rPr lang="en-US" dirty="0" smtClean="0"/>
              <a:t>When </a:t>
            </a:r>
            <a:r>
              <a:rPr lang="en-US" dirty="0"/>
              <a:t>the surgical gowns are put on, the cuffs of sterile surgical gloves should completely cover the end of the sleeves of the gowns.</a:t>
            </a:r>
          </a:p>
          <a:p>
            <a:pPr algn="just"/>
            <a:r>
              <a:rPr lang="en-US" dirty="0"/>
              <a:t>Lightweight cloth or paper gowns are not recommended because they offer little protection against moisture, which can easily pass through, allowing the passage of microorganisms. </a:t>
            </a:r>
            <a:endParaRPr lang="en-US" dirty="0" smtClean="0"/>
          </a:p>
          <a:p>
            <a:pPr algn="just"/>
            <a:r>
              <a:rPr lang="en-US" dirty="0" smtClean="0"/>
              <a:t>If </a:t>
            </a:r>
            <a:r>
              <a:rPr lang="en-US" dirty="0"/>
              <a:t>a cloth or paper gown is used, always wear a plastic apron under/over it.</a:t>
            </a:r>
          </a:p>
          <a:p>
            <a:pPr algn="just"/>
            <a:endParaRPr lang="en-US" dirty="0"/>
          </a:p>
        </p:txBody>
      </p:sp>
    </p:spTree>
    <p:extLst>
      <p:ext uri="{BB962C8B-B14F-4D97-AF65-F5344CB8AC3E}">
        <p14:creationId xmlns:p14="http://schemas.microsoft.com/office/powerpoint/2010/main" val="19324765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Coveralls</a:t>
            </a:r>
          </a:p>
        </p:txBody>
      </p:sp>
      <p:sp>
        <p:nvSpPr>
          <p:cNvPr id="3" name="Content Placeholder 2"/>
          <p:cNvSpPr>
            <a:spLocks noGrp="1"/>
          </p:cNvSpPr>
          <p:nvPr>
            <p:ph idx="1"/>
          </p:nvPr>
        </p:nvSpPr>
        <p:spPr>
          <a:xfrm>
            <a:off x="762000" y="2490135"/>
            <a:ext cx="7620000" cy="3682065"/>
          </a:xfrm>
        </p:spPr>
        <p:txBody>
          <a:bodyPr>
            <a:normAutofit fontScale="77500" lnSpcReduction="20000"/>
          </a:bodyPr>
          <a:lstStyle/>
          <a:p>
            <a:pPr algn="just"/>
            <a:r>
              <a:rPr lang="en-US" dirty="0"/>
              <a:t>A</a:t>
            </a:r>
            <a:r>
              <a:rPr lang="en-US" dirty="0" smtClean="0"/>
              <a:t>re </a:t>
            </a:r>
            <a:r>
              <a:rPr lang="en-US" dirty="0"/>
              <a:t>full-body suits made from materials that are lightweight, breathable, and impermeable to </a:t>
            </a:r>
            <a:r>
              <a:rPr lang="en-US" dirty="0" smtClean="0"/>
              <a:t>liquids.</a:t>
            </a:r>
            <a:endParaRPr lang="en-US" dirty="0"/>
          </a:p>
          <a:p>
            <a:pPr algn="just"/>
            <a:r>
              <a:rPr lang="en-US" dirty="0"/>
              <a:t>These are to be worn by all HCWs who work in isolation areas for treating highly infectious diseases (e.g., VHF). </a:t>
            </a:r>
            <a:endParaRPr lang="en-US" dirty="0" smtClean="0"/>
          </a:p>
          <a:p>
            <a:pPr algn="just"/>
            <a:r>
              <a:rPr lang="en-US" dirty="0" smtClean="0"/>
              <a:t>They </a:t>
            </a:r>
            <a:r>
              <a:rPr lang="en-US" dirty="0"/>
              <a:t>are designed to go over a scrub suit and create a barrier to eliminate or reduce contact exposure to blood, body fluids, and highly infectious </a:t>
            </a:r>
            <a:r>
              <a:rPr lang="en-US" dirty="0" smtClean="0"/>
              <a:t>microorganisms. </a:t>
            </a:r>
          </a:p>
          <a:p>
            <a:pPr algn="just"/>
            <a:r>
              <a:rPr lang="en-US" dirty="0" smtClean="0"/>
              <a:t>Coveralls </a:t>
            </a:r>
            <a:r>
              <a:rPr lang="en-US" dirty="0"/>
              <a:t>without attached hood and with thumbholes are recommended.</a:t>
            </a:r>
          </a:p>
          <a:p>
            <a:pPr algn="just"/>
            <a:endParaRPr lang="en-US" dirty="0"/>
          </a:p>
        </p:txBody>
      </p:sp>
    </p:spTree>
    <p:extLst>
      <p:ext uri="{BB962C8B-B14F-4D97-AF65-F5344CB8AC3E}">
        <p14:creationId xmlns:p14="http://schemas.microsoft.com/office/powerpoint/2010/main" val="8115847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Coverall Suit</a:t>
            </a:r>
          </a:p>
        </p:txBody>
      </p:sp>
      <p:pic>
        <p:nvPicPr>
          <p:cNvPr id="4" name="Picture 3"/>
          <p:cNvPicPr/>
          <p:nvPr/>
        </p:nvPicPr>
        <p:blipFill>
          <a:blip r:embed="rId2"/>
          <a:stretch>
            <a:fillRect/>
          </a:stretch>
        </p:blipFill>
        <p:spPr>
          <a:xfrm>
            <a:off x="2895601" y="2438400"/>
            <a:ext cx="3428999" cy="3743326"/>
          </a:xfrm>
          <a:prstGeom prst="rect">
            <a:avLst/>
          </a:prstGeom>
        </p:spPr>
      </p:pic>
    </p:spTree>
    <p:extLst>
      <p:ext uri="{BB962C8B-B14F-4D97-AF65-F5344CB8AC3E}">
        <p14:creationId xmlns:p14="http://schemas.microsoft.com/office/powerpoint/2010/main" val="38192078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When to wear </a:t>
            </a:r>
            <a:r>
              <a:rPr lang="en-US" dirty="0" smtClean="0"/>
              <a:t>gowns:</a:t>
            </a:r>
            <a:endParaRPr lang="en-US" dirty="0"/>
          </a:p>
        </p:txBody>
      </p:sp>
      <p:sp>
        <p:nvSpPr>
          <p:cNvPr id="4" name="Content Placeholder 3"/>
          <p:cNvSpPr>
            <a:spLocks noGrp="1"/>
          </p:cNvSpPr>
          <p:nvPr>
            <p:ph idx="1"/>
          </p:nvPr>
        </p:nvSpPr>
        <p:spPr>
          <a:xfrm>
            <a:off x="685800" y="2362200"/>
            <a:ext cx="7772400" cy="4191000"/>
          </a:xfrm>
        </p:spPr>
        <p:txBody>
          <a:bodyPr>
            <a:normAutofit fontScale="70000" lnSpcReduction="20000"/>
          </a:bodyPr>
          <a:lstStyle/>
          <a:p>
            <a:pPr algn="just"/>
            <a:r>
              <a:rPr lang="en-US" dirty="0"/>
              <a:t>The type of gown to use is based on the type of patient interaction, including the anticipated degree of contact with infectious material and the potential for blood and body fluid penetration of the barrier and the type of task to be carried out by the HCW:</a:t>
            </a:r>
          </a:p>
          <a:p>
            <a:pPr lvl="1" algn="just"/>
            <a:r>
              <a:rPr lang="en-US" dirty="0"/>
              <a:t>During Standard Precautions, an isolation gown (with gloves) is worn if blood or body fluid contact, spills, or splashes onto clothing is anticipated.</a:t>
            </a:r>
          </a:p>
          <a:p>
            <a:pPr lvl="1" algn="just"/>
            <a:r>
              <a:rPr lang="en-US" dirty="0"/>
              <a:t>During Contact and Droplet Precautions, an isolation gown (with gloves) is used to prevent transmission of an infectious agent that cannot be prevented by Standard Precautions alone.</a:t>
            </a:r>
          </a:p>
          <a:p>
            <a:pPr lvl="1" algn="just">
              <a:spcAft>
                <a:spcPts val="1200"/>
              </a:spcAft>
            </a:pPr>
            <a:r>
              <a:rPr lang="en-US" dirty="0"/>
              <a:t>During surgical procedures, deliveries, or other aseptic procedures, a sterile surgical gown is worn to protect the sterile field and the clothes of the scrub team or those performing the procedure.</a:t>
            </a:r>
          </a:p>
          <a:p>
            <a:pPr lvl="1" algn="just"/>
            <a:endParaRPr lang="en-US" dirty="0"/>
          </a:p>
        </p:txBody>
      </p:sp>
    </p:spTree>
    <p:extLst>
      <p:ext uri="{BB962C8B-B14F-4D97-AF65-F5344CB8AC3E}">
        <p14:creationId xmlns:p14="http://schemas.microsoft.com/office/powerpoint/2010/main" val="118020104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wear and remove gowns</a:t>
            </a:r>
          </a:p>
        </p:txBody>
      </p:sp>
      <p:sp>
        <p:nvSpPr>
          <p:cNvPr id="3" name="Content Placeholder 2"/>
          <p:cNvSpPr>
            <a:spLocks noGrp="1"/>
          </p:cNvSpPr>
          <p:nvPr>
            <p:ph idx="1"/>
          </p:nvPr>
        </p:nvSpPr>
        <p:spPr>
          <a:xfrm>
            <a:off x="1295400" y="2490135"/>
            <a:ext cx="6680201" cy="3682065"/>
          </a:xfrm>
        </p:spPr>
        <p:txBody>
          <a:bodyPr>
            <a:normAutofit fontScale="77500" lnSpcReduction="20000"/>
          </a:bodyPr>
          <a:lstStyle/>
          <a:p>
            <a:pPr algn="just"/>
            <a:r>
              <a:rPr lang="en-US" dirty="0"/>
              <a:t>Full coverage of the arms and body front, from the neck to the mid-thigh or below, will ensure that clothing and exposed areas of the upper body are protected. </a:t>
            </a:r>
          </a:p>
          <a:p>
            <a:pPr algn="just"/>
            <a:r>
              <a:rPr lang="en-US" dirty="0"/>
              <a:t>Isolation gowns are usually the first piece of PPE to be put </a:t>
            </a:r>
            <a:r>
              <a:rPr lang="en-US" dirty="0" smtClean="0"/>
              <a:t>on. </a:t>
            </a:r>
          </a:p>
          <a:p>
            <a:pPr algn="just"/>
            <a:r>
              <a:rPr lang="en-US" dirty="0" smtClean="0"/>
              <a:t>HCWs </a:t>
            </a:r>
            <a:r>
              <a:rPr lang="en-US" dirty="0"/>
              <a:t>should remove isolation gowns before leaving the patient care area to prevent possible contamination of the environment outside of the patient care </a:t>
            </a:r>
            <a:r>
              <a:rPr lang="en-US" dirty="0" smtClean="0"/>
              <a:t>area.</a:t>
            </a:r>
            <a:endParaRPr lang="en-US" dirty="0"/>
          </a:p>
          <a:p>
            <a:pPr algn="just"/>
            <a:endParaRPr lang="en-US" dirty="0"/>
          </a:p>
        </p:txBody>
      </p:sp>
    </p:spTree>
    <p:extLst>
      <p:ext uri="{BB962C8B-B14F-4D97-AF65-F5344CB8AC3E}">
        <p14:creationId xmlns:p14="http://schemas.microsoft.com/office/powerpoint/2010/main" val="30915219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6865" y="990600"/>
            <a:ext cx="6798735" cy="1228604"/>
          </a:xfrm>
        </p:spPr>
        <p:txBody>
          <a:bodyPr/>
          <a:lstStyle/>
          <a:p>
            <a:r>
              <a:rPr lang="en-US" b="1" dirty="0" smtClean="0"/>
              <a:t>How to put on isolation gown</a:t>
            </a:r>
            <a:endParaRPr lang="en-US"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1" y="2514600"/>
            <a:ext cx="66294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27358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865" y="990600"/>
            <a:ext cx="6798735" cy="1228604"/>
          </a:xfrm>
        </p:spPr>
        <p:txBody>
          <a:bodyPr/>
          <a:lstStyle/>
          <a:p>
            <a:r>
              <a:rPr lang="en-US" b="1" dirty="0" smtClean="0"/>
              <a:t>How to remove isolation gown</a:t>
            </a:r>
            <a:endParaRPr lang="en-US"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438400"/>
            <a:ext cx="66294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45541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4000" b="1" dirty="0" smtClean="0">
                <a:latin typeface="+mj-lt"/>
              </a:rPr>
              <a:t>Plastic Apron </a:t>
            </a:r>
            <a:endParaRPr lang="en-US" sz="4000" dirty="0">
              <a:latin typeface="+mj-lt"/>
            </a:endParaRPr>
          </a:p>
        </p:txBody>
      </p:sp>
      <p:sp>
        <p:nvSpPr>
          <p:cNvPr id="3" name="Content Placeholder 2"/>
          <p:cNvSpPr>
            <a:spLocks noGrp="1"/>
          </p:cNvSpPr>
          <p:nvPr>
            <p:ph idx="1"/>
          </p:nvPr>
        </p:nvSpPr>
        <p:spPr>
          <a:xfrm>
            <a:off x="685800" y="2413935"/>
            <a:ext cx="7696200" cy="3834465"/>
          </a:xfrm>
        </p:spPr>
        <p:txBody>
          <a:bodyPr>
            <a:noAutofit/>
          </a:bodyPr>
          <a:lstStyle/>
          <a:p>
            <a:pPr algn="just"/>
            <a:r>
              <a:rPr lang="en-US" sz="2400" dirty="0"/>
              <a:t>It is used to protect clothing or surfaces from contamination. </a:t>
            </a:r>
            <a:endParaRPr lang="en-US" sz="2400" dirty="0" smtClean="0"/>
          </a:p>
          <a:p>
            <a:pPr algn="just"/>
            <a:r>
              <a:rPr lang="en-US" sz="2400" dirty="0" smtClean="0"/>
              <a:t>Reusable </a:t>
            </a:r>
            <a:r>
              <a:rPr lang="en-US" sz="2400" dirty="0"/>
              <a:t>aprons which are made of rubber or plastic provide a waterproof barrier along the front of the personnel’s body. </a:t>
            </a:r>
            <a:endParaRPr lang="en-US" sz="2400" dirty="0" smtClean="0"/>
          </a:p>
          <a:p>
            <a:pPr algn="just"/>
            <a:r>
              <a:rPr lang="en-US" sz="2400" dirty="0" smtClean="0"/>
              <a:t>Thus</a:t>
            </a:r>
            <a:r>
              <a:rPr lang="en-US" sz="2400" dirty="0"/>
              <a:t>, it should also be worn during cleaning and procedures with likelihood of splashes or spillage of blood, body fluids, secretions or excretions (e.g. when conducting deliveries). </a:t>
            </a:r>
            <a:endParaRPr lang="en-US" sz="2400" dirty="0" smtClean="0"/>
          </a:p>
          <a:p>
            <a:pPr algn="just"/>
            <a:r>
              <a:rPr lang="en-US" sz="2400" dirty="0" smtClean="0"/>
              <a:t>Disposable </a:t>
            </a:r>
            <a:r>
              <a:rPr lang="en-US" sz="2400" dirty="0"/>
              <a:t>water-proof aprons are also available for clinical use.</a:t>
            </a:r>
          </a:p>
          <a:p>
            <a:pPr algn="just"/>
            <a:endParaRPr lang="en-US" sz="2400" dirty="0"/>
          </a:p>
        </p:txBody>
      </p:sp>
    </p:spTree>
    <p:extLst>
      <p:ext uri="{BB962C8B-B14F-4D97-AF65-F5344CB8AC3E}">
        <p14:creationId xmlns:p14="http://schemas.microsoft.com/office/powerpoint/2010/main" val="14378707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4400" b="1" dirty="0" smtClean="0">
                <a:latin typeface="+mj-lt"/>
              </a:rPr>
              <a:t>Gloves</a:t>
            </a:r>
            <a:endParaRPr lang="en-US" sz="4400" dirty="0">
              <a:latin typeface="+mj-lt"/>
            </a:endParaRPr>
          </a:p>
        </p:txBody>
      </p:sp>
      <p:sp>
        <p:nvSpPr>
          <p:cNvPr id="3" name="Content Placeholder 2"/>
          <p:cNvSpPr>
            <a:spLocks noGrp="1"/>
          </p:cNvSpPr>
          <p:nvPr>
            <p:ph idx="1"/>
          </p:nvPr>
        </p:nvSpPr>
        <p:spPr>
          <a:xfrm>
            <a:off x="762000" y="2490135"/>
            <a:ext cx="7620000" cy="3682065"/>
          </a:xfrm>
        </p:spPr>
        <p:txBody>
          <a:bodyPr>
            <a:normAutofit fontScale="85000" lnSpcReduction="10000"/>
          </a:bodyPr>
          <a:lstStyle/>
          <a:p>
            <a:r>
              <a:rPr lang="en-US" b="1" dirty="0"/>
              <a:t>Healthcare Workers Wear Gloves for the Following Three Reasons</a:t>
            </a:r>
            <a:r>
              <a:rPr lang="en-US" b="1" dirty="0" smtClean="0"/>
              <a:t>:</a:t>
            </a:r>
            <a:endParaRPr lang="en-US" dirty="0"/>
          </a:p>
          <a:p>
            <a:pPr lvl="1" algn="just"/>
            <a:r>
              <a:rPr lang="en-US" dirty="0"/>
              <a:t>To reduce the risk of acquiring infections to the staff from patients</a:t>
            </a:r>
          </a:p>
          <a:p>
            <a:pPr lvl="1" algn="just"/>
            <a:r>
              <a:rPr lang="en-US" dirty="0"/>
              <a:t>To reduce the risk of transmitting microorganisms including skin flora from provider to clients/patients</a:t>
            </a:r>
          </a:p>
          <a:p>
            <a:pPr lvl="1" algn="just"/>
            <a:r>
              <a:rPr lang="en-US" dirty="0"/>
              <a:t>To reduce contamination of the hands of the staff by microorganisms which are transmissible from one patient to another (cross-contamination). </a:t>
            </a:r>
          </a:p>
          <a:p>
            <a:endParaRPr lang="en-US" dirty="0"/>
          </a:p>
        </p:txBody>
      </p:sp>
    </p:spTree>
    <p:extLst>
      <p:ext uri="{BB962C8B-B14F-4D97-AF65-F5344CB8AC3E}">
        <p14:creationId xmlns:p14="http://schemas.microsoft.com/office/powerpoint/2010/main" val="41699439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gloves</a:t>
            </a:r>
            <a:endParaRPr lang="en-US" dirty="0"/>
          </a:p>
        </p:txBody>
      </p:sp>
      <p:sp>
        <p:nvSpPr>
          <p:cNvPr id="3" name="Content Placeholder 2"/>
          <p:cNvSpPr>
            <a:spLocks noGrp="1"/>
          </p:cNvSpPr>
          <p:nvPr>
            <p:ph idx="1"/>
          </p:nvPr>
        </p:nvSpPr>
        <p:spPr>
          <a:xfrm>
            <a:off x="685800" y="2514600"/>
            <a:ext cx="7772400" cy="3657600"/>
          </a:xfrm>
        </p:spPr>
        <p:txBody>
          <a:bodyPr>
            <a:normAutofit fontScale="70000" lnSpcReduction="20000"/>
          </a:bodyPr>
          <a:lstStyle/>
          <a:p>
            <a:pPr algn="just"/>
            <a:r>
              <a:rPr lang="en-US" b="1" dirty="0"/>
              <a:t>Surgical Glove</a:t>
            </a:r>
            <a:r>
              <a:rPr lang="en-US" dirty="0"/>
              <a:t> - should be used when performing invasive medical or surgical procedures.</a:t>
            </a:r>
          </a:p>
          <a:p>
            <a:pPr algn="just"/>
            <a:r>
              <a:rPr lang="en-US" b="1" dirty="0"/>
              <a:t>Clean Examination Gloves</a:t>
            </a:r>
            <a:r>
              <a:rPr lang="en-US" dirty="0"/>
              <a:t> - provide protection to healthcare workers when performing many of their routine duties. These gloves can be used whenever contact with mucous membrane and non-intact skin is anticipated (e.g. during medical examinations and procedures such as pelvic examination</a:t>
            </a:r>
            <a:r>
              <a:rPr lang="en-US" dirty="0" smtClean="0"/>
              <a:t>).</a:t>
            </a:r>
          </a:p>
          <a:p>
            <a:pPr algn="just"/>
            <a:r>
              <a:rPr lang="en-US" b="1" dirty="0"/>
              <a:t>Utility or Heavy-Duty Gloves</a:t>
            </a:r>
            <a:r>
              <a:rPr lang="en-US" dirty="0"/>
              <a:t> - should be worn when processing instruments, equipment and other items, for handling and disposing contaminated waste, and when cleaning contaminated </a:t>
            </a:r>
            <a:r>
              <a:rPr lang="en-US" dirty="0" smtClean="0"/>
              <a:t>surfaces</a:t>
            </a:r>
            <a:r>
              <a:rPr lang="en-US" dirty="0"/>
              <a:t>. </a:t>
            </a:r>
            <a:endParaRPr lang="en-US" dirty="0" smtClean="0"/>
          </a:p>
        </p:txBody>
      </p:sp>
    </p:spTree>
    <p:extLst>
      <p:ext uri="{BB962C8B-B14F-4D97-AF65-F5344CB8AC3E}">
        <p14:creationId xmlns:p14="http://schemas.microsoft.com/office/powerpoint/2010/main" val="72093872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Wear Gloves</a:t>
            </a:r>
            <a:endParaRPr lang="en-US" dirty="0"/>
          </a:p>
        </p:txBody>
      </p:sp>
      <p:sp>
        <p:nvSpPr>
          <p:cNvPr id="3" name="Content Placeholder 2"/>
          <p:cNvSpPr>
            <a:spLocks noGrp="1"/>
          </p:cNvSpPr>
          <p:nvPr>
            <p:ph idx="1"/>
          </p:nvPr>
        </p:nvSpPr>
        <p:spPr>
          <a:xfrm>
            <a:off x="685800" y="2490135"/>
            <a:ext cx="7772400" cy="3758265"/>
          </a:xfrm>
        </p:spPr>
        <p:txBody>
          <a:bodyPr>
            <a:normAutofit fontScale="85000" lnSpcReduction="20000"/>
          </a:bodyPr>
          <a:lstStyle/>
          <a:p>
            <a:pPr algn="just"/>
            <a:r>
              <a:rPr lang="en-US" dirty="0"/>
              <a:t>Depending on the situation, surgical gloves, clean examination or utility gloves should be worn by all staff where</a:t>
            </a:r>
            <a:r>
              <a:rPr lang="en-US" dirty="0" smtClean="0"/>
              <a:t>:</a:t>
            </a:r>
            <a:endParaRPr lang="en-US" dirty="0"/>
          </a:p>
          <a:p>
            <a:pPr lvl="1" algn="just"/>
            <a:r>
              <a:rPr lang="en-US" dirty="0"/>
              <a:t>There is  a chance of hands coming in contact with blood or other body fluids, mucous membranes or none intact skin;</a:t>
            </a:r>
          </a:p>
          <a:p>
            <a:pPr lvl="1" algn="just"/>
            <a:r>
              <a:rPr lang="en-US" dirty="0"/>
              <a:t>They perform invasive medical procedures (e.g.  inserting vascular  devices  such  as peripheral venous lines); or</a:t>
            </a:r>
          </a:p>
          <a:p>
            <a:pPr lvl="1" algn="just"/>
            <a:r>
              <a:rPr lang="en-US" dirty="0"/>
              <a:t>They handle contaminated waste items or touch contaminated surfaces. </a:t>
            </a:r>
          </a:p>
        </p:txBody>
      </p:sp>
    </p:spTree>
    <p:extLst>
      <p:ext uri="{BB962C8B-B14F-4D97-AF65-F5344CB8AC3E}">
        <p14:creationId xmlns:p14="http://schemas.microsoft.com/office/powerpoint/2010/main" val="25605570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a:t>The Decision Pyramid – </a:t>
            </a:r>
            <a:r>
              <a:rPr lang="en-US" sz="3200" b="1" dirty="0" smtClean="0"/>
              <a:t/>
            </a:r>
            <a:br>
              <a:rPr lang="en-US" sz="3200" b="1" dirty="0" smtClean="0"/>
            </a:br>
            <a:r>
              <a:rPr lang="en-US" sz="3200" b="1" dirty="0" smtClean="0"/>
              <a:t>When </a:t>
            </a:r>
            <a:r>
              <a:rPr lang="en-US" sz="3200" b="1" dirty="0"/>
              <a:t>to and not to wear gloves </a:t>
            </a:r>
            <a:r>
              <a:rPr lang="en-US" sz="1000" b="1" dirty="0"/>
              <a:t/>
            </a:r>
            <a:br>
              <a:rPr lang="en-US" sz="1000" b="1" dirty="0"/>
            </a:br>
            <a:r>
              <a:rPr lang="en-US" sz="1800" b="1" i="1" dirty="0"/>
              <a:t>Image from WHO (2009); Hand Hygiene Why, How and When</a:t>
            </a:r>
            <a:r>
              <a:rPr lang="en-US" sz="1000" b="1" dirty="0"/>
              <a:t/>
            </a:r>
            <a:br>
              <a:rPr lang="en-US" sz="1000" b="1" dirty="0"/>
            </a:br>
            <a:endParaRPr lang="en-US" sz="1000" b="1" dirty="0"/>
          </a:p>
        </p:txBody>
      </p:sp>
      <p:pic>
        <p:nvPicPr>
          <p:cNvPr id="4" name="Picture 3"/>
          <p:cNvPicPr/>
          <p:nvPr/>
        </p:nvPicPr>
        <p:blipFill>
          <a:blip r:embed="rId2"/>
          <a:srcRect/>
          <a:stretch>
            <a:fillRect/>
          </a:stretch>
        </p:blipFill>
        <p:spPr bwMode="auto">
          <a:xfrm>
            <a:off x="762000" y="2438400"/>
            <a:ext cx="7543800" cy="3810000"/>
          </a:xfrm>
          <a:prstGeom prst="rect">
            <a:avLst/>
          </a:prstGeom>
          <a:noFill/>
          <a:ln w="9525">
            <a:noFill/>
            <a:miter lim="800000"/>
            <a:headEnd/>
            <a:tailEnd/>
          </a:ln>
        </p:spPr>
      </p:pic>
    </p:spTree>
    <p:extLst>
      <p:ext uri="{BB962C8B-B14F-4D97-AF65-F5344CB8AC3E}">
        <p14:creationId xmlns:p14="http://schemas.microsoft.com/office/powerpoint/2010/main" val="263872384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When to Use Double Gloves</a:t>
            </a:r>
            <a:endParaRPr lang="en-US" dirty="0"/>
          </a:p>
        </p:txBody>
      </p:sp>
      <p:sp>
        <p:nvSpPr>
          <p:cNvPr id="3" name="Content Placeholder 2"/>
          <p:cNvSpPr>
            <a:spLocks noGrp="1"/>
          </p:cNvSpPr>
          <p:nvPr>
            <p:ph idx="1"/>
          </p:nvPr>
        </p:nvSpPr>
        <p:spPr>
          <a:xfrm>
            <a:off x="685800" y="2438400"/>
            <a:ext cx="7772400" cy="4038600"/>
          </a:xfrm>
        </p:spPr>
        <p:txBody>
          <a:bodyPr>
            <a:normAutofit fontScale="77500" lnSpcReduction="20000"/>
          </a:bodyPr>
          <a:lstStyle/>
          <a:p>
            <a:pPr algn="just"/>
            <a:r>
              <a:rPr lang="en-US" dirty="0"/>
              <a:t>Even the best quality, new latex rubber surgical gloves may leak up to 4% of the time. </a:t>
            </a:r>
            <a:endParaRPr lang="en-US" dirty="0" smtClean="0"/>
          </a:p>
          <a:p>
            <a:pPr algn="just"/>
            <a:r>
              <a:rPr lang="en-US" dirty="0" smtClean="0"/>
              <a:t>Moreover</a:t>
            </a:r>
            <a:r>
              <a:rPr lang="en-US" dirty="0"/>
              <a:t>, it was found that latex gloves gradually become weaker and lose their intactness especially when exposed to fat on surfaces of wounds.</a:t>
            </a:r>
          </a:p>
          <a:p>
            <a:pPr algn="just"/>
            <a:r>
              <a:rPr lang="en-US" b="1" dirty="0" smtClean="0"/>
              <a:t>Note: </a:t>
            </a:r>
            <a:r>
              <a:rPr lang="en-US" dirty="0" smtClean="0"/>
              <a:t>The </a:t>
            </a:r>
            <a:r>
              <a:rPr lang="en-US" dirty="0"/>
              <a:t>acceptable “leak rate for new surgical and examination gloves designated by regulatory agencies is up to 4</a:t>
            </a:r>
            <a:r>
              <a:rPr lang="en-US" dirty="0" smtClean="0"/>
              <a:t>%.</a:t>
            </a:r>
          </a:p>
          <a:p>
            <a:pPr algn="just"/>
            <a:r>
              <a:rPr lang="en-US" dirty="0"/>
              <a:t>Although double gloving is of little benefit in preventing exposure to blood in case of needle sticks or other similar injuries, it may decrease the risk of blood-hand contact. </a:t>
            </a:r>
          </a:p>
          <a:p>
            <a:pPr algn="just"/>
            <a:endParaRPr lang="en-US" dirty="0"/>
          </a:p>
        </p:txBody>
      </p:sp>
    </p:spTree>
    <p:extLst>
      <p:ext uri="{BB962C8B-B14F-4D97-AF65-F5344CB8AC3E}">
        <p14:creationId xmlns:p14="http://schemas.microsoft.com/office/powerpoint/2010/main" val="15514810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24800" cy="1255222"/>
          </a:xfrm>
        </p:spPr>
        <p:txBody>
          <a:bodyPr/>
          <a:lstStyle/>
          <a:p>
            <a:r>
              <a:rPr lang="en-US" dirty="0"/>
              <a:t>Health care providers should Double Glove when</a:t>
            </a:r>
            <a:r>
              <a:rPr lang="en-US" dirty="0" smtClean="0"/>
              <a:t>:</a:t>
            </a:r>
            <a:r>
              <a:rPr lang="en-US" dirty="0"/>
              <a:t> </a:t>
            </a:r>
          </a:p>
        </p:txBody>
      </p:sp>
      <p:sp>
        <p:nvSpPr>
          <p:cNvPr id="3" name="Content Placeholder 2"/>
          <p:cNvSpPr>
            <a:spLocks noGrp="1"/>
          </p:cNvSpPr>
          <p:nvPr>
            <p:ph idx="1"/>
          </p:nvPr>
        </p:nvSpPr>
        <p:spPr>
          <a:xfrm>
            <a:off x="838200" y="2566335"/>
            <a:ext cx="7467600" cy="3605865"/>
          </a:xfrm>
        </p:spPr>
        <p:txBody>
          <a:bodyPr>
            <a:normAutofit fontScale="85000" lnSpcReduction="20000"/>
          </a:bodyPr>
          <a:lstStyle/>
          <a:p>
            <a:pPr lvl="0" algn="just"/>
            <a:r>
              <a:rPr lang="en-US" dirty="0"/>
              <a:t>The procedure involves coming in contact with large amounts of blood or other body fluids (e.g. vaginal deliveries and cesarean sections).</a:t>
            </a:r>
          </a:p>
          <a:p>
            <a:pPr lvl="0" algn="just"/>
            <a:r>
              <a:rPr lang="en-US" dirty="0"/>
              <a:t>Performing orthopedic procedures in which sharp bone fragments, wire sutures and other sharp edged materials are likely to be encountered.</a:t>
            </a:r>
          </a:p>
          <a:p>
            <a:pPr lvl="0" algn="just"/>
            <a:r>
              <a:rPr lang="en-US" dirty="0"/>
              <a:t>Performing surgical procedures lasting more than 30 minutes. (Most surgeons, these days use double glove routinely).</a:t>
            </a:r>
          </a:p>
          <a:p>
            <a:pPr algn="just"/>
            <a:endParaRPr lang="en-US" dirty="0"/>
          </a:p>
        </p:txBody>
      </p:sp>
    </p:spTree>
    <p:extLst>
      <p:ext uri="{BB962C8B-B14F-4D97-AF65-F5344CB8AC3E}">
        <p14:creationId xmlns:p14="http://schemas.microsoft.com/office/powerpoint/2010/main" val="18248997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30778"/>
            <a:ext cx="7848600" cy="1188426"/>
          </a:xfrm>
        </p:spPr>
        <p:txBody>
          <a:bodyPr/>
          <a:lstStyle/>
          <a:p>
            <a:r>
              <a:rPr lang="en-US" dirty="0" smtClean="0"/>
              <a:t>When to use elbow length gloves:</a:t>
            </a:r>
            <a:endParaRPr lang="en-US" dirty="0"/>
          </a:p>
        </p:txBody>
      </p:sp>
      <p:sp>
        <p:nvSpPr>
          <p:cNvPr id="3" name="Content Placeholder 2"/>
          <p:cNvSpPr>
            <a:spLocks noGrp="1"/>
          </p:cNvSpPr>
          <p:nvPr>
            <p:ph idx="1"/>
          </p:nvPr>
        </p:nvSpPr>
        <p:spPr>
          <a:xfrm>
            <a:off x="762000" y="2490135"/>
            <a:ext cx="7620000" cy="3758265"/>
          </a:xfrm>
        </p:spPr>
        <p:txBody>
          <a:bodyPr>
            <a:normAutofit fontScale="77500" lnSpcReduction="20000"/>
          </a:bodyPr>
          <a:lstStyle/>
          <a:p>
            <a:pPr algn="just"/>
            <a:r>
              <a:rPr lang="en-US" dirty="0"/>
              <a:t>Elbow length gloves should be used during vaginal deliveries and cesarean sections where the chance of coming in contact with blood is 25% and 35% respectively. </a:t>
            </a:r>
            <a:endParaRPr lang="en-US" dirty="0" smtClean="0"/>
          </a:p>
          <a:p>
            <a:pPr algn="just"/>
            <a:r>
              <a:rPr lang="en-US" dirty="0" smtClean="0"/>
              <a:t>Elbow </a:t>
            </a:r>
            <a:r>
              <a:rPr lang="en-US" dirty="0"/>
              <a:t>length gloves are also recommended to be used during performing procedures like manual removal of placenta and any other procedure where  contact with a large volume of blood or body fluids is likely. </a:t>
            </a:r>
            <a:endParaRPr lang="en-US" dirty="0" smtClean="0"/>
          </a:p>
          <a:p>
            <a:pPr algn="just"/>
            <a:r>
              <a:rPr lang="en-US" dirty="0" smtClean="0"/>
              <a:t>This </a:t>
            </a:r>
            <a:r>
              <a:rPr lang="en-US" dirty="0"/>
              <a:t>kind of glove is generally meant to give protection to the hands including the forearms.</a:t>
            </a:r>
          </a:p>
          <a:p>
            <a:pPr algn="just"/>
            <a:endParaRPr lang="en-US" dirty="0"/>
          </a:p>
        </p:txBody>
      </p:sp>
    </p:spTree>
    <p:extLst>
      <p:ext uri="{BB962C8B-B14F-4D97-AF65-F5344CB8AC3E}">
        <p14:creationId xmlns:p14="http://schemas.microsoft.com/office/powerpoint/2010/main" val="90933617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How to make Elbow Length </a:t>
            </a:r>
            <a:r>
              <a:rPr lang="en-US" b="1" dirty="0" smtClean="0"/>
              <a:t>Gloves</a:t>
            </a:r>
            <a:endParaRPr lang="en-US" dirty="0"/>
          </a:p>
        </p:txBody>
      </p:sp>
      <p:pic>
        <p:nvPicPr>
          <p:cNvPr id="5" name="Picture 4"/>
          <p:cNvPicPr/>
          <p:nvPr/>
        </p:nvPicPr>
        <p:blipFill>
          <a:blip r:embed="rId2"/>
          <a:stretch>
            <a:fillRect/>
          </a:stretch>
        </p:blipFill>
        <p:spPr>
          <a:xfrm>
            <a:off x="1371600" y="2514600"/>
            <a:ext cx="6553200" cy="3733800"/>
          </a:xfrm>
          <a:prstGeom prst="rect">
            <a:avLst/>
          </a:prstGeom>
        </p:spPr>
      </p:pic>
    </p:spTree>
    <p:extLst>
      <p:ext uri="{BB962C8B-B14F-4D97-AF65-F5344CB8AC3E}">
        <p14:creationId xmlns:p14="http://schemas.microsoft.com/office/powerpoint/2010/main" val="111477412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
            </a:r>
            <a:br>
              <a:rPr lang="en-US" dirty="0" smtClean="0"/>
            </a:br>
            <a:r>
              <a:rPr lang="en-US" dirty="0" smtClean="0"/>
              <a:t>How to use gloves </a:t>
            </a:r>
            <a:br>
              <a:rPr lang="en-US" dirty="0" smtClean="0"/>
            </a:br>
            <a:endParaRPr lang="en-US" dirty="0"/>
          </a:p>
        </p:txBody>
      </p:sp>
      <p:sp>
        <p:nvSpPr>
          <p:cNvPr id="4" name="Content Placeholder 3"/>
          <p:cNvSpPr>
            <a:spLocks noGrp="1"/>
          </p:cNvSpPr>
          <p:nvPr>
            <p:ph idx="1"/>
          </p:nvPr>
        </p:nvSpPr>
        <p:spPr>
          <a:xfrm>
            <a:off x="990600" y="2490135"/>
            <a:ext cx="7162800" cy="3444997"/>
          </a:xfrm>
        </p:spPr>
        <p:txBody>
          <a:bodyPr>
            <a:normAutofit fontScale="70000" lnSpcReduction="20000"/>
          </a:bodyPr>
          <a:lstStyle/>
          <a:p>
            <a:pPr algn="just"/>
            <a:r>
              <a:rPr lang="en-US" dirty="0"/>
              <a:t>Although the effectiveness of gloves in preventing contamination of the healthcare workers’ hands has been repeatedly confirmed (</a:t>
            </a:r>
            <a:r>
              <a:rPr lang="en-US" dirty="0" err="1"/>
              <a:t>Tenorio</a:t>
            </a:r>
            <a:r>
              <a:rPr lang="en-US" dirty="0"/>
              <a:t> </a:t>
            </a:r>
            <a:r>
              <a:rPr lang="en-US" i="1" dirty="0"/>
              <a:t>et al</a:t>
            </a:r>
            <a:r>
              <a:rPr lang="en-US" dirty="0"/>
              <a:t>., 2001), wearing gloves does not replace the need for hand washing. </a:t>
            </a:r>
            <a:endParaRPr lang="en-US" dirty="0" smtClean="0"/>
          </a:p>
          <a:p>
            <a:pPr algn="just"/>
            <a:r>
              <a:rPr lang="en-US" dirty="0" smtClean="0"/>
              <a:t>The </a:t>
            </a:r>
            <a:r>
              <a:rPr lang="en-US" dirty="0"/>
              <a:t>truth is that even the best quality latex surgical gloves may have small and unnoticeable defects; they may be torn during use; and the hands can become contaminated during </a:t>
            </a:r>
            <a:r>
              <a:rPr lang="en-US" dirty="0" smtClean="0"/>
              <a:t>removal.</a:t>
            </a:r>
            <a:endParaRPr lang="en-US" dirty="0"/>
          </a:p>
          <a:p>
            <a:pPr algn="just"/>
            <a:r>
              <a:rPr lang="en-US" b="1" dirty="0"/>
              <a:t>Note:</a:t>
            </a:r>
            <a:r>
              <a:rPr lang="en-US" dirty="0"/>
              <a:t> </a:t>
            </a:r>
            <a:r>
              <a:rPr lang="en-US" dirty="0" smtClean="0"/>
              <a:t>Practice </a:t>
            </a:r>
            <a:r>
              <a:rPr lang="en-US" dirty="0"/>
              <a:t>of hand hygiene, coupled with the use of protective gloves, is a key component in minimizing the spread of </a:t>
            </a:r>
            <a:r>
              <a:rPr lang="en-US" dirty="0" smtClean="0"/>
              <a:t>disease.</a:t>
            </a:r>
            <a:endParaRPr lang="en-US" dirty="0"/>
          </a:p>
          <a:p>
            <a:pPr algn="just"/>
            <a:endParaRPr lang="en-US" dirty="0"/>
          </a:p>
        </p:txBody>
      </p:sp>
    </p:spTree>
    <p:extLst>
      <p:ext uri="{BB962C8B-B14F-4D97-AF65-F5344CB8AC3E}">
        <p14:creationId xmlns:p14="http://schemas.microsoft.com/office/powerpoint/2010/main" val="1789955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How </a:t>
            </a:r>
            <a:r>
              <a:rPr lang="en-US" b="1" dirty="0"/>
              <a:t>to </a:t>
            </a:r>
            <a:r>
              <a:rPr lang="en-US" b="1" dirty="0" smtClean="0"/>
              <a:t>don examination </a:t>
            </a:r>
            <a:r>
              <a:rPr lang="en-US" b="1" dirty="0"/>
              <a:t>gloves</a:t>
            </a:r>
            <a:br>
              <a:rPr lang="en-US" b="1" dirty="0"/>
            </a:br>
            <a:endParaRPr lang="en-US" b="1"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996264"/>
            <a:ext cx="6629400" cy="3252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3"/>
          <p:cNvSpPr txBox="1">
            <a:spLocks/>
          </p:cNvSpPr>
          <p:nvPr/>
        </p:nvSpPr>
        <p:spPr>
          <a:xfrm>
            <a:off x="1600200" y="2438400"/>
            <a:ext cx="5943600" cy="557865"/>
          </a:xfrm>
          <a:prstGeom prst="rect">
            <a:avLst/>
          </a:prstGeom>
        </p:spPr>
        <p:txBody>
          <a:bodyPr vert="horz" lIns="91440" tIns="45720" rIns="91440" bIns="45720" rtlCol="0" anchor="t">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Wash hands before donning of gloves</a:t>
            </a:r>
            <a:endParaRPr lang="en-US" dirty="0"/>
          </a:p>
        </p:txBody>
      </p:sp>
    </p:spTree>
    <p:extLst>
      <p:ext uri="{BB962C8B-B14F-4D97-AF65-F5344CB8AC3E}">
        <p14:creationId xmlns:p14="http://schemas.microsoft.com/office/powerpoint/2010/main" val="303895459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915337"/>
            <a:ext cx="7086599" cy="1303867"/>
          </a:xfrm>
        </p:spPr>
        <p:txBody>
          <a:bodyPr>
            <a:normAutofit fontScale="90000"/>
          </a:bodyPr>
          <a:lstStyle/>
          <a:p>
            <a:r>
              <a:rPr lang="en-US" b="1" dirty="0" smtClean="0"/>
              <a:t>How to remove examination gloves</a:t>
            </a:r>
            <a:endParaRPr lang="en-US"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447924"/>
            <a:ext cx="6629399" cy="3267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3"/>
          <p:cNvSpPr txBox="1">
            <a:spLocks/>
          </p:cNvSpPr>
          <p:nvPr/>
        </p:nvSpPr>
        <p:spPr>
          <a:xfrm>
            <a:off x="1634065" y="5766735"/>
            <a:ext cx="5757335" cy="481665"/>
          </a:xfrm>
          <a:prstGeom prst="rect">
            <a:avLst/>
          </a:prstGeom>
        </p:spPr>
        <p:txBody>
          <a:bodyPr vert="horz" lIns="91440" tIns="45720" rIns="91440" bIns="45720" rtlCol="0" anchor="t">
            <a:normAutofit fontScale="92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Wash hands after removing gloves</a:t>
            </a:r>
            <a:endParaRPr lang="en-US" dirty="0"/>
          </a:p>
        </p:txBody>
      </p:sp>
    </p:spTree>
    <p:extLst>
      <p:ext uri="{BB962C8B-B14F-4D97-AF65-F5344CB8AC3E}">
        <p14:creationId xmlns:p14="http://schemas.microsoft.com/office/powerpoint/2010/main" val="75125307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1" y="915337"/>
            <a:ext cx="7696200" cy="1303867"/>
          </a:xfrm>
        </p:spPr>
        <p:txBody>
          <a:bodyPr>
            <a:normAutofit fontScale="90000"/>
          </a:bodyPr>
          <a:lstStyle/>
          <a:p>
            <a:r>
              <a:rPr lang="en-US" b="1" dirty="0"/>
              <a:t>Procedure for wearing Sterile Gloves </a:t>
            </a:r>
          </a:p>
        </p:txBody>
      </p:sp>
      <p:sp>
        <p:nvSpPr>
          <p:cNvPr id="7" name="Content Placeholder 3"/>
          <p:cNvSpPr txBox="1">
            <a:spLocks/>
          </p:cNvSpPr>
          <p:nvPr/>
        </p:nvSpPr>
        <p:spPr>
          <a:xfrm>
            <a:off x="1600200" y="2438400"/>
            <a:ext cx="5943600" cy="557865"/>
          </a:xfrm>
          <a:prstGeom prst="rect">
            <a:avLst/>
          </a:prstGeom>
        </p:spPr>
        <p:txBody>
          <a:bodyPr vert="horz" lIns="91440" tIns="45720" rIns="91440" bIns="45720" rtlCol="0" anchor="t">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Wash hands before donning of gloves</a:t>
            </a:r>
            <a:endParaRPr lang="en-US" dirty="0"/>
          </a:p>
        </p:txBody>
      </p:sp>
      <p:pic>
        <p:nvPicPr>
          <p:cNvPr id="8" name="Picture 7"/>
          <p:cNvPicPr/>
          <p:nvPr/>
        </p:nvPicPr>
        <p:blipFill>
          <a:blip r:embed="rId2"/>
          <a:srcRect/>
          <a:stretch>
            <a:fillRect/>
          </a:stretch>
        </p:blipFill>
        <p:spPr bwMode="auto">
          <a:xfrm>
            <a:off x="685800" y="2996265"/>
            <a:ext cx="7772400" cy="3252135"/>
          </a:xfrm>
          <a:prstGeom prst="rect">
            <a:avLst/>
          </a:prstGeom>
          <a:noFill/>
          <a:ln w="9525">
            <a:noFill/>
            <a:miter lim="800000"/>
            <a:headEnd/>
            <a:tailEnd/>
          </a:ln>
        </p:spPr>
      </p:pic>
    </p:spTree>
    <p:extLst>
      <p:ext uri="{BB962C8B-B14F-4D97-AF65-F5344CB8AC3E}">
        <p14:creationId xmlns:p14="http://schemas.microsoft.com/office/powerpoint/2010/main" val="413914698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915337"/>
            <a:ext cx="7467600" cy="1303867"/>
          </a:xfrm>
        </p:spPr>
        <p:txBody>
          <a:bodyPr>
            <a:normAutofit fontScale="90000"/>
          </a:bodyPr>
          <a:lstStyle/>
          <a:p>
            <a:r>
              <a:rPr lang="en-US" b="1" dirty="0"/>
              <a:t>How to remove (doff) sterile gloves </a:t>
            </a:r>
            <a:endParaRPr lang="en-US" dirty="0"/>
          </a:p>
        </p:txBody>
      </p:sp>
      <p:pic>
        <p:nvPicPr>
          <p:cNvPr id="3" name="Picture 2"/>
          <p:cNvPicPr/>
          <p:nvPr/>
        </p:nvPicPr>
        <p:blipFill>
          <a:blip r:embed="rId2"/>
          <a:srcRect/>
          <a:stretch>
            <a:fillRect/>
          </a:stretch>
        </p:blipFill>
        <p:spPr bwMode="auto">
          <a:xfrm>
            <a:off x="685800" y="2438400"/>
            <a:ext cx="7772400" cy="3276600"/>
          </a:xfrm>
          <a:prstGeom prst="rect">
            <a:avLst/>
          </a:prstGeom>
          <a:noFill/>
          <a:ln w="9525">
            <a:noFill/>
            <a:miter lim="800000"/>
            <a:headEnd/>
            <a:tailEnd/>
          </a:ln>
        </p:spPr>
      </p:pic>
      <p:sp>
        <p:nvSpPr>
          <p:cNvPr id="4" name="Content Placeholder 3"/>
          <p:cNvSpPr txBox="1">
            <a:spLocks/>
          </p:cNvSpPr>
          <p:nvPr/>
        </p:nvSpPr>
        <p:spPr>
          <a:xfrm>
            <a:off x="1634065" y="5766735"/>
            <a:ext cx="5757335" cy="481665"/>
          </a:xfrm>
          <a:prstGeom prst="rect">
            <a:avLst/>
          </a:prstGeom>
        </p:spPr>
        <p:txBody>
          <a:bodyPr vert="horz" lIns="91440" tIns="45720" rIns="91440" bIns="45720" rtlCol="0" anchor="t">
            <a:normAutofit fontScale="92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8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Wash hands after removing gloves</a:t>
            </a:r>
            <a:endParaRPr lang="en-US" dirty="0"/>
          </a:p>
        </p:txBody>
      </p:sp>
    </p:spTree>
    <p:extLst>
      <p:ext uri="{BB962C8B-B14F-4D97-AF65-F5344CB8AC3E}">
        <p14:creationId xmlns:p14="http://schemas.microsoft.com/office/powerpoint/2010/main" val="383257845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Donning surgical gloves for surgical intervention</a:t>
            </a:r>
            <a:endParaRPr lang="en-US" dirty="0"/>
          </a:p>
        </p:txBody>
      </p:sp>
      <p:sp>
        <p:nvSpPr>
          <p:cNvPr id="4" name="Content Placeholder 3"/>
          <p:cNvSpPr>
            <a:spLocks noGrp="1"/>
          </p:cNvSpPr>
          <p:nvPr>
            <p:ph idx="1"/>
          </p:nvPr>
        </p:nvSpPr>
        <p:spPr>
          <a:xfrm>
            <a:off x="685800" y="2490135"/>
            <a:ext cx="7772399" cy="3758265"/>
          </a:xfrm>
        </p:spPr>
        <p:txBody>
          <a:bodyPr>
            <a:normAutofit fontScale="77500" lnSpcReduction="20000"/>
          </a:bodyPr>
          <a:lstStyle/>
          <a:p>
            <a:r>
              <a:rPr lang="en-US" dirty="0"/>
              <a:t>Donning surgical sterile gloves at the time of a surgical intervention follows the same sequences except that:</a:t>
            </a:r>
          </a:p>
          <a:p>
            <a:pPr lvl="1"/>
            <a:r>
              <a:rPr lang="en-US" dirty="0"/>
              <a:t>It is preceded by a surgical hand preparation.</a:t>
            </a:r>
          </a:p>
          <a:p>
            <a:pPr lvl="1"/>
            <a:r>
              <a:rPr lang="en-US" dirty="0"/>
              <a:t>Donning of the gloves is performed after putting on the sterile surgical gown.</a:t>
            </a:r>
          </a:p>
          <a:p>
            <a:pPr lvl="1"/>
            <a:r>
              <a:rPr lang="en-US" dirty="0"/>
              <a:t>The opening of the first packaging (non-sterile) is done by an assistant.</a:t>
            </a:r>
          </a:p>
          <a:p>
            <a:pPr lvl="1"/>
            <a:r>
              <a:rPr lang="en-US" dirty="0"/>
              <a:t>The  second packaging  (sterile)  is  placed  on  a  sterile  surface  and  then  used  for  the intervention.</a:t>
            </a:r>
          </a:p>
          <a:p>
            <a:pPr lvl="1"/>
            <a:r>
              <a:rPr lang="en-US" dirty="0"/>
              <a:t>Gloves should cover the wrists of the sterile gown.</a:t>
            </a:r>
          </a:p>
          <a:p>
            <a:endParaRPr lang="en-US" dirty="0"/>
          </a:p>
        </p:txBody>
      </p:sp>
    </p:spTree>
    <p:extLst>
      <p:ext uri="{BB962C8B-B14F-4D97-AF65-F5344CB8AC3E}">
        <p14:creationId xmlns:p14="http://schemas.microsoft.com/office/powerpoint/2010/main" val="36715936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030778"/>
            <a:ext cx="6858000" cy="1188426"/>
          </a:xfrm>
        </p:spPr>
        <p:txBody>
          <a:bodyPr/>
          <a:lstStyle/>
          <a:p>
            <a:r>
              <a:rPr lang="en-US" dirty="0" smtClean="0"/>
              <a:t>Some Do’s about Gloves</a:t>
            </a:r>
            <a:endParaRPr lang="en-US" dirty="0"/>
          </a:p>
        </p:txBody>
      </p:sp>
      <p:sp>
        <p:nvSpPr>
          <p:cNvPr id="3" name="Content Placeholder 2"/>
          <p:cNvSpPr>
            <a:spLocks noGrp="1"/>
          </p:cNvSpPr>
          <p:nvPr>
            <p:ph idx="1"/>
          </p:nvPr>
        </p:nvSpPr>
        <p:spPr>
          <a:xfrm>
            <a:off x="685800" y="2490135"/>
            <a:ext cx="7772400" cy="3758265"/>
          </a:xfrm>
        </p:spPr>
        <p:txBody>
          <a:bodyPr>
            <a:normAutofit fontScale="62500" lnSpcReduction="20000"/>
          </a:bodyPr>
          <a:lstStyle/>
          <a:p>
            <a:pPr lvl="0" algn="just"/>
            <a:r>
              <a:rPr lang="en-US" dirty="0"/>
              <a:t>Do wear the correct size gloves, A poorly fitting glove can limit your ability to perform the task and may get damaged easily</a:t>
            </a:r>
          </a:p>
          <a:p>
            <a:pPr lvl="0" algn="just"/>
            <a:r>
              <a:rPr lang="en-US" dirty="0"/>
              <a:t>Do change surgical gloves periodically (every 45 minutes) during long cases as the protective effect of latex gloves decreases with time and in apparent tears may occur.</a:t>
            </a:r>
          </a:p>
          <a:p>
            <a:pPr lvl="0" algn="just"/>
            <a:r>
              <a:rPr lang="en-US" dirty="0"/>
              <a:t>Do keep fingernails trimmed moderately short (less than 3mm beyond the finger tip) to reduce the risk of tears.</a:t>
            </a:r>
          </a:p>
          <a:p>
            <a:pPr lvl="0" algn="just"/>
            <a:r>
              <a:rPr lang="en-US" dirty="0"/>
              <a:t>Do pull gloves up over cuffs of gown (if worn) to protect the wrists.</a:t>
            </a:r>
          </a:p>
          <a:p>
            <a:pPr lvl="0" algn="just"/>
            <a:r>
              <a:rPr lang="en-US" dirty="0"/>
              <a:t>Do use water-soluble hand lotions and moisturizers often to prevent hands from drying, and cracking due to frequent hand washing and gloving.</a:t>
            </a:r>
          </a:p>
          <a:p>
            <a:pPr algn="just"/>
            <a:endParaRPr lang="en-US" dirty="0"/>
          </a:p>
        </p:txBody>
      </p:sp>
    </p:spTree>
    <p:extLst>
      <p:ext uri="{BB962C8B-B14F-4D97-AF65-F5344CB8AC3E}">
        <p14:creationId xmlns:p14="http://schemas.microsoft.com/office/powerpoint/2010/main" val="426941744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030778"/>
            <a:ext cx="7086600" cy="1188426"/>
          </a:xfrm>
        </p:spPr>
        <p:txBody>
          <a:bodyPr/>
          <a:lstStyle/>
          <a:p>
            <a:r>
              <a:rPr lang="en-US" dirty="0" smtClean="0"/>
              <a:t>Some Don’ts about Gloves</a:t>
            </a:r>
            <a:endParaRPr lang="en-US" dirty="0"/>
          </a:p>
        </p:txBody>
      </p:sp>
      <p:sp>
        <p:nvSpPr>
          <p:cNvPr id="3" name="Content Placeholder 2"/>
          <p:cNvSpPr>
            <a:spLocks noGrp="1"/>
          </p:cNvSpPr>
          <p:nvPr>
            <p:ph idx="1"/>
          </p:nvPr>
        </p:nvSpPr>
        <p:spPr>
          <a:xfrm>
            <a:off x="685800" y="2490135"/>
            <a:ext cx="7772400" cy="3758265"/>
          </a:xfrm>
        </p:spPr>
        <p:txBody>
          <a:bodyPr>
            <a:normAutofit fontScale="55000" lnSpcReduction="20000"/>
          </a:bodyPr>
          <a:lstStyle/>
          <a:p>
            <a:pPr lvl="0" algn="just"/>
            <a:r>
              <a:rPr lang="en-US" dirty="0"/>
              <a:t>Don’t use oil-based hand lotions or creams, because they will damage latex surgical and examination gloves.</a:t>
            </a:r>
          </a:p>
          <a:p>
            <a:pPr lvl="0" algn="just"/>
            <a:r>
              <a:rPr lang="en-US" dirty="0"/>
              <a:t>Don’t use latex gloves if you or the patients have an allergy to latex.</a:t>
            </a:r>
          </a:p>
          <a:p>
            <a:pPr lvl="0" algn="just"/>
            <a:r>
              <a:rPr lang="en-US" dirty="0"/>
              <a:t>Don’t store gloves in areas where there are extremes of temperature (e.g. direct sunlight, near the heater, air conditioner, ultraviolet light, and X-ray machine). These conditions may  damage  the  gloves  (cause  breakdown  of  the  material  they  are  made  of),  thus reducing their effectiveness as a barrier.</a:t>
            </a:r>
          </a:p>
          <a:p>
            <a:pPr lvl="0" algn="just"/>
            <a:r>
              <a:rPr lang="en-US" dirty="0"/>
              <a:t>Don’t reprocess gloves that are cracked or have detectable holes/tears.</a:t>
            </a:r>
          </a:p>
          <a:p>
            <a:pPr lvl="0" algn="just"/>
            <a:r>
              <a:rPr lang="en-US" dirty="0"/>
              <a:t>Don’t reprocess examination gloves for reuse.</a:t>
            </a:r>
          </a:p>
          <a:p>
            <a:pPr lvl="0" algn="just"/>
            <a:r>
              <a:rPr lang="en-US" dirty="0"/>
              <a:t>Re-process utility gloves by immersing them in a 0.5% Chlorine solution briefly, remove gloves by inverting them and then soak them in the 0.5% Chlorine solution for 10 minutes before washing and drying them for reuse.</a:t>
            </a:r>
          </a:p>
          <a:p>
            <a:pPr algn="just"/>
            <a:endParaRPr lang="en-US" dirty="0"/>
          </a:p>
        </p:txBody>
      </p:sp>
    </p:spTree>
    <p:extLst>
      <p:ext uri="{BB962C8B-B14F-4D97-AF65-F5344CB8AC3E}">
        <p14:creationId xmlns:p14="http://schemas.microsoft.com/office/powerpoint/2010/main" val="71877486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b="1" dirty="0"/>
              <a:t>Note: </a:t>
            </a:r>
            <a:endParaRPr lang="en-US" dirty="0"/>
          </a:p>
          <a:p>
            <a:pPr algn="just"/>
            <a:r>
              <a:rPr lang="en-US" dirty="0"/>
              <a:t>A separate pair of gloves must be used for each client to avoid cross-contamination or when moving from one site to another site on the same patient (i.e. from respiratory care to a dressing change).It is preferable to use new and single use (disposable) gloves only.</a:t>
            </a:r>
          </a:p>
          <a:p>
            <a:pPr algn="just"/>
            <a:endParaRPr lang="en-US" dirty="0"/>
          </a:p>
        </p:txBody>
      </p:sp>
    </p:spTree>
    <p:extLst>
      <p:ext uri="{BB962C8B-B14F-4D97-AF65-F5344CB8AC3E}">
        <p14:creationId xmlns:p14="http://schemas.microsoft.com/office/powerpoint/2010/main" val="251196276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defTabSz="457200" rtl="0">
              <a:spcBef>
                <a:spcPct val="0"/>
              </a:spcBef>
            </a:pPr>
            <a:r>
              <a:rPr lang="en-US" sz="4800" b="1" dirty="0" smtClean="0">
                <a:latin typeface="+mj-lt"/>
              </a:rPr>
              <a:t>Footwear</a:t>
            </a:r>
            <a:endParaRPr lang="en-US" sz="4800" dirty="0">
              <a:latin typeface="+mj-lt"/>
            </a:endParaRPr>
          </a:p>
        </p:txBody>
      </p:sp>
      <p:sp>
        <p:nvSpPr>
          <p:cNvPr id="3" name="Content Placeholder 2"/>
          <p:cNvSpPr>
            <a:spLocks noGrp="1"/>
          </p:cNvSpPr>
          <p:nvPr>
            <p:ph idx="1"/>
          </p:nvPr>
        </p:nvSpPr>
        <p:spPr>
          <a:xfrm>
            <a:off x="685800" y="2490135"/>
            <a:ext cx="7772400" cy="3834465"/>
          </a:xfrm>
        </p:spPr>
        <p:txBody>
          <a:bodyPr>
            <a:normAutofit fontScale="55000" lnSpcReduction="20000"/>
          </a:bodyPr>
          <a:lstStyle/>
          <a:p>
            <a:pPr algn="just"/>
            <a:r>
              <a:rPr lang="en-US" dirty="0"/>
              <a:t>It’s worn to protect the feet from injury by sharp or heavy items or fluids that may accidentally spill over, drip, or even pour out upon them. All footwear should have closed toes, low heels, and nonskid soles.</a:t>
            </a:r>
          </a:p>
          <a:p>
            <a:pPr algn="just"/>
            <a:r>
              <a:rPr lang="en-US" dirty="0"/>
              <a:t>Rubber boots or leather shoes provide the best protection. </a:t>
            </a:r>
            <a:endParaRPr lang="en-US" dirty="0" smtClean="0"/>
          </a:p>
          <a:p>
            <a:pPr algn="just"/>
            <a:r>
              <a:rPr lang="en-US" dirty="0" smtClean="0"/>
              <a:t>They </a:t>
            </a:r>
            <a:r>
              <a:rPr lang="en-US" dirty="0"/>
              <a:t>must be kept clean. </a:t>
            </a:r>
            <a:endParaRPr lang="en-US" dirty="0" smtClean="0"/>
          </a:p>
          <a:p>
            <a:pPr algn="just"/>
            <a:r>
              <a:rPr lang="en-US" dirty="0" smtClean="0"/>
              <a:t>For </a:t>
            </a:r>
            <a:r>
              <a:rPr lang="en-US" dirty="0"/>
              <a:t>this reason, sandals and other open-toe shoes or shoes made of soft materials are not acceptable. </a:t>
            </a:r>
          </a:p>
          <a:p>
            <a:pPr algn="just"/>
            <a:r>
              <a:rPr lang="en-US" dirty="0"/>
              <a:t>Shoe covers are unnecessary, if clean and sturdy shoes are available for dedicated use only in the surgical area. </a:t>
            </a:r>
            <a:endParaRPr lang="en-US" dirty="0" smtClean="0"/>
          </a:p>
          <a:p>
            <a:pPr algn="just"/>
            <a:r>
              <a:rPr lang="en-US" dirty="0" smtClean="0"/>
              <a:t>However</a:t>
            </a:r>
            <a:r>
              <a:rPr lang="en-US" dirty="0"/>
              <a:t>, Shoe covers may be needed to minimize contamination from and of shoes. </a:t>
            </a:r>
            <a:endParaRPr lang="en-US" dirty="0" smtClean="0"/>
          </a:p>
          <a:p>
            <a:pPr algn="just"/>
            <a:r>
              <a:rPr lang="en-US" dirty="0" smtClean="0"/>
              <a:t>Shoe </a:t>
            </a:r>
            <a:r>
              <a:rPr lang="en-US" dirty="0"/>
              <a:t>covers are not meant to prevent transmission of bacteria from the floor but rather prevent contamination of shoes with blood and body fluids. </a:t>
            </a:r>
          </a:p>
          <a:p>
            <a:pPr algn="just"/>
            <a:endParaRPr lang="en-US" dirty="0"/>
          </a:p>
        </p:txBody>
      </p:sp>
    </p:spTree>
    <p:extLst>
      <p:ext uri="{BB962C8B-B14F-4D97-AF65-F5344CB8AC3E}">
        <p14:creationId xmlns:p14="http://schemas.microsoft.com/office/powerpoint/2010/main" val="315290211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ctr" defTabSz="457200" rtl="0">
              <a:spcBef>
                <a:spcPct val="0"/>
              </a:spcBef>
            </a:pPr>
            <a:r>
              <a:rPr lang="en-US" sz="3600" b="1" dirty="0" smtClean="0">
                <a:latin typeface="+mj-lt"/>
              </a:rPr>
              <a:t>PPP 5.3: </a:t>
            </a:r>
            <a:br>
              <a:rPr lang="en-US" sz="3600" b="1" dirty="0" smtClean="0">
                <a:latin typeface="+mj-lt"/>
              </a:rPr>
            </a:br>
            <a:r>
              <a:rPr lang="en-US" sz="3600" b="1" dirty="0" smtClean="0">
                <a:latin typeface="+mj-lt"/>
              </a:rPr>
              <a:t>Choosing </a:t>
            </a:r>
            <a:r>
              <a:rPr lang="en-US" sz="3600" b="1" dirty="0">
                <a:latin typeface="+mj-lt"/>
              </a:rPr>
              <a:t>PPE for Standard and Transmission-based Precaution </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7709839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Choosing PPE</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a:t>For the purpose of Standard Precautions, PPE are chosen based on the </a:t>
            </a:r>
            <a:r>
              <a:rPr lang="en-US" dirty="0">
                <a:solidFill>
                  <a:srgbClr val="0070C0"/>
                </a:solidFill>
              </a:rPr>
              <a:t>risk of exposure to blood or body fluids </a:t>
            </a:r>
            <a:r>
              <a:rPr lang="en-US" dirty="0"/>
              <a:t>during patient care. </a:t>
            </a:r>
            <a:endParaRPr lang="en-US" dirty="0" smtClean="0"/>
          </a:p>
          <a:p>
            <a:pPr algn="just"/>
            <a:r>
              <a:rPr lang="en-US" dirty="0" smtClean="0"/>
              <a:t>The </a:t>
            </a:r>
            <a:r>
              <a:rPr lang="en-US" dirty="0"/>
              <a:t>choice could be simply a pair of non-sterile gloves if touching contaminated surfaces or gown, gloves, mask and eye protection if extensive splashing is expected. </a:t>
            </a:r>
            <a:endParaRPr lang="en-US" dirty="0" smtClean="0"/>
          </a:p>
          <a:p>
            <a:pPr algn="just"/>
            <a:r>
              <a:rPr lang="en-US" dirty="0" smtClean="0"/>
              <a:t>For </a:t>
            </a:r>
            <a:r>
              <a:rPr lang="en-US" dirty="0"/>
              <a:t>the purpose of transmission-based precautions septic items of PPE are designated for each type (e.g. only an N95 respirator if providing care to a suspected case of TB, as Airborne Precautions do not require use of gown or gloves).</a:t>
            </a:r>
          </a:p>
        </p:txBody>
      </p:sp>
    </p:spTree>
    <p:extLst>
      <p:ext uri="{BB962C8B-B14F-4D97-AF65-F5344CB8AC3E}">
        <p14:creationId xmlns:p14="http://schemas.microsoft.com/office/powerpoint/2010/main" val="35492428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78465" y="1524000"/>
            <a:ext cx="6595534" cy="1939927"/>
          </a:xfrm>
        </p:spPr>
        <p:txBody>
          <a:bodyPr>
            <a:noAutofit/>
          </a:bodyPr>
          <a:lstStyle/>
          <a:p>
            <a:pPr lvl="0"/>
            <a:r>
              <a:rPr lang="en-US" sz="4400" b="1" dirty="0"/>
              <a:t>PPP </a:t>
            </a:r>
            <a:r>
              <a:rPr lang="en-US" sz="4400" b="1" dirty="0" smtClean="0"/>
              <a:t>5.4: </a:t>
            </a:r>
            <a:br>
              <a:rPr lang="en-US" sz="4400" b="1" dirty="0" smtClean="0"/>
            </a:br>
            <a:r>
              <a:rPr lang="en-US" sz="4400" b="1" dirty="0" smtClean="0"/>
              <a:t>Instruction </a:t>
            </a:r>
            <a:r>
              <a:rPr lang="en-US" sz="4400" b="1" dirty="0"/>
              <a:t>for putting on and removing </a:t>
            </a:r>
            <a:r>
              <a:rPr lang="en-US" sz="4400" b="1" dirty="0" smtClean="0"/>
              <a:t>PPE</a:t>
            </a:r>
            <a:endParaRPr lang="en-US" sz="4400"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22375951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for putting on and removing PPE</a:t>
            </a:r>
          </a:p>
        </p:txBody>
      </p:sp>
      <p:sp>
        <p:nvSpPr>
          <p:cNvPr id="3" name="Content Placeholder 2"/>
          <p:cNvSpPr>
            <a:spLocks noGrp="1"/>
          </p:cNvSpPr>
          <p:nvPr>
            <p:ph idx="1"/>
          </p:nvPr>
        </p:nvSpPr>
        <p:spPr/>
        <p:txBody>
          <a:bodyPr>
            <a:normAutofit fontScale="85000" lnSpcReduction="20000"/>
          </a:bodyPr>
          <a:lstStyle/>
          <a:p>
            <a:pPr algn="just"/>
            <a:r>
              <a:rPr lang="en-US" dirty="0"/>
              <a:t>Putting on and removing PPE in the proper order and manner is just as important as wearing PPE. </a:t>
            </a:r>
            <a:endParaRPr lang="en-US" dirty="0" smtClean="0"/>
          </a:p>
          <a:p>
            <a:pPr algn="just"/>
            <a:r>
              <a:rPr lang="en-US" dirty="0" smtClean="0"/>
              <a:t>Failure </a:t>
            </a:r>
            <a:r>
              <a:rPr lang="en-US" dirty="0"/>
              <a:t>to properly put on or remove PPE could lead to exposure to or lack of protection against infectious agents. </a:t>
            </a:r>
            <a:endParaRPr lang="en-US" dirty="0" smtClean="0"/>
          </a:p>
          <a:p>
            <a:pPr algn="just"/>
            <a:r>
              <a:rPr lang="en-US" dirty="0" smtClean="0"/>
              <a:t>The </a:t>
            </a:r>
            <a:r>
              <a:rPr lang="en-US" dirty="0"/>
              <a:t>order of putting on PPE and removing PPE depends upon the purpose for which the PPE is being used. </a:t>
            </a:r>
          </a:p>
        </p:txBody>
      </p:sp>
    </p:spTree>
    <p:extLst>
      <p:ext uri="{BB962C8B-B14F-4D97-AF65-F5344CB8AC3E}">
        <p14:creationId xmlns:p14="http://schemas.microsoft.com/office/powerpoint/2010/main" val="52901688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Sequence for Putting on PPE for Standard and Transmission-based Precautions</a:t>
            </a:r>
            <a:endParaRPr lang="en-US" dirty="0"/>
          </a:p>
        </p:txBody>
      </p:sp>
      <p:sp>
        <p:nvSpPr>
          <p:cNvPr id="3" name="Content Placeholder 2"/>
          <p:cNvSpPr>
            <a:spLocks noGrp="1"/>
          </p:cNvSpPr>
          <p:nvPr>
            <p:ph idx="1"/>
          </p:nvPr>
        </p:nvSpPr>
        <p:spPr/>
        <p:txBody>
          <a:bodyPr>
            <a:normAutofit fontScale="85000" lnSpcReduction="20000"/>
          </a:bodyPr>
          <a:lstStyle/>
          <a:p>
            <a:pPr marL="514350" lvl="0" indent="-514350" algn="just">
              <a:buFont typeface="+mj-lt"/>
              <a:buAutoNum type="arabicPeriod"/>
            </a:pPr>
            <a:r>
              <a:rPr lang="en-US" dirty="0"/>
              <a:t>Put on protective boots or shoe covers (if needed).</a:t>
            </a:r>
          </a:p>
          <a:p>
            <a:pPr marL="514350" lvl="0" indent="-514350" algn="just">
              <a:buFont typeface="+mj-lt"/>
              <a:buAutoNum type="arabicPeriod"/>
            </a:pPr>
            <a:r>
              <a:rPr lang="en-US" dirty="0"/>
              <a:t>Perform hand hygiene.</a:t>
            </a:r>
          </a:p>
          <a:p>
            <a:pPr marL="514350" lvl="0" indent="-514350" algn="just">
              <a:buFont typeface="+mj-lt"/>
              <a:buAutoNum type="arabicPeriod"/>
            </a:pPr>
            <a:r>
              <a:rPr lang="en-US" dirty="0"/>
              <a:t>Put on a gown.</a:t>
            </a:r>
          </a:p>
          <a:p>
            <a:pPr marL="514350" lvl="0" indent="-514350" algn="just">
              <a:buFont typeface="+mj-lt"/>
              <a:buAutoNum type="arabicPeriod"/>
            </a:pPr>
            <a:r>
              <a:rPr lang="en-US" dirty="0"/>
              <a:t>Put on a procedure mask/N95 respirator.</a:t>
            </a:r>
          </a:p>
          <a:p>
            <a:pPr marL="514350" lvl="0" indent="-514350" algn="just">
              <a:buFont typeface="+mj-lt"/>
              <a:buAutoNum type="arabicPeriod"/>
            </a:pPr>
            <a:r>
              <a:rPr lang="en-US" dirty="0"/>
              <a:t>Put on goggles or a face shield.</a:t>
            </a:r>
          </a:p>
          <a:p>
            <a:pPr marL="514350" lvl="0" indent="-514350" algn="just">
              <a:buFont typeface="+mj-lt"/>
              <a:buAutoNum type="arabicPeriod"/>
            </a:pPr>
            <a:r>
              <a:rPr lang="en-US" dirty="0"/>
              <a:t>Lastly, put on gloves.</a:t>
            </a:r>
          </a:p>
          <a:p>
            <a:pPr algn="just"/>
            <a:endParaRPr lang="en-US" dirty="0"/>
          </a:p>
        </p:txBody>
      </p:sp>
    </p:spTree>
    <p:extLst>
      <p:ext uri="{BB962C8B-B14F-4D97-AF65-F5344CB8AC3E}">
        <p14:creationId xmlns:p14="http://schemas.microsoft.com/office/powerpoint/2010/main" val="134137402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Sequence for </a:t>
            </a:r>
            <a:r>
              <a:rPr lang="en-US" sz="2800" dirty="0" smtClean="0"/>
              <a:t>removing PPE </a:t>
            </a:r>
            <a:r>
              <a:rPr lang="en-US" sz="2800" dirty="0"/>
              <a:t>for Standard and Transmission-based Precautions</a:t>
            </a:r>
          </a:p>
        </p:txBody>
      </p:sp>
      <p:sp>
        <p:nvSpPr>
          <p:cNvPr id="3" name="Content Placeholder 2"/>
          <p:cNvSpPr>
            <a:spLocks noGrp="1"/>
          </p:cNvSpPr>
          <p:nvPr>
            <p:ph idx="1"/>
          </p:nvPr>
        </p:nvSpPr>
        <p:spPr>
          <a:xfrm>
            <a:off x="914400" y="2514600"/>
            <a:ext cx="7315200" cy="3810000"/>
          </a:xfrm>
        </p:spPr>
        <p:txBody>
          <a:bodyPr>
            <a:normAutofit fontScale="70000" lnSpcReduction="20000"/>
          </a:bodyPr>
          <a:lstStyle/>
          <a:p>
            <a:pPr marL="514350" lvl="0" indent="-514350">
              <a:buFont typeface="+mj-lt"/>
              <a:buAutoNum type="arabicPeriod"/>
            </a:pPr>
            <a:r>
              <a:rPr lang="en-US" dirty="0"/>
              <a:t>Remove gloves.</a:t>
            </a:r>
          </a:p>
          <a:p>
            <a:pPr marL="514350" lvl="0" indent="-514350">
              <a:buFont typeface="+mj-lt"/>
              <a:buAutoNum type="arabicPeriod"/>
            </a:pPr>
            <a:r>
              <a:rPr lang="en-US" dirty="0"/>
              <a:t>Remove goggles/ face shield by the “clean” head band or ear pieces.</a:t>
            </a:r>
          </a:p>
          <a:p>
            <a:pPr marL="514350" lvl="0" indent="-514350">
              <a:buFont typeface="+mj-lt"/>
              <a:buAutoNum type="arabicPeriod"/>
            </a:pPr>
            <a:r>
              <a:rPr lang="en-US" dirty="0"/>
              <a:t>Remove the gown.</a:t>
            </a:r>
          </a:p>
          <a:p>
            <a:pPr marL="514350" lvl="0" indent="-514350">
              <a:buFont typeface="+mj-lt"/>
              <a:buAutoNum type="arabicPeriod"/>
            </a:pPr>
            <a:r>
              <a:rPr lang="en-US" dirty="0"/>
              <a:t>Remove the mask or respirator.</a:t>
            </a:r>
          </a:p>
          <a:p>
            <a:pPr marL="514350" lvl="0" indent="-514350">
              <a:buFont typeface="+mj-lt"/>
              <a:buAutoNum type="arabicPeriod"/>
            </a:pPr>
            <a:r>
              <a:rPr lang="en-US" dirty="0"/>
              <a:t>Dispose of single-use and reusable PPE in designated containers.</a:t>
            </a:r>
          </a:p>
          <a:p>
            <a:pPr marL="514350" lvl="0" indent="-514350">
              <a:buFont typeface="+mj-lt"/>
              <a:buAutoNum type="arabicPeriod"/>
            </a:pPr>
            <a:r>
              <a:rPr lang="en-US" dirty="0"/>
              <a:t>Remove shoe covers or boots (if used) before leaving the area.</a:t>
            </a:r>
          </a:p>
          <a:p>
            <a:pPr marL="514350" lvl="0" indent="-514350">
              <a:buFont typeface="+mj-lt"/>
              <a:buAutoNum type="arabicPeriod"/>
            </a:pPr>
            <a:r>
              <a:rPr lang="en-US" dirty="0"/>
              <a:t>Perform hand hygiene.</a:t>
            </a:r>
          </a:p>
          <a:p>
            <a:endParaRPr lang="en-US" dirty="0"/>
          </a:p>
        </p:txBody>
      </p:sp>
    </p:spTree>
    <p:extLst>
      <p:ext uri="{BB962C8B-B14F-4D97-AF65-F5344CB8AC3E}">
        <p14:creationId xmlns:p14="http://schemas.microsoft.com/office/powerpoint/2010/main" val="388495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24800" cy="1188426"/>
          </a:xfrm>
        </p:spPr>
        <p:txBody>
          <a:bodyPr/>
          <a:lstStyle/>
          <a:p>
            <a:r>
              <a:rPr lang="en-US" sz="2800" dirty="0"/>
              <a:t>Sequence for Putting on PPE for Sterile Surgical Procedures in the Operating </a:t>
            </a:r>
            <a:r>
              <a:rPr lang="en-US" sz="2800" dirty="0" smtClean="0"/>
              <a:t>Theater</a:t>
            </a:r>
            <a:endParaRPr lang="en-US" sz="2800" dirty="0"/>
          </a:p>
        </p:txBody>
      </p:sp>
      <p:sp>
        <p:nvSpPr>
          <p:cNvPr id="3" name="Content Placeholder 2"/>
          <p:cNvSpPr>
            <a:spLocks noGrp="1"/>
          </p:cNvSpPr>
          <p:nvPr>
            <p:ph idx="1"/>
          </p:nvPr>
        </p:nvSpPr>
        <p:spPr>
          <a:xfrm>
            <a:off x="685800" y="2438401"/>
            <a:ext cx="7772400" cy="3809999"/>
          </a:xfrm>
        </p:spPr>
        <p:txBody>
          <a:bodyPr>
            <a:normAutofit fontScale="70000" lnSpcReduction="20000"/>
          </a:bodyPr>
          <a:lstStyle/>
          <a:p>
            <a:pPr marL="514350" lvl="0" indent="-514350" algn="just">
              <a:buFont typeface="+mj-lt"/>
              <a:buAutoNum type="arabicPeriod"/>
            </a:pPr>
            <a:r>
              <a:rPr lang="en-US" dirty="0"/>
              <a:t>Change from street clothes to a clean scrub suit (one that has been processed in the health care facility laundry). Remove all jewelry.</a:t>
            </a:r>
          </a:p>
          <a:p>
            <a:pPr marL="514350" lvl="0" indent="-514350" algn="just">
              <a:buFont typeface="+mj-lt"/>
              <a:buAutoNum type="arabicPeriod"/>
            </a:pPr>
            <a:r>
              <a:rPr lang="en-US" dirty="0"/>
              <a:t>Put on non-skid, low-heel shoes with closed toes and back, rubber boots, or shoe covers when there is a risk of gross contamination with blood or body fluids.</a:t>
            </a:r>
          </a:p>
          <a:p>
            <a:pPr marL="514350" lvl="0" indent="-514350" algn="just">
              <a:buFont typeface="+mj-lt"/>
              <a:buAutoNum type="arabicPeriod"/>
            </a:pPr>
            <a:r>
              <a:rPr lang="en-US" dirty="0"/>
              <a:t>Perform hand hygiene.</a:t>
            </a:r>
          </a:p>
          <a:p>
            <a:pPr marL="514350" lvl="0" indent="-514350" algn="just">
              <a:buFont typeface="+mj-lt"/>
              <a:buAutoNum type="arabicPeriod"/>
            </a:pPr>
            <a:r>
              <a:rPr lang="en-US" dirty="0"/>
              <a:t>Put on a plastic apron if the sterile surgical gown is not fluid-resistant.</a:t>
            </a:r>
          </a:p>
          <a:p>
            <a:pPr marL="514350" lvl="0" indent="-514350" algn="just">
              <a:buFont typeface="+mj-lt"/>
              <a:buAutoNum type="arabicPeriod"/>
            </a:pPr>
            <a:r>
              <a:rPr lang="en-US" dirty="0"/>
              <a:t>Put on a surgical head cover (and facial hair cover, if needed) to ensure that hair on the head (and beard) are fully covered</a:t>
            </a:r>
            <a:r>
              <a:rPr lang="en-US" dirty="0" smtClean="0"/>
              <a:t>.</a:t>
            </a:r>
            <a:endParaRPr lang="en-US" dirty="0"/>
          </a:p>
        </p:txBody>
      </p:sp>
    </p:spTree>
    <p:extLst>
      <p:ext uri="{BB962C8B-B14F-4D97-AF65-F5344CB8AC3E}">
        <p14:creationId xmlns:p14="http://schemas.microsoft.com/office/powerpoint/2010/main" val="13113079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24800" cy="1188426"/>
          </a:xfrm>
        </p:spPr>
        <p:txBody>
          <a:bodyPr/>
          <a:lstStyle/>
          <a:p>
            <a:r>
              <a:rPr lang="en-US" sz="2800" dirty="0"/>
              <a:t>Sequence for Putting on PPE for Sterile Surgical Procedures in the Operating </a:t>
            </a:r>
            <a:r>
              <a:rPr lang="en-US" sz="2800" dirty="0" smtClean="0"/>
              <a:t>Theater cont’d…</a:t>
            </a:r>
            <a:endParaRPr lang="en-US" sz="2800" dirty="0"/>
          </a:p>
        </p:txBody>
      </p:sp>
      <p:sp>
        <p:nvSpPr>
          <p:cNvPr id="3" name="Content Placeholder 2"/>
          <p:cNvSpPr>
            <a:spLocks noGrp="1"/>
          </p:cNvSpPr>
          <p:nvPr>
            <p:ph idx="1"/>
          </p:nvPr>
        </p:nvSpPr>
        <p:spPr>
          <a:xfrm>
            <a:off x="685800" y="2438401"/>
            <a:ext cx="7772400" cy="3809999"/>
          </a:xfrm>
        </p:spPr>
        <p:txBody>
          <a:bodyPr>
            <a:normAutofit fontScale="77500" lnSpcReduction="20000"/>
          </a:bodyPr>
          <a:lstStyle/>
          <a:p>
            <a:pPr marL="514350" lvl="0" indent="-514350">
              <a:buFont typeface="+mj-lt"/>
              <a:buAutoNum type="arabicPeriod" startAt="6"/>
            </a:pPr>
            <a:r>
              <a:rPr lang="en-US" dirty="0" smtClean="0"/>
              <a:t>Put </a:t>
            </a:r>
            <a:r>
              <a:rPr lang="en-US" dirty="0"/>
              <a:t>on a surgical mask, one that fits well and fully covers the mouth and the </a:t>
            </a:r>
            <a:r>
              <a:rPr lang="en-US" dirty="0" smtClean="0"/>
              <a:t>nose.</a:t>
            </a:r>
          </a:p>
          <a:p>
            <a:pPr marL="514350" lvl="0" indent="-514350">
              <a:buFont typeface="+mj-lt"/>
              <a:buAutoNum type="arabicPeriod" startAt="6"/>
            </a:pPr>
            <a:r>
              <a:rPr lang="en-US" dirty="0" smtClean="0"/>
              <a:t>Put </a:t>
            </a:r>
            <a:r>
              <a:rPr lang="en-US" dirty="0"/>
              <a:t>on appropriate sized, well-fitting goggles or a chin-length face </a:t>
            </a:r>
            <a:r>
              <a:rPr lang="en-US" dirty="0" smtClean="0"/>
              <a:t>shield.</a:t>
            </a:r>
          </a:p>
          <a:p>
            <a:pPr marL="514350" lvl="0" indent="-514350">
              <a:buFont typeface="+mj-lt"/>
              <a:buAutoNum type="arabicPeriod" startAt="6"/>
            </a:pPr>
            <a:r>
              <a:rPr lang="en-US" dirty="0" smtClean="0"/>
              <a:t>Perform </a:t>
            </a:r>
            <a:r>
              <a:rPr lang="en-US" dirty="0"/>
              <a:t>a surgical hand scrub using soap and water and ABHR (see Chapter 3: Hand Hygiene</a:t>
            </a:r>
            <a:r>
              <a:rPr lang="en-US" dirty="0" smtClean="0"/>
              <a:t>).</a:t>
            </a:r>
          </a:p>
          <a:p>
            <a:pPr marL="514350" lvl="0" indent="-514350">
              <a:buFont typeface="+mj-lt"/>
              <a:buAutoNum type="arabicPeriod" startAt="6"/>
            </a:pPr>
            <a:r>
              <a:rPr lang="en-US" dirty="0" smtClean="0"/>
              <a:t>Put </a:t>
            </a:r>
            <a:r>
              <a:rPr lang="en-US" dirty="0"/>
              <a:t>on a sterile surgical gown without </a:t>
            </a:r>
            <a:r>
              <a:rPr lang="en-US" dirty="0" smtClean="0"/>
              <a:t>contamination.</a:t>
            </a:r>
            <a:endParaRPr lang="en-US" dirty="0"/>
          </a:p>
          <a:p>
            <a:pPr marL="514350" lvl="0" indent="-514350">
              <a:buFont typeface="+mj-lt"/>
              <a:buAutoNum type="arabicPeriod" startAt="6"/>
            </a:pPr>
            <a:r>
              <a:rPr lang="en-US" dirty="0" smtClean="0"/>
              <a:t>Lastly</a:t>
            </a:r>
            <a:r>
              <a:rPr lang="en-US" dirty="0"/>
              <a:t>, put on sterile surgical gloves without </a:t>
            </a:r>
            <a:r>
              <a:rPr lang="en-US" dirty="0" smtClean="0"/>
              <a:t>contamination.</a:t>
            </a:r>
            <a:endParaRPr lang="en-US" dirty="0"/>
          </a:p>
          <a:p>
            <a:endParaRPr lang="en-US" dirty="0"/>
          </a:p>
        </p:txBody>
      </p:sp>
    </p:spTree>
    <p:extLst>
      <p:ext uri="{BB962C8B-B14F-4D97-AF65-F5344CB8AC3E}">
        <p14:creationId xmlns:p14="http://schemas.microsoft.com/office/powerpoint/2010/main" val="13113079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24800" cy="1188426"/>
          </a:xfrm>
        </p:spPr>
        <p:txBody>
          <a:bodyPr/>
          <a:lstStyle/>
          <a:p>
            <a:pPr lvl="1" algn="ctr" defTabSz="457200" rtl="0">
              <a:spcBef>
                <a:spcPct val="0"/>
              </a:spcBef>
            </a:pPr>
            <a:r>
              <a:rPr lang="en-US" sz="2800" b="1" kern="1200" dirty="0">
                <a:ln w="3175" cmpd="sng">
                  <a:noFill/>
                </a:ln>
                <a:solidFill>
                  <a:schemeClr val="tx1">
                    <a:lumMod val="85000"/>
                    <a:lumOff val="15000"/>
                  </a:schemeClr>
                </a:solidFill>
                <a:latin typeface="+mj-lt"/>
                <a:ea typeface="+mj-ea"/>
                <a:cs typeface="+mj-cs"/>
              </a:rPr>
              <a:t>Sequence for Removing PPE following Sterile Surgical Procedures in the Operating </a:t>
            </a:r>
            <a:r>
              <a:rPr lang="en-US" sz="2800" b="1" kern="1200" dirty="0" smtClean="0">
                <a:ln w="3175" cmpd="sng">
                  <a:noFill/>
                </a:ln>
                <a:solidFill>
                  <a:schemeClr val="tx1">
                    <a:lumMod val="85000"/>
                    <a:lumOff val="15000"/>
                  </a:schemeClr>
                </a:solidFill>
                <a:latin typeface="+mj-lt"/>
                <a:ea typeface="+mj-ea"/>
                <a:cs typeface="+mj-cs"/>
              </a:rPr>
              <a:t>Theater</a:t>
            </a:r>
            <a:endParaRPr lang="en-US" sz="2800" b="1" kern="1200" dirty="0">
              <a:ln w="3175" cmpd="sng">
                <a:noFill/>
              </a:ln>
              <a:solidFill>
                <a:schemeClr val="tx1">
                  <a:lumMod val="85000"/>
                  <a:lumOff val="15000"/>
                </a:schemeClr>
              </a:solidFill>
              <a:latin typeface="+mj-lt"/>
              <a:ea typeface="+mj-ea"/>
              <a:cs typeface="+mj-cs"/>
            </a:endParaRPr>
          </a:p>
        </p:txBody>
      </p:sp>
      <p:sp>
        <p:nvSpPr>
          <p:cNvPr id="3" name="Content Placeholder 2"/>
          <p:cNvSpPr>
            <a:spLocks noGrp="1"/>
          </p:cNvSpPr>
          <p:nvPr>
            <p:ph idx="1"/>
          </p:nvPr>
        </p:nvSpPr>
        <p:spPr>
          <a:xfrm>
            <a:off x="685800" y="2490135"/>
            <a:ext cx="7772400" cy="3834465"/>
          </a:xfrm>
        </p:spPr>
        <p:txBody>
          <a:bodyPr>
            <a:normAutofit fontScale="62500" lnSpcReduction="20000"/>
          </a:bodyPr>
          <a:lstStyle/>
          <a:p>
            <a:pPr marL="514350" lvl="0" indent="-514350" algn="just">
              <a:buFont typeface="+mj-lt"/>
              <a:buAutoNum type="arabicPeriod"/>
            </a:pPr>
            <a:r>
              <a:rPr lang="en-US" dirty="0"/>
              <a:t>Remove the gloves following the recommended steps and dispose of in a waste container; do not reprocess or reuse the gloves.</a:t>
            </a:r>
          </a:p>
          <a:p>
            <a:pPr marL="514350" lvl="0" indent="-514350" algn="just">
              <a:buFont typeface="+mj-lt"/>
              <a:buAutoNum type="arabicPeriod"/>
            </a:pPr>
            <a:r>
              <a:rPr lang="en-US" dirty="0"/>
              <a:t>Remove the gown, avoid touching the outer side of the gown, and dispose of in a waste container (if a single-use gown) or place the used gown in a container for processing later.</a:t>
            </a:r>
          </a:p>
          <a:p>
            <a:pPr marL="514350" lvl="0" indent="-514350" algn="just">
              <a:buFont typeface="+mj-lt"/>
              <a:buAutoNum type="arabicPeriod"/>
            </a:pPr>
            <a:r>
              <a:rPr lang="en-US" dirty="0"/>
              <a:t>Remove the plastic apron, if one was used, and dispose of in a waste container (if a single-use apron) or place the used apron in a container for processing later.</a:t>
            </a:r>
          </a:p>
          <a:p>
            <a:pPr marL="514350" lvl="0" indent="-514350" algn="just">
              <a:buFont typeface="+mj-lt"/>
              <a:buAutoNum type="arabicPeriod"/>
            </a:pPr>
            <a:r>
              <a:rPr lang="en-US" dirty="0"/>
              <a:t>Remove eye protection.</a:t>
            </a:r>
          </a:p>
          <a:p>
            <a:pPr marL="514350" lvl="0" indent="-514350" algn="just">
              <a:buFont typeface="+mj-lt"/>
              <a:buAutoNum type="arabicPeriod"/>
            </a:pPr>
            <a:r>
              <a:rPr lang="en-US" dirty="0"/>
              <a:t>Remove the surgical mask.</a:t>
            </a:r>
          </a:p>
          <a:p>
            <a:pPr marL="514350" lvl="0" indent="-514350" algn="just">
              <a:buFont typeface="+mj-lt"/>
              <a:buAutoNum type="arabicPeriod"/>
            </a:pPr>
            <a:r>
              <a:rPr lang="en-US" dirty="0"/>
              <a:t>Perform hand hygiene</a:t>
            </a:r>
            <a:r>
              <a:rPr lang="en-US" dirty="0" smtClean="0"/>
              <a:t>.</a:t>
            </a:r>
          </a:p>
        </p:txBody>
      </p:sp>
    </p:spTree>
    <p:extLst>
      <p:ext uri="{BB962C8B-B14F-4D97-AF65-F5344CB8AC3E}">
        <p14:creationId xmlns:p14="http://schemas.microsoft.com/office/powerpoint/2010/main" val="42816449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30778"/>
            <a:ext cx="7924800" cy="1188426"/>
          </a:xfrm>
        </p:spPr>
        <p:txBody>
          <a:bodyPr/>
          <a:lstStyle/>
          <a:p>
            <a:pPr lvl="1" algn="ctr" defTabSz="457200" rtl="0">
              <a:spcBef>
                <a:spcPct val="0"/>
              </a:spcBef>
            </a:pPr>
            <a:r>
              <a:rPr lang="en-US" sz="2800" b="1" kern="1200" dirty="0">
                <a:ln w="3175" cmpd="sng">
                  <a:noFill/>
                </a:ln>
                <a:solidFill>
                  <a:schemeClr val="tx1">
                    <a:lumMod val="85000"/>
                    <a:lumOff val="15000"/>
                  </a:schemeClr>
                </a:solidFill>
                <a:latin typeface="+mj-lt"/>
                <a:ea typeface="+mj-ea"/>
                <a:cs typeface="+mj-cs"/>
              </a:rPr>
              <a:t>Sequence for Removing PPE following Sterile Surgical Procedures in the Operating </a:t>
            </a:r>
            <a:r>
              <a:rPr lang="en-US" sz="2800" b="1" kern="1200" dirty="0" smtClean="0">
                <a:ln w="3175" cmpd="sng">
                  <a:noFill/>
                </a:ln>
                <a:solidFill>
                  <a:schemeClr val="tx1">
                    <a:lumMod val="85000"/>
                    <a:lumOff val="15000"/>
                  </a:schemeClr>
                </a:solidFill>
                <a:latin typeface="+mj-lt"/>
                <a:ea typeface="+mj-ea"/>
                <a:cs typeface="+mj-cs"/>
              </a:rPr>
              <a:t>Theater</a:t>
            </a:r>
            <a:endParaRPr lang="en-US" sz="2800" b="1" kern="1200" dirty="0">
              <a:ln w="3175" cmpd="sng">
                <a:noFill/>
              </a:ln>
              <a:solidFill>
                <a:schemeClr val="tx1">
                  <a:lumMod val="85000"/>
                  <a:lumOff val="15000"/>
                </a:schemeClr>
              </a:solidFill>
              <a:latin typeface="+mj-lt"/>
              <a:ea typeface="+mj-ea"/>
              <a:cs typeface="+mj-cs"/>
            </a:endParaRPr>
          </a:p>
        </p:txBody>
      </p:sp>
      <p:sp>
        <p:nvSpPr>
          <p:cNvPr id="3" name="Content Placeholder 2"/>
          <p:cNvSpPr>
            <a:spLocks noGrp="1"/>
          </p:cNvSpPr>
          <p:nvPr>
            <p:ph idx="1"/>
          </p:nvPr>
        </p:nvSpPr>
        <p:spPr>
          <a:xfrm>
            <a:off x="762000" y="2490135"/>
            <a:ext cx="7696200" cy="3529665"/>
          </a:xfrm>
        </p:spPr>
        <p:txBody>
          <a:bodyPr>
            <a:normAutofit fontScale="85000" lnSpcReduction="20000"/>
          </a:bodyPr>
          <a:lstStyle/>
          <a:p>
            <a:pPr marL="0" lvl="0" indent="0" algn="just">
              <a:buNone/>
            </a:pPr>
            <a:r>
              <a:rPr lang="en-US" dirty="0" smtClean="0"/>
              <a:t>These steps will be performed at the end of day unless any item becomes soiled.</a:t>
            </a:r>
          </a:p>
          <a:p>
            <a:pPr marL="514350" lvl="0" indent="-514350" algn="just">
              <a:buFont typeface="+mj-lt"/>
              <a:buAutoNum type="arabicPeriod" startAt="7"/>
            </a:pPr>
            <a:r>
              <a:rPr lang="en-US" dirty="0" smtClean="0"/>
              <a:t>Remove the head cover (and facial cover).</a:t>
            </a:r>
          </a:p>
          <a:p>
            <a:pPr marL="514350" lvl="0" indent="-514350" algn="just">
              <a:buFont typeface="+mj-lt"/>
              <a:buAutoNum type="arabicPeriod" startAt="7"/>
            </a:pPr>
            <a:r>
              <a:rPr lang="en-US" dirty="0" smtClean="0"/>
              <a:t>Remove shoe covers (if worn).</a:t>
            </a:r>
          </a:p>
          <a:p>
            <a:pPr marL="514350" lvl="0" indent="-514350" algn="just">
              <a:buFont typeface="+mj-lt"/>
              <a:buAutoNum type="arabicPeriod" startAt="7"/>
            </a:pPr>
            <a:r>
              <a:rPr lang="en-US" dirty="0" smtClean="0"/>
              <a:t>Remove shoes.</a:t>
            </a:r>
          </a:p>
          <a:p>
            <a:pPr marL="514350" lvl="0" indent="-514350" algn="just">
              <a:buFont typeface="+mj-lt"/>
              <a:buAutoNum type="arabicPeriod" startAt="7"/>
            </a:pPr>
            <a:r>
              <a:rPr lang="en-US" dirty="0" smtClean="0"/>
              <a:t> Remove scrub suit.</a:t>
            </a:r>
          </a:p>
          <a:p>
            <a:pPr marL="514350" lvl="0" indent="-514350" algn="just">
              <a:buFont typeface="+mj-lt"/>
              <a:buAutoNum type="arabicPeriod" startAt="7"/>
            </a:pPr>
            <a:r>
              <a:rPr lang="en-US" dirty="0" smtClean="0"/>
              <a:t>Lastly, perform hand hygiene.</a:t>
            </a:r>
          </a:p>
          <a:p>
            <a:pPr marL="514350" indent="-514350" algn="just">
              <a:buFont typeface="+mj-lt"/>
              <a:buAutoNum type="arabicPeriod" startAt="7"/>
            </a:pPr>
            <a:endParaRPr lang="en-US" dirty="0"/>
          </a:p>
        </p:txBody>
      </p:sp>
    </p:spTree>
    <p:extLst>
      <p:ext uri="{BB962C8B-B14F-4D97-AF65-F5344CB8AC3E}">
        <p14:creationId xmlns:p14="http://schemas.microsoft.com/office/powerpoint/2010/main" val="42816449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1641413"/>
            <a:ext cx="7772400" cy="1822514"/>
          </a:xfrm>
        </p:spPr>
        <p:txBody>
          <a:bodyPr>
            <a:normAutofit fontScale="90000"/>
          </a:bodyPr>
          <a:lstStyle/>
          <a:p>
            <a:r>
              <a:rPr lang="en-US" sz="3200" b="1" dirty="0" smtClean="0"/>
              <a:t>PPP 5.5:</a:t>
            </a:r>
            <a:br>
              <a:rPr lang="en-US" sz="3200" b="1" dirty="0" smtClean="0"/>
            </a:br>
            <a:r>
              <a:rPr lang="en-US" sz="3200" b="1" dirty="0" smtClean="0"/>
              <a:t> Types </a:t>
            </a:r>
            <a:r>
              <a:rPr lang="en-US" sz="3200" b="1" dirty="0"/>
              <a:t>of Personal Protective Equipment used to Prevent Transmission During Disease Outbreak </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56568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030778"/>
            <a:ext cx="6553200" cy="1188426"/>
          </a:xfrm>
        </p:spPr>
        <p:txBody>
          <a:bodyPr/>
          <a:lstStyle/>
          <a:p>
            <a:r>
              <a:rPr lang="en-US" sz="2800" dirty="0"/>
              <a:t>List of Personal Protective </a:t>
            </a:r>
            <a:r>
              <a:rPr lang="en-US" sz="2800" dirty="0" smtClean="0"/>
              <a:t>Equipment</a:t>
            </a:r>
            <a:endParaRPr lang="en-US" sz="2800" dirty="0"/>
          </a:p>
        </p:txBody>
      </p:sp>
      <p:sp>
        <p:nvSpPr>
          <p:cNvPr id="3" name="Content Placeholder 2"/>
          <p:cNvSpPr>
            <a:spLocks noGrp="1"/>
          </p:cNvSpPr>
          <p:nvPr>
            <p:ph idx="1"/>
          </p:nvPr>
        </p:nvSpPr>
        <p:spPr>
          <a:xfrm>
            <a:off x="685800" y="2490135"/>
            <a:ext cx="7772400" cy="3758265"/>
          </a:xfrm>
        </p:spPr>
        <p:txBody>
          <a:bodyPr>
            <a:normAutofit fontScale="85000" lnSpcReduction="10000"/>
          </a:bodyPr>
          <a:lstStyle/>
          <a:p>
            <a:r>
              <a:rPr lang="en-US" dirty="0"/>
              <a:t>PPE recommended by the World Health Organization (WHO) for HCWs who provide care and treatment to VHF (E.g. Ebola) patients includes</a:t>
            </a:r>
            <a:r>
              <a:rPr lang="en-US" dirty="0" smtClean="0"/>
              <a:t>:</a:t>
            </a:r>
          </a:p>
          <a:p>
            <a:pPr lvl="1"/>
            <a:r>
              <a:rPr lang="en-US" dirty="0" smtClean="0"/>
              <a:t>Fluid-resistant </a:t>
            </a:r>
            <a:r>
              <a:rPr lang="en-US" dirty="0"/>
              <a:t>coverall or gown:</a:t>
            </a:r>
          </a:p>
          <a:p>
            <a:pPr lvl="2"/>
            <a:r>
              <a:rPr lang="en-US" sz="2800" dirty="0"/>
              <a:t>Without an attached hood</a:t>
            </a:r>
          </a:p>
          <a:p>
            <a:pPr lvl="2"/>
            <a:r>
              <a:rPr lang="en-US" sz="2800" dirty="0"/>
              <a:t>With thumb holes or loops</a:t>
            </a:r>
          </a:p>
          <a:p>
            <a:pPr lvl="1"/>
            <a:r>
              <a:rPr lang="en-US" dirty="0"/>
              <a:t>Waterproof apron</a:t>
            </a:r>
          </a:p>
          <a:p>
            <a:pPr lvl="1"/>
            <a:r>
              <a:rPr lang="en-US" dirty="0"/>
              <a:t>Waterproof </a:t>
            </a:r>
            <a:r>
              <a:rPr lang="en-US" dirty="0" smtClean="0"/>
              <a:t>boots</a:t>
            </a:r>
            <a:endParaRPr lang="en-US" dirty="0"/>
          </a:p>
        </p:txBody>
      </p:sp>
    </p:spTree>
    <p:extLst>
      <p:ext uri="{BB962C8B-B14F-4D97-AF65-F5344CB8AC3E}">
        <p14:creationId xmlns:p14="http://schemas.microsoft.com/office/powerpoint/2010/main" val="31697933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030778"/>
            <a:ext cx="6553200" cy="1188426"/>
          </a:xfrm>
        </p:spPr>
        <p:txBody>
          <a:bodyPr/>
          <a:lstStyle/>
          <a:p>
            <a:r>
              <a:rPr lang="en-US" sz="2800" dirty="0"/>
              <a:t>List of Personal Protective </a:t>
            </a:r>
            <a:r>
              <a:rPr lang="en-US" sz="2800" dirty="0" smtClean="0"/>
              <a:t>Equipment Cont’d…</a:t>
            </a:r>
            <a:endParaRPr lang="en-US" sz="2800" dirty="0"/>
          </a:p>
        </p:txBody>
      </p:sp>
      <p:sp>
        <p:nvSpPr>
          <p:cNvPr id="3" name="Content Placeholder 2"/>
          <p:cNvSpPr>
            <a:spLocks noGrp="1"/>
          </p:cNvSpPr>
          <p:nvPr>
            <p:ph idx="1"/>
          </p:nvPr>
        </p:nvSpPr>
        <p:spPr>
          <a:xfrm>
            <a:off x="685800" y="2490135"/>
            <a:ext cx="7772400" cy="3758265"/>
          </a:xfrm>
        </p:spPr>
        <p:txBody>
          <a:bodyPr>
            <a:normAutofit fontScale="92500" lnSpcReduction="20000"/>
          </a:bodyPr>
          <a:lstStyle/>
          <a:p>
            <a:pPr lvl="1"/>
            <a:r>
              <a:rPr lang="en-US" dirty="0" smtClean="0"/>
              <a:t>Fluid-resistant </a:t>
            </a:r>
            <a:r>
              <a:rPr lang="en-US" dirty="0"/>
              <a:t>isolation mask with a design that does not collapse against the mouth</a:t>
            </a:r>
            <a:endParaRPr lang="en-US" sz="2400" dirty="0"/>
          </a:p>
          <a:p>
            <a:pPr lvl="1"/>
            <a:r>
              <a:rPr lang="en-US" dirty="0"/>
              <a:t>Face shield </a:t>
            </a:r>
            <a:endParaRPr lang="en-US" sz="2400" dirty="0"/>
          </a:p>
          <a:p>
            <a:pPr lvl="1"/>
            <a:r>
              <a:rPr lang="en-US" dirty="0"/>
              <a:t>Respirator—required when performing aerosol-generating procedures is anticipated</a:t>
            </a:r>
            <a:endParaRPr lang="en-US" sz="2400" dirty="0"/>
          </a:p>
          <a:p>
            <a:pPr lvl="1"/>
            <a:r>
              <a:rPr lang="en-US" dirty="0"/>
              <a:t>Head cover that covers head and neck (separate from the gown or coverall)</a:t>
            </a:r>
            <a:endParaRPr lang="en-US" sz="2400" dirty="0"/>
          </a:p>
          <a:p>
            <a:pPr lvl="1"/>
            <a:r>
              <a:rPr lang="en-US" dirty="0"/>
              <a:t>Double gloves with cuffs to mid-forearm (nitrile preferred over latex)</a:t>
            </a:r>
            <a:endParaRPr lang="en-US" sz="2400" dirty="0"/>
          </a:p>
          <a:p>
            <a:endParaRPr lang="en-US" dirty="0"/>
          </a:p>
        </p:txBody>
      </p:sp>
    </p:spTree>
    <p:extLst>
      <p:ext uri="{BB962C8B-B14F-4D97-AF65-F5344CB8AC3E}">
        <p14:creationId xmlns:p14="http://schemas.microsoft.com/office/powerpoint/2010/main" val="31697933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Summery</a:t>
            </a:r>
            <a:endParaRPr lang="en-US" dirty="0"/>
          </a:p>
        </p:txBody>
      </p:sp>
      <p:sp>
        <p:nvSpPr>
          <p:cNvPr id="3" name="Content Placeholder 2"/>
          <p:cNvSpPr>
            <a:spLocks noGrp="1"/>
          </p:cNvSpPr>
          <p:nvPr>
            <p:ph idx="1"/>
          </p:nvPr>
        </p:nvSpPr>
        <p:spPr>
          <a:xfrm>
            <a:off x="685800" y="2642535"/>
            <a:ext cx="7772400" cy="3529665"/>
          </a:xfrm>
        </p:spPr>
        <p:txBody>
          <a:bodyPr>
            <a:normAutofit fontScale="70000" lnSpcReduction="20000"/>
          </a:bodyPr>
          <a:lstStyle/>
          <a:p>
            <a:pPr algn="just"/>
            <a:r>
              <a:rPr lang="en-US" dirty="0"/>
              <a:t>The use of PPE is recommended to protect HCWs from hazards encountered during their regular, daily duties. </a:t>
            </a:r>
            <a:endParaRPr lang="en-US" dirty="0" smtClean="0"/>
          </a:p>
          <a:p>
            <a:pPr algn="just"/>
            <a:r>
              <a:rPr lang="en-US" dirty="0" smtClean="0"/>
              <a:t>An </a:t>
            </a:r>
            <a:r>
              <a:rPr lang="en-US" dirty="0"/>
              <a:t>adequate supply of PPE should be available for use at the point of care.</a:t>
            </a:r>
          </a:p>
          <a:p>
            <a:pPr algn="just"/>
            <a:r>
              <a:rPr lang="en-US" dirty="0"/>
              <a:t>In situations with limited resources, PPE should be prioritized to provide, at a minimum, implementation of Standard Precautions. </a:t>
            </a:r>
            <a:endParaRPr lang="en-US" dirty="0" smtClean="0"/>
          </a:p>
          <a:p>
            <a:pPr algn="just"/>
            <a:r>
              <a:rPr lang="en-US" dirty="0" smtClean="0"/>
              <a:t>Staff </a:t>
            </a:r>
            <a:r>
              <a:rPr lang="en-US" dirty="0"/>
              <a:t>should be educated and trained on the indications for PPE, the benefits and limitations of specific PPE, and the correct procedure for putting on, wearing, and removing PPE so that PPE can be used effectively and efficiently. </a:t>
            </a:r>
          </a:p>
          <a:p>
            <a:pPr algn="just"/>
            <a:endParaRPr lang="en-US" dirty="0"/>
          </a:p>
        </p:txBody>
      </p:sp>
    </p:spTree>
    <p:extLst>
      <p:ext uri="{BB962C8B-B14F-4D97-AF65-F5344CB8AC3E}">
        <p14:creationId xmlns:p14="http://schemas.microsoft.com/office/powerpoint/2010/main" val="31627032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5">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xmlns="" name="Presentation1" id="{FF8D033B-E2B8-2549-8206-D2592AE46FED}" vid="{E3C3ECE2-B6B8-A844-8217-32346E25080D}"/>
    </a:ext>
  </a:extLst>
</a:theme>
</file>

<file path=docProps/app.xml><?xml version="1.0" encoding="utf-8"?>
<Properties xmlns="http://schemas.openxmlformats.org/officeDocument/2006/extended-properties" xmlns:vt="http://schemas.openxmlformats.org/officeDocument/2006/docPropsVTypes">
  <Template>Theme5</Template>
  <TotalTime>643</TotalTime>
  <Words>4416</Words>
  <Application>Microsoft Office PowerPoint</Application>
  <PresentationFormat>On-screen Show (4:3)</PresentationFormat>
  <Paragraphs>314</Paragraphs>
  <Slides>72</Slides>
  <Notes>0</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Theme5</vt:lpstr>
      <vt:lpstr>Volume 1_Section 1  Chapter 5: Personal Protective Equipment</vt:lpstr>
      <vt:lpstr>Chapter Outline</vt:lpstr>
      <vt:lpstr>Learning Objective</vt:lpstr>
      <vt:lpstr>PPP 5.1:  Overview</vt:lpstr>
      <vt:lpstr>Overview</vt:lpstr>
      <vt:lpstr>Overview cont’d…</vt:lpstr>
      <vt:lpstr>Overview cont’d…</vt:lpstr>
      <vt:lpstr>Overview cont’d…</vt:lpstr>
      <vt:lpstr>Overview cont’d…</vt:lpstr>
      <vt:lpstr>Overview cont’d…</vt:lpstr>
      <vt:lpstr>PPP 5.2:  Types, Uses, Effectiveness and Limitation of PPE</vt:lpstr>
      <vt:lpstr>List of PPE and Area of Protection</vt:lpstr>
      <vt:lpstr>Caps</vt:lpstr>
      <vt:lpstr>Surgical Head Coverings</vt:lpstr>
      <vt:lpstr>Caps cont’d…</vt:lpstr>
      <vt:lpstr>Protective Eye Wear </vt:lpstr>
      <vt:lpstr>Protective Eye Wear  cont’d…</vt:lpstr>
      <vt:lpstr>Protective Eye Wear  cont’d…</vt:lpstr>
      <vt:lpstr>Different types of Eye Protection Equipment’s </vt:lpstr>
      <vt:lpstr>How to put on protective eyewear</vt:lpstr>
      <vt:lpstr>How to take off protective eyewear</vt:lpstr>
      <vt:lpstr>Taking off Eye Protection</vt:lpstr>
      <vt:lpstr>Masks</vt:lpstr>
      <vt:lpstr>Masks</vt:lpstr>
      <vt:lpstr>Types of Masks frequently used by health care workers</vt:lpstr>
      <vt:lpstr>Types of Masks </vt:lpstr>
      <vt:lpstr>Surgical Masks</vt:lpstr>
      <vt:lpstr>Respirators</vt:lpstr>
      <vt:lpstr>Respirators cont’d…</vt:lpstr>
      <vt:lpstr>Gowns </vt:lpstr>
      <vt:lpstr>Isolation gowns </vt:lpstr>
      <vt:lpstr>Surgical gowns </vt:lpstr>
      <vt:lpstr>Surgical gowns cont’d… </vt:lpstr>
      <vt:lpstr>Coveralls</vt:lpstr>
      <vt:lpstr>Coverall Suit</vt:lpstr>
      <vt:lpstr>When to wear gowns:</vt:lpstr>
      <vt:lpstr>How to wear and remove gowns</vt:lpstr>
      <vt:lpstr>How to put on isolation gown</vt:lpstr>
      <vt:lpstr>How to remove isolation gown</vt:lpstr>
      <vt:lpstr>Plastic Apron </vt:lpstr>
      <vt:lpstr>Gloves</vt:lpstr>
      <vt:lpstr>Types of gloves</vt:lpstr>
      <vt:lpstr>When to Wear Gloves</vt:lpstr>
      <vt:lpstr>The Decision Pyramid –  When to and not to wear gloves  Image from WHO (2009); Hand Hygiene Why, How and When </vt:lpstr>
      <vt:lpstr>When to Use Double Gloves</vt:lpstr>
      <vt:lpstr>Health care providers should Double Glove when: </vt:lpstr>
      <vt:lpstr>When to use elbow length gloves:</vt:lpstr>
      <vt:lpstr>How to make Elbow Length Gloves</vt:lpstr>
      <vt:lpstr> How to use gloves  </vt:lpstr>
      <vt:lpstr> How to don examination gloves </vt:lpstr>
      <vt:lpstr>How to remove examination gloves</vt:lpstr>
      <vt:lpstr>Procedure for wearing Sterile Gloves </vt:lpstr>
      <vt:lpstr>How to remove (doff) sterile gloves </vt:lpstr>
      <vt:lpstr>Donning surgical gloves for surgical intervention</vt:lpstr>
      <vt:lpstr>Some Do’s about Gloves</vt:lpstr>
      <vt:lpstr>Some Don’ts about Gloves</vt:lpstr>
      <vt:lpstr>Cont’d…</vt:lpstr>
      <vt:lpstr>Footwear</vt:lpstr>
      <vt:lpstr>PPP 5.3:  Choosing PPE for Standard and Transmission-based Precaution </vt:lpstr>
      <vt:lpstr>Choosing PPE</vt:lpstr>
      <vt:lpstr>PPP 5.4:  Instruction for putting on and removing PPE</vt:lpstr>
      <vt:lpstr>Instruction for putting on and removing PPE</vt:lpstr>
      <vt:lpstr>Sequence for Putting on PPE for Standard and Transmission-based Precautions</vt:lpstr>
      <vt:lpstr>Sequence for removing PPE for Standard and Transmission-based Precautions</vt:lpstr>
      <vt:lpstr>Sequence for Putting on PPE for Sterile Surgical Procedures in the Operating Theater</vt:lpstr>
      <vt:lpstr>Sequence for Putting on PPE for Sterile Surgical Procedures in the Operating Theater cont’d…</vt:lpstr>
      <vt:lpstr>Sequence for Removing PPE following Sterile Surgical Procedures in the Operating Theater</vt:lpstr>
      <vt:lpstr>Sequence for Removing PPE following Sterile Surgical Procedures in the Operating Theater</vt:lpstr>
      <vt:lpstr>PPP 5.5:  Types of Personal Protective Equipment used to Prevent Transmission During Disease Outbreak </vt:lpstr>
      <vt:lpstr>List of Personal Protective Equipment</vt:lpstr>
      <vt:lpstr>List of Personal Protective Equipment Cont’d…</vt:lpstr>
      <vt:lpstr>Summery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Volume 1_Section 1  Chapter 5: Personal Protective Equipment</dc:title>
  <dc:creator>user</dc:creator>
  <cp:lastModifiedBy>ORCA</cp:lastModifiedBy>
  <cp:revision>38</cp:revision>
  <dcterms:created xsi:type="dcterms:W3CDTF">2018-12-22T09:14:25Z</dcterms:created>
  <dcterms:modified xsi:type="dcterms:W3CDTF">2019-12-11T15:16:54Z</dcterms:modified>
</cp:coreProperties>
</file>