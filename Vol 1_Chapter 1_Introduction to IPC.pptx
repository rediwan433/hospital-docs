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42"/>
  </p:notesMasterIdLst>
  <p:sldIdLst>
    <p:sldId id="256" r:id="rId2"/>
    <p:sldId id="270" r:id="rId3"/>
    <p:sldId id="289" r:id="rId4"/>
    <p:sldId id="257" r:id="rId5"/>
    <p:sldId id="269" r:id="rId6"/>
    <p:sldId id="271" r:id="rId7"/>
    <p:sldId id="259" r:id="rId8"/>
    <p:sldId id="260" r:id="rId9"/>
    <p:sldId id="261" r:id="rId10"/>
    <p:sldId id="302" r:id="rId11"/>
    <p:sldId id="272" r:id="rId12"/>
    <p:sldId id="262" r:id="rId13"/>
    <p:sldId id="273" r:id="rId14"/>
    <p:sldId id="263" r:id="rId15"/>
    <p:sldId id="264" r:id="rId16"/>
    <p:sldId id="266" r:id="rId17"/>
    <p:sldId id="274" r:id="rId18"/>
    <p:sldId id="267" r:id="rId19"/>
    <p:sldId id="268" r:id="rId20"/>
    <p:sldId id="280" r:id="rId21"/>
    <p:sldId id="275" r:id="rId22"/>
    <p:sldId id="276" r:id="rId23"/>
    <p:sldId id="277" r:id="rId24"/>
    <p:sldId id="278" r:id="rId25"/>
    <p:sldId id="281" r:id="rId26"/>
    <p:sldId id="279" r:id="rId27"/>
    <p:sldId id="286" r:id="rId28"/>
    <p:sldId id="287" r:id="rId29"/>
    <p:sldId id="283" r:id="rId30"/>
    <p:sldId id="282" r:id="rId31"/>
    <p:sldId id="288" r:id="rId32"/>
    <p:sldId id="284" r:id="rId33"/>
    <p:sldId id="299" r:id="rId34"/>
    <p:sldId id="285" r:id="rId35"/>
    <p:sldId id="290" r:id="rId36"/>
    <p:sldId id="291" r:id="rId37"/>
    <p:sldId id="292" r:id="rId38"/>
    <p:sldId id="293" r:id="rId39"/>
    <p:sldId id="303" r:id="rId40"/>
    <p:sldId id="298" r:id="rId41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2" autoAdjust="0"/>
    <p:restoredTop sz="94660"/>
  </p:normalViewPr>
  <p:slideViewPr>
    <p:cSldViewPr>
      <p:cViewPr varScale="1">
        <p:scale>
          <a:sx n="70" d="100"/>
          <a:sy n="70" d="100"/>
        </p:scale>
        <p:origin x="822" y="72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FD2E-C0D3-40B5-8DD1-9D796D061956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3C637-F117-4624-A596-DF844667A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8938" y="685800"/>
            <a:ext cx="60801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3C637-F117-4624-A596-DF844667A7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89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948" y="4972192"/>
            <a:ext cx="1293001" cy="361810"/>
          </a:xfrm>
        </p:spPr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6239" y="4972194"/>
            <a:ext cx="49867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329" y="4972193"/>
            <a:ext cx="965806" cy="361809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86438" y="3471329"/>
            <a:ext cx="680057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63090" y="76751"/>
            <a:ext cx="4028810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54593" y="5960533"/>
            <a:ext cx="1130796" cy="279400"/>
          </a:xfrm>
        </p:spPr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89" y="5960533"/>
            <a:ext cx="963150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1785" y="5960533"/>
            <a:ext cx="1151331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405" y="3599392"/>
            <a:ext cx="877228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1784" y="5934457"/>
            <a:ext cx="1018658" cy="305477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0404" y="2912533"/>
            <a:ext cx="31037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4" y="4140199"/>
            <a:ext cx="87867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0489" y="905362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825" y="2827870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0404" y="4140199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67851" y="896895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4495" y="2607728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0404" y="342900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9" y="3429000"/>
            <a:ext cx="87867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867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06748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17309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5273" y="915338"/>
            <a:ext cx="9042553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2490136"/>
            <a:ext cx="9042555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4593" y="5935133"/>
            <a:ext cx="89522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EA2C9-3E80-4651-AEDB-66CBFBE914A4}" type="datetimeFigureOut">
              <a:rPr lang="en-US" smtClean="0"/>
              <a:t>15-Dec-20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2" y="5960533"/>
            <a:ext cx="678938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19" y="5960533"/>
            <a:ext cx="125800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85653" y="4072"/>
            <a:ext cx="3201790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019" y="1676401"/>
            <a:ext cx="7499800" cy="1676401"/>
          </a:xfrm>
        </p:spPr>
        <p:txBody>
          <a:bodyPr>
            <a:noAutofit/>
          </a:bodyPr>
          <a:lstStyle/>
          <a:p>
            <a:r>
              <a:rPr lang="en-US" sz="2800" dirty="0" smtClean="0"/>
              <a:t>Volume 1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>Chapter 1: Introduction to Infection Prevention and Control (IPC)</a:t>
            </a:r>
            <a:endParaRPr lang="en-US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4000218"/>
            <a:ext cx="5956820" cy="72418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IPC for Healthcare Setting in Ethiopia</a:t>
            </a:r>
            <a:endParaRPr lang="en-US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905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295400"/>
            <a:ext cx="10438911" cy="990600"/>
          </a:xfrm>
        </p:spPr>
        <p:txBody>
          <a:bodyPr/>
          <a:lstStyle/>
          <a:p>
            <a:r>
              <a:rPr lang="en-US" b="1" dirty="0" smtClean="0"/>
              <a:t>Chapter 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2438400"/>
            <a:ext cx="9932168" cy="38100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 smtClean="0"/>
              <a:t>Chapter Objective 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PPP 1.1: Definition of basic terms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PPP 1.2: Goal of IPC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PPP 1.3: WHO Core components of IPC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PPP 1.4: The infection chain/cycle</a:t>
            </a:r>
          </a:p>
          <a:p>
            <a:pPr>
              <a:lnSpc>
                <a:spcPct val="16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519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Outline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PPP 1.5: </a:t>
            </a:r>
            <a:r>
              <a:rPr lang="en-US" dirty="0" smtClean="0"/>
              <a:t>Breaking </a:t>
            </a:r>
            <a:r>
              <a:rPr lang="en-US" dirty="0"/>
              <a:t>the chain/cycle of infection </a:t>
            </a:r>
          </a:p>
          <a:p>
            <a:pPr>
              <a:lnSpc>
                <a:spcPct val="160000"/>
              </a:lnSpc>
            </a:pPr>
            <a:r>
              <a:rPr lang="en-US" dirty="0"/>
              <a:t>PPP 1.6: Understanding healthcare associated Infections</a:t>
            </a:r>
          </a:p>
          <a:p>
            <a:pPr>
              <a:lnSpc>
                <a:spcPct val="160000"/>
              </a:lnSpc>
            </a:pPr>
            <a:r>
              <a:rPr lang="en-US" dirty="0"/>
              <a:t>PPP 1.7: Good IPC Practice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7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66800"/>
            <a:ext cx="10438911" cy="1143000"/>
          </a:xfrm>
        </p:spPr>
        <p:txBody>
          <a:bodyPr/>
          <a:lstStyle/>
          <a:p>
            <a:r>
              <a:rPr lang="en-US" b="1" dirty="0" smtClean="0"/>
              <a:t>Chapter Objective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362200"/>
            <a:ext cx="10134865" cy="3810000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800"/>
              </a:spcAft>
              <a:buNone/>
              <a:defRPr/>
            </a:pPr>
            <a:r>
              <a:rPr lang="en-US" b="1" dirty="0"/>
              <a:t>At the end of this module, participants will be able to:</a:t>
            </a:r>
          </a:p>
          <a:p>
            <a:pPr lvl="0" algn="just">
              <a:spcAft>
                <a:spcPts val="1200"/>
              </a:spcAft>
            </a:pPr>
            <a:r>
              <a:rPr lang="en-US" dirty="0" smtClean="0"/>
              <a:t>Define basic terms such as infection prevention and control  </a:t>
            </a:r>
          </a:p>
          <a:p>
            <a:pPr lvl="0" algn="just">
              <a:spcAft>
                <a:spcPts val="1200"/>
              </a:spcAft>
            </a:pPr>
            <a:r>
              <a:rPr lang="en-US" dirty="0" smtClean="0"/>
              <a:t>Describe the goal of IPC programs </a:t>
            </a:r>
          </a:p>
          <a:p>
            <a:pPr lvl="0" algn="just">
              <a:spcAft>
                <a:spcPts val="1200"/>
              </a:spcAft>
            </a:pPr>
            <a:r>
              <a:rPr lang="en-US" dirty="0" smtClean="0"/>
              <a:t>Explain the WHO’s core components for Infection prevention and control</a:t>
            </a:r>
          </a:p>
          <a:p>
            <a:pPr lvl="0" algn="just">
              <a:spcAft>
                <a:spcPts val="1200"/>
              </a:spcAft>
            </a:pPr>
            <a:r>
              <a:rPr lang="en-US" dirty="0" smtClean="0"/>
              <a:t>Explain the disease transmission cycle and measures to halt the spread of disease at health care delivery setting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4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38" y="533400"/>
            <a:ext cx="10337562" cy="1295400"/>
          </a:xfrm>
        </p:spPr>
        <p:txBody>
          <a:bodyPr/>
          <a:lstStyle/>
          <a:p>
            <a:r>
              <a:rPr lang="en-US" sz="3200" b="1" dirty="0" smtClean="0"/>
              <a:t>Chapter Objective </a:t>
            </a:r>
            <a:br>
              <a:rPr lang="en-US" sz="3200" b="1" dirty="0" smtClean="0"/>
            </a:br>
            <a:r>
              <a:rPr lang="en-US" sz="3200" b="1" dirty="0" smtClean="0"/>
              <a:t>Cont’d…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1828800"/>
            <a:ext cx="9932168" cy="4419600"/>
          </a:xfrm>
        </p:spPr>
        <p:txBody>
          <a:bodyPr>
            <a:normAutofit/>
          </a:bodyPr>
          <a:lstStyle/>
          <a:p>
            <a:pPr lvl="0" algn="just">
              <a:spcAft>
                <a:spcPts val="1200"/>
              </a:spcAft>
            </a:pPr>
            <a:r>
              <a:rPr lang="en-US" dirty="0" smtClean="0"/>
              <a:t>Understand what HAI’s are </a:t>
            </a:r>
          </a:p>
          <a:p>
            <a:pPr lvl="0" algn="just">
              <a:spcAft>
                <a:spcPts val="1200"/>
              </a:spcAft>
            </a:pPr>
            <a:r>
              <a:rPr lang="en-US" dirty="0" smtClean="0"/>
              <a:t>Describe the role of  standard precaution and transmission based precautions in preventing Healthcare Acquired Infections</a:t>
            </a:r>
          </a:p>
          <a:p>
            <a:pPr lvl="0" algn="just"/>
            <a:r>
              <a:rPr lang="en-US" dirty="0" smtClean="0"/>
              <a:t>Identify the recommended activities to improve IPC  practices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1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PPP 1.1: Definition of basic terms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03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30778"/>
            <a:ext cx="10540260" cy="1188426"/>
          </a:xfrm>
        </p:spPr>
        <p:txBody>
          <a:bodyPr/>
          <a:lstStyle/>
          <a:p>
            <a:r>
              <a:rPr lang="en-US" b="1" dirty="0" smtClean="0"/>
              <a:t>Definition of Basic Terms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362200"/>
            <a:ext cx="10134865" cy="3962400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  <a:buClr>
                <a:srgbClr val="0070C0"/>
              </a:buClr>
              <a:defRPr/>
            </a:pPr>
            <a:r>
              <a:rPr lang="en-US" sz="8000" b="1" dirty="0">
                <a:solidFill>
                  <a:srgbClr val="0070C0"/>
                </a:solidFill>
              </a:rPr>
              <a:t>Microorganisms: </a:t>
            </a:r>
            <a:r>
              <a:rPr lang="en-US" sz="8000" dirty="0"/>
              <a:t>causative agents of </a:t>
            </a:r>
            <a:r>
              <a:rPr lang="en-US" sz="8000" dirty="0" smtClean="0"/>
              <a:t>infection</a:t>
            </a:r>
          </a:p>
          <a:p>
            <a:pPr lvl="0" algn="just">
              <a:lnSpc>
                <a:spcPct val="120000"/>
              </a:lnSpc>
              <a:spcAft>
                <a:spcPts val="1200"/>
              </a:spcAft>
              <a:buClr>
                <a:srgbClr val="0070C0"/>
              </a:buClr>
              <a:defRPr/>
            </a:pPr>
            <a:r>
              <a:rPr lang="en-US" sz="8000" b="1" dirty="0">
                <a:solidFill>
                  <a:srgbClr val="0070C0"/>
                </a:solidFill>
              </a:rPr>
              <a:t>Infectious Microorganisms: </a:t>
            </a:r>
            <a:r>
              <a:rPr lang="en-US" sz="8000" dirty="0"/>
              <a:t>microorganism capable of producing disease in appropriate hosts</a:t>
            </a:r>
            <a:r>
              <a:rPr lang="en-US" sz="8000" dirty="0" smtClean="0"/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rgbClr val="0070C0"/>
              </a:buClr>
              <a:defRPr/>
            </a:pPr>
            <a:r>
              <a:rPr lang="en-US" sz="8000" b="1" dirty="0" smtClean="0">
                <a:solidFill>
                  <a:srgbClr val="0070C0"/>
                </a:solidFill>
              </a:rPr>
              <a:t>Colonization</a:t>
            </a:r>
            <a:r>
              <a:rPr lang="en-US" sz="8000" b="1" dirty="0">
                <a:solidFill>
                  <a:srgbClr val="0070C0"/>
                </a:solidFill>
              </a:rPr>
              <a:t>:</a:t>
            </a:r>
            <a:r>
              <a:rPr lang="en-US" sz="8000" dirty="0">
                <a:solidFill>
                  <a:srgbClr val="0070C0"/>
                </a:solidFill>
              </a:rPr>
              <a:t> </a:t>
            </a:r>
            <a:r>
              <a:rPr lang="en-US" sz="8000" dirty="0"/>
              <a:t>presence and multiplication of a microorganisms without tissue invasion or damage </a:t>
            </a:r>
            <a:endParaRPr lang="en-US" sz="8000" dirty="0" smtClean="0"/>
          </a:p>
          <a:p>
            <a:pPr algn="just">
              <a:lnSpc>
                <a:spcPct val="120000"/>
              </a:lnSpc>
              <a:spcBef>
                <a:spcPts val="600"/>
              </a:spcBef>
              <a:buClr>
                <a:srgbClr val="0070C0"/>
              </a:buClr>
              <a:defRPr/>
            </a:pPr>
            <a:r>
              <a:rPr lang="en-US" sz="8000" b="1" dirty="0" smtClean="0">
                <a:solidFill>
                  <a:srgbClr val="0070C0"/>
                </a:solidFill>
              </a:rPr>
              <a:t>Infection</a:t>
            </a:r>
            <a:r>
              <a:rPr lang="en-US" sz="8000" b="1" dirty="0">
                <a:solidFill>
                  <a:srgbClr val="0070C0"/>
                </a:solidFill>
              </a:rPr>
              <a:t>:</a:t>
            </a:r>
            <a:r>
              <a:rPr lang="en-US" sz="8000" dirty="0">
                <a:solidFill>
                  <a:srgbClr val="0070C0"/>
                </a:solidFill>
              </a:rPr>
              <a:t> </a:t>
            </a:r>
            <a:r>
              <a:rPr lang="en-US" sz="8000" dirty="0"/>
              <a:t>colonizing organisms are  now causing Cellular </a:t>
            </a:r>
            <a:r>
              <a:rPr lang="en-US" sz="8000" dirty="0" smtClean="0"/>
              <a:t>response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51913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Definition cont’d 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6" y="2514600"/>
            <a:ext cx="10236214" cy="3810000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>
                <a:solidFill>
                  <a:srgbClr val="0070C0"/>
                </a:solidFill>
              </a:rPr>
              <a:t>Infection prevention and control: </a:t>
            </a:r>
            <a:r>
              <a:rPr lang="en-US" sz="2400" dirty="0" smtClean="0"/>
              <a:t>a systemic effort or process of placing protective barriers (physical, chemical, or mechanical) between susceptible host &amp; microorganism </a:t>
            </a:r>
          </a:p>
          <a:p>
            <a:pPr marL="1200150" lvl="2" indent="-342900" algn="just">
              <a:spcBef>
                <a:spcPts val="600"/>
              </a:spcBef>
              <a:spcAft>
                <a:spcPts val="1800"/>
              </a:spcAft>
            </a:pPr>
            <a:r>
              <a:rPr lang="en-US" dirty="0" smtClean="0"/>
              <a:t>“used interchangeably with Infection Prevention in this training.”</a:t>
            </a:r>
            <a:endParaRPr lang="en-US" b="1" dirty="0" smtClean="0">
              <a:solidFill>
                <a:srgbClr val="0070C0"/>
              </a:solidFill>
            </a:endParaRPr>
          </a:p>
          <a:p>
            <a:pPr lvl="0" algn="just">
              <a:spcBef>
                <a:spcPts val="600"/>
              </a:spcBef>
              <a:spcAft>
                <a:spcPts val="1200"/>
              </a:spcAft>
            </a:pPr>
            <a:r>
              <a:rPr lang="en-US" sz="2400" b="1" dirty="0" smtClean="0">
                <a:solidFill>
                  <a:srgbClr val="0070C0"/>
                </a:solidFill>
              </a:rPr>
              <a:t>Disease: </a:t>
            </a:r>
            <a:r>
              <a:rPr lang="en-US" sz="2400" dirty="0" smtClean="0"/>
              <a:t>any deviation from being health or interruption of the normal structure or function of any body part manifesting by signs and symptoms </a:t>
            </a:r>
          </a:p>
        </p:txBody>
      </p:sp>
    </p:spTree>
    <p:extLst>
      <p:ext uri="{BB962C8B-B14F-4D97-AF65-F5344CB8AC3E}">
        <p14:creationId xmlns:p14="http://schemas.microsoft.com/office/powerpoint/2010/main" val="379772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Definition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438400"/>
            <a:ext cx="10134865" cy="381000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dirty="0" smtClean="0">
                <a:solidFill>
                  <a:srgbClr val="0070C0"/>
                </a:solidFill>
              </a:rPr>
              <a:t>Protective Barriers: </a:t>
            </a:r>
            <a:r>
              <a:rPr lang="en-US" sz="2000" dirty="0" smtClean="0"/>
              <a:t>are physical, mechanical or chemical processes that prevent the spread of infectious microorganisms from person to person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 smtClean="0">
                <a:solidFill>
                  <a:srgbClr val="0070C0"/>
                </a:solidFill>
              </a:rPr>
              <a:t>Nosocomial infections: </a:t>
            </a:r>
            <a:r>
              <a:rPr lang="en-US" sz="2000" dirty="0" smtClean="0"/>
              <a:t>Infection arising &gt; 48 hours after admission.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000" dirty="0" smtClean="0"/>
              <a:t>Used interchangeably with “healthcare facility acquired infection” or “healthcare associated infections (HAIs)”.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5789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38" y="1030778"/>
            <a:ext cx="10337562" cy="1188426"/>
          </a:xfrm>
        </p:spPr>
        <p:txBody>
          <a:bodyPr/>
          <a:lstStyle/>
          <a:p>
            <a:r>
              <a:rPr lang="en-US" b="1" dirty="0" smtClean="0"/>
              <a:t>Why Infection Prevention?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dirty="0" smtClean="0"/>
              <a:t>To protect patients from nosocomial infections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dirty="0" smtClean="0"/>
              <a:t>To protect the healthcare providers  and support staffs from occupational hazard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dirty="0" smtClean="0"/>
              <a:t>To protect visitors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dirty="0" smtClean="0"/>
              <a:t>To protect students practicing in the healthcare facilities 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dirty="0" smtClean="0"/>
              <a:t>To protect communities and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76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PPP 1.2: Goal of Infection prevention and control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65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Goal of Infection Prevention and Control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362200"/>
            <a:ext cx="10134865" cy="3810000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</a:rPr>
              <a:t>T</a:t>
            </a:r>
            <a:r>
              <a:rPr lang="en-US" b="1" dirty="0" smtClean="0">
                <a:solidFill>
                  <a:srgbClr val="00B0F0"/>
                </a:solidFill>
              </a:rPr>
              <a:t>o </a:t>
            </a:r>
            <a:r>
              <a:rPr lang="en-US" b="1" dirty="0">
                <a:solidFill>
                  <a:srgbClr val="00B0F0"/>
                </a:solidFill>
              </a:rPr>
              <a:t>make healthcare facilities safe </a:t>
            </a:r>
            <a:r>
              <a:rPr lang="en-US" b="1" dirty="0" smtClean="0">
                <a:solidFill>
                  <a:srgbClr val="00B0F0"/>
                </a:solidFill>
              </a:rPr>
              <a:t>place for all</a:t>
            </a:r>
            <a:r>
              <a:rPr lang="en-US" dirty="0" smtClean="0"/>
              <a:t>, </a:t>
            </a:r>
            <a:r>
              <a:rPr lang="en-US" dirty="0"/>
              <a:t>including </a:t>
            </a:r>
            <a:endParaRPr lang="en-US" dirty="0" smtClean="0"/>
          </a:p>
          <a:p>
            <a:pPr lvl="1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patients</a:t>
            </a:r>
            <a:r>
              <a:rPr lang="en-US" dirty="0"/>
              <a:t>, </a:t>
            </a:r>
            <a:endParaRPr lang="en-US" dirty="0" smtClean="0"/>
          </a:p>
          <a:p>
            <a:pPr lvl="1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clinical </a:t>
            </a:r>
            <a:r>
              <a:rPr lang="en-US" dirty="0"/>
              <a:t>and </a:t>
            </a:r>
            <a:endParaRPr lang="en-US" dirty="0" smtClean="0"/>
          </a:p>
          <a:p>
            <a:pPr lvl="1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non-clinical </a:t>
            </a:r>
            <a:r>
              <a:rPr lang="en-US" dirty="0"/>
              <a:t>staff of healthcare facilities, and </a:t>
            </a:r>
            <a:endParaRPr lang="en-US" dirty="0" smtClean="0"/>
          </a:p>
          <a:p>
            <a:pPr lvl="1" algn="just">
              <a:lnSpc>
                <a:spcPct val="150000"/>
              </a:lnSpc>
              <a:buFont typeface="Courier New" pitchFamily="49" charset="0"/>
              <a:buChar char="o"/>
            </a:pPr>
            <a:r>
              <a:rPr lang="en-US" dirty="0" smtClean="0"/>
              <a:t>the </a:t>
            </a:r>
            <a:r>
              <a:rPr lang="en-US" dirty="0"/>
              <a:t>community.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PPP 1.3: WHO Core Components of Infection Prevention and Control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WHO Core components of IPC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6" y="2490136"/>
            <a:ext cx="9830818" cy="3444997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n-US" sz="2400" dirty="0"/>
              <a:t>WHO has provided guidance on eight core components for Infection Prevention and Control (IPC) </a:t>
            </a:r>
            <a:endParaRPr lang="en-US" sz="2400" dirty="0" smtClean="0"/>
          </a:p>
          <a:p>
            <a:pPr algn="just">
              <a:lnSpc>
                <a:spcPct val="120000"/>
              </a:lnSpc>
            </a:pPr>
            <a:r>
              <a:rPr lang="en-US" sz="2400" dirty="0"/>
              <a:t>Implementation success in each of these areas also depends on the adoption of a multimodal approach. </a:t>
            </a:r>
            <a:endParaRPr lang="en-US" sz="2400" dirty="0" smtClean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2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WHO Core components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138" y="2667000"/>
            <a:ext cx="10134865" cy="3505200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US" sz="2500" dirty="0" smtClean="0"/>
              <a:t>Multimodal Strategy consists </a:t>
            </a:r>
            <a:r>
              <a:rPr lang="en-US" sz="2500" dirty="0"/>
              <a:t>of several elements implemented in an integrated way with the </a:t>
            </a:r>
            <a:r>
              <a:rPr lang="en-US" sz="2500" b="1" dirty="0">
                <a:solidFill>
                  <a:srgbClr val="00B0F0"/>
                </a:solidFill>
              </a:rPr>
              <a:t>aim of improving an outcome and changing behavior</a:t>
            </a:r>
            <a:r>
              <a:rPr lang="en-US" sz="2500" dirty="0" smtClean="0"/>
              <a:t>.</a:t>
            </a:r>
          </a:p>
          <a:p>
            <a:pPr lvl="0" algn="just">
              <a:spcAft>
                <a:spcPts val="1200"/>
              </a:spcAft>
            </a:pPr>
            <a:r>
              <a:rPr lang="en-US" sz="2500" dirty="0" smtClean="0"/>
              <a:t>The presence of an IPC </a:t>
            </a:r>
            <a:r>
              <a:rPr lang="en-US" sz="2500" dirty="0" err="1" smtClean="0"/>
              <a:t>programme</a:t>
            </a:r>
            <a:r>
              <a:rPr lang="en-US" sz="2500" dirty="0" smtClean="0"/>
              <a:t> is a necessary, but not a sufficient condition to </a:t>
            </a:r>
            <a:r>
              <a:rPr lang="en-US" sz="2500" b="1" dirty="0" smtClean="0">
                <a:solidFill>
                  <a:srgbClr val="00B0F0"/>
                </a:solidFill>
              </a:rPr>
              <a:t>achieve safe and high quality health care</a:t>
            </a:r>
            <a:r>
              <a:rPr lang="en-US" sz="25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248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8 WHO’s Core components are:-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13487" y="2438400"/>
            <a:ext cx="4864735" cy="3886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IPC </a:t>
            </a:r>
            <a:r>
              <a:rPr lang="en-US" dirty="0" smtClean="0"/>
              <a:t>programme</a:t>
            </a: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Evidence-based guidelines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Education and training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Health care-associated infection (HAI) surveillance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Multimodal strategies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283616" y="2514600"/>
            <a:ext cx="4864735" cy="37338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dirty="0" smtClean="0"/>
              <a:t>Monitoring and audit of IPC practices and feedback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dirty="0" smtClean="0"/>
              <a:t>Workload, staffing and bed occupancy (</a:t>
            </a:r>
            <a:r>
              <a:rPr lang="en-US" dirty="0" smtClean="0">
                <a:solidFill>
                  <a:srgbClr val="0070C0"/>
                </a:solidFill>
              </a:rPr>
              <a:t> facility level</a:t>
            </a:r>
            <a:r>
              <a:rPr lang="en-US" dirty="0" smtClean="0"/>
              <a:t>) </a:t>
            </a:r>
          </a:p>
          <a:p>
            <a:pPr algn="just">
              <a:lnSpc>
                <a:spcPct val="110000"/>
              </a:lnSpc>
            </a:pPr>
            <a:r>
              <a:rPr lang="en-US" dirty="0" smtClean="0"/>
              <a:t>Built environment, materials and equipment for IPC (</a:t>
            </a:r>
            <a:r>
              <a:rPr lang="en-US" dirty="0" smtClean="0">
                <a:solidFill>
                  <a:srgbClr val="0070C0"/>
                </a:solidFill>
              </a:rPr>
              <a:t>facility level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9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PPP 1.4: The Infection Chain/Cycle</a:t>
            </a:r>
            <a:endParaRPr lang="en-US" b="1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35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Infection Chain/Cycle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514600"/>
            <a:ext cx="10134865" cy="38100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SzPct val="120000"/>
            </a:pPr>
            <a:r>
              <a:rPr lang="en-US" dirty="0" smtClean="0"/>
              <a:t>Most microorganisms can cause infection.</a:t>
            </a:r>
          </a:p>
          <a:p>
            <a:pPr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SzPct val="120000"/>
            </a:pPr>
            <a:r>
              <a:rPr lang="en-US" dirty="0" smtClean="0"/>
              <a:t>Humans are susceptible to most infectious agents unless immune</a:t>
            </a:r>
          </a:p>
          <a:p>
            <a:pPr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SzPct val="120000"/>
            </a:pPr>
            <a:r>
              <a:rPr lang="en-US" dirty="0" smtClean="0"/>
              <a:t>Risk of infection is related to the number and virulence of organisms.</a:t>
            </a:r>
          </a:p>
          <a:p>
            <a:pPr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SzPct val="120000"/>
            </a:pPr>
            <a:r>
              <a:rPr lang="en-US" dirty="0" smtClean="0"/>
              <a:t>Number of organisms needed to cause infection varies with location (blood stream</a:t>
            </a:r>
            <a:r>
              <a:rPr lang="en-US" dirty="0" smtClean="0">
                <a:cs typeface="Arial" charset="0"/>
              </a:rPr>
              <a:t>—</a:t>
            </a:r>
            <a:r>
              <a:rPr lang="en-US" dirty="0" smtClean="0"/>
              <a:t>least; intact skin</a:t>
            </a:r>
            <a:r>
              <a:rPr lang="en-US" dirty="0" smtClean="0">
                <a:cs typeface="Arial" charset="0"/>
              </a:rPr>
              <a:t>—</a:t>
            </a:r>
            <a:r>
              <a:rPr lang="en-US" dirty="0" smtClean="0"/>
              <a:t> greatest number of organisms).</a:t>
            </a:r>
          </a:p>
        </p:txBody>
      </p:sp>
    </p:spTree>
    <p:extLst>
      <p:ext uri="{BB962C8B-B14F-4D97-AF65-F5344CB8AC3E}">
        <p14:creationId xmlns:p14="http://schemas.microsoft.com/office/powerpoint/2010/main" val="9881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Chain of Infection</a:t>
            </a:r>
            <a:endParaRPr lang="en-US" b="1" dirty="0"/>
          </a:p>
        </p:txBody>
      </p:sp>
      <p:pic>
        <p:nvPicPr>
          <p:cNvPr id="4" name="Content Placeholder 3" descr="Image result for poster chain of infections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22927" y="2362200"/>
            <a:ext cx="861463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964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40" y="685800"/>
            <a:ext cx="10540260" cy="1188426"/>
          </a:xfrm>
        </p:spPr>
        <p:txBody>
          <a:bodyPr/>
          <a:lstStyle/>
          <a:p>
            <a:r>
              <a:rPr lang="en-US" b="1" dirty="0" smtClean="0"/>
              <a:t>Chain of Infection cont’d …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75284" y="1676400"/>
            <a:ext cx="10236214" cy="423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3"/>
          <p:cNvSpPr txBox="1">
            <a:spLocks/>
          </p:cNvSpPr>
          <p:nvPr/>
        </p:nvSpPr>
        <p:spPr>
          <a:xfrm>
            <a:off x="1216184" y="5910262"/>
            <a:ext cx="9830819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Transmissions of HBV and HIV from Patients to Healthcare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6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PPP 1.5: Breaking the chain/Cycle of infection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30778"/>
            <a:ext cx="10337562" cy="1188426"/>
          </a:xfrm>
        </p:spPr>
        <p:txBody>
          <a:bodyPr>
            <a:normAutofit/>
          </a:bodyPr>
          <a:lstStyle/>
          <a:p>
            <a:r>
              <a:rPr lang="en-US" b="1" dirty="0" smtClean="0"/>
              <a:t>Breaking the chain/cycle of infection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438400"/>
            <a:ext cx="10134865" cy="38100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n-US" sz="2000" dirty="0"/>
              <a:t>Understanding the Chain of Infection or Transmission Cycle of specific infectious diseases is important, if healthcare workers are to:</a:t>
            </a:r>
          </a:p>
          <a:p>
            <a:pPr lvl="1" algn="just">
              <a:lnSpc>
                <a:spcPct val="120000"/>
              </a:lnSpc>
              <a:spcAft>
                <a:spcPts val="1200"/>
              </a:spcAft>
            </a:pPr>
            <a:r>
              <a:rPr lang="en-US" sz="1800" dirty="0"/>
              <a:t>Prevent transmission of  microorganisms  </a:t>
            </a:r>
            <a:endParaRPr lang="en-US" sz="1800" dirty="0" smtClean="0"/>
          </a:p>
          <a:p>
            <a:pPr lvl="2" algn="just">
              <a:lnSpc>
                <a:spcPct val="120000"/>
              </a:lnSpc>
              <a:spcAft>
                <a:spcPts val="1200"/>
              </a:spcAft>
            </a:pPr>
            <a:r>
              <a:rPr lang="en-US" sz="1600" dirty="0"/>
              <a:t>F</a:t>
            </a:r>
            <a:r>
              <a:rPr lang="en-US" sz="1600" dirty="0" smtClean="0"/>
              <a:t>rom </a:t>
            </a:r>
            <a:r>
              <a:rPr lang="en-US" sz="1600" dirty="0"/>
              <a:t>patient  to  patient,  </a:t>
            </a:r>
            <a:endParaRPr lang="en-US" sz="1600" dirty="0" smtClean="0"/>
          </a:p>
          <a:p>
            <a:pPr lvl="2" algn="just">
              <a:lnSpc>
                <a:spcPct val="120000"/>
              </a:lnSpc>
              <a:spcAft>
                <a:spcPts val="1200"/>
              </a:spcAft>
            </a:pPr>
            <a:r>
              <a:rPr lang="en-US" sz="1600" dirty="0"/>
              <a:t>F</a:t>
            </a:r>
            <a:r>
              <a:rPr lang="en-US" sz="1600" dirty="0" smtClean="0"/>
              <a:t>rom  </a:t>
            </a:r>
            <a:r>
              <a:rPr lang="en-US" sz="1600" dirty="0"/>
              <a:t>patient  to  the provider or vice versa during medical and surgical procedures;</a:t>
            </a:r>
          </a:p>
          <a:p>
            <a:pPr lvl="1" algn="just">
              <a:lnSpc>
                <a:spcPct val="120000"/>
              </a:lnSpc>
              <a:spcAft>
                <a:spcPts val="1200"/>
              </a:spcAft>
            </a:pPr>
            <a:r>
              <a:rPr lang="en-US" sz="1800" dirty="0"/>
              <a:t>Teach others on the factors required for transmission to occur and most importantly.</a:t>
            </a:r>
          </a:p>
          <a:p>
            <a:pPr lvl="1" algn="just">
              <a:lnSpc>
                <a:spcPct val="120000"/>
              </a:lnSpc>
              <a:spcAft>
                <a:spcPts val="1200"/>
              </a:spcAft>
            </a:pPr>
            <a:r>
              <a:rPr lang="en-US" sz="1800" dirty="0"/>
              <a:t>Teach others on how to break the disease transmission cycle;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880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Breaking the chain/cycle of infection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138" y="2438400"/>
            <a:ext cx="10236214" cy="38100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dirty="0"/>
              <a:t>Preventing the spread of infectious agents or proper infection prevention and control practice requires </a:t>
            </a:r>
            <a:r>
              <a:rPr lang="en-US" dirty="0" smtClean="0"/>
              <a:t>breaking </a:t>
            </a:r>
            <a:r>
              <a:rPr lang="en-US" dirty="0"/>
              <a:t>the chain of infection by removing one or more of the conditions necessary </a:t>
            </a:r>
            <a:r>
              <a:rPr lang="en-US" dirty="0" smtClean="0"/>
              <a:t>through </a:t>
            </a:r>
            <a:r>
              <a:rPr lang="en-US" dirty="0"/>
              <a:t>practices which;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</a:rPr>
              <a:t>Reduce the number of microorganisms present </a:t>
            </a:r>
            <a:r>
              <a:rPr lang="en-US" dirty="0"/>
              <a:t>(e.g.  hand  washing,  cleaning  of instruments</a:t>
            </a:r>
            <a:r>
              <a:rPr lang="en-US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rgbClr val="0070C0"/>
                </a:solidFill>
              </a:rPr>
              <a:t>Kill, inhibit or inactivate microorganisms </a:t>
            </a:r>
            <a:r>
              <a:rPr lang="en-US" dirty="0" smtClean="0"/>
              <a:t>(e.g. hand washing with a waterless alcohol preparation, decontamination of patient care items);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9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143000"/>
            <a:ext cx="10438911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Breaking the chain/cycle of infection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487" y="2438400"/>
            <a:ext cx="10134865" cy="3810000"/>
          </a:xfrm>
        </p:spPr>
        <p:txBody>
          <a:bodyPr>
            <a:normAutofit fontScale="40000" lnSpcReduction="20000"/>
          </a:bodyPr>
          <a:lstStyle/>
          <a:p>
            <a:pPr lvl="1" algn="just">
              <a:lnSpc>
                <a:spcPct val="170000"/>
              </a:lnSpc>
              <a:spcAft>
                <a:spcPts val="1200"/>
              </a:spcAft>
            </a:pPr>
            <a:r>
              <a:rPr lang="en-US" sz="5000" dirty="0" smtClean="0">
                <a:solidFill>
                  <a:srgbClr val="0070C0"/>
                </a:solidFill>
              </a:rPr>
              <a:t>Create barriers </a:t>
            </a:r>
            <a:r>
              <a:rPr lang="en-US" sz="5000" dirty="0" smtClean="0"/>
              <a:t>to prevent infectious agents from spreading (e.g. wearing gloves or personal protective equipment); or</a:t>
            </a:r>
          </a:p>
          <a:p>
            <a:pPr lvl="1" algn="just">
              <a:lnSpc>
                <a:spcPct val="170000"/>
              </a:lnSpc>
              <a:spcAft>
                <a:spcPts val="1200"/>
              </a:spcAft>
            </a:pPr>
            <a:r>
              <a:rPr lang="en-US" sz="5000" dirty="0" smtClean="0">
                <a:solidFill>
                  <a:srgbClr val="0070C0"/>
                </a:solidFill>
              </a:rPr>
              <a:t>Reduce or eliminate risky practices </a:t>
            </a:r>
            <a:r>
              <a:rPr lang="en-US" sz="5000" dirty="0" smtClean="0"/>
              <a:t>(e.g.  by  using  hands-free  technique  in  the operation room, using gloves and disposable syringes etc.)</a:t>
            </a:r>
          </a:p>
          <a:p>
            <a:pPr lvl="1" algn="just">
              <a:lnSpc>
                <a:spcPct val="170000"/>
              </a:lnSpc>
            </a:pPr>
            <a:r>
              <a:rPr lang="en-US" sz="5000" dirty="0" smtClean="0"/>
              <a:t>Make sure that people, </a:t>
            </a:r>
            <a:r>
              <a:rPr lang="en-US" sz="5000" dirty="0" smtClean="0">
                <a:solidFill>
                  <a:srgbClr val="0070C0"/>
                </a:solidFill>
              </a:rPr>
              <a:t>especially healthcare workers, are immune or vaccinated</a:t>
            </a:r>
          </a:p>
        </p:txBody>
      </p:sp>
    </p:spTree>
    <p:extLst>
      <p:ext uri="{BB962C8B-B14F-4D97-AF65-F5344CB8AC3E}">
        <p14:creationId xmlns:p14="http://schemas.microsoft.com/office/powerpoint/2010/main" val="70980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19" y="533400"/>
            <a:ext cx="10287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735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87" y="1030778"/>
            <a:ext cx="10033516" cy="118842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Breaking the chain/cycle of infection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algn="just"/>
            <a:r>
              <a:rPr lang="en-US" dirty="0" smtClean="0"/>
              <a:t>Failure </a:t>
            </a:r>
            <a:r>
              <a:rPr lang="en-US" dirty="0"/>
              <a:t>to apply infection prevention and control measures in healthcare settings can increase the risk for</a:t>
            </a:r>
            <a:r>
              <a:rPr lang="en-US" b="1" dirty="0"/>
              <a:t> Healthcare Associated Infections.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5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PPP 1.6: Understanding Healthcare Associated Infections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3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Healthcare associated infections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dirty="0"/>
              <a:t>Infections acquired while a patients is under hospital (or any other health facility) care which are not present or incubating at time of </a:t>
            </a:r>
            <a:r>
              <a:rPr lang="en-US" dirty="0" smtClean="0"/>
              <a:t>admission.</a:t>
            </a:r>
          </a:p>
          <a:p>
            <a:pPr>
              <a:lnSpc>
                <a:spcPct val="150000"/>
              </a:lnSpc>
            </a:pPr>
            <a:r>
              <a:rPr lang="en-US" dirty="0"/>
              <a:t>Infections occurring </a:t>
            </a:r>
            <a:r>
              <a:rPr lang="en-US" dirty="0">
                <a:solidFill>
                  <a:srgbClr val="0070C0"/>
                </a:solidFill>
              </a:rPr>
              <a:t>more than 48 hours </a:t>
            </a:r>
            <a:r>
              <a:rPr lang="en-US" dirty="0"/>
              <a:t>after </a:t>
            </a:r>
            <a:r>
              <a:rPr lang="en-US" dirty="0" smtClean="0"/>
              <a:t>admission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4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Healthcare associated infections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dirty="0"/>
              <a:t>HAIs may also occur;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 to 48 hours after the episode of care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 to 3 days after discharge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 to 30 days after an operation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 to 1 year after an operation with an implant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4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Healthcare associated infections Cont’d 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en-US" dirty="0"/>
              <a:t>HAIs may be endogenous (from self) where the infectious agents is from patient like the normal flora which causes disease as a result of gaining access into another part of the body where it is not normally found </a:t>
            </a:r>
            <a:r>
              <a:rPr lang="en-US" dirty="0" smtClean="0"/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Example </a:t>
            </a:r>
            <a:r>
              <a:rPr lang="en-US" dirty="0"/>
              <a:t>organism from the colon entering the urinary tract and causing Urinary Tract Infection. 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7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Healthcare associated infections Cont’d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en-US" dirty="0"/>
              <a:t>HAIs may also be exogenous (from others or cross infection). </a:t>
            </a:r>
            <a:endParaRPr lang="en-US" dirty="0" smtClean="0"/>
          </a:p>
          <a:p>
            <a:pPr lvl="0"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involves acquiring infection from an external source; 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dirty="0"/>
              <a:t>F</a:t>
            </a:r>
            <a:r>
              <a:rPr lang="en-US" dirty="0" smtClean="0"/>
              <a:t>or example </a:t>
            </a:r>
            <a:r>
              <a:rPr lang="en-US" dirty="0"/>
              <a:t>a patient or health worker, through contaminated hands, or contaminated patient care items or the environment.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4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685800"/>
            <a:ext cx="9042553" cy="1066800"/>
          </a:xfrm>
        </p:spPr>
        <p:txBody>
          <a:bodyPr/>
          <a:lstStyle/>
          <a:p>
            <a:r>
              <a:rPr lang="en-US" dirty="0"/>
              <a:t>Healthcare associated infections Cont’d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19" y="2057400"/>
            <a:ext cx="10287000" cy="426720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Some of the most common HAIs are; </a:t>
            </a:r>
            <a:endParaRPr lang="en-US" dirty="0" smtClean="0"/>
          </a:p>
          <a:p>
            <a:pPr lvl="1"/>
            <a:r>
              <a:rPr lang="en-US" dirty="0"/>
              <a:t>Surgical Site Infections</a:t>
            </a:r>
          </a:p>
          <a:p>
            <a:pPr lvl="1"/>
            <a:r>
              <a:rPr lang="en-US" dirty="0" smtClean="0"/>
              <a:t>Urinary </a:t>
            </a:r>
            <a:r>
              <a:rPr lang="en-US" dirty="0"/>
              <a:t>Tract Infections, </a:t>
            </a:r>
            <a:endParaRPr lang="en-US" dirty="0" smtClean="0"/>
          </a:p>
          <a:p>
            <a:pPr lvl="1"/>
            <a:r>
              <a:rPr lang="en-US" dirty="0" smtClean="0"/>
              <a:t>Blood </a:t>
            </a:r>
            <a:r>
              <a:rPr lang="en-US" dirty="0"/>
              <a:t>Stream Infections, </a:t>
            </a:r>
            <a:endParaRPr lang="en-US" dirty="0" smtClean="0"/>
          </a:p>
          <a:p>
            <a:pPr lvl="1"/>
            <a:r>
              <a:rPr lang="en-US" dirty="0" smtClean="0"/>
              <a:t>Pneumonia</a:t>
            </a:r>
          </a:p>
          <a:p>
            <a:pPr lvl="1"/>
            <a:r>
              <a:rPr lang="en-US" dirty="0" smtClean="0"/>
              <a:t>Diarrhea </a:t>
            </a:r>
            <a:endParaRPr lang="en-US" dirty="0"/>
          </a:p>
          <a:p>
            <a:pPr lvl="0"/>
            <a:r>
              <a:rPr lang="en-US" dirty="0"/>
              <a:t>Infection prevention practices are crucial for reducing the risk for any type of HAI with application of an understanding of the chain of infection or transmission cycle.  </a:t>
            </a:r>
            <a:endParaRPr lang="en-US" dirty="0" smtClean="0"/>
          </a:p>
          <a:p>
            <a:pPr lvl="0"/>
            <a:r>
              <a:rPr lang="en-US" dirty="0" smtClean="0"/>
              <a:t>Two </a:t>
            </a:r>
            <a:r>
              <a:rPr lang="en-US" dirty="0"/>
              <a:t>sets of practices for Infection prevention are; </a:t>
            </a:r>
            <a:endParaRPr lang="en-US" dirty="0" smtClean="0"/>
          </a:p>
          <a:p>
            <a:pPr lvl="1"/>
            <a:r>
              <a:rPr lang="en-US" dirty="0" smtClean="0"/>
              <a:t>Standard </a:t>
            </a:r>
            <a:r>
              <a:rPr lang="en-US" dirty="0"/>
              <a:t>Precautions </a:t>
            </a:r>
            <a:r>
              <a:rPr lang="en-US" dirty="0" smtClean="0"/>
              <a:t>and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Transmission-Based Precautions.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8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1.7: Infection Prevention and Control Practice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49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90600"/>
            <a:ext cx="9042553" cy="1255222"/>
          </a:xfrm>
        </p:spPr>
        <p:txBody>
          <a:bodyPr/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Infection </a:t>
            </a:r>
            <a:r>
              <a:rPr lang="en-US" dirty="0"/>
              <a:t>Prevention and Control Practices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Infection prevention and control practices </a:t>
            </a:r>
            <a:r>
              <a:rPr lang="en-US" dirty="0" smtClean="0"/>
              <a:t>include:</a:t>
            </a:r>
          </a:p>
          <a:p>
            <a:pPr lvl="1"/>
            <a:r>
              <a:rPr lang="en-US" sz="3200" dirty="0"/>
              <a:t>Standard precaution and </a:t>
            </a:r>
          </a:p>
          <a:p>
            <a:pPr lvl="1"/>
            <a:r>
              <a:rPr lang="en-US" sz="3200" dirty="0"/>
              <a:t>Transmission-based Precautions.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62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38" y="1030778"/>
            <a:ext cx="10236214" cy="1188426"/>
          </a:xfrm>
        </p:spPr>
        <p:txBody>
          <a:bodyPr/>
          <a:lstStyle/>
          <a:p>
            <a:r>
              <a:rPr lang="en-US" dirty="0"/>
              <a:t>Infection Prevention and Control </a:t>
            </a:r>
            <a:r>
              <a:rPr lang="en-US" dirty="0" smtClean="0"/>
              <a:t>Practices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85" y="2490136"/>
            <a:ext cx="9628120" cy="3444997"/>
          </a:xfrm>
        </p:spPr>
        <p:txBody>
          <a:bodyPr>
            <a:normAutofit fontScale="85000" lnSpcReduction="20000"/>
          </a:bodyPr>
          <a:lstStyle/>
          <a:p>
            <a:pPr marL="0" lvl="0" indent="0" algn="just">
              <a:buNone/>
            </a:pPr>
            <a:r>
              <a:rPr lang="en-US" b="1" dirty="0"/>
              <a:t>Standard Precautions: </a:t>
            </a:r>
            <a:endParaRPr lang="en-US" b="1" dirty="0" smtClean="0"/>
          </a:p>
          <a:p>
            <a:pPr lvl="0" algn="just"/>
            <a:r>
              <a:rPr lang="en-US" dirty="0" smtClean="0"/>
              <a:t>These </a:t>
            </a:r>
            <a:r>
              <a:rPr lang="en-US" dirty="0"/>
              <a:t>practices</a:t>
            </a:r>
            <a:r>
              <a:rPr lang="en-US" b="1" dirty="0"/>
              <a:t> </a:t>
            </a:r>
            <a:r>
              <a:rPr lang="en-US" dirty="0"/>
              <a:t>are designed for use in caring for all people-both clients and patients attending healthcare facilities (first level precautions). </a:t>
            </a:r>
            <a:endParaRPr lang="en-US" dirty="0" smtClean="0"/>
          </a:p>
          <a:p>
            <a:pPr lvl="0" algn="just"/>
            <a:r>
              <a:rPr lang="en-US" dirty="0" smtClean="0"/>
              <a:t>These </a:t>
            </a:r>
            <a:r>
              <a:rPr lang="en-US" dirty="0"/>
              <a:t>apply to blood, all body fluids, secretions and excretions (except sweat), non-intact skin and mucous membranes. </a:t>
            </a:r>
            <a:endParaRPr lang="en-US" dirty="0" smtClean="0"/>
          </a:p>
          <a:p>
            <a:pPr lvl="0" algn="just"/>
            <a:r>
              <a:rPr lang="en-US" dirty="0" smtClean="0"/>
              <a:t>Since </a:t>
            </a:r>
            <a:r>
              <a:rPr lang="en-US" dirty="0"/>
              <a:t>no one really knows what organisms do clients or patients have, it is necessary that standard precautions be used all the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3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30778"/>
            <a:ext cx="10540260" cy="1188426"/>
          </a:xfrm>
        </p:spPr>
        <p:txBody>
          <a:bodyPr/>
          <a:lstStyle/>
          <a:p>
            <a:r>
              <a:rPr lang="en-US" dirty="0"/>
              <a:t>Infection Prevention and Control Practices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7533" y="2490136"/>
            <a:ext cx="9628120" cy="3758265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r>
              <a:rPr lang="en-US" b="1" dirty="0"/>
              <a:t>Transmission-Based Precautions:  </a:t>
            </a:r>
            <a:endParaRPr lang="en-US" b="1" dirty="0" smtClean="0"/>
          </a:p>
          <a:p>
            <a:pPr lvl="0" algn="just"/>
            <a:r>
              <a:rPr lang="en-US" dirty="0" smtClean="0"/>
              <a:t>The </a:t>
            </a:r>
            <a:r>
              <a:rPr lang="en-US" dirty="0"/>
              <a:t>second level precaution is intended for use in patients known or highly suspected of being infected or colonized with pathogens transmitted by:</a:t>
            </a:r>
          </a:p>
          <a:p>
            <a:pPr lvl="1" algn="just"/>
            <a:r>
              <a:rPr lang="en-US" dirty="0"/>
              <a:t>Air (tuberculosis, chicken pox, measles,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 algn="just"/>
            <a:r>
              <a:rPr lang="en-US" dirty="0"/>
              <a:t>Droplet ( flu, mumps and rubella); or</a:t>
            </a:r>
          </a:p>
          <a:p>
            <a:pPr lvl="1" algn="just"/>
            <a:r>
              <a:rPr lang="en-US" dirty="0"/>
              <a:t>Contact (hepatitis A or E and other enteric pathogens, herpes simplex and skin or eye infections).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8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30778"/>
            <a:ext cx="10540260" cy="1188426"/>
          </a:xfrm>
        </p:spPr>
        <p:txBody>
          <a:bodyPr/>
          <a:lstStyle/>
          <a:p>
            <a:r>
              <a:rPr lang="en-US" dirty="0"/>
              <a:t>Infection Prevention and Control Practices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2490136"/>
            <a:ext cx="9932168" cy="3605865"/>
          </a:xfrm>
        </p:spPr>
        <p:txBody>
          <a:bodyPr>
            <a:normAutofit/>
          </a:bodyPr>
          <a:lstStyle/>
          <a:p>
            <a:r>
              <a:rPr lang="en-US" dirty="0"/>
              <a:t>If there is any impending development of an infectious process in a patient without known diagnosis, </a:t>
            </a:r>
            <a:endParaRPr lang="en-US" dirty="0" smtClean="0"/>
          </a:p>
          <a:p>
            <a:pPr lvl="1" algn="just"/>
            <a:r>
              <a:rPr lang="en-US" sz="3200" dirty="0" smtClean="0"/>
              <a:t>Implementing </a:t>
            </a:r>
            <a:r>
              <a:rPr lang="en-US" sz="3200" dirty="0"/>
              <a:t>Transmission-Based Precautions should be based on the </a:t>
            </a:r>
            <a:r>
              <a:rPr lang="en-US" sz="3200" dirty="0">
                <a:solidFill>
                  <a:srgbClr val="0070C0"/>
                </a:solidFill>
              </a:rPr>
              <a:t>patient’s signs and symptoms (empirical basis) </a:t>
            </a:r>
            <a:r>
              <a:rPr lang="en-US" sz="3200" dirty="0"/>
              <a:t>up until a definitive diagnosis is made.</a:t>
            </a:r>
          </a:p>
        </p:txBody>
      </p:sp>
    </p:spTree>
    <p:extLst>
      <p:ext uri="{BB962C8B-B14F-4D97-AF65-F5344CB8AC3E}">
        <p14:creationId xmlns:p14="http://schemas.microsoft.com/office/powerpoint/2010/main" val="64773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30778"/>
            <a:ext cx="10540260" cy="1188426"/>
          </a:xfrm>
        </p:spPr>
        <p:txBody>
          <a:bodyPr/>
          <a:lstStyle/>
          <a:p>
            <a:r>
              <a:rPr lang="en-US" dirty="0"/>
              <a:t>Infection Prevention and Control Practices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5271" y="2490136"/>
            <a:ext cx="9076338" cy="3444997"/>
          </a:xfrm>
        </p:spPr>
        <p:txBody>
          <a:bodyPr/>
          <a:lstStyle/>
          <a:p>
            <a:pPr algn="just"/>
            <a:r>
              <a:rPr lang="en-US" b="1" dirty="0"/>
              <a:t>In all cases (whether they are being used alone or in combination), </a:t>
            </a:r>
            <a:endParaRPr lang="en-US" b="1" dirty="0" smtClean="0"/>
          </a:p>
          <a:p>
            <a:pPr lvl="1" algn="just"/>
            <a:r>
              <a:rPr lang="en-US" b="1" dirty="0" smtClean="0"/>
              <a:t>Transmission- </a:t>
            </a:r>
            <a:r>
              <a:rPr lang="en-US" b="1" dirty="0"/>
              <a:t>Based Precautions must be used in conjunction with the Standard Precautions.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90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and break the Chain of infections for the following diseases</a:t>
            </a:r>
          </a:p>
          <a:p>
            <a:pPr lvl="1"/>
            <a:r>
              <a:rPr lang="en-US" dirty="0" smtClean="0"/>
              <a:t>Group 1: </a:t>
            </a:r>
            <a:r>
              <a:rPr lang="en-US" b="1" dirty="0" smtClean="0"/>
              <a:t>Cholera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Group 2: </a:t>
            </a:r>
            <a:r>
              <a:rPr lang="en-US" b="1" dirty="0" smtClean="0"/>
              <a:t>Hepatitis B</a:t>
            </a:r>
          </a:p>
          <a:p>
            <a:pPr lvl="1"/>
            <a:r>
              <a:rPr lang="en-US" dirty="0" smtClean="0"/>
              <a:t>Group 3: </a:t>
            </a:r>
            <a:r>
              <a:rPr lang="en-US" b="1" dirty="0" smtClean="0"/>
              <a:t>HIV 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04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goal of infection prevention and control is to make health care facilities a safer place and WHO’s components of infection prevention and control is an integral part of this guideline. </a:t>
            </a:r>
            <a:endParaRPr lang="en-US" dirty="0" smtClean="0"/>
          </a:p>
          <a:p>
            <a:pPr algn="just"/>
            <a:r>
              <a:rPr lang="en-US" dirty="0" smtClean="0"/>
              <a:t>Understanding </a:t>
            </a:r>
            <a:r>
              <a:rPr lang="en-US" dirty="0"/>
              <a:t>each step of infection chain or cycle is a one step forward in prevention and control of HAI’s. </a:t>
            </a:r>
            <a:endParaRPr lang="en-US" dirty="0" smtClean="0"/>
          </a:p>
          <a:p>
            <a:pPr algn="just"/>
            <a:r>
              <a:rPr lang="en-US" dirty="0" smtClean="0"/>
              <a:t>Always </a:t>
            </a:r>
            <a:r>
              <a:rPr lang="en-US" dirty="0"/>
              <a:t>Apply Standard Precaution and Transmission based precaution as appropriate. </a:t>
            </a:r>
            <a:endParaRPr lang="en-US" dirty="0" smtClean="0"/>
          </a:p>
          <a:p>
            <a:pPr algn="just"/>
            <a:r>
              <a:rPr lang="en-US" dirty="0" smtClean="0"/>
              <a:t>Infection </a:t>
            </a:r>
            <a:r>
              <a:rPr lang="en-US" dirty="0"/>
              <a:t>prevention and </a:t>
            </a:r>
            <a:r>
              <a:rPr lang="en-US" dirty="0" smtClean="0"/>
              <a:t>Control </a:t>
            </a:r>
            <a:r>
              <a:rPr lang="en-US" dirty="0"/>
              <a:t>activates are every body’s responsibility. 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4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6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672</TotalTime>
  <Words>1493</Words>
  <Application>Microsoft Office PowerPoint</Application>
  <PresentationFormat>Custom</PresentationFormat>
  <Paragraphs>154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Britannic Bold</vt:lpstr>
      <vt:lpstr>Calibri</vt:lpstr>
      <vt:lpstr>Courier New</vt:lpstr>
      <vt:lpstr>Garamond</vt:lpstr>
      <vt:lpstr>Times New Roman</vt:lpstr>
      <vt:lpstr>Theme6</vt:lpstr>
      <vt:lpstr>Volume 1  Chapter 1: Introduction to Infection Prevention and Control (IPC)</vt:lpstr>
      <vt:lpstr>Chapter Outline</vt:lpstr>
      <vt:lpstr>Chapter Outline cont’d</vt:lpstr>
      <vt:lpstr>Chapter Objective</vt:lpstr>
      <vt:lpstr>Chapter Objective  Cont’d…</vt:lpstr>
      <vt:lpstr>PPP 1.1: Definition of basic terms</vt:lpstr>
      <vt:lpstr>Definition of Basic Terms</vt:lpstr>
      <vt:lpstr>Definition cont’d …</vt:lpstr>
      <vt:lpstr>Definition cont’d …</vt:lpstr>
      <vt:lpstr>Why Infection Prevention?</vt:lpstr>
      <vt:lpstr>PPP 1.2: Goal of Infection prevention and control</vt:lpstr>
      <vt:lpstr>Goal of Infection Prevention and Control</vt:lpstr>
      <vt:lpstr>PPP 1.3: WHO Core Components of Infection Prevention and Control</vt:lpstr>
      <vt:lpstr>WHO Core components of IPC</vt:lpstr>
      <vt:lpstr>WHO Core components Cont’d …</vt:lpstr>
      <vt:lpstr>The 8 WHO’s Core components are:-</vt:lpstr>
      <vt:lpstr>PPP 1.4: The Infection Chain/Cycle</vt:lpstr>
      <vt:lpstr>The Infection Chain/Cycle</vt:lpstr>
      <vt:lpstr>Chain of Infection</vt:lpstr>
      <vt:lpstr>Chain of Infection cont’d …</vt:lpstr>
      <vt:lpstr>PPP 1.5: Breaking the chain/Cycle of infection</vt:lpstr>
      <vt:lpstr>Breaking the chain/cycle of infection</vt:lpstr>
      <vt:lpstr>Breaking the chain/cycle of infection Cont’d …</vt:lpstr>
      <vt:lpstr>Breaking the chain/cycle of infection Cont’d …</vt:lpstr>
      <vt:lpstr>PowerPoint Presentation</vt:lpstr>
      <vt:lpstr>Breaking the chain/cycle of infection Cont’d …</vt:lpstr>
      <vt:lpstr>PPP 1.6: Understanding Healthcare Associated Infections</vt:lpstr>
      <vt:lpstr>Healthcare associated infections </vt:lpstr>
      <vt:lpstr>Healthcare associated infections Cont’d …</vt:lpstr>
      <vt:lpstr>Healthcare associated infections Cont’d …</vt:lpstr>
      <vt:lpstr>Healthcare associated infections Cont’d …</vt:lpstr>
      <vt:lpstr>Healthcare associated infections Cont’d …</vt:lpstr>
      <vt:lpstr>1.7: Infection Prevention and Control Practice</vt:lpstr>
      <vt:lpstr> Infection Prevention and Control Practices  </vt:lpstr>
      <vt:lpstr>Infection Prevention and Control Practices cont’d…</vt:lpstr>
      <vt:lpstr>Infection Prevention and Control Practices cont’d…</vt:lpstr>
      <vt:lpstr>Infection Prevention and Control Practices cont’d…</vt:lpstr>
      <vt:lpstr>Infection Prevention and Control Practices cont’d…</vt:lpstr>
      <vt:lpstr>Group Work </vt:lpstr>
      <vt:lpstr>Summery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Infection Prevention and Patient Safety</dc:title>
  <dc:creator>user</dc:creator>
  <cp:lastModifiedBy>BEMINET</cp:lastModifiedBy>
  <cp:revision>52</cp:revision>
  <dcterms:created xsi:type="dcterms:W3CDTF">2018-12-17T08:49:22Z</dcterms:created>
  <dcterms:modified xsi:type="dcterms:W3CDTF">2020-12-15T05:37:14Z</dcterms:modified>
</cp:coreProperties>
</file>