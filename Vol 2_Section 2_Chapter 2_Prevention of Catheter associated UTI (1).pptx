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39"/>
  </p:notesMasterIdLst>
  <p:sldIdLst>
    <p:sldId id="256" r:id="rId2"/>
    <p:sldId id="339" r:id="rId3"/>
    <p:sldId id="306" r:id="rId4"/>
    <p:sldId id="307" r:id="rId5"/>
    <p:sldId id="308" r:id="rId6"/>
    <p:sldId id="309" r:id="rId7"/>
    <p:sldId id="310" r:id="rId8"/>
    <p:sldId id="311" r:id="rId9"/>
    <p:sldId id="312" r:id="rId10"/>
    <p:sldId id="313" r:id="rId11"/>
    <p:sldId id="340" r:id="rId12"/>
    <p:sldId id="314" r:id="rId13"/>
    <p:sldId id="315" r:id="rId14"/>
    <p:sldId id="316" r:id="rId15"/>
    <p:sldId id="317" r:id="rId16"/>
    <p:sldId id="318" r:id="rId17"/>
    <p:sldId id="319" r:id="rId18"/>
    <p:sldId id="320" r:id="rId19"/>
    <p:sldId id="321" r:id="rId20"/>
    <p:sldId id="322" r:id="rId21"/>
    <p:sldId id="323" r:id="rId22"/>
    <p:sldId id="324" r:id="rId23"/>
    <p:sldId id="325" r:id="rId24"/>
    <p:sldId id="326" r:id="rId25"/>
    <p:sldId id="327" r:id="rId26"/>
    <p:sldId id="328" r:id="rId27"/>
    <p:sldId id="329" r:id="rId28"/>
    <p:sldId id="330" r:id="rId29"/>
    <p:sldId id="331" r:id="rId30"/>
    <p:sldId id="332" r:id="rId31"/>
    <p:sldId id="333" r:id="rId32"/>
    <p:sldId id="334" r:id="rId33"/>
    <p:sldId id="335" r:id="rId34"/>
    <p:sldId id="336" r:id="rId35"/>
    <p:sldId id="337" r:id="rId36"/>
    <p:sldId id="341" r:id="rId37"/>
    <p:sldId id="342" r:id="rId38"/>
  </p:sldIdLst>
  <p:sldSz cx="1216183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762" y="-90"/>
      </p:cViewPr>
      <p:guideLst>
        <p:guide orient="horz" pos="2160"/>
        <p:guide pos="383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0A4FD2E-C0D3-40B5-8DD1-9D796D061956}" type="datetimeFigureOut">
              <a:rPr lang="en-US" smtClean="0"/>
              <a:pPr/>
              <a:t>9/27/2019</a:t>
            </a:fld>
            <a:endParaRPr lang="en-US"/>
          </a:p>
        </p:txBody>
      </p:sp>
      <p:sp>
        <p:nvSpPr>
          <p:cNvPr id="4" name="Slide Image Placeholder 3"/>
          <p:cNvSpPr>
            <a:spLocks noGrp="1" noRot="1" noChangeAspect="1"/>
          </p:cNvSpPr>
          <p:nvPr>
            <p:ph type="sldImg" idx="2"/>
          </p:nvPr>
        </p:nvSpPr>
        <p:spPr>
          <a:xfrm>
            <a:off x="388938" y="685800"/>
            <a:ext cx="60801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93C637-F117-4624-A596-DF844667A77C}" type="slidenum">
              <a:rPr lang="en-US" smtClean="0"/>
              <a:pPr/>
              <a:t>‹#›</a:t>
            </a:fld>
            <a:endParaRPr lang="en-US"/>
          </a:p>
        </p:txBody>
      </p:sp>
    </p:spTree>
    <p:extLst>
      <p:ext uri="{BB962C8B-B14F-4D97-AF65-F5344CB8AC3E}">
        <p14:creationId xmlns:p14="http://schemas.microsoft.com/office/powerpoint/2010/main" val="53098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Fever, rigors/chills, suprapubic pain or CVAT, acute pain/swelling or tenderness of the testes, epididymis and prostate, purulent discharge from around the catheter.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Complications: Cystitis, Pyelonephritis, bacteremia and septic shock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12</a:t>
            </a:r>
            <a:r>
              <a:rPr lang="en-US" baseline="0" dirty="0" smtClean="0"/>
              <a:t> to 16% of hospitalized patients will have an i</a:t>
            </a:r>
            <a:r>
              <a:rPr lang="en-US" dirty="0" smtClean="0"/>
              <a:t>n dwelling urinary</a:t>
            </a:r>
            <a:r>
              <a:rPr lang="en-US" baseline="0" dirty="0" smtClean="0"/>
              <a:t> tract catheters inserted.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8415C1C3-5E85-48D0-AEB8-F7C06B80DF56}" type="slidenum">
              <a:rPr lang="en-US" smtClean="0"/>
              <a:pPr/>
              <a:t>4</a:t>
            </a:fld>
            <a:endParaRPr lang="en-US"/>
          </a:p>
        </p:txBody>
      </p:sp>
    </p:spTree>
    <p:extLst>
      <p:ext uri="{BB962C8B-B14F-4D97-AF65-F5344CB8AC3E}">
        <p14:creationId xmlns:p14="http://schemas.microsoft.com/office/powerpoint/2010/main" val="1722022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8.8 per 1,000 urinary catheters inserted per</a:t>
            </a:r>
            <a:r>
              <a:rPr lang="en-US" baseline="0" dirty="0" smtClean="0"/>
              <a:t> day</a:t>
            </a:r>
          </a:p>
          <a:p>
            <a:endParaRPr lang="en-US" baseline="0" dirty="0" smtClean="0"/>
          </a:p>
          <a:p>
            <a:r>
              <a:rPr lang="en-US" baseline="0" dirty="0" smtClean="0"/>
              <a:t>Stone, strictures </a:t>
            </a:r>
            <a:r>
              <a:rPr lang="en-US" baseline="0" dirty="0" err="1" smtClean="0"/>
              <a:t>etc</a:t>
            </a:r>
            <a:r>
              <a:rPr lang="en-US" baseline="0" dirty="0" smtClean="0"/>
              <a:t>… may obstruct urine flow. Reflux</a:t>
            </a:r>
          </a:p>
        </p:txBody>
      </p:sp>
      <p:sp>
        <p:nvSpPr>
          <p:cNvPr id="4" name="Slide Number Placeholder 3"/>
          <p:cNvSpPr>
            <a:spLocks noGrp="1"/>
          </p:cNvSpPr>
          <p:nvPr>
            <p:ph type="sldNum" sz="quarter" idx="10"/>
          </p:nvPr>
        </p:nvSpPr>
        <p:spPr/>
        <p:txBody>
          <a:bodyPr/>
          <a:lstStyle/>
          <a:p>
            <a:fld id="{8415C1C3-5E85-48D0-AEB8-F7C06B80DF56}" type="slidenum">
              <a:rPr lang="en-US" smtClean="0"/>
              <a:pPr/>
              <a:t>6</a:t>
            </a:fld>
            <a:endParaRPr lang="en-US"/>
          </a:p>
        </p:txBody>
      </p:sp>
    </p:spTree>
    <p:extLst>
      <p:ext uri="{BB962C8B-B14F-4D97-AF65-F5344CB8AC3E}">
        <p14:creationId xmlns:p14="http://schemas.microsoft.com/office/powerpoint/2010/main" val="174824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Bacteria</a:t>
            </a:r>
            <a:r>
              <a:rPr lang="en-US" baseline="0" dirty="0" smtClean="0"/>
              <a:t> from rectum, anus, urethral opening could get introduced. </a:t>
            </a:r>
            <a:endParaRPr lang="en-US" dirty="0" smtClean="0"/>
          </a:p>
          <a:p>
            <a:endParaRPr lang="en-US" dirty="0" smtClean="0"/>
          </a:p>
          <a:p>
            <a:r>
              <a:rPr lang="en-US" dirty="0" smtClean="0"/>
              <a:t>Need</a:t>
            </a:r>
            <a:r>
              <a:rPr lang="en-US" baseline="0" dirty="0" smtClean="0"/>
              <a:t> to strictly follow IPC procedures in order to avoid introduction of microorganisms. </a:t>
            </a:r>
            <a:endParaRPr lang="en-US" dirty="0"/>
          </a:p>
        </p:txBody>
      </p:sp>
      <p:sp>
        <p:nvSpPr>
          <p:cNvPr id="4" name="Slide Number Placeholder 3"/>
          <p:cNvSpPr>
            <a:spLocks noGrp="1"/>
          </p:cNvSpPr>
          <p:nvPr>
            <p:ph type="sldNum" sz="quarter" idx="10"/>
          </p:nvPr>
        </p:nvSpPr>
        <p:spPr/>
        <p:txBody>
          <a:bodyPr/>
          <a:lstStyle/>
          <a:p>
            <a:fld id="{8415C1C3-5E85-48D0-AEB8-F7C06B80DF56}" type="slidenum">
              <a:rPr lang="en-US" smtClean="0"/>
              <a:pPr/>
              <a:t>8</a:t>
            </a:fld>
            <a:endParaRPr lang="en-US"/>
          </a:p>
        </p:txBody>
      </p:sp>
    </p:spTree>
    <p:extLst>
      <p:ext uri="{BB962C8B-B14F-4D97-AF65-F5344CB8AC3E}">
        <p14:creationId xmlns:p14="http://schemas.microsoft.com/office/powerpoint/2010/main" val="710843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Single most</a:t>
            </a:r>
            <a:r>
              <a:rPr lang="en-US" baseline="0" dirty="0" smtClean="0"/>
              <a:t> important risk factor of CAUTI </a:t>
            </a:r>
          </a:p>
          <a:p>
            <a:endParaRPr lang="en-US" baseline="0" dirty="0" smtClean="0"/>
          </a:p>
          <a:p>
            <a:r>
              <a:rPr lang="en-US" baseline="0" dirty="0" smtClean="0"/>
              <a:t>HIV patients, chronic diseases, steroid treatment, cancer patients </a:t>
            </a:r>
          </a:p>
          <a:p>
            <a:r>
              <a:rPr lang="en-US" baseline="0" dirty="0" smtClean="0"/>
              <a:t>Women are more prone to CAUTI and UTI compared to men probably due to the difference in the anatomy of renal system </a:t>
            </a:r>
            <a:endParaRPr lang="en-US" dirty="0"/>
          </a:p>
        </p:txBody>
      </p:sp>
      <p:sp>
        <p:nvSpPr>
          <p:cNvPr id="4" name="Slide Number Placeholder 3"/>
          <p:cNvSpPr>
            <a:spLocks noGrp="1"/>
          </p:cNvSpPr>
          <p:nvPr>
            <p:ph type="sldNum" sz="quarter" idx="10"/>
          </p:nvPr>
        </p:nvSpPr>
        <p:spPr/>
        <p:txBody>
          <a:bodyPr/>
          <a:lstStyle/>
          <a:p>
            <a:fld id="{8415C1C3-5E85-48D0-AEB8-F7C06B80DF56}" type="slidenum">
              <a:rPr lang="en-US" smtClean="0"/>
              <a:pPr/>
              <a:t>10</a:t>
            </a:fld>
            <a:endParaRPr lang="en-US"/>
          </a:p>
        </p:txBody>
      </p:sp>
    </p:spTree>
    <p:extLst>
      <p:ext uri="{BB962C8B-B14F-4D97-AF65-F5344CB8AC3E}">
        <p14:creationId xmlns:p14="http://schemas.microsoft.com/office/powerpoint/2010/main" val="2378255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normal</a:t>
            </a:r>
            <a:r>
              <a:rPr lang="en-US" baseline="0" dirty="0" smtClean="0"/>
              <a:t> epithelium is a natural defense to infection. Trauma provides gateway for bacteria. </a:t>
            </a:r>
            <a:endParaRPr lang="en-US" dirty="0"/>
          </a:p>
        </p:txBody>
      </p:sp>
      <p:sp>
        <p:nvSpPr>
          <p:cNvPr id="4" name="Slide Number Placeholder 3"/>
          <p:cNvSpPr>
            <a:spLocks noGrp="1"/>
          </p:cNvSpPr>
          <p:nvPr>
            <p:ph type="sldNum" sz="quarter" idx="10"/>
          </p:nvPr>
        </p:nvSpPr>
        <p:spPr/>
        <p:txBody>
          <a:bodyPr/>
          <a:lstStyle/>
          <a:p>
            <a:fld id="{8415C1C3-5E85-48D0-AEB8-F7C06B80DF56}" type="slidenum">
              <a:rPr lang="en-US" smtClean="0"/>
              <a:pPr/>
              <a:t>12</a:t>
            </a:fld>
            <a:endParaRPr lang="en-US"/>
          </a:p>
        </p:txBody>
      </p:sp>
    </p:spTree>
    <p:extLst>
      <p:ext uri="{BB962C8B-B14F-4D97-AF65-F5344CB8AC3E}">
        <p14:creationId xmlns:p14="http://schemas.microsoft.com/office/powerpoint/2010/main" val="1152473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Patients in shock (septic,</a:t>
            </a:r>
            <a:r>
              <a:rPr lang="en-US" baseline="0" dirty="0" smtClean="0"/>
              <a:t> hypovolemic or cardiogenic), fluid overload, acute kidney failure due to various causes </a:t>
            </a:r>
            <a:r>
              <a:rPr lang="en-US" baseline="0" dirty="0" err="1" smtClean="0"/>
              <a:t>etc</a:t>
            </a:r>
            <a:r>
              <a:rPr lang="en-US" baseline="0" dirty="0" smtClean="0"/>
              <a:t>…</a:t>
            </a:r>
          </a:p>
          <a:p>
            <a:r>
              <a:rPr lang="en-US" baseline="0" dirty="0" smtClean="0"/>
              <a:t>Retention and obstruction: bladder trauma, stones, Prostitis, BPH, bladder tumor/cancer, paralysis due to trauma etc. </a:t>
            </a:r>
          </a:p>
          <a:p>
            <a:endParaRPr lang="en-US" baseline="0" dirty="0" smtClean="0"/>
          </a:p>
          <a:p>
            <a:r>
              <a:rPr lang="en-US" baseline="0" dirty="0" smtClean="0"/>
              <a:t>Incontinence: fistula, trauma, paralysis etc. </a:t>
            </a:r>
            <a:endParaRPr lang="en-US" dirty="0"/>
          </a:p>
        </p:txBody>
      </p:sp>
      <p:sp>
        <p:nvSpPr>
          <p:cNvPr id="4" name="Slide Number Placeholder 3"/>
          <p:cNvSpPr>
            <a:spLocks noGrp="1"/>
          </p:cNvSpPr>
          <p:nvPr>
            <p:ph type="sldNum" sz="quarter" idx="10"/>
          </p:nvPr>
        </p:nvSpPr>
        <p:spPr/>
        <p:txBody>
          <a:bodyPr/>
          <a:lstStyle/>
          <a:p>
            <a:fld id="{8415C1C3-5E85-48D0-AEB8-F7C06B80DF56}" type="slidenum">
              <a:rPr lang="en-US" smtClean="0"/>
              <a:pPr/>
              <a:t>13</a:t>
            </a:fld>
            <a:endParaRPr lang="en-US"/>
          </a:p>
        </p:txBody>
      </p:sp>
    </p:spTree>
    <p:extLst>
      <p:ext uri="{BB962C8B-B14F-4D97-AF65-F5344CB8AC3E}">
        <p14:creationId xmlns:p14="http://schemas.microsoft.com/office/powerpoint/2010/main" val="77646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Intermittent</a:t>
            </a:r>
            <a:r>
              <a:rPr lang="en-US" baseline="0" dirty="0" smtClean="0"/>
              <a:t> catheterization. </a:t>
            </a:r>
          </a:p>
          <a:p>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smtClean="0"/>
              <a:t>Medication (such as oxybutynin, </a:t>
            </a:r>
            <a:r>
              <a:rPr lang="en-US" altLang="en-US" dirty="0" err="1" smtClean="0"/>
              <a:t>tolterodine</a:t>
            </a:r>
            <a:r>
              <a:rPr lang="en-US" altLang="en-US" dirty="0" smtClean="0"/>
              <a:t> and </a:t>
            </a:r>
            <a:r>
              <a:rPr lang="en-US" altLang="en-US" dirty="0" err="1" smtClean="0"/>
              <a:t>trospium</a:t>
            </a:r>
            <a:r>
              <a:rPr lang="en-US" altLang="en-US" dirty="0" smtClean="0"/>
              <a:t>) can help residents with urinary incontinence but might also have side effects that could potentially worsen incontinence episodes. </a:t>
            </a:r>
          </a:p>
          <a:p>
            <a:endParaRPr lang="en-US" dirty="0"/>
          </a:p>
        </p:txBody>
      </p:sp>
      <p:sp>
        <p:nvSpPr>
          <p:cNvPr id="4" name="Slide Number Placeholder 3"/>
          <p:cNvSpPr>
            <a:spLocks noGrp="1"/>
          </p:cNvSpPr>
          <p:nvPr>
            <p:ph type="sldNum" sz="quarter" idx="10"/>
          </p:nvPr>
        </p:nvSpPr>
        <p:spPr/>
        <p:txBody>
          <a:bodyPr/>
          <a:lstStyle/>
          <a:p>
            <a:fld id="{8415C1C3-5E85-48D0-AEB8-F7C06B80DF56}" type="slidenum">
              <a:rPr lang="en-US" smtClean="0"/>
              <a:pPr/>
              <a:t>14</a:t>
            </a:fld>
            <a:endParaRPr lang="en-US"/>
          </a:p>
        </p:txBody>
      </p:sp>
    </p:spTree>
    <p:extLst>
      <p:ext uri="{BB962C8B-B14F-4D97-AF65-F5344CB8AC3E}">
        <p14:creationId xmlns:p14="http://schemas.microsoft.com/office/powerpoint/2010/main" val="1488638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avoid friction</a:t>
            </a:r>
            <a:r>
              <a:rPr lang="en-US" baseline="0" dirty="0" smtClean="0"/>
              <a:t> and </a:t>
            </a:r>
            <a:r>
              <a:rPr lang="en-US" dirty="0" smtClean="0"/>
              <a:t>trauma during insertion of the catheter, for easy insertion. </a:t>
            </a:r>
            <a:endParaRPr lang="en-US" dirty="0"/>
          </a:p>
        </p:txBody>
      </p:sp>
      <p:sp>
        <p:nvSpPr>
          <p:cNvPr id="4" name="Slide Number Placeholder 3"/>
          <p:cNvSpPr>
            <a:spLocks noGrp="1"/>
          </p:cNvSpPr>
          <p:nvPr>
            <p:ph type="sldNum" sz="quarter" idx="10"/>
          </p:nvPr>
        </p:nvSpPr>
        <p:spPr/>
        <p:txBody>
          <a:bodyPr/>
          <a:lstStyle/>
          <a:p>
            <a:fld id="{8415C1C3-5E85-48D0-AEB8-F7C06B80DF56}" type="slidenum">
              <a:rPr lang="en-US" smtClean="0"/>
              <a:pPr/>
              <a:t>17</a:t>
            </a:fld>
            <a:endParaRPr lang="en-US"/>
          </a:p>
        </p:txBody>
      </p:sp>
    </p:spTree>
    <p:extLst>
      <p:ext uri="{BB962C8B-B14F-4D97-AF65-F5344CB8AC3E}">
        <p14:creationId xmlns:p14="http://schemas.microsoft.com/office/powerpoint/2010/main" val="756342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Privacy issue, compassion, communication, creating</a:t>
            </a:r>
            <a:r>
              <a:rPr lang="en-US" baseline="0" dirty="0" smtClean="0"/>
              <a:t> a sense of</a:t>
            </a:r>
            <a:r>
              <a:rPr lang="en-US" dirty="0" smtClean="0"/>
              <a:t> closeness to improve</a:t>
            </a:r>
            <a:r>
              <a:rPr lang="en-US" baseline="0" dirty="0" smtClean="0"/>
              <a:t> cooperation during procedure.  </a:t>
            </a:r>
            <a:endParaRPr lang="en-US" dirty="0" smtClean="0"/>
          </a:p>
          <a:p>
            <a:endParaRPr lang="en-US" dirty="0" smtClean="0"/>
          </a:p>
          <a:p>
            <a:r>
              <a:rPr lang="en-US" dirty="0" smtClean="0"/>
              <a:t>Assist the patient in washing if</a:t>
            </a:r>
            <a:r>
              <a:rPr lang="en-US" baseline="0" dirty="0" smtClean="0"/>
              <a:t> they are un able to do so. Use non sterile glove and perform hand washing after assistance. </a:t>
            </a:r>
            <a:endParaRPr lang="en-US" dirty="0"/>
          </a:p>
        </p:txBody>
      </p:sp>
      <p:sp>
        <p:nvSpPr>
          <p:cNvPr id="4" name="Slide Number Placeholder 3"/>
          <p:cNvSpPr>
            <a:spLocks noGrp="1"/>
          </p:cNvSpPr>
          <p:nvPr>
            <p:ph type="sldNum" sz="quarter" idx="10"/>
          </p:nvPr>
        </p:nvSpPr>
        <p:spPr/>
        <p:txBody>
          <a:bodyPr/>
          <a:lstStyle/>
          <a:p>
            <a:fld id="{8415C1C3-5E85-48D0-AEB8-F7C06B80DF56}" type="slidenum">
              <a:rPr lang="en-US" smtClean="0"/>
              <a:pPr/>
              <a:t>18</a:t>
            </a:fld>
            <a:endParaRPr lang="en-US"/>
          </a:p>
        </p:txBody>
      </p:sp>
    </p:spTree>
    <p:extLst>
      <p:ext uri="{BB962C8B-B14F-4D97-AF65-F5344CB8AC3E}">
        <p14:creationId xmlns:p14="http://schemas.microsoft.com/office/powerpoint/2010/main" val="2733831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Adhesive</a:t>
            </a:r>
            <a:r>
              <a:rPr lang="en-US" baseline="0" dirty="0" smtClean="0"/>
              <a:t> tape</a:t>
            </a:r>
            <a:endParaRPr lang="en-US" dirty="0"/>
          </a:p>
        </p:txBody>
      </p:sp>
      <p:sp>
        <p:nvSpPr>
          <p:cNvPr id="4" name="Slide Number Placeholder 3"/>
          <p:cNvSpPr>
            <a:spLocks noGrp="1"/>
          </p:cNvSpPr>
          <p:nvPr>
            <p:ph type="sldNum" sz="quarter" idx="10"/>
          </p:nvPr>
        </p:nvSpPr>
        <p:spPr/>
        <p:txBody>
          <a:bodyPr/>
          <a:lstStyle/>
          <a:p>
            <a:fld id="{8415C1C3-5E85-48D0-AEB8-F7C06B80DF56}" type="slidenum">
              <a:rPr lang="en-US" smtClean="0"/>
              <a:pPr/>
              <a:t>26</a:t>
            </a:fld>
            <a:endParaRPr lang="en-US"/>
          </a:p>
        </p:txBody>
      </p:sp>
    </p:spTree>
    <p:extLst>
      <p:ext uri="{BB962C8B-B14F-4D97-AF65-F5344CB8AC3E}">
        <p14:creationId xmlns:p14="http://schemas.microsoft.com/office/powerpoint/2010/main" val="16792760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5C1C3-5E85-48D0-AEB8-F7C06B80DF56}" type="slidenum">
              <a:rPr lang="en-US" smtClean="0"/>
              <a:pPr/>
              <a:t>29</a:t>
            </a:fld>
            <a:endParaRPr lang="en-US"/>
          </a:p>
        </p:txBody>
      </p:sp>
    </p:spTree>
    <p:extLst>
      <p:ext uri="{BB962C8B-B14F-4D97-AF65-F5344CB8AC3E}">
        <p14:creationId xmlns:p14="http://schemas.microsoft.com/office/powerpoint/2010/main" val="1619489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5C1C3-5E85-48D0-AEB8-F7C06B80DF56}" type="slidenum">
              <a:rPr lang="en-US" smtClean="0"/>
              <a:pPr/>
              <a:t>33</a:t>
            </a:fld>
            <a:endParaRPr lang="en-US"/>
          </a:p>
        </p:txBody>
      </p:sp>
    </p:spTree>
    <p:extLst>
      <p:ext uri="{BB962C8B-B14F-4D97-AF65-F5344CB8AC3E}">
        <p14:creationId xmlns:p14="http://schemas.microsoft.com/office/powerpoint/2010/main" val="17050736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1" y="109831"/>
            <a:ext cx="12335579"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2203419" y="1879926"/>
            <a:ext cx="7741314"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3102509" y="3597481"/>
            <a:ext cx="5956820"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42948" y="4972192"/>
            <a:ext cx="1293001" cy="361810"/>
          </a:xfrm>
        </p:spPr>
        <p:txBody>
          <a:bodyPr/>
          <a:lstStyle/>
          <a:p>
            <a:fld id="{BE2EA2C9-3E80-4651-AEDB-66CBFBE914A4}" type="datetimeFigureOut">
              <a:rPr lang="en-US" smtClean="0"/>
              <a:pPr/>
              <a:t>9/27/2019</a:t>
            </a:fld>
            <a:endParaRPr lang="en-US"/>
          </a:p>
        </p:txBody>
      </p:sp>
      <p:sp>
        <p:nvSpPr>
          <p:cNvPr id="5" name="Footer Placeholder 4"/>
          <p:cNvSpPr>
            <a:spLocks noGrp="1"/>
          </p:cNvSpPr>
          <p:nvPr>
            <p:ph type="ftr" sz="quarter" idx="11"/>
          </p:nvPr>
        </p:nvSpPr>
        <p:spPr>
          <a:xfrm>
            <a:off x="2556239" y="4972194"/>
            <a:ext cx="4986707" cy="361809"/>
          </a:xfrm>
        </p:spPr>
        <p:txBody>
          <a:bodyPr/>
          <a:lstStyle/>
          <a:p>
            <a:endParaRPr lang="en-US"/>
          </a:p>
        </p:txBody>
      </p:sp>
      <p:sp>
        <p:nvSpPr>
          <p:cNvPr id="6" name="Slide Number Placeholder 5"/>
          <p:cNvSpPr>
            <a:spLocks noGrp="1"/>
          </p:cNvSpPr>
          <p:nvPr>
            <p:ph type="sldNum" sz="quarter" idx="12"/>
          </p:nvPr>
        </p:nvSpPr>
        <p:spPr>
          <a:xfrm>
            <a:off x="9059329" y="4972193"/>
            <a:ext cx="965806" cy="361809"/>
          </a:xfrm>
        </p:spPr>
        <p:txBody>
          <a:bodyPr/>
          <a:lstStyle/>
          <a:p>
            <a:fld id="{45D56BD6-1C83-49ED-A825-919C14660340}" type="slidenum">
              <a:rPr lang="en-US" smtClean="0"/>
              <a:pPr/>
              <a:t>‹#›</a:t>
            </a:fld>
            <a:endParaRPr lang="en-US"/>
          </a:p>
        </p:txBody>
      </p:sp>
      <p:cxnSp>
        <p:nvCxnSpPr>
          <p:cNvPr id="15" name="Straight Connector 14"/>
          <p:cNvCxnSpPr/>
          <p:nvPr/>
        </p:nvCxnSpPr>
        <p:spPr>
          <a:xfrm>
            <a:off x="2686438" y="3471329"/>
            <a:ext cx="6800578"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3963090" y="76751"/>
            <a:ext cx="4028810" cy="1229383"/>
            <a:chOff x="2823850" y="0"/>
            <a:chExt cx="3344655" cy="1558429"/>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520855"/>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700403" y="235626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5273" y="1030778"/>
            <a:ext cx="9042553"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454593" y="5960533"/>
            <a:ext cx="1130796" cy="279400"/>
          </a:xfrm>
        </p:spPr>
        <p:txBody>
          <a:bodyPr/>
          <a:lstStyle/>
          <a:p>
            <a:fld id="{BE2EA2C9-3E80-4651-AEDB-66CBFBE914A4}" type="datetimeFigureOut">
              <a:rPr lang="en-US" smtClean="0"/>
              <a:pPr/>
              <a:t>9/27/2019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85389" y="5960533"/>
            <a:ext cx="963150" cy="279400"/>
          </a:xfrm>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00403" y="1641413"/>
            <a:ext cx="8772290"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700403" y="3734860"/>
            <a:ext cx="8772290"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081785" y="5960533"/>
            <a:ext cx="1151331" cy="279400"/>
          </a:xfrm>
        </p:spPr>
        <p:txBody>
          <a:bodyPr/>
          <a:lstStyle/>
          <a:p>
            <a:fld id="{45D56BD6-1C83-49ED-A825-919C14660340}" type="slidenum">
              <a:rPr lang="en-US" smtClean="0"/>
              <a:pPr/>
              <a:t>‹#›</a:t>
            </a:fld>
            <a:endParaRPr lang="en-US"/>
          </a:p>
        </p:txBody>
      </p:sp>
      <p:cxnSp>
        <p:nvCxnSpPr>
          <p:cNvPr id="31" name="Straight Connector 30"/>
          <p:cNvCxnSpPr/>
          <p:nvPr/>
        </p:nvCxnSpPr>
        <p:spPr>
          <a:xfrm>
            <a:off x="1700405" y="3599392"/>
            <a:ext cx="877228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700403" y="235626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5271" y="1052394"/>
            <a:ext cx="9042553"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65273" y="2487168"/>
            <a:ext cx="4439071"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8214" y="2487168"/>
            <a:ext cx="4439071"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E2EA2C9-3E80-4651-AEDB-66CBFBE914A4}" type="datetimeFigureOut">
              <a:rPr lang="en-US" smtClean="0"/>
              <a:pPr/>
              <a:t>9/27/2019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081784" y="5934457"/>
            <a:ext cx="1018658" cy="305477"/>
          </a:xfrm>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5275" y="2658533"/>
            <a:ext cx="443907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65275" y="3243263"/>
            <a:ext cx="4439071"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3798" y="2658533"/>
            <a:ext cx="443907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3798" y="3243263"/>
            <a:ext cx="4439071"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E2EA2C9-3E80-4651-AEDB-66CBFBE914A4}" type="datetimeFigureOut">
              <a:rPr lang="en-US" smtClean="0"/>
              <a:pPr/>
              <a:t>9/27/2019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D56BD6-1C83-49ED-A825-919C14660340}" type="slidenum">
              <a:rPr lang="en-US" smtClean="0"/>
              <a:pPr/>
              <a:t>‹#›</a:t>
            </a:fld>
            <a:endParaRPr lang="en-US"/>
          </a:p>
        </p:txBody>
      </p:sp>
      <p:cxnSp>
        <p:nvCxnSpPr>
          <p:cNvPr id="41" name="Straight Connector 40"/>
          <p:cNvCxnSpPr/>
          <p:nvPr/>
        </p:nvCxnSpPr>
        <p:spPr>
          <a:xfrm>
            <a:off x="1700404" y="235467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2" y="915338"/>
            <a:ext cx="9042554"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E2EA2C9-3E80-4651-AEDB-66CBFBE914A4}" type="datetimeFigureOut">
              <a:rPr lang="en-US" smtClean="0"/>
              <a:pPr/>
              <a:t>9/27/2019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D56BD6-1C83-49ED-A825-919C14660340}" type="slidenum">
              <a:rPr lang="en-US" smtClean="0"/>
              <a:pPr/>
              <a:t>‹#›</a:t>
            </a:fld>
            <a:endParaRPr lang="en-US"/>
          </a:p>
        </p:txBody>
      </p:sp>
      <p:cxnSp>
        <p:nvCxnSpPr>
          <p:cNvPr id="14" name="Straight Connector 13"/>
          <p:cNvCxnSpPr/>
          <p:nvPr/>
        </p:nvCxnSpPr>
        <p:spPr>
          <a:xfrm>
            <a:off x="1700404" y="235467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2EA2C9-3E80-4651-AEDB-66CBFBE914A4}" type="datetimeFigureOut">
              <a:rPr lang="en-US" smtClean="0"/>
              <a:pPr/>
              <a:t>9/27/2019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1388534"/>
            <a:ext cx="3374030"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79826" y="982133"/>
            <a:ext cx="5128001"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565271" y="3031065"/>
            <a:ext cx="3374030"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2EA2C9-3E80-4651-AEDB-66CBFBE914A4}" type="datetimeFigureOut">
              <a:rPr lang="en-US" smtClean="0"/>
              <a:pPr/>
              <a:t>9/27/2019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6BD6-1C83-49ED-A825-919C14660340}" type="slidenum">
              <a:rPr lang="en-US" smtClean="0"/>
              <a:pPr/>
              <a:t>‹#›</a:t>
            </a:fld>
            <a:endParaRPr lang="en-US"/>
          </a:p>
        </p:txBody>
      </p:sp>
      <p:cxnSp>
        <p:nvCxnSpPr>
          <p:cNvPr id="16" name="Straight Connector 15"/>
          <p:cNvCxnSpPr/>
          <p:nvPr/>
        </p:nvCxnSpPr>
        <p:spPr>
          <a:xfrm>
            <a:off x="1700404" y="2912533"/>
            <a:ext cx="310376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1883832"/>
            <a:ext cx="4830955"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893663" y="1032933"/>
            <a:ext cx="3896288"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5272" y="3255432"/>
            <a:ext cx="4830954"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2EA2C9-3E80-4651-AEDB-66CBFBE914A4}" type="datetimeFigureOut">
              <a:rPr lang="en-US" smtClean="0"/>
              <a:pPr/>
              <a:t>9/27/2019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3" y="4815415"/>
            <a:ext cx="9042553"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64961" y="1032934"/>
            <a:ext cx="9431918"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5273" y="5382153"/>
            <a:ext cx="9042553"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2EA2C9-3E80-4651-AEDB-66CBFBE914A4}" type="datetimeFigureOut">
              <a:rPr lang="en-US" smtClean="0"/>
              <a:pPr/>
              <a:t>9/27/2019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3" y="906873"/>
            <a:ext cx="9042553"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5272" y="4275666"/>
            <a:ext cx="9042555"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5" name="Straight Connector 14"/>
          <p:cNvCxnSpPr/>
          <p:nvPr/>
        </p:nvCxnSpPr>
        <p:spPr>
          <a:xfrm>
            <a:off x="1700404" y="4140199"/>
            <a:ext cx="878677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4709" y="982132"/>
            <a:ext cx="8512555"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128322" y="3352800"/>
            <a:ext cx="7837626"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565269" y="4343401"/>
            <a:ext cx="904255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sp>
        <p:nvSpPr>
          <p:cNvPr id="14" name="TextBox 13"/>
          <p:cNvSpPr txBox="1"/>
          <p:nvPr/>
        </p:nvSpPr>
        <p:spPr>
          <a:xfrm>
            <a:off x="1130489" y="905362"/>
            <a:ext cx="608250"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10152825" y="2827870"/>
            <a:ext cx="608250"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700404" y="4140199"/>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7" y="3308581"/>
            <a:ext cx="904254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5276" y="4777381"/>
            <a:ext cx="9042547"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74573" y="982132"/>
            <a:ext cx="8412693"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565276" y="3639312"/>
            <a:ext cx="9042547"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5272" y="4529667"/>
            <a:ext cx="9042555"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sp>
        <p:nvSpPr>
          <p:cNvPr id="12" name="TextBox 11"/>
          <p:cNvSpPr txBox="1"/>
          <p:nvPr/>
        </p:nvSpPr>
        <p:spPr>
          <a:xfrm>
            <a:off x="1167851" y="896895"/>
            <a:ext cx="60825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174495" y="2607728"/>
            <a:ext cx="60825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700404" y="342900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982132"/>
            <a:ext cx="9042553"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565276" y="3566160"/>
            <a:ext cx="9042547"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5273" y="4470401"/>
            <a:ext cx="9042553"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5" name="Straight Connector 14"/>
          <p:cNvCxnSpPr/>
          <p:nvPr/>
        </p:nvCxnSpPr>
        <p:spPr>
          <a:xfrm>
            <a:off x="1700409" y="3429000"/>
            <a:ext cx="87867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5272" y="2490136"/>
            <a:ext cx="9042555"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2EA2C9-3E80-4651-AEDB-66CBFBE914A4}" type="datetimeFigureOut">
              <a:rPr lang="en-US" smtClean="0"/>
              <a:pPr/>
              <a:t>9/27/2019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4" name="Straight Connector 13"/>
          <p:cNvCxnSpPr/>
          <p:nvPr/>
        </p:nvCxnSpPr>
        <p:spPr>
          <a:xfrm>
            <a:off x="1700404" y="2354670"/>
            <a:ext cx="87867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54588" y="906874"/>
            <a:ext cx="2153233"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5275" y="906874"/>
            <a:ext cx="6537798"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2EA2C9-3E80-4651-AEDB-66CBFBE914A4}" type="datetimeFigureOut">
              <a:rPr lang="en-US" smtClean="0"/>
              <a:pPr/>
              <a:t>9/27/2019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4" name="Straight Connector 13"/>
          <p:cNvCxnSpPr/>
          <p:nvPr/>
        </p:nvCxnSpPr>
        <p:spPr>
          <a:xfrm>
            <a:off x="8306748" y="906874"/>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1" y="0"/>
            <a:ext cx="12173099"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565273" y="915338"/>
            <a:ext cx="9042553"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565272" y="2490136"/>
            <a:ext cx="9042555"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454593" y="5935133"/>
            <a:ext cx="895226"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E2EA2C9-3E80-4651-AEDB-66CBFBE914A4}" type="datetimeFigureOut">
              <a:rPr lang="en-US" smtClean="0"/>
              <a:pPr/>
              <a:t>9/27/2019</a:t>
            </a:fld>
            <a:endParaRPr lang="en-US"/>
          </a:p>
        </p:txBody>
      </p:sp>
      <p:sp>
        <p:nvSpPr>
          <p:cNvPr id="5" name="Footer Placeholder 4"/>
          <p:cNvSpPr>
            <a:spLocks noGrp="1"/>
          </p:cNvSpPr>
          <p:nvPr>
            <p:ph type="ftr" sz="quarter" idx="3"/>
          </p:nvPr>
        </p:nvSpPr>
        <p:spPr>
          <a:xfrm>
            <a:off x="1565272" y="5960533"/>
            <a:ext cx="6789385"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9349819" y="5960533"/>
            <a:ext cx="1258008"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5D56BD6-1C83-49ED-A825-919C14660340}" type="slidenum">
              <a:rPr lang="en-US" smtClean="0"/>
              <a:pPr/>
              <a:t>‹#›</a:t>
            </a:fld>
            <a:endParaRPr lang="en-US"/>
          </a:p>
        </p:txBody>
      </p:sp>
      <p:grpSp>
        <p:nvGrpSpPr>
          <p:cNvPr id="12" name="Group 11"/>
          <p:cNvGrpSpPr/>
          <p:nvPr/>
        </p:nvGrpSpPr>
        <p:grpSpPr>
          <a:xfrm>
            <a:off x="4485653" y="4072"/>
            <a:ext cx="3201790" cy="981605"/>
            <a:chOff x="2823850" y="0"/>
            <a:chExt cx="3344655" cy="1466289"/>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5"/>
              <a:ext cx="3344655" cy="428714"/>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www.google.com/imgres?q=genitourinary+tract+and+cdc&amp;start=163&amp;hl=en&amp;safe=active&amp;gbv=2&amp;biw=1024&amp;bih=587&amp;tbm=isch&amp;tbnid=QzW-hgxbS9W7PM:&amp;imgrefurl=http://www.childrenshospital.org/az/Site806/mainpageS806P0.html&amp;docid=zaC6nRAApEjCdM&amp;imgurl=http://childrenshospital.org/az/Site806/Images/DUPLEX_COLLECTING_SYSTEM.gif&amp;w=297&amp;h=362&amp;ei=a1SET97MOqPh0gHi8Pn2Bw&amp;zoom=1&amp;iact=hc&amp;vpx=86&amp;vpy=107&amp;dur=3329&amp;hovh=248&amp;hovw=203&amp;tx=119&amp;ty=154&amp;sig=115615104666389537509&amp;page=9&amp;tbnh=128&amp;tbnw=98&amp;ndsp=23&amp;ved=1t:429,r:6,s:163,i:16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1019" y="1676401"/>
            <a:ext cx="7499800" cy="1981199"/>
          </a:xfrm>
        </p:spPr>
        <p:txBody>
          <a:bodyPr>
            <a:noAutofit/>
          </a:bodyPr>
          <a:lstStyle/>
          <a:p>
            <a:pPr>
              <a:lnSpc>
                <a:spcPct val="150000"/>
              </a:lnSpc>
            </a:pPr>
            <a:r>
              <a:rPr lang="en-US" sz="2400" dirty="0" smtClean="0">
                <a:latin typeface="Times New Roman" pitchFamily="18" charset="0"/>
                <a:cs typeface="Times New Roman" pitchFamily="18" charset="0"/>
              </a:rPr>
              <a:t>VOLUME 2</a:t>
            </a:r>
            <a:br>
              <a:rPr lang="en-US" sz="2400" dirty="0" smtClean="0">
                <a:latin typeface="Times New Roman" pitchFamily="18" charset="0"/>
                <a:cs typeface="Times New Roman" pitchFamily="18" charset="0"/>
              </a:rPr>
            </a:br>
            <a:r>
              <a:rPr lang="en-US" sz="2400" b="1" dirty="0" smtClean="0">
                <a:latin typeface="Times New Roman" pitchFamily="18" charset="0"/>
                <a:cs typeface="Times New Roman" pitchFamily="18" charset="0"/>
              </a:rPr>
              <a:t>CHAPTER 2:</a:t>
            </a:r>
            <a:r>
              <a:rPr lang="en-US" sz="2400" dirty="0" smtClean="0">
                <a:latin typeface="Times New Roman" pitchFamily="18" charset="0"/>
                <a:cs typeface="Times New Roman" pitchFamily="18" charset="0"/>
              </a:rPr>
              <a:t>PREVENTION OF CATHETER ASSOCIATED URINARY TRACT INFECTIONS  (CAUTI</a:t>
            </a:r>
            <a:r>
              <a:rPr lang="en-US" sz="2400" dirty="0" smtClean="0"/>
              <a:t>)</a:t>
            </a:r>
            <a:endParaRPr lang="en-US" sz="2400" b="1" dirty="0"/>
          </a:p>
        </p:txBody>
      </p:sp>
      <p:sp>
        <p:nvSpPr>
          <p:cNvPr id="3" name="Subtitle 2"/>
          <p:cNvSpPr>
            <a:spLocks noGrp="1"/>
          </p:cNvSpPr>
          <p:nvPr>
            <p:ph type="subTitle" idx="1"/>
          </p:nvPr>
        </p:nvSpPr>
        <p:spPr>
          <a:xfrm>
            <a:off x="3102509" y="3886200"/>
            <a:ext cx="5956820" cy="724182"/>
          </a:xfrm>
        </p:spPr>
        <p:txBody>
          <a:bodyPr>
            <a:normAutofit/>
          </a:bodyPr>
          <a:lstStyle/>
          <a:p>
            <a:r>
              <a:rPr lang="en-US" sz="2400" b="1" dirty="0" smtClean="0">
                <a:ln w="3175" cmpd="sng">
                  <a:noFill/>
                </a:ln>
                <a:solidFill>
                  <a:schemeClr val="tx1">
                    <a:lumMod val="85000"/>
                    <a:lumOff val="15000"/>
                  </a:schemeClr>
                </a:solidFill>
                <a:latin typeface="Times New Roman" pitchFamily="18" charset="0"/>
                <a:ea typeface="+mj-ea"/>
                <a:cs typeface="Times New Roman" pitchFamily="18" charset="0"/>
              </a:rPr>
              <a:t>PREVENTION OF</a:t>
            </a:r>
            <a:r>
              <a:rPr lang="en-US" sz="2400" b="1" dirty="0" smtClean="0">
                <a:ln w="3175" cmpd="sng">
                  <a:noFill/>
                </a:ln>
                <a:solidFill>
                  <a:schemeClr val="tx1">
                    <a:lumMod val="85000"/>
                    <a:lumOff val="15000"/>
                  </a:schemeClr>
                </a:solidFill>
                <a:latin typeface="Times New Roman" pitchFamily="18" charset="0"/>
                <a:cs typeface="Times New Roman" pitchFamily="18" charset="0"/>
              </a:rPr>
              <a:t> COMMON</a:t>
            </a:r>
            <a:r>
              <a:rPr lang="en-US" sz="2400" b="1" dirty="0" smtClean="0">
                <a:ln w="3175" cmpd="sng">
                  <a:noFill/>
                </a:ln>
                <a:solidFill>
                  <a:schemeClr val="tx1">
                    <a:lumMod val="85000"/>
                    <a:lumOff val="15000"/>
                  </a:schemeClr>
                </a:solidFill>
                <a:latin typeface="Times New Roman" pitchFamily="18" charset="0"/>
                <a:ea typeface="+mj-ea"/>
                <a:cs typeface="Times New Roman" pitchFamily="18" charset="0"/>
              </a:rPr>
              <a:t> HCAI’S</a:t>
            </a:r>
            <a:endParaRPr lang="en-US" sz="2400" b="1" dirty="0">
              <a:ln w="3175" cmpd="sng">
                <a:noFill/>
              </a:ln>
              <a:solidFill>
                <a:schemeClr val="tx1">
                  <a:lumMod val="85000"/>
                  <a:lumOff val="15000"/>
                </a:schemeClr>
              </a:solidFill>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19690514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789" y="1295400"/>
            <a:ext cx="10438911" cy="990600"/>
          </a:xfrm>
        </p:spPr>
        <p:txBody>
          <a:bodyPr/>
          <a:lstStyle/>
          <a:p>
            <a:r>
              <a:rPr lang="en-US" sz="4000" b="1" dirty="0" smtClean="0">
                <a:latin typeface="Times New Roman" pitchFamily="18" charset="0"/>
                <a:cs typeface="Times New Roman" pitchFamily="18" charset="0"/>
              </a:rPr>
              <a:t>Chapter Outline</a:t>
            </a:r>
            <a:endParaRPr lang="en-US"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1114835" y="2438400"/>
            <a:ext cx="9932168" cy="3810000"/>
          </a:xfrm>
        </p:spPr>
        <p:txBody>
          <a:bodyPr>
            <a:normAutofit fontScale="55000" lnSpcReduction="20000"/>
          </a:bodyPr>
          <a:lstStyle/>
          <a:p>
            <a:pPr algn="just">
              <a:lnSpc>
                <a:spcPct val="160000"/>
              </a:lnSpc>
            </a:pPr>
            <a:r>
              <a:rPr lang="en-US" dirty="0" smtClean="0"/>
              <a:t>Chapter Contents </a:t>
            </a:r>
          </a:p>
          <a:p>
            <a:pPr lvl="0">
              <a:lnSpc>
                <a:spcPct val="160000"/>
              </a:lnSpc>
            </a:pPr>
            <a:r>
              <a:rPr lang="en-US" dirty="0" smtClean="0"/>
              <a:t>PPP 1.1:Over view</a:t>
            </a:r>
          </a:p>
          <a:p>
            <a:pPr lvl="0">
              <a:lnSpc>
                <a:spcPct val="160000"/>
              </a:lnSpc>
            </a:pPr>
            <a:r>
              <a:rPr lang="en-US" dirty="0" smtClean="0"/>
              <a:t>PPP 1.2: Epidemiology and mechanism of CAUTI </a:t>
            </a:r>
          </a:p>
          <a:p>
            <a:pPr lvl="0">
              <a:lnSpc>
                <a:spcPct val="160000"/>
              </a:lnSpc>
            </a:pPr>
            <a:r>
              <a:rPr lang="en-US" dirty="0" smtClean="0"/>
              <a:t>PPP 1.3: Risk factors of CAUTI </a:t>
            </a:r>
          </a:p>
          <a:p>
            <a:pPr lvl="0">
              <a:lnSpc>
                <a:spcPct val="160000"/>
              </a:lnSpc>
            </a:pPr>
            <a:r>
              <a:rPr lang="en-US" dirty="0" smtClean="0"/>
              <a:t>PPP 1.4: Pathogens associated with CAUTI</a:t>
            </a:r>
          </a:p>
          <a:p>
            <a:pPr>
              <a:lnSpc>
                <a:spcPct val="160000"/>
              </a:lnSpc>
            </a:pPr>
            <a:r>
              <a:rPr lang="en-US" dirty="0" smtClean="0"/>
              <a:t>PPP 1.4:Quality improvement for prevention of CAUTI </a:t>
            </a:r>
          </a:p>
          <a:p>
            <a:pPr>
              <a:lnSpc>
                <a:spcPct val="160000"/>
              </a:lnSpc>
            </a:pPr>
            <a:r>
              <a:rPr lang="en-US" dirty="0" smtClean="0"/>
              <a:t>PPP 1.5: Summary</a:t>
            </a:r>
          </a:p>
          <a:p>
            <a:pPr lvl="0">
              <a:lnSpc>
                <a:spcPct val="160000"/>
              </a:lnSpc>
            </a:pPr>
            <a:endParaRPr lang="en-US" dirty="0" smtClean="0"/>
          </a:p>
          <a:p>
            <a:pPr>
              <a:lnSpc>
                <a:spcPct val="160000"/>
              </a:lnSpc>
            </a:pPr>
            <a:endParaRPr lang="en-US" dirty="0" smtClean="0"/>
          </a:p>
          <a:p>
            <a:pPr>
              <a:lnSpc>
                <a:spcPct val="160000"/>
              </a:lnSpc>
            </a:pPr>
            <a:endParaRPr lang="en-US" dirty="0" smtClean="0"/>
          </a:p>
        </p:txBody>
      </p:sp>
    </p:spTree>
    <p:extLst>
      <p:ext uri="{BB962C8B-B14F-4D97-AF65-F5344CB8AC3E}">
        <p14:creationId xmlns:p14="http://schemas.microsoft.com/office/powerpoint/2010/main" val="19251976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latin typeface="Times New Roman" pitchFamily="18" charset="0"/>
                <a:cs typeface="Times New Roman" pitchFamily="18" charset="0"/>
              </a:rPr>
              <a:t>Learning objectives </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marL="0" indent="0">
              <a:lnSpc>
                <a:spcPct val="170000"/>
              </a:lnSpc>
              <a:buNone/>
            </a:pPr>
            <a:r>
              <a:rPr lang="en-US" b="1" dirty="0" smtClean="0">
                <a:latin typeface="Times New Roman" pitchFamily="18" charset="0"/>
                <a:cs typeface="Times New Roman" pitchFamily="18" charset="0"/>
              </a:rPr>
              <a:t>By </a:t>
            </a:r>
            <a:r>
              <a:rPr lang="en-US" b="1" dirty="0">
                <a:latin typeface="Times New Roman" pitchFamily="18" charset="0"/>
                <a:cs typeface="Times New Roman" pitchFamily="18" charset="0"/>
              </a:rPr>
              <a:t>the end of this chapter, participants will be able </a:t>
            </a:r>
            <a:r>
              <a:rPr lang="en-US" b="1" dirty="0" smtClean="0">
                <a:latin typeface="Times New Roman" pitchFamily="18" charset="0"/>
                <a:cs typeface="Times New Roman" pitchFamily="18" charset="0"/>
              </a:rPr>
              <a:t>to: </a:t>
            </a:r>
          </a:p>
          <a:p>
            <a:pPr lvl="0">
              <a:lnSpc>
                <a:spcPct val="170000"/>
              </a:lnSpc>
            </a:pPr>
            <a:r>
              <a:rPr lang="en-GB" dirty="0" smtClean="0">
                <a:latin typeface="Times New Roman" pitchFamily="18" charset="0"/>
                <a:cs typeface="Times New Roman" pitchFamily="18" charset="0"/>
              </a:rPr>
              <a:t>Define catheter associated urinary tract infection (CAUTs).</a:t>
            </a:r>
            <a:endParaRPr lang="en-US" dirty="0" smtClean="0">
              <a:latin typeface="Times New Roman" pitchFamily="18" charset="0"/>
              <a:cs typeface="Times New Roman" pitchFamily="18" charset="0"/>
            </a:endParaRPr>
          </a:p>
          <a:p>
            <a:pPr lvl="0">
              <a:lnSpc>
                <a:spcPct val="170000"/>
              </a:lnSpc>
            </a:pPr>
            <a:r>
              <a:rPr lang="en-GB" dirty="0" smtClean="0">
                <a:latin typeface="Times New Roman" pitchFamily="18" charset="0"/>
                <a:cs typeface="Times New Roman" pitchFamily="18" charset="0"/>
              </a:rPr>
              <a:t>Describe the burden of CAUTs. </a:t>
            </a:r>
            <a:endParaRPr lang="en-US" dirty="0" smtClean="0">
              <a:latin typeface="Times New Roman" pitchFamily="18" charset="0"/>
              <a:cs typeface="Times New Roman" pitchFamily="18" charset="0"/>
            </a:endParaRPr>
          </a:p>
          <a:p>
            <a:pPr lvl="0">
              <a:lnSpc>
                <a:spcPct val="170000"/>
              </a:lnSpc>
            </a:pPr>
            <a:r>
              <a:rPr lang="en-GB" dirty="0" smtClean="0">
                <a:latin typeface="Times New Roman" pitchFamily="18" charset="0"/>
                <a:cs typeface="Times New Roman" pitchFamily="18" charset="0"/>
              </a:rPr>
              <a:t>Explain the risk factors for CAUTs.</a:t>
            </a:r>
            <a:endParaRPr lang="en-US" dirty="0" smtClean="0">
              <a:latin typeface="Times New Roman" pitchFamily="18" charset="0"/>
              <a:cs typeface="Times New Roman" pitchFamily="18" charset="0"/>
            </a:endParaRPr>
          </a:p>
          <a:p>
            <a:pPr lvl="0">
              <a:lnSpc>
                <a:spcPct val="170000"/>
              </a:lnSpc>
            </a:pPr>
            <a:r>
              <a:rPr lang="en-GB" dirty="0" smtClean="0">
                <a:latin typeface="Times New Roman" pitchFamily="18" charset="0"/>
                <a:cs typeface="Times New Roman" pitchFamily="18" charset="0"/>
              </a:rPr>
              <a:t>Identify the recommended IPC activities to prevent CAUTs.</a:t>
            </a:r>
            <a:endParaRPr lang="en-US" dirty="0" smtClean="0">
              <a:latin typeface="Times New Roman" pitchFamily="18" charset="0"/>
              <a:cs typeface="Times New Roman" pitchFamily="18" charset="0"/>
            </a:endParaRPr>
          </a:p>
          <a:p>
            <a:pPr lvl="0">
              <a:lnSpc>
                <a:spcPct val="170000"/>
              </a:lnSpc>
            </a:pPr>
            <a:r>
              <a:rPr lang="en-GB" dirty="0" smtClean="0">
                <a:latin typeface="Times New Roman" pitchFamily="18" charset="0"/>
                <a:cs typeface="Times New Roman" pitchFamily="18" charset="0"/>
              </a:rPr>
              <a:t>Elucidate the role of surveillance and monitoring in improving IPC and reduction of CAUTs</a:t>
            </a:r>
            <a:r>
              <a:rPr lang="en-GB" dirty="0" smtClean="0"/>
              <a:t>.</a:t>
            </a:r>
            <a:endParaRPr lang="en-US" dirty="0" smtClean="0"/>
          </a:p>
          <a:p>
            <a:pPr marL="0" indent="0">
              <a:buNone/>
            </a:pPr>
            <a:endParaRPr lang="en-US" b="1" dirty="0"/>
          </a:p>
          <a:p>
            <a:pPr lvl="0"/>
            <a:endParaRPr lang="en-US" dirty="0"/>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3</a:t>
            </a:fld>
            <a:endParaRPr lang="en-US"/>
          </a:p>
        </p:txBody>
      </p:sp>
    </p:spTree>
    <p:extLst>
      <p:ext uri="{BB962C8B-B14F-4D97-AF65-F5344CB8AC3E}">
        <p14:creationId xmlns:p14="http://schemas.microsoft.com/office/powerpoint/2010/main" val="913401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50000"/>
              </a:lnSpc>
            </a:pPr>
            <a:r>
              <a:rPr lang="en-US" sz="4000" dirty="0" smtClean="0">
                <a:effectLst/>
                <a:latin typeface="Times New Roman" pitchFamily="18" charset="0"/>
                <a:cs typeface="Times New Roman" pitchFamily="18" charset="0"/>
              </a:rPr>
              <a:t>Introduction </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a:lnSpc>
                <a:spcPct val="170000"/>
              </a:lnSpc>
            </a:pPr>
            <a:r>
              <a:rPr lang="en-US" dirty="0">
                <a:latin typeface="Times New Roman" pitchFamily="18" charset="0"/>
                <a:cs typeface="Times New Roman" pitchFamily="18" charset="0"/>
              </a:rPr>
              <a:t>Urinary tract infection is one of the most common HAIs. </a:t>
            </a:r>
            <a:endParaRPr lang="en-US" dirty="0" smtClean="0">
              <a:latin typeface="Times New Roman" pitchFamily="18" charset="0"/>
              <a:cs typeface="Times New Roman" pitchFamily="18" charset="0"/>
            </a:endParaRPr>
          </a:p>
          <a:p>
            <a:pPr>
              <a:lnSpc>
                <a:spcPct val="170000"/>
              </a:lnSpc>
            </a:pPr>
            <a:r>
              <a:rPr lang="en-US" dirty="0">
                <a:latin typeface="Times New Roman" pitchFamily="18" charset="0"/>
                <a:cs typeface="Times New Roman" pitchFamily="18" charset="0"/>
              </a:rPr>
              <a:t>M</a:t>
            </a:r>
            <a:r>
              <a:rPr lang="en-US" dirty="0" smtClean="0">
                <a:latin typeface="Times New Roman" pitchFamily="18" charset="0"/>
                <a:cs typeface="Times New Roman" pitchFamily="18" charset="0"/>
              </a:rPr>
              <a:t>ajority </a:t>
            </a:r>
            <a:r>
              <a:rPr lang="en-US" dirty="0">
                <a:latin typeface="Times New Roman" pitchFamily="18" charset="0"/>
                <a:cs typeface="Times New Roman" pitchFamily="18" charset="0"/>
              </a:rPr>
              <a:t>(</a:t>
            </a:r>
            <a:r>
              <a:rPr lang="en-US" dirty="0" smtClean="0">
                <a:latin typeface="Times New Roman" pitchFamily="18" charset="0"/>
                <a:cs typeface="Times New Roman" pitchFamily="18" charset="0"/>
              </a:rPr>
              <a:t>70 - 97</a:t>
            </a:r>
            <a:r>
              <a:rPr lang="en-US" dirty="0">
                <a:latin typeface="Times New Roman" pitchFamily="18" charset="0"/>
                <a:cs typeface="Times New Roman" pitchFamily="18" charset="0"/>
              </a:rPr>
              <a:t>%) of health care-associated UTIs are </a:t>
            </a:r>
            <a:r>
              <a:rPr lang="en-US" dirty="0" smtClean="0">
                <a:latin typeface="Times New Roman" pitchFamily="18" charset="0"/>
                <a:cs typeface="Times New Roman" pitchFamily="18" charset="0"/>
              </a:rPr>
              <a:t>catheter-associated </a:t>
            </a:r>
            <a:r>
              <a:rPr lang="en-US" dirty="0">
                <a:latin typeface="Times New Roman" pitchFamily="18" charset="0"/>
                <a:cs typeface="Times New Roman" pitchFamily="18" charset="0"/>
              </a:rPr>
              <a:t>urinary tract </a:t>
            </a:r>
            <a:r>
              <a:rPr lang="en-US" dirty="0" smtClean="0">
                <a:latin typeface="Times New Roman" pitchFamily="18" charset="0"/>
                <a:cs typeface="Times New Roman" pitchFamily="18" charset="0"/>
              </a:rPr>
              <a:t>infections CAUTIs. </a:t>
            </a:r>
          </a:p>
          <a:p>
            <a:pPr>
              <a:lnSpc>
                <a:spcPct val="170000"/>
              </a:lnSpc>
            </a:pPr>
            <a:r>
              <a:rPr lang="en-US" dirty="0" smtClean="0">
                <a:latin typeface="Times New Roman" pitchFamily="18" charset="0"/>
                <a:cs typeface="Times New Roman" pitchFamily="18" charset="0"/>
              </a:rPr>
              <a:t>Complications </a:t>
            </a:r>
            <a:r>
              <a:rPr lang="en-US" dirty="0">
                <a:latin typeface="Times New Roman" pitchFamily="18" charset="0"/>
                <a:cs typeface="Times New Roman" pitchFamily="18" charset="0"/>
              </a:rPr>
              <a:t>associated with CAUTIs </a:t>
            </a:r>
            <a:r>
              <a:rPr lang="en-US" dirty="0" smtClean="0">
                <a:latin typeface="Times New Roman" pitchFamily="18" charset="0"/>
                <a:cs typeface="Times New Roman" pitchFamily="18" charset="0"/>
              </a:rPr>
              <a:t>include </a:t>
            </a:r>
            <a:r>
              <a:rPr lang="en-US" dirty="0">
                <a:latin typeface="Times New Roman" pitchFamily="18" charset="0"/>
                <a:cs typeface="Times New Roman" pitchFamily="18" charset="0"/>
              </a:rPr>
              <a:t>discomfort to the patient, longer hospital stay, increased cost, and increased morbidity and mortality rates</a:t>
            </a:r>
            <a:r>
              <a:rPr lang="en-US" dirty="0" smtClean="0">
                <a:latin typeface="Times New Roman" pitchFamily="18" charset="0"/>
                <a:cs typeface="Times New Roman" pitchFamily="18" charset="0"/>
              </a:rPr>
              <a:t>.</a:t>
            </a:r>
          </a:p>
          <a:p>
            <a:pPr>
              <a:lnSpc>
                <a:spcPct val="170000"/>
              </a:lnSpc>
            </a:pPr>
            <a:r>
              <a:rPr lang="en-US" dirty="0" smtClean="0">
                <a:latin typeface="Times New Roman" pitchFamily="18" charset="0"/>
                <a:cs typeface="Times New Roman" pitchFamily="18" charset="0"/>
              </a:rPr>
              <a:t>B/c of the complications and as </a:t>
            </a:r>
            <a:r>
              <a:rPr lang="en-US" dirty="0">
                <a:solidFill>
                  <a:schemeClr val="tx1"/>
                </a:solidFill>
                <a:latin typeface="Times New Roman" pitchFamily="18" charset="0"/>
                <a:cs typeface="Times New Roman" pitchFamily="18" charset="0"/>
              </a:rPr>
              <a:t>high percentage </a:t>
            </a:r>
            <a:r>
              <a:rPr lang="en-US" dirty="0">
                <a:latin typeface="Times New Roman" pitchFamily="18" charset="0"/>
                <a:cs typeface="Times New Roman" pitchFamily="18" charset="0"/>
              </a:rPr>
              <a:t>of hospitalized patients are catheterized, prevention of CAUTIs is an important aspect of reducing HAIs. </a:t>
            </a:r>
          </a:p>
        </p:txBody>
      </p:sp>
      <p:sp>
        <p:nvSpPr>
          <p:cNvPr id="4" name="Slide Number Placeholder 3"/>
          <p:cNvSpPr>
            <a:spLocks noGrp="1"/>
          </p:cNvSpPr>
          <p:nvPr>
            <p:ph type="sldNum" sz="quarter" idx="12"/>
          </p:nvPr>
        </p:nvSpPr>
        <p:spPr/>
        <p:txBody>
          <a:bodyPr/>
          <a:lstStyle/>
          <a:p>
            <a:fld id="{1168C7B2-57B4-41C3-8046-875D4CCC2A44}" type="slidenum">
              <a:rPr lang="en-US" smtClean="0"/>
              <a:pPr/>
              <a:t>4</a:t>
            </a:fld>
            <a:endParaRPr lang="en-US"/>
          </a:p>
        </p:txBody>
      </p:sp>
    </p:spTree>
    <p:extLst>
      <p:ext uri="{BB962C8B-B14F-4D97-AF65-F5344CB8AC3E}">
        <p14:creationId xmlns:p14="http://schemas.microsoft.com/office/powerpoint/2010/main" val="1192090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http://www.continenceproductadvisor.org/ProductAdvisor/cms/png/760/000000255.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4120" y="2133600"/>
            <a:ext cx="87630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6"/>
          <p:cNvSpPr>
            <a:spLocks noGrp="1"/>
          </p:cNvSpPr>
          <p:nvPr>
            <p:ph type="sldNum" sz="quarter" idx="12"/>
          </p:nvPr>
        </p:nvSpPr>
        <p:spPr/>
        <p:txBody>
          <a:bodyPr/>
          <a:lstStyle/>
          <a:p>
            <a:fld id="{1168C7B2-57B4-41C3-8046-875D4CCC2A44}" type="slidenum">
              <a:rPr lang="en-US" smtClean="0"/>
              <a:pPr/>
              <a:t>5</a:t>
            </a:fld>
            <a:endParaRPr lang="en-US"/>
          </a:p>
        </p:txBody>
      </p:sp>
    </p:spTree>
    <p:extLst>
      <p:ext uri="{BB962C8B-B14F-4D97-AF65-F5344CB8AC3E}">
        <p14:creationId xmlns:p14="http://schemas.microsoft.com/office/powerpoint/2010/main" val="753995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27" y="372706"/>
            <a:ext cx="10489585" cy="1056107"/>
          </a:xfrm>
        </p:spPr>
        <p:txBody>
          <a:bodyPr/>
          <a:lstStyle/>
          <a:p>
            <a:pPr>
              <a:lnSpc>
                <a:spcPct val="150000"/>
              </a:lnSpc>
            </a:pPr>
            <a:r>
              <a:rPr lang="en-US" sz="4000" b="1" dirty="0" smtClean="0">
                <a:latin typeface="Times New Roman" pitchFamily="18" charset="0"/>
                <a:cs typeface="Times New Roman" pitchFamily="18" charset="0"/>
              </a:rPr>
              <a:t/>
            </a:r>
            <a:br>
              <a:rPr lang="en-US" sz="4000" b="1" dirty="0" smtClean="0">
                <a:latin typeface="Times New Roman" pitchFamily="18" charset="0"/>
                <a:cs typeface="Times New Roman" pitchFamily="18" charset="0"/>
              </a:rPr>
            </a:br>
            <a:r>
              <a:rPr lang="en-US" sz="4000" b="1" dirty="0" smtClean="0">
                <a:latin typeface="Times New Roman" pitchFamily="18" charset="0"/>
                <a:cs typeface="Times New Roman" pitchFamily="18" charset="0"/>
              </a:rPr>
              <a:t>Epidemiology and mechanisms of CAUTIs</a:t>
            </a:r>
            <a:endParaRPr lang="en-US" sz="40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nSpc>
                <a:spcPct val="150000"/>
              </a:lnSpc>
            </a:pPr>
            <a:r>
              <a:rPr lang="en-US" sz="1600" dirty="0">
                <a:latin typeface="Times New Roman" pitchFamily="18" charset="0"/>
                <a:cs typeface="Times New Roman" pitchFamily="18" charset="0"/>
              </a:rPr>
              <a:t>In low- and middle-income </a:t>
            </a:r>
            <a:r>
              <a:rPr lang="en-US" sz="1600" dirty="0" smtClean="0">
                <a:latin typeface="Times New Roman" pitchFamily="18" charset="0"/>
                <a:cs typeface="Times New Roman" pitchFamily="18" charset="0"/>
              </a:rPr>
              <a:t>countries, </a:t>
            </a:r>
            <a:r>
              <a:rPr lang="en-US" sz="1600" dirty="0">
                <a:latin typeface="Times New Roman" pitchFamily="18" charset="0"/>
                <a:cs typeface="Times New Roman" pitchFamily="18" charset="0"/>
              </a:rPr>
              <a:t>the rate </a:t>
            </a:r>
            <a:r>
              <a:rPr lang="en-US" sz="1600" dirty="0" smtClean="0">
                <a:latin typeface="Times New Roman" pitchFamily="18" charset="0"/>
                <a:cs typeface="Times New Roman" pitchFamily="18" charset="0"/>
              </a:rPr>
              <a:t>of CAUTIs is </a:t>
            </a:r>
            <a:r>
              <a:rPr lang="en-US" sz="1600" dirty="0">
                <a:latin typeface="Times New Roman" pitchFamily="18" charset="0"/>
                <a:cs typeface="Times New Roman" pitchFamily="18" charset="0"/>
              </a:rPr>
              <a:t>estimated at</a:t>
            </a:r>
            <a:r>
              <a:rPr lang="en-US" sz="1600" dirty="0">
                <a:solidFill>
                  <a:srgbClr val="FF0000"/>
                </a:solidFill>
                <a:latin typeface="Times New Roman" pitchFamily="18" charset="0"/>
                <a:cs typeface="Times New Roman" pitchFamily="18" charset="0"/>
              </a:rPr>
              <a:t> </a:t>
            </a:r>
            <a:r>
              <a:rPr lang="en-US" sz="1600" dirty="0">
                <a:solidFill>
                  <a:schemeClr val="tx1"/>
                </a:solidFill>
                <a:latin typeface="Times New Roman" pitchFamily="18" charset="0"/>
                <a:cs typeface="Times New Roman" pitchFamily="18" charset="0"/>
              </a:rPr>
              <a:t>8.8</a:t>
            </a:r>
            <a:r>
              <a:rPr lang="en-US" sz="1600" dirty="0">
                <a:solidFill>
                  <a:srgbClr val="FF0000"/>
                </a:solidFill>
                <a:latin typeface="Times New Roman" pitchFamily="18" charset="0"/>
                <a:cs typeface="Times New Roman" pitchFamily="18" charset="0"/>
              </a:rPr>
              <a:t> </a:t>
            </a:r>
            <a:r>
              <a:rPr lang="en-US" sz="1600" dirty="0">
                <a:latin typeface="Times New Roman" pitchFamily="18" charset="0"/>
                <a:cs typeface="Times New Roman" pitchFamily="18" charset="0"/>
              </a:rPr>
              <a:t>per 1,000 urinary </a:t>
            </a:r>
            <a:r>
              <a:rPr lang="en-US" sz="1600" dirty="0" smtClean="0">
                <a:latin typeface="Times New Roman" pitchFamily="18" charset="0"/>
                <a:cs typeface="Times New Roman" pitchFamily="18" charset="0"/>
              </a:rPr>
              <a:t>catheter days</a:t>
            </a:r>
            <a:r>
              <a:rPr lang="en-US" sz="1600" dirty="0">
                <a:latin typeface="Times New Roman" pitchFamily="18" charset="0"/>
                <a:cs typeface="Times New Roman" pitchFamily="18" charset="0"/>
              </a:rPr>
              <a:t>. </a:t>
            </a:r>
            <a:endParaRPr lang="en-US" sz="1600" dirty="0" smtClean="0">
              <a:latin typeface="Times New Roman" pitchFamily="18" charset="0"/>
              <a:cs typeface="Times New Roman" pitchFamily="18" charset="0"/>
            </a:endParaRPr>
          </a:p>
          <a:p>
            <a:pPr>
              <a:lnSpc>
                <a:spcPct val="150000"/>
              </a:lnSpc>
            </a:pPr>
            <a:r>
              <a:rPr lang="en-US" sz="1600" dirty="0" smtClean="0">
                <a:latin typeface="Times New Roman" pitchFamily="18" charset="0"/>
                <a:cs typeface="Times New Roman" pitchFamily="18" charset="0"/>
              </a:rPr>
              <a:t>Patients in LMICs have </a:t>
            </a:r>
            <a:r>
              <a:rPr lang="en-US" sz="1600" dirty="0" smtClean="0">
                <a:solidFill>
                  <a:schemeClr val="tx1"/>
                </a:solidFill>
                <a:latin typeface="Times New Roman" pitchFamily="18" charset="0"/>
                <a:cs typeface="Times New Roman" pitchFamily="18" charset="0"/>
              </a:rPr>
              <a:t>twice the risk </a:t>
            </a:r>
            <a:r>
              <a:rPr lang="en-US" sz="1600" dirty="0" smtClean="0">
                <a:latin typeface="Times New Roman" pitchFamily="18" charset="0"/>
                <a:cs typeface="Times New Roman" pitchFamily="18" charset="0"/>
              </a:rPr>
              <a:t>of developing CAUTIs compared to admitted patients in high income countries </a:t>
            </a:r>
          </a:p>
          <a:p>
            <a:pPr>
              <a:lnSpc>
                <a:spcPct val="150000"/>
              </a:lnSpc>
            </a:pPr>
            <a:r>
              <a:rPr lang="en-US" sz="1600" dirty="0">
                <a:latin typeface="Times New Roman" pitchFamily="18" charset="0"/>
                <a:cs typeface="Times New Roman" pitchFamily="18" charset="0"/>
              </a:rPr>
              <a:t>In </a:t>
            </a:r>
            <a:r>
              <a:rPr lang="en-US" sz="1600" dirty="0" smtClean="0">
                <a:latin typeface="Times New Roman" pitchFamily="18" charset="0"/>
                <a:cs typeface="Times New Roman" pitchFamily="18" charset="0"/>
              </a:rPr>
              <a:t>LMICs, CAUTIs </a:t>
            </a:r>
            <a:r>
              <a:rPr lang="en-US" sz="1600" dirty="0">
                <a:latin typeface="Times New Roman" pitchFamily="18" charset="0"/>
                <a:cs typeface="Times New Roman" pitchFamily="18" charset="0"/>
              </a:rPr>
              <a:t>are </a:t>
            </a:r>
            <a:r>
              <a:rPr lang="en-US" sz="1600" dirty="0">
                <a:solidFill>
                  <a:schemeClr val="tx1"/>
                </a:solidFill>
                <a:latin typeface="Times New Roman" pitchFamily="18" charset="0"/>
                <a:cs typeface="Times New Roman" pitchFamily="18" charset="0"/>
              </a:rPr>
              <a:t>the second most frequent </a:t>
            </a:r>
            <a:r>
              <a:rPr lang="en-US" sz="1600" dirty="0">
                <a:latin typeface="Times New Roman" pitchFamily="18" charset="0"/>
                <a:cs typeface="Times New Roman" pitchFamily="18" charset="0"/>
              </a:rPr>
              <a:t>type of HAI (24% of all HAIs), second only </a:t>
            </a:r>
            <a:r>
              <a:rPr lang="en-US" sz="1600" dirty="0">
                <a:solidFill>
                  <a:schemeClr val="tx1"/>
                </a:solidFill>
                <a:latin typeface="Times New Roman" pitchFamily="18" charset="0"/>
                <a:cs typeface="Times New Roman" pitchFamily="18" charset="0"/>
              </a:rPr>
              <a:t>to </a:t>
            </a:r>
            <a:r>
              <a:rPr lang="en-US" sz="1600" dirty="0" smtClean="0">
                <a:solidFill>
                  <a:schemeClr val="tx1"/>
                </a:solidFill>
                <a:latin typeface="Times New Roman" pitchFamily="18" charset="0"/>
                <a:cs typeface="Times New Roman" pitchFamily="18" charset="0"/>
              </a:rPr>
              <a:t>SSI</a:t>
            </a:r>
            <a:r>
              <a:rPr lang="en-US" sz="1600" dirty="0" smtClean="0">
                <a:latin typeface="Times New Roman" pitchFamily="18" charset="0"/>
                <a:cs typeface="Times New Roman" pitchFamily="18" charset="0"/>
              </a:rPr>
              <a:t>. </a:t>
            </a:r>
          </a:p>
          <a:p>
            <a:pPr>
              <a:lnSpc>
                <a:spcPct val="150000"/>
              </a:lnSpc>
            </a:pPr>
            <a:r>
              <a:rPr lang="en-US" sz="1600" dirty="0">
                <a:latin typeface="Times New Roman" pitchFamily="18" charset="0"/>
                <a:cs typeface="Times New Roman" pitchFamily="18" charset="0"/>
              </a:rPr>
              <a:t>The urinary system is normally sterile except for the end of the </a:t>
            </a:r>
            <a:r>
              <a:rPr lang="en-US" sz="1600" dirty="0" smtClean="0">
                <a:latin typeface="Times New Roman" pitchFamily="18" charset="0"/>
                <a:cs typeface="Times New Roman" pitchFamily="18" charset="0"/>
              </a:rPr>
              <a:t>urethra. </a:t>
            </a:r>
          </a:p>
          <a:p>
            <a:pPr>
              <a:lnSpc>
                <a:spcPct val="150000"/>
              </a:lnSpc>
            </a:pPr>
            <a:r>
              <a:rPr lang="en-US" sz="1600" dirty="0">
                <a:latin typeface="Times New Roman" pitchFamily="18" charset="0"/>
                <a:cs typeface="Times New Roman" pitchFamily="18" charset="0"/>
              </a:rPr>
              <a:t>T</a:t>
            </a:r>
            <a:r>
              <a:rPr lang="en-US" sz="1600" dirty="0" smtClean="0">
                <a:latin typeface="Times New Roman" pitchFamily="18" charset="0"/>
                <a:cs typeface="Times New Roman" pitchFamily="18" charset="0"/>
              </a:rPr>
              <a:t>he </a:t>
            </a:r>
            <a:r>
              <a:rPr lang="en-US" sz="1600" dirty="0">
                <a:latin typeface="Times New Roman" pitchFamily="18" charset="0"/>
                <a:cs typeface="Times New Roman" pitchFamily="18" charset="0"/>
              </a:rPr>
              <a:t>normal defenses against UTI are </a:t>
            </a:r>
            <a:r>
              <a:rPr lang="en-US" sz="1600" dirty="0">
                <a:solidFill>
                  <a:schemeClr val="tx1"/>
                </a:solidFill>
                <a:latin typeface="Times New Roman" pitchFamily="18" charset="0"/>
                <a:cs typeface="Times New Roman" pitchFamily="18" charset="0"/>
              </a:rPr>
              <a:t>free flow of urine </a:t>
            </a:r>
            <a:r>
              <a:rPr lang="en-US" sz="1600" dirty="0">
                <a:latin typeface="Times New Roman" pitchFamily="18" charset="0"/>
                <a:cs typeface="Times New Roman" pitchFamily="18" charset="0"/>
              </a:rPr>
              <a:t>down the urethra and complete evacuation of the </a:t>
            </a:r>
            <a:r>
              <a:rPr lang="en-US" sz="1600" dirty="0" smtClean="0">
                <a:latin typeface="Times New Roman" pitchFamily="18" charset="0"/>
                <a:cs typeface="Times New Roman" pitchFamily="18" charset="0"/>
              </a:rPr>
              <a:t>bladder.</a:t>
            </a:r>
          </a:p>
        </p:txBody>
      </p:sp>
      <p:sp>
        <p:nvSpPr>
          <p:cNvPr id="4" name="Slide Number Placeholder 3"/>
          <p:cNvSpPr>
            <a:spLocks noGrp="1"/>
          </p:cNvSpPr>
          <p:nvPr>
            <p:ph type="sldNum" sz="quarter" idx="12"/>
          </p:nvPr>
        </p:nvSpPr>
        <p:spPr/>
        <p:txBody>
          <a:bodyPr/>
          <a:lstStyle/>
          <a:p>
            <a:fld id="{1168C7B2-57B4-41C3-8046-875D4CCC2A44}" type="slidenum">
              <a:rPr lang="en-US" smtClean="0"/>
              <a:pPr/>
              <a:t>6</a:t>
            </a:fld>
            <a:endParaRPr lang="en-US"/>
          </a:p>
        </p:txBody>
      </p:sp>
    </p:spTree>
    <p:extLst>
      <p:ext uri="{BB962C8B-B14F-4D97-AF65-F5344CB8AC3E}">
        <p14:creationId xmlns:p14="http://schemas.microsoft.com/office/powerpoint/2010/main" val="3774784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his is a drawn image of the urinary tract. It shows both kindeys and ureters, the bladder, the sphincter and the urethra. ">
            <a:hlinkClick r:id="rId2"/>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32919" y="1981199"/>
            <a:ext cx="6288951" cy="381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1168C7B2-57B4-41C3-8046-875D4CCC2A44}" type="slidenum">
              <a:rPr lang="en-US" smtClean="0"/>
              <a:pPr/>
              <a:t>7</a:t>
            </a:fld>
            <a:endParaRPr lang="en-US"/>
          </a:p>
        </p:txBody>
      </p:sp>
    </p:spTree>
    <p:extLst>
      <p:ext uri="{BB962C8B-B14F-4D97-AF65-F5344CB8AC3E}">
        <p14:creationId xmlns:p14="http://schemas.microsoft.com/office/powerpoint/2010/main" val="4139559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b="1" dirty="0" smtClean="0"/>
              <a:t>Mechanism</a:t>
            </a:r>
            <a:r>
              <a:rPr lang="en-US" dirty="0" smtClean="0"/>
              <a:t> </a:t>
            </a:r>
            <a:endParaRPr lang="en-US" dirty="0"/>
          </a:p>
        </p:txBody>
      </p:sp>
      <p:sp>
        <p:nvSpPr>
          <p:cNvPr id="3" name="Content Placeholder 2"/>
          <p:cNvSpPr>
            <a:spLocks noGrp="1"/>
          </p:cNvSpPr>
          <p:nvPr>
            <p:ph idx="1"/>
          </p:nvPr>
        </p:nvSpPr>
        <p:spPr/>
        <p:txBody>
          <a:bodyPr>
            <a:normAutofit fontScale="55000" lnSpcReduction="20000"/>
          </a:bodyPr>
          <a:lstStyle/>
          <a:p>
            <a:pPr>
              <a:lnSpc>
                <a:spcPct val="170000"/>
              </a:lnSpc>
            </a:pPr>
            <a:r>
              <a:rPr lang="en-US" dirty="0" smtClean="0"/>
              <a:t> </a:t>
            </a:r>
            <a:r>
              <a:rPr lang="en-US" dirty="0">
                <a:latin typeface="Times New Roman" pitchFamily="18" charset="0"/>
                <a:cs typeface="Times New Roman" pitchFamily="18" charset="0"/>
              </a:rPr>
              <a:t>The insertion of a </a:t>
            </a:r>
            <a:r>
              <a:rPr lang="en-US" dirty="0" smtClean="0">
                <a:latin typeface="Times New Roman" pitchFamily="18" charset="0"/>
                <a:cs typeface="Times New Roman" pitchFamily="18" charset="0"/>
              </a:rPr>
              <a:t>catheter could introduce </a:t>
            </a:r>
            <a:r>
              <a:rPr lang="en-US" dirty="0">
                <a:latin typeface="Times New Roman" pitchFamily="18" charset="0"/>
                <a:cs typeface="Times New Roman" pitchFamily="18" charset="0"/>
              </a:rPr>
              <a:t>microorganisms from the end of the perineum and </a:t>
            </a:r>
            <a:r>
              <a:rPr lang="en-US" dirty="0" smtClean="0">
                <a:latin typeface="Times New Roman" pitchFamily="18" charset="0"/>
                <a:cs typeface="Times New Roman" pitchFamily="18" charset="0"/>
              </a:rPr>
              <a:t>urethra</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a:t>
            </a:r>
            <a:r>
              <a:rPr lang="en-US" dirty="0" smtClean="0">
                <a:solidFill>
                  <a:schemeClr val="tx1"/>
                </a:solidFill>
                <a:latin typeface="Times New Roman" pitchFamily="18" charset="0"/>
                <a:cs typeface="Times New Roman" pitchFamily="18" charset="0"/>
              </a:rPr>
              <a:t>endogenous infection</a:t>
            </a:r>
            <a:r>
              <a:rPr lang="en-US" dirty="0" smtClean="0">
                <a:latin typeface="Times New Roman" pitchFamily="18" charset="0"/>
                <a:cs typeface="Times New Roman" pitchFamily="18" charset="0"/>
              </a:rPr>
              <a:t>) </a:t>
            </a:r>
          </a:p>
          <a:p>
            <a:pPr>
              <a:lnSpc>
                <a:spcPct val="170000"/>
              </a:lnSpc>
            </a:pPr>
            <a:r>
              <a:rPr lang="en-US" dirty="0" smtClean="0">
                <a:latin typeface="Times New Roman" pitchFamily="18" charset="0"/>
                <a:cs typeface="Times New Roman" pitchFamily="18" charset="0"/>
              </a:rPr>
              <a:t> Provides </a:t>
            </a:r>
            <a:r>
              <a:rPr lang="en-US" dirty="0">
                <a:latin typeface="Times New Roman" pitchFamily="18" charset="0"/>
                <a:cs typeface="Times New Roman" pitchFamily="18" charset="0"/>
              </a:rPr>
              <a:t>a pathway for organisms to reach the bladder, and is a foreign body on which </a:t>
            </a:r>
            <a:r>
              <a:rPr lang="en-US" dirty="0">
                <a:solidFill>
                  <a:schemeClr val="tx1"/>
                </a:solidFill>
                <a:latin typeface="Times New Roman" pitchFamily="18" charset="0"/>
                <a:cs typeface="Times New Roman" pitchFamily="18" charset="0"/>
              </a:rPr>
              <a:t>biofilm c</a:t>
            </a:r>
            <a:r>
              <a:rPr lang="en-US" dirty="0">
                <a:latin typeface="Times New Roman" pitchFamily="18" charset="0"/>
                <a:cs typeface="Times New Roman" pitchFamily="18" charset="0"/>
              </a:rPr>
              <a:t>an form</a:t>
            </a:r>
            <a:r>
              <a:rPr lang="en-US" dirty="0" smtClean="0">
                <a:latin typeface="Times New Roman" pitchFamily="18" charset="0"/>
                <a:cs typeface="Times New Roman" pitchFamily="18" charset="0"/>
              </a:rPr>
              <a:t>.</a:t>
            </a:r>
          </a:p>
          <a:p>
            <a:pPr>
              <a:lnSpc>
                <a:spcPct val="170000"/>
              </a:lnSpc>
            </a:pPr>
            <a:r>
              <a:rPr lang="en-US" dirty="0">
                <a:solidFill>
                  <a:schemeClr val="tx1"/>
                </a:solidFill>
                <a:latin typeface="Times New Roman" pitchFamily="18" charset="0"/>
                <a:cs typeface="Times New Roman" pitchFamily="18" charset="0"/>
              </a:rPr>
              <a:t>The hands of health care </a:t>
            </a:r>
            <a:r>
              <a:rPr lang="en-US" dirty="0" smtClean="0">
                <a:solidFill>
                  <a:schemeClr val="tx1"/>
                </a:solidFill>
                <a:latin typeface="Times New Roman" pitchFamily="18" charset="0"/>
                <a:cs typeface="Times New Roman" pitchFamily="18" charset="0"/>
              </a:rPr>
              <a:t>workers </a:t>
            </a:r>
            <a:r>
              <a:rPr lang="en-US" dirty="0">
                <a:latin typeface="Times New Roman" pitchFamily="18" charset="0"/>
                <a:cs typeface="Times New Roman" pitchFamily="18" charset="0"/>
              </a:rPr>
              <a:t>during catheter insertion or manipulation of the collection </a:t>
            </a:r>
            <a:r>
              <a:rPr lang="en-US" dirty="0" smtClean="0">
                <a:latin typeface="Times New Roman" pitchFamily="18" charset="0"/>
                <a:cs typeface="Times New Roman" pitchFamily="18" charset="0"/>
              </a:rPr>
              <a:t>system can also introduce microorganisms to the sterile parts of the urinary system (</a:t>
            </a:r>
            <a:r>
              <a:rPr lang="en-US" dirty="0" smtClean="0">
                <a:solidFill>
                  <a:schemeClr val="tx1"/>
                </a:solidFill>
                <a:latin typeface="Times New Roman" pitchFamily="18" charset="0"/>
                <a:cs typeface="Times New Roman" pitchFamily="18" charset="0"/>
              </a:rPr>
              <a:t>exogenous</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168C7B2-57B4-41C3-8046-875D4CCC2A44}" type="slidenum">
              <a:rPr lang="en-US" smtClean="0"/>
              <a:pPr/>
              <a:t>8</a:t>
            </a:fld>
            <a:endParaRPr lang="en-US"/>
          </a:p>
        </p:txBody>
      </p:sp>
    </p:spTree>
    <p:extLst>
      <p:ext uri="{BB962C8B-B14F-4D97-AF65-F5344CB8AC3E}">
        <p14:creationId xmlns:p14="http://schemas.microsoft.com/office/powerpoint/2010/main" val="277554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smtClean="0">
                <a:latin typeface="Times New Roman" pitchFamily="18" charset="0"/>
                <a:cs typeface="Times New Roman" pitchFamily="18" charset="0"/>
              </a:rPr>
              <a:t>Common pathogens </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823119" y="2286000"/>
            <a:ext cx="10739336" cy="4127950"/>
          </a:xfrm>
        </p:spPr>
        <p:txBody>
          <a:bodyPr>
            <a:normAutofit fontScale="55000" lnSpcReduction="20000"/>
          </a:bodyPr>
          <a:lstStyle/>
          <a:p>
            <a:pPr>
              <a:lnSpc>
                <a:spcPct val="170000"/>
              </a:lnSpc>
            </a:pPr>
            <a:r>
              <a:rPr lang="en-US" i="1" dirty="0">
                <a:latin typeface="Times New Roman" pitchFamily="18" charset="0"/>
                <a:cs typeface="Times New Roman" pitchFamily="18" charset="0"/>
              </a:rPr>
              <a:t>Escherichia coli</a:t>
            </a:r>
            <a:r>
              <a:rPr lang="en-US" dirty="0">
                <a:latin typeface="Times New Roman" pitchFamily="18" charset="0"/>
                <a:cs typeface="Times New Roman" pitchFamily="18" charset="0"/>
              </a:rPr>
              <a:t>, </a:t>
            </a:r>
            <a:r>
              <a:rPr lang="en-US" i="1" dirty="0">
                <a:latin typeface="Times New Roman" pitchFamily="18" charset="0"/>
                <a:cs typeface="Times New Roman" pitchFamily="18" charset="0"/>
              </a:rPr>
              <a:t>Pseudomonas</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spp., </a:t>
            </a:r>
            <a:r>
              <a:rPr lang="en-US" i="1" dirty="0" err="1">
                <a:latin typeface="Times New Roman" pitchFamily="18" charset="0"/>
                <a:cs typeface="Times New Roman" pitchFamily="18" charset="0"/>
              </a:rPr>
              <a:t>Klebsiella</a:t>
            </a:r>
            <a:r>
              <a:rPr lang="en-US" i="1" dirty="0">
                <a:latin typeface="Times New Roman" pitchFamily="18" charset="0"/>
                <a:cs typeface="Times New Roman" pitchFamily="18" charset="0"/>
              </a:rPr>
              <a:t> pneumoniae</a:t>
            </a:r>
            <a:r>
              <a:rPr lang="en-US" dirty="0">
                <a:latin typeface="Times New Roman" pitchFamily="18" charset="0"/>
                <a:cs typeface="Times New Roman" pitchFamily="18" charset="0"/>
              </a:rPr>
              <a:t> and organisms from the </a:t>
            </a:r>
            <a:r>
              <a:rPr lang="en-US" i="1" dirty="0">
                <a:latin typeface="Times New Roman" pitchFamily="18" charset="0"/>
                <a:cs typeface="Times New Roman" pitchFamily="18" charset="0"/>
              </a:rPr>
              <a:t>Enterobacter</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group. </a:t>
            </a:r>
          </a:p>
          <a:p>
            <a:pPr>
              <a:lnSpc>
                <a:spcPct val="170000"/>
              </a:lnSpc>
            </a:pPr>
            <a:r>
              <a:rPr lang="en-US" dirty="0">
                <a:latin typeface="Times New Roman" pitchFamily="18" charset="0"/>
                <a:cs typeface="Times New Roman" pitchFamily="18" charset="0"/>
              </a:rPr>
              <a:t>Infections with fungi, such as the </a:t>
            </a:r>
            <a:r>
              <a:rPr lang="en-US" i="1" dirty="0">
                <a:latin typeface="Times New Roman" pitchFamily="18" charset="0"/>
                <a:cs typeface="Times New Roman" pitchFamily="18" charset="0"/>
              </a:rPr>
              <a:t>Candida</a:t>
            </a:r>
            <a:r>
              <a:rPr lang="en-US" dirty="0">
                <a:latin typeface="Times New Roman" pitchFamily="18" charset="0"/>
                <a:cs typeface="Times New Roman" pitchFamily="18" charset="0"/>
              </a:rPr>
              <a:t> species, have increased with the advent of </a:t>
            </a:r>
            <a:r>
              <a:rPr lang="en-US" dirty="0" smtClean="0">
                <a:latin typeface="Times New Roman" pitchFamily="18" charset="0"/>
                <a:cs typeface="Times New Roman" pitchFamily="18" charset="0"/>
              </a:rPr>
              <a:t>HIV/AIDS. </a:t>
            </a:r>
          </a:p>
          <a:p>
            <a:pPr>
              <a:lnSpc>
                <a:spcPct val="170000"/>
              </a:lnSpc>
            </a:pPr>
            <a:r>
              <a:rPr lang="en-US" dirty="0">
                <a:latin typeface="Times New Roman" pitchFamily="18" charset="0"/>
                <a:cs typeface="Times New Roman" pitchFamily="18" charset="0"/>
              </a:rPr>
              <a:t>A small proportion of CAUTI are caused by </a:t>
            </a:r>
            <a:r>
              <a:rPr lang="en-US" i="1" dirty="0">
                <a:latin typeface="Times New Roman" pitchFamily="18" charset="0"/>
                <a:cs typeface="Times New Roman" pitchFamily="18" charset="0"/>
              </a:rPr>
              <a:t>Staphylococcus </a:t>
            </a:r>
            <a:r>
              <a:rPr lang="en-US" dirty="0">
                <a:latin typeface="Times New Roman" pitchFamily="18" charset="0"/>
                <a:cs typeface="Times New Roman" pitchFamily="18" charset="0"/>
              </a:rPr>
              <a:t>spp</a:t>
            </a:r>
            <a:r>
              <a:rPr lang="en-US" dirty="0" smtClean="0">
                <a:latin typeface="Times New Roman" pitchFamily="18" charset="0"/>
                <a:cs typeface="Times New Roman" pitchFamily="18" charset="0"/>
              </a:rPr>
              <a:t>.</a:t>
            </a:r>
          </a:p>
          <a:p>
            <a:pPr marL="0" indent="0">
              <a:lnSpc>
                <a:spcPct val="170000"/>
              </a:lnSpc>
              <a:buNone/>
            </a:pPr>
            <a:r>
              <a:rPr lang="en-US" b="1" dirty="0" smtClean="0">
                <a:latin typeface="Times New Roman" pitchFamily="18" charset="0"/>
                <a:cs typeface="Times New Roman" pitchFamily="18" charset="0"/>
              </a:rPr>
              <a:t>Biofilm</a:t>
            </a:r>
            <a:endParaRPr lang="en-US" dirty="0">
              <a:latin typeface="Times New Roman" pitchFamily="18" charset="0"/>
              <a:cs typeface="Times New Roman" pitchFamily="18" charset="0"/>
            </a:endParaRPr>
          </a:p>
          <a:p>
            <a:pPr>
              <a:lnSpc>
                <a:spcPct val="170000"/>
              </a:lnSpc>
            </a:pPr>
            <a:r>
              <a:rPr lang="en-US" dirty="0">
                <a:latin typeface="Times New Roman" pitchFamily="18" charset="0"/>
                <a:cs typeface="Times New Roman" pitchFamily="18" charset="0"/>
              </a:rPr>
              <a:t>Microorganisms form </a:t>
            </a:r>
            <a:r>
              <a:rPr lang="en-US" dirty="0" smtClean="0">
                <a:latin typeface="Times New Roman" pitchFamily="18" charset="0"/>
                <a:cs typeface="Times New Roman" pitchFamily="18" charset="0"/>
              </a:rPr>
              <a:t>biofilms </a:t>
            </a:r>
            <a:r>
              <a:rPr lang="en-US" dirty="0">
                <a:latin typeface="Times New Roman" pitchFamily="18" charset="0"/>
                <a:cs typeface="Times New Roman" pitchFamily="18" charset="0"/>
              </a:rPr>
              <a:t>on most devices that are inserted or introduced into the body, including urinary </a:t>
            </a:r>
            <a:r>
              <a:rPr lang="en-US" dirty="0" smtClean="0">
                <a:latin typeface="Times New Roman" pitchFamily="18" charset="0"/>
                <a:cs typeface="Times New Roman" pitchFamily="18" charset="0"/>
              </a:rPr>
              <a:t>catheters. </a:t>
            </a:r>
          </a:p>
          <a:p>
            <a:pPr>
              <a:lnSpc>
                <a:spcPct val="170000"/>
              </a:lnSpc>
            </a:pPr>
            <a:r>
              <a:rPr lang="en-US" dirty="0" smtClean="0">
                <a:latin typeface="Times New Roman" pitchFamily="18" charset="0"/>
                <a:cs typeface="Times New Roman" pitchFamily="18" charset="0"/>
              </a:rPr>
              <a:t>Biofilms </a:t>
            </a:r>
            <a:r>
              <a:rPr lang="en-US" dirty="0">
                <a:latin typeface="Times New Roman" pitchFamily="18" charset="0"/>
                <a:cs typeface="Times New Roman" pitchFamily="18" charset="0"/>
              </a:rPr>
              <a:t>may play an important role in the development of CAUTIs because bacteria within biofilms are protected from being penetrated and killed by antimicrobial agents and host defenses. </a:t>
            </a:r>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9</a:t>
            </a:fld>
            <a:endParaRPr lang="en-US"/>
          </a:p>
        </p:txBody>
      </p:sp>
    </p:spTree>
    <p:extLst>
      <p:ext uri="{BB962C8B-B14F-4D97-AF65-F5344CB8AC3E}">
        <p14:creationId xmlns:p14="http://schemas.microsoft.com/office/powerpoint/2010/main" val="2563478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b="1" dirty="0" smtClean="0">
                <a:latin typeface="Times New Roman" pitchFamily="18" charset="0"/>
                <a:cs typeface="Times New Roman" pitchFamily="18" charset="0"/>
              </a:rPr>
              <a:t>Risk Factors of CAUTI</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32500" lnSpcReduction="20000"/>
          </a:bodyPr>
          <a:lstStyle/>
          <a:p>
            <a:pPr marL="0" indent="0">
              <a:lnSpc>
                <a:spcPct val="170000"/>
              </a:lnSpc>
              <a:buNone/>
            </a:pPr>
            <a:r>
              <a:rPr lang="en-US" sz="7400" b="1" dirty="0" smtClean="0">
                <a:latin typeface="Times New Roman" pitchFamily="18" charset="0"/>
                <a:cs typeface="Times New Roman" pitchFamily="18" charset="0"/>
              </a:rPr>
              <a:t>Catheter-related </a:t>
            </a:r>
            <a:r>
              <a:rPr lang="en-US" sz="7400" b="1" dirty="0">
                <a:latin typeface="Times New Roman" pitchFamily="18" charset="0"/>
                <a:cs typeface="Times New Roman" pitchFamily="18" charset="0"/>
              </a:rPr>
              <a:t>factors</a:t>
            </a:r>
            <a:r>
              <a:rPr lang="en-US" sz="7400" dirty="0">
                <a:latin typeface="Times New Roman" pitchFamily="18" charset="0"/>
                <a:cs typeface="Times New Roman" pitchFamily="18" charset="0"/>
              </a:rPr>
              <a:t> </a:t>
            </a:r>
            <a:endParaRPr lang="en-US" sz="7400" dirty="0" smtClean="0">
              <a:latin typeface="Times New Roman" pitchFamily="18" charset="0"/>
              <a:cs typeface="Times New Roman" pitchFamily="18" charset="0"/>
            </a:endParaRPr>
          </a:p>
          <a:p>
            <a:pPr lvl="1">
              <a:lnSpc>
                <a:spcPct val="170000"/>
              </a:lnSpc>
            </a:pPr>
            <a:r>
              <a:rPr lang="en-US" sz="6200" dirty="0" smtClean="0">
                <a:solidFill>
                  <a:schemeClr val="tx1"/>
                </a:solidFill>
                <a:latin typeface="Times New Roman" pitchFamily="18" charset="0"/>
                <a:cs typeface="Times New Roman" pitchFamily="18" charset="0"/>
              </a:rPr>
              <a:t>Duration </a:t>
            </a:r>
            <a:r>
              <a:rPr lang="en-US" sz="6200" dirty="0">
                <a:solidFill>
                  <a:schemeClr val="tx1"/>
                </a:solidFill>
                <a:latin typeface="Times New Roman" pitchFamily="18" charset="0"/>
                <a:cs typeface="Times New Roman" pitchFamily="18" charset="0"/>
              </a:rPr>
              <a:t>of </a:t>
            </a:r>
            <a:r>
              <a:rPr lang="en-US" sz="6200" dirty="0" smtClean="0">
                <a:solidFill>
                  <a:schemeClr val="tx1"/>
                </a:solidFill>
                <a:latin typeface="Times New Roman" pitchFamily="18" charset="0"/>
                <a:cs typeface="Times New Roman" pitchFamily="18" charset="0"/>
              </a:rPr>
              <a:t>catheterization</a:t>
            </a:r>
          </a:p>
          <a:p>
            <a:pPr lvl="1">
              <a:lnSpc>
                <a:spcPct val="170000"/>
              </a:lnSpc>
            </a:pPr>
            <a:r>
              <a:rPr lang="en-US" sz="6200" dirty="0" smtClean="0">
                <a:latin typeface="Times New Roman" pitchFamily="18" charset="0"/>
                <a:cs typeface="Times New Roman" pitchFamily="18" charset="0"/>
              </a:rPr>
              <a:t>poor </a:t>
            </a:r>
            <a:r>
              <a:rPr lang="en-US" sz="6200" dirty="0">
                <a:latin typeface="Times New Roman" pitchFamily="18" charset="0"/>
                <a:cs typeface="Times New Roman" pitchFamily="18" charset="0"/>
              </a:rPr>
              <a:t>insertion </a:t>
            </a:r>
            <a:r>
              <a:rPr lang="en-US" sz="6200" dirty="0" smtClean="0">
                <a:latin typeface="Times New Roman" pitchFamily="18" charset="0"/>
                <a:cs typeface="Times New Roman" pitchFamily="18" charset="0"/>
              </a:rPr>
              <a:t>technique</a:t>
            </a:r>
          </a:p>
          <a:p>
            <a:pPr lvl="1">
              <a:lnSpc>
                <a:spcPct val="170000"/>
              </a:lnSpc>
            </a:pPr>
            <a:r>
              <a:rPr lang="en-US" sz="6200" dirty="0" smtClean="0">
                <a:latin typeface="Times New Roman" pitchFamily="18" charset="0"/>
                <a:cs typeface="Times New Roman" pitchFamily="18" charset="0"/>
              </a:rPr>
              <a:t>poor </a:t>
            </a:r>
            <a:r>
              <a:rPr lang="en-US" sz="6200" dirty="0">
                <a:latin typeface="Times New Roman" pitchFamily="18" charset="0"/>
                <a:cs typeface="Times New Roman" pitchFamily="18" charset="0"/>
              </a:rPr>
              <a:t>catheter care and </a:t>
            </a:r>
            <a:endParaRPr lang="en-US" sz="6200" dirty="0" smtClean="0">
              <a:latin typeface="Times New Roman" pitchFamily="18" charset="0"/>
              <a:cs typeface="Times New Roman" pitchFamily="18" charset="0"/>
            </a:endParaRPr>
          </a:p>
          <a:p>
            <a:pPr lvl="1">
              <a:lnSpc>
                <a:spcPct val="170000"/>
              </a:lnSpc>
            </a:pPr>
            <a:r>
              <a:rPr lang="en-US" sz="6200" dirty="0" smtClean="0">
                <a:latin typeface="Times New Roman" pitchFamily="18" charset="0"/>
                <a:cs typeface="Times New Roman" pitchFamily="18" charset="0"/>
              </a:rPr>
              <a:t>failure </a:t>
            </a:r>
            <a:r>
              <a:rPr lang="en-US" sz="6200" dirty="0">
                <a:latin typeface="Times New Roman" pitchFamily="18" charset="0"/>
                <a:cs typeface="Times New Roman" pitchFamily="18" charset="0"/>
              </a:rPr>
              <a:t>to maintain a closed drainage </a:t>
            </a:r>
            <a:r>
              <a:rPr lang="en-US" sz="6200" dirty="0" smtClean="0">
                <a:latin typeface="Times New Roman" pitchFamily="18" charset="0"/>
                <a:cs typeface="Times New Roman" pitchFamily="18" charset="0"/>
              </a:rPr>
              <a:t>system</a:t>
            </a:r>
            <a:r>
              <a:rPr lang="en-US" sz="7400" dirty="0" smtClean="0">
                <a:latin typeface="Times New Roman" pitchFamily="18" charset="0"/>
                <a:cs typeface="Times New Roman" pitchFamily="18" charset="0"/>
              </a:rPr>
              <a:t>. </a:t>
            </a:r>
          </a:p>
          <a:p>
            <a:pPr lvl="1">
              <a:lnSpc>
                <a:spcPct val="170000"/>
              </a:lnSpc>
              <a:buNone/>
            </a:pPr>
            <a:endParaRPr lang="en-US" sz="4800" dirty="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10</a:t>
            </a:fld>
            <a:endParaRPr lang="en-US"/>
          </a:p>
        </p:txBody>
      </p:sp>
    </p:spTree>
    <p:extLst>
      <p:ext uri="{BB962C8B-B14F-4D97-AF65-F5344CB8AC3E}">
        <p14:creationId xmlns:p14="http://schemas.microsoft.com/office/powerpoint/2010/main" val="1127502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latin typeface="Times New Roman" pitchFamily="18" charset="0"/>
                <a:cs typeface="Times New Roman" pitchFamily="18" charset="0"/>
              </a:rPr>
              <a:t>Cont..</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marL="0" indent="0">
              <a:lnSpc>
                <a:spcPct val="170000"/>
              </a:lnSpc>
              <a:buNone/>
            </a:pPr>
            <a:r>
              <a:rPr lang="en-US" sz="6400" dirty="0" smtClean="0">
                <a:latin typeface="Times New Roman" pitchFamily="18" charset="0"/>
                <a:cs typeface="Times New Roman" pitchFamily="18" charset="0"/>
              </a:rPr>
              <a:t> </a:t>
            </a:r>
            <a:r>
              <a:rPr lang="en-US" sz="5800" b="1" dirty="0" smtClean="0">
                <a:latin typeface="Times New Roman" pitchFamily="18" charset="0"/>
                <a:cs typeface="Times New Roman" pitchFamily="18" charset="0"/>
              </a:rPr>
              <a:t>Patient-related factors:</a:t>
            </a:r>
            <a:endParaRPr lang="en-US" sz="5800" dirty="0" smtClean="0">
              <a:latin typeface="Times New Roman" pitchFamily="18" charset="0"/>
              <a:cs typeface="Times New Roman" pitchFamily="18" charset="0"/>
            </a:endParaRPr>
          </a:p>
          <a:p>
            <a:pPr lvl="1">
              <a:lnSpc>
                <a:spcPct val="170000"/>
              </a:lnSpc>
            </a:pPr>
            <a:r>
              <a:rPr lang="en-US" sz="4400" dirty="0" smtClean="0">
                <a:solidFill>
                  <a:srgbClr val="FF0000"/>
                </a:solidFill>
                <a:latin typeface="Times New Roman" pitchFamily="18" charset="0"/>
                <a:cs typeface="Times New Roman" pitchFamily="18" charset="0"/>
              </a:rPr>
              <a:t>Compromised</a:t>
            </a:r>
            <a:r>
              <a:rPr lang="en-US" sz="4400" dirty="0" smtClean="0">
                <a:latin typeface="Times New Roman" pitchFamily="18" charset="0"/>
                <a:cs typeface="Times New Roman" pitchFamily="18" charset="0"/>
              </a:rPr>
              <a:t> immune system</a:t>
            </a:r>
          </a:p>
          <a:p>
            <a:pPr lvl="1">
              <a:lnSpc>
                <a:spcPct val="170000"/>
              </a:lnSpc>
            </a:pPr>
            <a:r>
              <a:rPr lang="en-US" sz="4400" dirty="0" smtClean="0">
                <a:latin typeface="Times New Roman" pitchFamily="18" charset="0"/>
                <a:cs typeface="Times New Roman" pitchFamily="18" charset="0"/>
              </a:rPr>
              <a:t>Diabetes mellitus</a:t>
            </a:r>
          </a:p>
          <a:p>
            <a:pPr lvl="1">
              <a:lnSpc>
                <a:spcPct val="170000"/>
              </a:lnSpc>
            </a:pPr>
            <a:r>
              <a:rPr lang="en-US" sz="4400" dirty="0" smtClean="0">
                <a:latin typeface="Times New Roman" pitchFamily="18" charset="0"/>
                <a:cs typeface="Times New Roman" pitchFamily="18" charset="0"/>
              </a:rPr>
              <a:t>Renal dysfunction</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nSpc>
                <a:spcPct val="150000"/>
              </a:lnSpc>
            </a:pPr>
            <a:r>
              <a:rPr lang="en-US" sz="2800" b="1" dirty="0" smtClean="0">
                <a:latin typeface="Times New Roman" pitchFamily="18" charset="0"/>
                <a:cs typeface="Times New Roman" pitchFamily="18" charset="0"/>
              </a:rPr>
              <a:t/>
            </a:r>
            <a:br>
              <a:rPr lang="en-US" sz="2800" b="1" dirty="0" smtClean="0">
                <a:latin typeface="Times New Roman" pitchFamily="18" charset="0"/>
                <a:cs typeface="Times New Roman" pitchFamily="18" charset="0"/>
              </a:rPr>
            </a:br>
            <a:r>
              <a:rPr lang="en-US" sz="2400" b="1" dirty="0" smtClean="0">
                <a:latin typeface="Times New Roman" pitchFamily="18" charset="0"/>
                <a:cs typeface="Times New Roman" pitchFamily="18" charset="0"/>
              </a:rPr>
              <a:t>Catheter-Associated Urinary Tract Infection Prevention Strategies</a:t>
            </a:r>
            <a:r>
              <a:rPr lang="en-US" sz="3600" dirty="0" smtClean="0">
                <a:latin typeface="Times New Roman" pitchFamily="18" charset="0"/>
                <a:cs typeface="Times New Roman" pitchFamily="18" charset="0"/>
              </a:rPr>
              <a:t/>
            </a:r>
            <a:br>
              <a:rPr lang="en-US" sz="3600" dirty="0" smtClean="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286000"/>
            <a:ext cx="9042555" cy="3649133"/>
          </a:xfrm>
        </p:spPr>
        <p:txBody>
          <a:bodyPr>
            <a:normAutofit fontScale="25000" lnSpcReduction="20000"/>
          </a:bodyPr>
          <a:lstStyle/>
          <a:p>
            <a:pPr lvl="0">
              <a:lnSpc>
                <a:spcPct val="170000"/>
              </a:lnSpc>
            </a:pPr>
            <a:r>
              <a:rPr lang="en-US" sz="7200" dirty="0" smtClean="0">
                <a:latin typeface="Times New Roman" pitchFamily="18" charset="0"/>
                <a:cs typeface="Times New Roman" pitchFamily="18" charset="0"/>
              </a:rPr>
              <a:t>Use </a:t>
            </a:r>
            <a:r>
              <a:rPr lang="en-US" sz="7200" dirty="0">
                <a:latin typeface="Times New Roman" pitchFamily="18" charset="0"/>
                <a:cs typeface="Times New Roman" pitchFamily="18" charset="0"/>
              </a:rPr>
              <a:t>urinary catheters appropriately: Insert a catheter only when indicated and remove it when no longer needed. </a:t>
            </a:r>
            <a:endParaRPr lang="en-US" sz="7200" dirty="0" smtClean="0">
              <a:latin typeface="Times New Roman" pitchFamily="18" charset="0"/>
              <a:cs typeface="Times New Roman" pitchFamily="18" charset="0"/>
            </a:endParaRPr>
          </a:p>
          <a:p>
            <a:pPr lvl="0">
              <a:lnSpc>
                <a:spcPct val="170000"/>
              </a:lnSpc>
            </a:pPr>
            <a:r>
              <a:rPr lang="en-US" sz="7200" dirty="0" smtClean="0">
                <a:latin typeface="Times New Roman" pitchFamily="18" charset="0"/>
                <a:cs typeface="Times New Roman" pitchFamily="18" charset="0"/>
              </a:rPr>
              <a:t>Keep </a:t>
            </a:r>
            <a:r>
              <a:rPr lang="en-US" sz="7200" dirty="0">
                <a:latin typeface="Times New Roman" pitchFamily="18" charset="0"/>
                <a:cs typeface="Times New Roman" pitchFamily="18" charset="0"/>
              </a:rPr>
              <a:t>the catheter secured to </a:t>
            </a:r>
            <a:r>
              <a:rPr lang="en-US" sz="7200" dirty="0">
                <a:solidFill>
                  <a:schemeClr val="tx1"/>
                </a:solidFill>
                <a:latin typeface="Times New Roman" pitchFamily="18" charset="0"/>
                <a:cs typeface="Times New Roman" pitchFamily="18" charset="0"/>
              </a:rPr>
              <a:t>minimize bladder trauma. </a:t>
            </a:r>
            <a:endParaRPr lang="en-US" sz="7200" dirty="0" smtClean="0">
              <a:solidFill>
                <a:schemeClr val="tx1"/>
              </a:solidFill>
              <a:effectLst/>
              <a:latin typeface="Times New Roman" pitchFamily="18" charset="0"/>
              <a:cs typeface="Times New Roman" pitchFamily="18" charset="0"/>
            </a:endParaRPr>
          </a:p>
          <a:p>
            <a:pPr lvl="0">
              <a:lnSpc>
                <a:spcPct val="170000"/>
              </a:lnSpc>
            </a:pPr>
            <a:r>
              <a:rPr lang="en-US" sz="7200" dirty="0">
                <a:latin typeface="Times New Roman" pitchFamily="18" charset="0"/>
                <a:cs typeface="Times New Roman" pitchFamily="18" charset="0"/>
              </a:rPr>
              <a:t>Ensure recommended catheter maintenance practices.</a:t>
            </a:r>
            <a:endParaRPr lang="en-US" sz="7200" dirty="0" smtClean="0">
              <a:effectLst/>
              <a:latin typeface="Times New Roman" pitchFamily="18" charset="0"/>
              <a:cs typeface="Times New Roman" pitchFamily="18" charset="0"/>
            </a:endParaRPr>
          </a:p>
          <a:p>
            <a:pPr lvl="0">
              <a:lnSpc>
                <a:spcPct val="170000"/>
              </a:lnSpc>
            </a:pPr>
            <a:r>
              <a:rPr lang="en-US" sz="7200" dirty="0">
                <a:latin typeface="Times New Roman" pitchFamily="18" charset="0"/>
                <a:cs typeface="Times New Roman" pitchFamily="18" charset="0"/>
              </a:rPr>
              <a:t>Maintain a closed drainage system using aseptic technique.</a:t>
            </a:r>
            <a:endParaRPr lang="en-US" sz="7200" dirty="0" smtClean="0">
              <a:effectLst/>
              <a:latin typeface="Times New Roman" pitchFamily="18" charset="0"/>
              <a:cs typeface="Times New Roman" pitchFamily="18" charset="0"/>
            </a:endParaRPr>
          </a:p>
          <a:p>
            <a:pPr lvl="0">
              <a:lnSpc>
                <a:spcPct val="170000"/>
              </a:lnSpc>
            </a:pPr>
            <a:r>
              <a:rPr lang="en-US" sz="7200" dirty="0">
                <a:latin typeface="Times New Roman" pitchFamily="18" charset="0"/>
                <a:cs typeface="Times New Roman" pitchFamily="18" charset="0"/>
              </a:rPr>
              <a:t>Educate patients and families about preventing CAUTI.</a:t>
            </a:r>
            <a:endParaRPr lang="en-US" sz="7200" dirty="0" smtClean="0">
              <a:effectLst/>
              <a:latin typeface="Times New Roman" pitchFamily="18" charset="0"/>
              <a:cs typeface="Times New Roman" pitchFamily="18" charset="0"/>
            </a:endParaRPr>
          </a:p>
          <a:p>
            <a:pPr lvl="0">
              <a:lnSpc>
                <a:spcPct val="170000"/>
              </a:lnSpc>
            </a:pPr>
            <a:r>
              <a:rPr lang="en-US" sz="7200" dirty="0">
                <a:latin typeface="Times New Roman" pitchFamily="18" charset="0"/>
                <a:cs typeface="Times New Roman" pitchFamily="18" charset="0"/>
              </a:rPr>
              <a:t>Remove the catheter as soon as possible</a:t>
            </a:r>
            <a:r>
              <a:rPr lang="en-US" sz="7200" dirty="0"/>
              <a:t>. </a:t>
            </a:r>
            <a:endParaRPr lang="en-US" sz="7200" dirty="0" smtClean="0">
              <a:effectLst/>
            </a:endParaRPr>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12</a:t>
            </a:fld>
            <a:endParaRPr lang="en-US"/>
          </a:p>
        </p:txBody>
      </p:sp>
    </p:spTree>
    <p:extLst>
      <p:ext uri="{BB962C8B-B14F-4D97-AF65-F5344CB8AC3E}">
        <p14:creationId xmlns:p14="http://schemas.microsoft.com/office/powerpoint/2010/main" val="304378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smtClean="0">
                <a:latin typeface="Times New Roman" pitchFamily="18" charset="0"/>
                <a:cs typeface="Times New Roman" pitchFamily="18" charset="0"/>
              </a:rPr>
              <a:t/>
            </a:r>
            <a:br>
              <a:rPr lang="en-US" sz="4000" dirty="0" smtClean="0">
                <a:latin typeface="Times New Roman" pitchFamily="18" charset="0"/>
                <a:cs typeface="Times New Roman" pitchFamily="18" charset="0"/>
              </a:rPr>
            </a:br>
            <a:r>
              <a:rPr lang="en-US" sz="3200" b="1" dirty="0" smtClean="0">
                <a:latin typeface="Times New Roman" pitchFamily="18" charset="0"/>
                <a:cs typeface="Times New Roman" pitchFamily="18" charset="0"/>
              </a:rPr>
              <a:t>Acceptable </a:t>
            </a:r>
            <a:r>
              <a:rPr lang="en-US" sz="3200" b="1" dirty="0">
                <a:latin typeface="Times New Roman" pitchFamily="18" charset="0"/>
                <a:cs typeface="Times New Roman" pitchFamily="18" charset="0"/>
              </a:rPr>
              <a:t>indications for catheterization</a:t>
            </a:r>
            <a:r>
              <a:rPr lang="en-US" sz="4400" dirty="0">
                <a:latin typeface="Times New Roman" pitchFamily="18" charset="0"/>
                <a:cs typeface="Times New Roman" pitchFamily="18" charset="0"/>
              </a:rPr>
              <a:t/>
            </a:r>
            <a:br>
              <a:rPr lang="en-US" sz="4400"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a:lnSpc>
                <a:spcPct val="170000"/>
              </a:lnSpc>
            </a:pPr>
            <a:r>
              <a:rPr lang="en-US" dirty="0">
                <a:latin typeface="Times New Roman" pitchFamily="18" charset="0"/>
                <a:cs typeface="Times New Roman" pitchFamily="18" charset="0"/>
              </a:rPr>
              <a:t>For </a:t>
            </a:r>
            <a:r>
              <a:rPr lang="en-US" dirty="0">
                <a:solidFill>
                  <a:schemeClr val="tx1"/>
                </a:solidFill>
                <a:latin typeface="Times New Roman" pitchFamily="18" charset="0"/>
                <a:cs typeface="Times New Roman" pitchFamily="18" charset="0"/>
              </a:rPr>
              <a:t>hemodynamically unstable patients that </a:t>
            </a:r>
            <a:r>
              <a:rPr lang="en-US" dirty="0">
                <a:latin typeface="Times New Roman" pitchFamily="18" charset="0"/>
                <a:cs typeface="Times New Roman" pitchFamily="18" charset="0"/>
              </a:rPr>
              <a:t>require accurate urinary output every 1–2 </a:t>
            </a:r>
            <a:r>
              <a:rPr lang="en-US" dirty="0" smtClean="0">
                <a:latin typeface="Times New Roman" pitchFamily="18" charset="0"/>
                <a:cs typeface="Times New Roman" pitchFamily="18" charset="0"/>
              </a:rPr>
              <a:t>hours. </a:t>
            </a:r>
            <a:endParaRPr lang="en-US" dirty="0">
              <a:latin typeface="Times New Roman" pitchFamily="18" charset="0"/>
              <a:cs typeface="Times New Roman" pitchFamily="18" charset="0"/>
            </a:endParaRPr>
          </a:p>
          <a:p>
            <a:pPr>
              <a:lnSpc>
                <a:spcPct val="170000"/>
              </a:lnSpc>
            </a:pPr>
            <a:r>
              <a:rPr lang="en-US" dirty="0" smtClean="0">
                <a:latin typeface="Times New Roman" pitchFamily="18" charset="0"/>
                <a:cs typeface="Times New Roman" pitchFamily="18" charset="0"/>
              </a:rPr>
              <a:t>Acute </a:t>
            </a:r>
            <a:r>
              <a:rPr lang="en-US" dirty="0">
                <a:latin typeface="Times New Roman" pitchFamily="18" charset="0"/>
                <a:cs typeface="Times New Roman" pitchFamily="18" charset="0"/>
              </a:rPr>
              <a:t>urinary retention and </a:t>
            </a:r>
            <a:r>
              <a:rPr lang="en-US" dirty="0" smtClean="0">
                <a:latin typeface="Times New Roman" pitchFamily="18" charset="0"/>
                <a:cs typeface="Times New Roman" pitchFamily="18" charset="0"/>
              </a:rPr>
              <a:t>obstruction</a:t>
            </a:r>
          </a:p>
          <a:p>
            <a:pPr>
              <a:lnSpc>
                <a:spcPct val="170000"/>
              </a:lnSpc>
            </a:pPr>
            <a:r>
              <a:rPr lang="en-US" dirty="0">
                <a:latin typeface="Times New Roman" pitchFamily="18" charset="0"/>
                <a:cs typeface="Times New Roman" pitchFamily="18" charset="0"/>
              </a:rPr>
              <a:t>A</a:t>
            </a:r>
            <a:r>
              <a:rPr lang="en-US" dirty="0" smtClean="0">
                <a:latin typeface="Times New Roman" pitchFamily="18" charset="0"/>
                <a:cs typeface="Times New Roman" pitchFamily="18" charset="0"/>
              </a:rPr>
              <a:t>ssisting </a:t>
            </a:r>
            <a:r>
              <a:rPr lang="en-US" dirty="0">
                <a:latin typeface="Times New Roman" pitchFamily="18" charset="0"/>
                <a:cs typeface="Times New Roman" pitchFamily="18" charset="0"/>
              </a:rPr>
              <a:t>in healing open sacral or perineal wounds in </a:t>
            </a:r>
            <a:r>
              <a:rPr lang="en-US" dirty="0">
                <a:solidFill>
                  <a:schemeClr val="tx1"/>
                </a:solidFill>
                <a:latin typeface="Times New Roman" pitchFamily="18" charset="0"/>
                <a:cs typeface="Times New Roman" pitchFamily="18" charset="0"/>
              </a:rPr>
              <a:t>incontinent </a:t>
            </a:r>
            <a:r>
              <a:rPr lang="en-US" dirty="0" smtClean="0">
                <a:solidFill>
                  <a:schemeClr val="tx1"/>
                </a:solidFill>
                <a:latin typeface="Times New Roman" pitchFamily="18" charset="0"/>
                <a:cs typeface="Times New Roman" pitchFamily="18" charset="0"/>
              </a:rPr>
              <a:t>patients</a:t>
            </a:r>
          </a:p>
          <a:p>
            <a:pPr>
              <a:lnSpc>
                <a:spcPct val="170000"/>
              </a:lnSpc>
            </a:pPr>
            <a:r>
              <a:rPr lang="en-US" dirty="0">
                <a:solidFill>
                  <a:schemeClr val="tx1"/>
                </a:solidFill>
                <a:latin typeface="Times New Roman" pitchFamily="18" charset="0"/>
                <a:cs typeface="Times New Roman" pitchFamily="18" charset="0"/>
              </a:rPr>
              <a:t>P</a:t>
            </a:r>
            <a:r>
              <a:rPr lang="en-US" dirty="0" smtClean="0">
                <a:solidFill>
                  <a:schemeClr val="tx1"/>
                </a:solidFill>
                <a:latin typeface="Times New Roman" pitchFamily="18" charset="0"/>
                <a:cs typeface="Times New Roman" pitchFamily="18" charset="0"/>
              </a:rPr>
              <a:t>rolonged </a:t>
            </a:r>
            <a:r>
              <a:rPr lang="en-US" dirty="0">
                <a:solidFill>
                  <a:schemeClr val="tx1"/>
                </a:solidFill>
                <a:latin typeface="Times New Roman" pitchFamily="18" charset="0"/>
                <a:cs typeface="Times New Roman" pitchFamily="18" charset="0"/>
              </a:rPr>
              <a:t>immobilization </a:t>
            </a:r>
            <a:r>
              <a:rPr lang="en-US" dirty="0">
                <a:latin typeface="Times New Roman" pitchFamily="18" charset="0"/>
                <a:cs typeface="Times New Roman" pitchFamily="18" charset="0"/>
              </a:rPr>
              <a:t>due to trauma or </a:t>
            </a:r>
            <a:r>
              <a:rPr lang="en-US" dirty="0" smtClean="0">
                <a:latin typeface="Times New Roman" pitchFamily="18" charset="0"/>
                <a:cs typeface="Times New Roman" pitchFamily="18" charset="0"/>
              </a:rPr>
              <a:t>surgery</a:t>
            </a:r>
          </a:p>
          <a:p>
            <a:pPr>
              <a:lnSpc>
                <a:spcPct val="170000"/>
              </a:lnSpc>
            </a:pPr>
            <a:r>
              <a:rPr lang="en-US" dirty="0">
                <a:latin typeface="Times New Roman" pitchFamily="18" charset="0"/>
                <a:cs typeface="Times New Roman" pitchFamily="18" charset="0"/>
              </a:rPr>
              <a:t>P</a:t>
            </a:r>
            <a:r>
              <a:rPr lang="en-US" dirty="0" smtClean="0">
                <a:latin typeface="Times New Roman" pitchFamily="18" charset="0"/>
                <a:cs typeface="Times New Roman" pitchFamily="18" charset="0"/>
              </a:rPr>
              <a:t>erioperative </a:t>
            </a:r>
            <a:r>
              <a:rPr lang="en-US" dirty="0">
                <a:latin typeface="Times New Roman" pitchFamily="18" charset="0"/>
                <a:cs typeface="Times New Roman" pitchFamily="18" charset="0"/>
              </a:rPr>
              <a:t>indications and prolonged surgeries such as monitoring urine output during certain types of surgery (e.g., fistula repair, pelvic organ prolapse surgery, cesarean section</a:t>
            </a:r>
            <a:r>
              <a:rPr lang="en-US" dirty="0"/>
              <a:t>) </a:t>
            </a:r>
          </a:p>
        </p:txBody>
      </p:sp>
      <p:sp>
        <p:nvSpPr>
          <p:cNvPr id="4" name="Slide Number Placeholder 3"/>
          <p:cNvSpPr>
            <a:spLocks noGrp="1"/>
          </p:cNvSpPr>
          <p:nvPr>
            <p:ph type="sldNum" sz="quarter" idx="12"/>
          </p:nvPr>
        </p:nvSpPr>
        <p:spPr/>
        <p:txBody>
          <a:bodyPr/>
          <a:lstStyle/>
          <a:p>
            <a:fld id="{1168C7B2-57B4-41C3-8046-875D4CCC2A44}" type="slidenum">
              <a:rPr lang="en-US" smtClean="0"/>
              <a:pPr/>
              <a:t>13</a:t>
            </a:fld>
            <a:endParaRPr lang="en-US"/>
          </a:p>
        </p:txBody>
      </p:sp>
    </p:spTree>
    <p:extLst>
      <p:ext uri="{BB962C8B-B14F-4D97-AF65-F5344CB8AC3E}">
        <p14:creationId xmlns:p14="http://schemas.microsoft.com/office/powerpoint/2010/main" val="1724982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27" y="8484"/>
            <a:ext cx="10489585" cy="1686505"/>
          </a:xfrm>
        </p:spPr>
        <p:txBody>
          <a:bodyPr>
            <a:normAutofit fontScale="90000"/>
          </a:bodyPr>
          <a:lstStyle/>
          <a:p>
            <a:r>
              <a:rPr lang="en-US" sz="3600" b="1" dirty="0" smtClean="0">
                <a:latin typeface="Times New Roman" pitchFamily="18" charset="0"/>
                <a:cs typeface="Times New Roman" pitchFamily="18" charset="0"/>
              </a:rPr>
              <a:t/>
            </a:r>
            <a:br>
              <a:rPr lang="en-US" sz="3600" b="1"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
            </a:r>
            <a:br>
              <a:rPr lang="en-US" sz="3600" dirty="0" smtClean="0">
                <a:latin typeface="Times New Roman" pitchFamily="18" charset="0"/>
                <a:cs typeface="Times New Roman" pitchFamily="18" charset="0"/>
              </a:rPr>
            </a:br>
            <a:r>
              <a:rPr lang="en-US" sz="3100" b="1" dirty="0" smtClean="0">
                <a:latin typeface="Times New Roman" pitchFamily="18" charset="0"/>
                <a:cs typeface="Times New Roman" pitchFamily="18" charset="0"/>
              </a:rPr>
              <a:t>Alternative </a:t>
            </a:r>
            <a:r>
              <a:rPr lang="en-US" sz="3100" b="1" dirty="0">
                <a:latin typeface="Times New Roman" pitchFamily="18" charset="0"/>
                <a:cs typeface="Times New Roman" pitchFamily="18" charset="0"/>
              </a:rPr>
              <a:t>methods for limiting the use of indwelling </a:t>
            </a:r>
            <a:r>
              <a:rPr lang="en-US" sz="3100" b="1" dirty="0" smtClean="0">
                <a:latin typeface="Times New Roman" pitchFamily="18" charset="0"/>
                <a:cs typeface="Times New Roman" pitchFamily="18" charset="0"/>
              </a:rPr>
              <a:t>catheters</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1565272" y="2209800"/>
            <a:ext cx="9042555" cy="3725333"/>
          </a:xfrm>
        </p:spPr>
        <p:txBody>
          <a:bodyPr>
            <a:noAutofit/>
          </a:bodyPr>
          <a:lstStyle/>
          <a:p>
            <a:pPr>
              <a:lnSpc>
                <a:spcPct val="170000"/>
              </a:lnSpc>
            </a:pPr>
            <a:r>
              <a:rPr lang="en-US" sz="1800" dirty="0">
                <a:latin typeface="Times New Roman" pitchFamily="18" charset="0"/>
                <a:cs typeface="Times New Roman" pitchFamily="18" charset="0"/>
              </a:rPr>
              <a:t>Loss of control (incontinence) or inability to void (retention) may be managed better by </a:t>
            </a:r>
            <a:r>
              <a:rPr lang="en-US" sz="1800" dirty="0">
                <a:solidFill>
                  <a:schemeClr val="tx1"/>
                </a:solidFill>
                <a:latin typeface="Times New Roman" pitchFamily="18" charset="0"/>
                <a:cs typeface="Times New Roman" pitchFamily="18" charset="0"/>
              </a:rPr>
              <a:t>straight (in-and-out) </a:t>
            </a:r>
            <a:r>
              <a:rPr lang="en-US" sz="1800" dirty="0">
                <a:latin typeface="Times New Roman" pitchFamily="18" charset="0"/>
                <a:cs typeface="Times New Roman" pitchFamily="18" charset="0"/>
              </a:rPr>
              <a:t>catheterization several times a day rather than by use of an indwelling catheter</a:t>
            </a:r>
            <a:r>
              <a:rPr lang="en-US" sz="1800" dirty="0" smtClean="0">
                <a:latin typeface="Times New Roman" pitchFamily="18" charset="0"/>
                <a:cs typeface="Times New Roman" pitchFamily="18" charset="0"/>
              </a:rPr>
              <a:t>.</a:t>
            </a:r>
          </a:p>
          <a:p>
            <a:pPr>
              <a:lnSpc>
                <a:spcPct val="170000"/>
              </a:lnSpc>
            </a:pPr>
            <a:r>
              <a:rPr lang="en-US" sz="1800" dirty="0" smtClean="0">
                <a:latin typeface="Times New Roman" pitchFamily="18" charset="0"/>
                <a:cs typeface="Times New Roman" pitchFamily="18" charset="0"/>
              </a:rPr>
              <a:t>Regular </a:t>
            </a:r>
            <a:r>
              <a:rPr lang="en-US" sz="1800" dirty="0">
                <a:latin typeface="Times New Roman" pitchFamily="18" charset="0"/>
                <a:cs typeface="Times New Roman" pitchFamily="18" charset="0"/>
              </a:rPr>
              <a:t>toileting schedule or voiding on patient </a:t>
            </a:r>
            <a:r>
              <a:rPr lang="en-US" sz="1800" dirty="0" smtClean="0">
                <a:latin typeface="Times New Roman" pitchFamily="18" charset="0"/>
                <a:cs typeface="Times New Roman" pitchFamily="18" charset="0"/>
              </a:rPr>
              <a:t>demand if ambulatory </a:t>
            </a:r>
          </a:p>
          <a:p>
            <a:pPr>
              <a:lnSpc>
                <a:spcPct val="170000"/>
              </a:lnSpc>
            </a:pPr>
            <a:r>
              <a:rPr lang="en-US" sz="1800" dirty="0">
                <a:latin typeface="Times New Roman" pitchFamily="18" charset="0"/>
                <a:cs typeface="Times New Roman" pitchFamily="18" charset="0"/>
              </a:rPr>
              <a:t>Use  of adult diaper </a:t>
            </a:r>
            <a:r>
              <a:rPr lang="en-US" sz="1800" dirty="0" smtClean="0">
                <a:latin typeface="Times New Roman" pitchFamily="18" charset="0"/>
                <a:cs typeface="Times New Roman" pitchFamily="18" charset="0"/>
              </a:rPr>
              <a:t>pads, condom catheters </a:t>
            </a:r>
          </a:p>
          <a:p>
            <a:pPr>
              <a:lnSpc>
                <a:spcPct val="170000"/>
              </a:lnSpc>
            </a:pPr>
            <a:r>
              <a:rPr lang="en-US" sz="1800" dirty="0">
                <a:latin typeface="Times New Roman" pitchFamily="18" charset="0"/>
                <a:cs typeface="Times New Roman" pitchFamily="18" charset="0"/>
              </a:rPr>
              <a:t>B</a:t>
            </a:r>
            <a:r>
              <a:rPr lang="en-US" sz="1800" dirty="0" smtClean="0">
                <a:latin typeface="Times New Roman" pitchFamily="18" charset="0"/>
                <a:cs typeface="Times New Roman" pitchFamily="18" charset="0"/>
              </a:rPr>
              <a:t>ladder </a:t>
            </a:r>
            <a:r>
              <a:rPr lang="en-US" sz="1800" dirty="0">
                <a:latin typeface="Times New Roman" pitchFamily="18" charset="0"/>
                <a:cs typeface="Times New Roman" pitchFamily="18" charset="0"/>
              </a:rPr>
              <a:t>retraining to manage incontinence when coughing or sneezing </a:t>
            </a:r>
            <a:endParaRPr lang="en-US" sz="1800" dirty="0" smtClean="0">
              <a:latin typeface="Times New Roman" pitchFamily="18" charset="0"/>
              <a:cs typeface="Times New Roman" pitchFamily="18" charset="0"/>
            </a:endParaRPr>
          </a:p>
          <a:p>
            <a:pPr>
              <a:lnSpc>
                <a:spcPct val="170000"/>
              </a:lnSpc>
            </a:pPr>
            <a:r>
              <a:rPr lang="en-US" sz="1800" dirty="0">
                <a:latin typeface="Times New Roman" pitchFamily="18" charset="0"/>
                <a:cs typeface="Times New Roman" pitchFamily="18" charset="0"/>
              </a:rPr>
              <a:t>Medical management of incontinence</a:t>
            </a:r>
            <a:r>
              <a:rPr lang="en-US" sz="800"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1168C7B2-57B4-41C3-8046-875D4CCC2A44}" type="slidenum">
              <a:rPr lang="en-US" smtClean="0"/>
              <a:pPr/>
              <a:t>14</a:t>
            </a:fld>
            <a:endParaRPr lang="en-US"/>
          </a:p>
        </p:txBody>
      </p:sp>
    </p:spTree>
    <p:extLst>
      <p:ext uri="{BB962C8B-B14F-4D97-AF65-F5344CB8AC3E}">
        <p14:creationId xmlns:p14="http://schemas.microsoft.com/office/powerpoint/2010/main" val="37794924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5273" y="914400"/>
            <a:ext cx="9042553" cy="1304804"/>
          </a:xfrm>
        </p:spPr>
        <p:txBody>
          <a:bodyPr>
            <a:normAutofit/>
          </a:bodyPr>
          <a:lstStyle/>
          <a:p>
            <a:r>
              <a:rPr lang="en-US" sz="2800" dirty="0">
                <a:latin typeface="Times New Roman" pitchFamily="18" charset="0"/>
                <a:cs typeface="Times New Roman" pitchFamily="18" charset="0"/>
              </a:rPr>
              <a:t>General guidelines for proper catheter insertion techniques</a:t>
            </a:r>
          </a:p>
        </p:txBody>
      </p:sp>
      <p:sp>
        <p:nvSpPr>
          <p:cNvPr id="3" name="Content Placeholder 2"/>
          <p:cNvSpPr>
            <a:spLocks noGrp="1"/>
          </p:cNvSpPr>
          <p:nvPr>
            <p:ph idx="1"/>
          </p:nvPr>
        </p:nvSpPr>
        <p:spPr>
          <a:xfrm>
            <a:off x="823119" y="2057400"/>
            <a:ext cx="10489585" cy="4515849"/>
          </a:xfrm>
        </p:spPr>
        <p:txBody>
          <a:bodyPr>
            <a:noAutofit/>
          </a:bodyPr>
          <a:lstStyle/>
          <a:p>
            <a:pPr>
              <a:lnSpc>
                <a:spcPct val="150000"/>
              </a:lnSpc>
            </a:pPr>
            <a:r>
              <a:rPr lang="en-US" sz="1600" dirty="0" smtClean="0">
                <a:latin typeface="Times New Roman" pitchFamily="18" charset="0"/>
                <a:cs typeface="Times New Roman" pitchFamily="18" charset="0"/>
              </a:rPr>
              <a:t>Provide </a:t>
            </a:r>
            <a:r>
              <a:rPr lang="en-US" sz="1600" dirty="0">
                <a:solidFill>
                  <a:schemeClr val="tx1"/>
                </a:solidFill>
                <a:latin typeface="Times New Roman" pitchFamily="18" charset="0"/>
                <a:cs typeface="Times New Roman" pitchFamily="18" charset="0"/>
              </a:rPr>
              <a:t>written guidelines </a:t>
            </a:r>
            <a:r>
              <a:rPr lang="en-US" sz="1600" dirty="0">
                <a:latin typeface="Times New Roman" pitchFamily="18" charset="0"/>
                <a:cs typeface="Times New Roman" pitchFamily="18" charset="0"/>
              </a:rPr>
              <a:t>for catheter insertion and educate HCWs on correct insertion technique</a:t>
            </a:r>
            <a:r>
              <a:rPr lang="en-US" sz="1600" dirty="0" smtClean="0">
                <a:latin typeface="Times New Roman" pitchFamily="18" charset="0"/>
                <a:cs typeface="Times New Roman" pitchFamily="18" charset="0"/>
              </a:rPr>
              <a:t>.</a:t>
            </a:r>
          </a:p>
          <a:p>
            <a:pPr>
              <a:lnSpc>
                <a:spcPct val="150000"/>
              </a:lnSpc>
            </a:pPr>
            <a:r>
              <a:rPr lang="en-US" sz="1600" dirty="0" smtClean="0">
                <a:solidFill>
                  <a:schemeClr val="tx1"/>
                </a:solidFill>
                <a:latin typeface="Times New Roman" pitchFamily="18" charset="0"/>
                <a:cs typeface="Times New Roman" pitchFamily="18" charset="0"/>
              </a:rPr>
              <a:t>Only </a:t>
            </a:r>
            <a:r>
              <a:rPr lang="en-US" sz="1600" dirty="0">
                <a:solidFill>
                  <a:schemeClr val="tx1"/>
                </a:solidFill>
                <a:latin typeface="Times New Roman" pitchFamily="18" charset="0"/>
                <a:cs typeface="Times New Roman" pitchFamily="18" charset="0"/>
              </a:rPr>
              <a:t>properly trained persons </a:t>
            </a:r>
            <a:r>
              <a:rPr lang="en-US" sz="1600" dirty="0">
                <a:latin typeface="Times New Roman" pitchFamily="18" charset="0"/>
                <a:cs typeface="Times New Roman" pitchFamily="18" charset="0"/>
              </a:rPr>
              <a:t>(e.g., HCWs) who know the correct IPC techniques for catheter insertion perform catheter insertion. </a:t>
            </a:r>
            <a:endParaRPr lang="en-US" sz="1600" dirty="0" smtClean="0">
              <a:latin typeface="Times New Roman" pitchFamily="18" charset="0"/>
              <a:cs typeface="Times New Roman" pitchFamily="18" charset="0"/>
            </a:endParaRPr>
          </a:p>
          <a:p>
            <a:pPr>
              <a:lnSpc>
                <a:spcPct val="150000"/>
              </a:lnSpc>
            </a:pPr>
            <a:r>
              <a:rPr lang="en-US" sz="1600" dirty="0" smtClean="0">
                <a:latin typeface="Times New Roman" pitchFamily="18" charset="0"/>
                <a:cs typeface="Times New Roman" pitchFamily="18" charset="0"/>
              </a:rPr>
              <a:t>Ensure </a:t>
            </a:r>
            <a:r>
              <a:rPr lang="en-US" sz="1600" dirty="0">
                <a:latin typeface="Times New Roman" pitchFamily="18" charset="0"/>
                <a:cs typeface="Times New Roman" pitchFamily="18" charset="0"/>
              </a:rPr>
              <a:t>that all supplies (for example, hand hygiene supplies, sterile gloves, drapes, antiseptic solution, syringes and sterile water, etc.) are </a:t>
            </a:r>
            <a:r>
              <a:rPr lang="en-US" sz="1600" dirty="0" smtClean="0">
                <a:latin typeface="Times New Roman" pitchFamily="18" charset="0"/>
                <a:cs typeface="Times New Roman" pitchFamily="18" charset="0"/>
              </a:rPr>
              <a:t>available. </a:t>
            </a:r>
          </a:p>
          <a:p>
            <a:pPr>
              <a:lnSpc>
                <a:spcPct val="150000"/>
              </a:lnSpc>
            </a:pPr>
            <a:r>
              <a:rPr lang="en-US" sz="1600" dirty="0" smtClean="0">
                <a:latin typeface="Times New Roman" pitchFamily="18" charset="0"/>
                <a:cs typeface="Times New Roman" pitchFamily="18" charset="0"/>
              </a:rPr>
              <a:t>Follow IPC practices during insertion, removal, and replacement of indwelling catheters.  </a:t>
            </a:r>
          </a:p>
          <a:p>
            <a:pPr>
              <a:lnSpc>
                <a:spcPct val="150000"/>
              </a:lnSpc>
            </a:pPr>
            <a:r>
              <a:rPr lang="en-US" sz="1600" dirty="0" smtClean="0">
                <a:latin typeface="Times New Roman" pitchFamily="18" charset="0"/>
                <a:cs typeface="Times New Roman" pitchFamily="18" charset="0"/>
              </a:rPr>
              <a:t>Consider using the smallest bore (diameter) catheter possible to minimize bladder neck and urethral trauma</a:t>
            </a:r>
          </a:p>
          <a:p>
            <a:pPr>
              <a:lnSpc>
                <a:spcPct val="150000"/>
              </a:lnSpc>
            </a:pPr>
            <a:r>
              <a:rPr lang="en-US" sz="1600" dirty="0" smtClean="0">
                <a:latin typeface="Times New Roman" pitchFamily="18" charset="0"/>
                <a:cs typeface="Times New Roman" pitchFamily="18" charset="0"/>
              </a:rPr>
              <a:t>Choose </a:t>
            </a:r>
            <a:r>
              <a:rPr lang="en-US" sz="1600" dirty="0">
                <a:latin typeface="Times New Roman" pitchFamily="18" charset="0"/>
                <a:cs typeface="Times New Roman" pitchFamily="18" charset="0"/>
              </a:rPr>
              <a:t>an indwelling catheter system with pre-connected, sealed </a:t>
            </a:r>
            <a:r>
              <a:rPr lang="en-US" sz="1600" dirty="0" smtClean="0">
                <a:latin typeface="Times New Roman" pitchFamily="18" charset="0"/>
                <a:cs typeface="Times New Roman" pitchFamily="18" charset="0"/>
              </a:rPr>
              <a:t>catheter</a:t>
            </a:r>
          </a:p>
          <a:p>
            <a:pPr>
              <a:lnSpc>
                <a:spcPct val="150000"/>
              </a:lnSpc>
            </a:pPr>
            <a:r>
              <a:rPr lang="en-US" sz="1600" dirty="0" smtClean="0">
                <a:latin typeface="Times New Roman" pitchFamily="18" charset="0"/>
                <a:cs typeface="Times New Roman" pitchFamily="18" charset="0"/>
              </a:rPr>
              <a:t>Secure </a:t>
            </a:r>
            <a:r>
              <a:rPr lang="en-US" sz="1600" dirty="0">
                <a:latin typeface="Times New Roman" pitchFamily="18" charset="0"/>
                <a:cs typeface="Times New Roman" pitchFamily="18" charset="0"/>
              </a:rPr>
              <a:t>indwelling catheters properly after insertion, to prevent movement and pulling of the catheter within the </a:t>
            </a:r>
            <a:r>
              <a:rPr lang="en-US" sz="1600" dirty="0" smtClean="0">
                <a:latin typeface="Times New Roman" pitchFamily="18" charset="0"/>
                <a:cs typeface="Times New Roman" pitchFamily="18" charset="0"/>
              </a:rPr>
              <a:t>urethra </a:t>
            </a:r>
            <a:endParaRPr lang="en-US" sz="1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168C7B2-57B4-41C3-8046-875D4CCC2A44}" type="slidenum">
              <a:rPr lang="en-US" smtClean="0"/>
              <a:pPr/>
              <a:t>15</a:t>
            </a:fld>
            <a:endParaRPr lang="en-US"/>
          </a:p>
        </p:txBody>
      </p:sp>
    </p:spTree>
    <p:extLst>
      <p:ext uri="{BB962C8B-B14F-4D97-AF65-F5344CB8AC3E}">
        <p14:creationId xmlns:p14="http://schemas.microsoft.com/office/powerpoint/2010/main" val="21390925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119" y="304800"/>
            <a:ext cx="10489585" cy="1016204"/>
          </a:xfrm>
        </p:spPr>
        <p:txBody>
          <a:bodyPr>
            <a:normAutofit fontScale="90000"/>
          </a:bodyPr>
          <a:lstStyle/>
          <a:p>
            <a:pPr>
              <a:lnSpc>
                <a:spcPct val="150000"/>
              </a:lnSpc>
            </a:pPr>
            <a:r>
              <a:rPr lang="en-US" sz="2800" b="1" dirty="0" smtClean="0">
                <a:latin typeface="Times New Roman" pitchFamily="18" charset="0"/>
                <a:cs typeface="Times New Roman" pitchFamily="18" charset="0"/>
              </a:rPr>
              <a:t/>
            </a:r>
            <a:br>
              <a:rPr lang="en-US" sz="2800" b="1" dirty="0" smtClean="0">
                <a:latin typeface="Times New Roman" pitchFamily="18" charset="0"/>
                <a:cs typeface="Times New Roman" pitchFamily="18" charset="0"/>
              </a:rPr>
            </a:br>
            <a:r>
              <a:rPr lang="en-US" sz="2800" b="1" dirty="0" smtClean="0">
                <a:latin typeface="Times New Roman" pitchFamily="18" charset="0"/>
                <a:cs typeface="Times New Roman" pitchFamily="18" charset="0"/>
              </a:rPr>
              <a:t>Urinary catheter insertion procedure</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823119" y="1447800"/>
            <a:ext cx="10502593" cy="5229150"/>
          </a:xfrm>
        </p:spPr>
        <p:txBody>
          <a:bodyPr>
            <a:normAutofit fontScale="62500" lnSpcReduction="20000"/>
          </a:bodyPr>
          <a:lstStyle/>
          <a:p>
            <a:pPr>
              <a:lnSpc>
                <a:spcPct val="170000"/>
              </a:lnSpc>
              <a:buNone/>
            </a:pPr>
            <a:r>
              <a:rPr lang="en-US" b="1" dirty="0" smtClean="0">
                <a:latin typeface="Times New Roman" pitchFamily="18" charset="0"/>
                <a:cs typeface="Times New Roman" pitchFamily="18" charset="0"/>
              </a:rPr>
              <a:t>Step 1: ensure the following items are available </a:t>
            </a:r>
          </a:p>
          <a:p>
            <a:pPr lvl="0">
              <a:lnSpc>
                <a:spcPct val="170000"/>
              </a:lnSpc>
            </a:pPr>
            <a:r>
              <a:rPr lang="en-US" dirty="0">
                <a:latin typeface="Times New Roman" pitchFamily="18" charset="0"/>
                <a:cs typeface="Times New Roman" pitchFamily="18" charset="0"/>
              </a:rPr>
              <a:t>A sterile indwelling urinary catheter with an attached closed continuous drainage system or sterile straight catheter and a clean urine collection container </a:t>
            </a:r>
            <a:endParaRPr lang="en-US" dirty="0" smtClean="0">
              <a:latin typeface="Times New Roman" pitchFamily="18" charset="0"/>
              <a:cs typeface="Times New Roman" pitchFamily="18" charset="0"/>
            </a:endParaRPr>
          </a:p>
          <a:p>
            <a:pPr lvl="0">
              <a:lnSpc>
                <a:spcPct val="170000"/>
              </a:lnSpc>
            </a:pPr>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catheter with a diameter as small as possible to ensure good drainage. </a:t>
            </a:r>
            <a:endParaRPr lang="en-US" dirty="0" smtClean="0">
              <a:effectLst/>
              <a:latin typeface="Times New Roman" pitchFamily="18" charset="0"/>
              <a:cs typeface="Times New Roman" pitchFamily="18" charset="0"/>
            </a:endParaRPr>
          </a:p>
          <a:p>
            <a:pPr lvl="0">
              <a:lnSpc>
                <a:spcPct val="170000"/>
              </a:lnSpc>
            </a:pPr>
            <a:r>
              <a:rPr lang="en-US" dirty="0">
                <a:latin typeface="Times New Roman" pitchFamily="18" charset="0"/>
                <a:cs typeface="Times New Roman" pitchFamily="18" charset="0"/>
              </a:rPr>
              <a:t>A 10-mL syringe filled with sterile water for filling the balloon of the indwelling catheter</a:t>
            </a:r>
            <a:endParaRPr lang="en-US" dirty="0" smtClean="0">
              <a:effectLst/>
              <a:latin typeface="Times New Roman" pitchFamily="18" charset="0"/>
              <a:cs typeface="Times New Roman" pitchFamily="18" charset="0"/>
            </a:endParaRPr>
          </a:p>
          <a:p>
            <a:pPr lvl="0">
              <a:lnSpc>
                <a:spcPct val="170000"/>
              </a:lnSpc>
            </a:pPr>
            <a:r>
              <a:rPr lang="en-US" dirty="0">
                <a:latin typeface="Times New Roman" pitchFamily="18" charset="0"/>
                <a:cs typeface="Times New Roman" pitchFamily="18" charset="0"/>
              </a:rPr>
              <a:t>A pair of non-sterile gloves and a pair of sterile gloves</a:t>
            </a:r>
            <a:endParaRPr lang="en-US" dirty="0" smtClean="0">
              <a:effectLst/>
              <a:latin typeface="Times New Roman" pitchFamily="18" charset="0"/>
              <a:cs typeface="Times New Roman" pitchFamily="18" charset="0"/>
            </a:endParaRPr>
          </a:p>
          <a:p>
            <a:pPr lvl="0">
              <a:lnSpc>
                <a:spcPct val="170000"/>
              </a:lnSpc>
            </a:pPr>
            <a:r>
              <a:rPr lang="en-US" dirty="0">
                <a:latin typeface="Times New Roman" pitchFamily="18" charset="0"/>
                <a:cs typeface="Times New Roman" pitchFamily="18" charset="0"/>
              </a:rPr>
              <a:t>A sterile drape, ideally with an opening in the center</a:t>
            </a:r>
            <a:endParaRPr lang="en-US" dirty="0" smtClean="0">
              <a:effectLst/>
              <a:latin typeface="Times New Roman" pitchFamily="18" charset="0"/>
              <a:cs typeface="Times New Roman" pitchFamily="18" charset="0"/>
            </a:endParaRPr>
          </a:p>
          <a:p>
            <a:pPr lvl="0">
              <a:lnSpc>
                <a:spcPct val="170000"/>
              </a:lnSpc>
            </a:pPr>
            <a:r>
              <a:rPr lang="en-US" dirty="0">
                <a:latin typeface="Times New Roman" pitchFamily="18" charset="0"/>
                <a:cs typeface="Times New Roman" pitchFamily="18" charset="0"/>
              </a:rPr>
              <a:t>Either antiseptic solution (e.g., aqueous 10% povidone-iodine) if the patient has an iodine allergy or sterile solution for </a:t>
            </a:r>
            <a:r>
              <a:rPr lang="en-US" dirty="0" err="1" smtClean="0">
                <a:latin typeface="Times New Roman" pitchFamily="18" charset="0"/>
                <a:cs typeface="Times New Roman" pitchFamily="18" charset="0"/>
              </a:rPr>
              <a:t>periurethral</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cleaning (</a:t>
            </a:r>
            <a:r>
              <a:rPr lang="en-US" dirty="0" smtClean="0">
                <a:latin typeface="Times New Roman" pitchFamily="18" charset="0"/>
                <a:cs typeface="Times New Roman" pitchFamily="18" charset="0"/>
              </a:rPr>
              <a:t>e.g. normal </a:t>
            </a:r>
            <a:r>
              <a:rPr lang="en-US" dirty="0">
                <a:latin typeface="Times New Roman" pitchFamily="18" charset="0"/>
                <a:cs typeface="Times New Roman" pitchFamily="18" charset="0"/>
              </a:rPr>
              <a:t>saline</a:t>
            </a:r>
            <a:r>
              <a:rPr lang="en-US" dirty="0" smtClean="0">
                <a:latin typeface="Times New Roman" pitchFamily="18" charset="0"/>
                <a:cs typeface="Times New Roman" pitchFamily="18" charset="0"/>
              </a:rPr>
              <a:t>)</a:t>
            </a:r>
            <a:endParaRPr lang="en-US" dirty="0" smtClean="0">
              <a:effectLst/>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168C7B2-57B4-41C3-8046-875D4CCC2A44}" type="slidenum">
              <a:rPr lang="en-US" smtClean="0"/>
              <a:pPr/>
              <a:t>16</a:t>
            </a:fld>
            <a:endParaRPr lang="en-US"/>
          </a:p>
        </p:txBody>
      </p:sp>
    </p:spTree>
    <p:extLst>
      <p:ext uri="{BB962C8B-B14F-4D97-AF65-F5344CB8AC3E}">
        <p14:creationId xmlns:p14="http://schemas.microsoft.com/office/powerpoint/2010/main" val="21288416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smtClean="0">
                <a:latin typeface="Times New Roman" pitchFamily="18" charset="0"/>
                <a:cs typeface="Times New Roman" pitchFamily="18" charset="0"/>
              </a:rPr>
              <a:t>Cont</a:t>
            </a:r>
            <a:r>
              <a:rPr lang="en-US" sz="4000" dirty="0" smtClean="0">
                <a:latin typeface="Times New Roman" pitchFamily="18" charset="0"/>
                <a:cs typeface="Times New Roman" pitchFamily="18" charset="0"/>
              </a:rPr>
              <a:t>…</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1432720" y="1981200"/>
            <a:ext cx="9175108" cy="3953933"/>
          </a:xfrm>
        </p:spPr>
        <p:txBody>
          <a:bodyPr>
            <a:noAutofit/>
          </a:bodyPr>
          <a:lstStyle/>
          <a:p>
            <a:pPr lvl="0">
              <a:lnSpc>
                <a:spcPct val="170000"/>
              </a:lnSpc>
            </a:pPr>
            <a:r>
              <a:rPr lang="en-US" sz="1600" dirty="0" smtClean="0">
                <a:latin typeface="Times New Roman" pitchFamily="18" charset="0"/>
                <a:cs typeface="Times New Roman" pitchFamily="18" charset="0"/>
              </a:rPr>
              <a:t>Sterile, sponge-holding forceps with sterile gauze squares (2 x 2) or large, cotton applicators </a:t>
            </a:r>
            <a:endParaRPr lang="en-US" sz="1600" dirty="0" smtClean="0">
              <a:effectLst/>
              <a:latin typeface="Times New Roman" pitchFamily="18" charset="0"/>
              <a:cs typeface="Times New Roman" pitchFamily="18" charset="0"/>
            </a:endParaRPr>
          </a:p>
          <a:p>
            <a:pPr lvl="0">
              <a:lnSpc>
                <a:spcPct val="170000"/>
              </a:lnSpc>
            </a:pPr>
            <a:r>
              <a:rPr lang="en-US" sz="1600" dirty="0" smtClean="0">
                <a:latin typeface="Times New Roman" pitchFamily="18" charset="0"/>
                <a:cs typeface="Times New Roman" pitchFamily="18" charset="0"/>
              </a:rPr>
              <a:t>A single-use packet of </a:t>
            </a:r>
            <a:r>
              <a:rPr lang="en-US" sz="1600" dirty="0" smtClean="0">
                <a:solidFill>
                  <a:schemeClr val="tx1"/>
                </a:solidFill>
                <a:latin typeface="Times New Roman" pitchFamily="18" charset="0"/>
                <a:cs typeface="Times New Roman" pitchFamily="18" charset="0"/>
              </a:rPr>
              <a:t>lubricant (sterile</a:t>
            </a:r>
            <a:r>
              <a:rPr lang="en-US" sz="1600" dirty="0" smtClean="0">
                <a:latin typeface="Times New Roman" pitchFamily="18" charset="0"/>
                <a:cs typeface="Times New Roman" pitchFamily="18" charset="0"/>
              </a:rPr>
              <a:t>, if possible)</a:t>
            </a:r>
            <a:endParaRPr lang="en-US" sz="1600" dirty="0" smtClean="0">
              <a:effectLst/>
              <a:latin typeface="Times New Roman" pitchFamily="18" charset="0"/>
              <a:cs typeface="Times New Roman" pitchFamily="18" charset="0"/>
            </a:endParaRPr>
          </a:p>
          <a:p>
            <a:pPr lvl="0">
              <a:lnSpc>
                <a:spcPct val="170000"/>
              </a:lnSpc>
            </a:pPr>
            <a:r>
              <a:rPr lang="en-US" sz="1600" dirty="0" smtClean="0">
                <a:latin typeface="Times New Roman" pitchFamily="18" charset="0"/>
                <a:cs typeface="Times New Roman" pitchFamily="18" charset="0"/>
              </a:rPr>
              <a:t>Supplies to secure the catheter once inserted (adhesive tape)</a:t>
            </a:r>
            <a:endParaRPr lang="en-US" sz="1600" dirty="0" smtClean="0">
              <a:effectLst/>
              <a:latin typeface="Times New Roman" pitchFamily="18" charset="0"/>
              <a:cs typeface="Times New Roman" pitchFamily="18" charset="0"/>
            </a:endParaRPr>
          </a:p>
          <a:p>
            <a:pPr lvl="0">
              <a:lnSpc>
                <a:spcPct val="170000"/>
              </a:lnSpc>
            </a:pPr>
            <a:r>
              <a:rPr lang="en-US" sz="1600" dirty="0" smtClean="0">
                <a:latin typeface="Times New Roman" pitchFamily="18" charset="0"/>
                <a:cs typeface="Times New Roman" pitchFamily="18" charset="0"/>
              </a:rPr>
              <a:t>A light source (flashlight or lamp), if needed</a:t>
            </a:r>
            <a:endParaRPr lang="en-US" sz="1600" dirty="0" smtClean="0">
              <a:effectLst/>
              <a:latin typeface="Times New Roman" pitchFamily="18" charset="0"/>
              <a:cs typeface="Times New Roman" pitchFamily="18" charset="0"/>
            </a:endParaRPr>
          </a:p>
          <a:p>
            <a:pPr lvl="0">
              <a:lnSpc>
                <a:spcPct val="170000"/>
              </a:lnSpc>
            </a:pPr>
            <a:r>
              <a:rPr lang="en-US" sz="1600" dirty="0" smtClean="0">
                <a:latin typeface="Times New Roman" pitchFamily="18" charset="0"/>
                <a:cs typeface="Times New Roman" pitchFamily="18" charset="0"/>
              </a:rPr>
              <a:t>A basin of clean, warm water, soap, and a clean, dry towel</a:t>
            </a:r>
            <a:endParaRPr lang="en-US" sz="1600" dirty="0" smtClean="0">
              <a:effectLst/>
              <a:latin typeface="Times New Roman" pitchFamily="18" charset="0"/>
              <a:cs typeface="Times New Roman" pitchFamily="18" charset="0"/>
            </a:endParaRPr>
          </a:p>
          <a:p>
            <a:pPr lvl="0">
              <a:lnSpc>
                <a:spcPct val="170000"/>
              </a:lnSpc>
            </a:pPr>
            <a:r>
              <a:rPr lang="en-US" sz="1600" dirty="0" smtClean="0">
                <a:latin typeface="Times New Roman" pitchFamily="18" charset="0"/>
                <a:cs typeface="Times New Roman" pitchFamily="18" charset="0"/>
              </a:rPr>
              <a:t>A waterproof polyethylene sheet </a:t>
            </a:r>
            <a:endParaRPr lang="en-US" sz="1600" dirty="0" smtClean="0">
              <a:effectLst/>
              <a:latin typeface="Times New Roman" pitchFamily="18" charset="0"/>
              <a:cs typeface="Times New Roman" pitchFamily="18" charset="0"/>
            </a:endParaRPr>
          </a:p>
          <a:p>
            <a:pPr lvl="0">
              <a:lnSpc>
                <a:spcPct val="170000"/>
              </a:lnSpc>
            </a:pPr>
            <a:r>
              <a:rPr lang="en-US" sz="1600" dirty="0" smtClean="0">
                <a:latin typeface="Times New Roman" pitchFamily="18" charset="0"/>
                <a:cs typeface="Times New Roman" pitchFamily="18" charset="0"/>
              </a:rPr>
              <a:t>A plastic bag or leak-proof, covered waste container for disposal of contaminated items</a:t>
            </a:r>
            <a:endParaRPr lang="en-US" sz="1600" dirty="0" smtClean="0">
              <a:effectLst/>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168C7B2-57B4-41C3-8046-875D4CCC2A44}" type="slidenum">
              <a:rPr lang="en-US" smtClean="0"/>
              <a:pPr/>
              <a:t>17</a:t>
            </a:fld>
            <a:endParaRPr lang="en-US"/>
          </a:p>
        </p:txBody>
      </p:sp>
    </p:spTree>
    <p:extLst>
      <p:ext uri="{BB962C8B-B14F-4D97-AF65-F5344CB8AC3E}">
        <p14:creationId xmlns:p14="http://schemas.microsoft.com/office/powerpoint/2010/main" val="4278807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latin typeface="Times New Roman" pitchFamily="18" charset="0"/>
                <a:cs typeface="Times New Roman" pitchFamily="18" charset="0"/>
              </a:rPr>
              <a:t>Insertion…</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1432718" y="2209800"/>
            <a:ext cx="9175109" cy="3725333"/>
          </a:xfrm>
        </p:spPr>
        <p:txBody>
          <a:bodyPr>
            <a:noAutofit/>
          </a:bodyPr>
          <a:lstStyle/>
          <a:p>
            <a:pPr>
              <a:lnSpc>
                <a:spcPct val="150000"/>
              </a:lnSpc>
            </a:pPr>
            <a:r>
              <a:rPr lang="en-US" sz="1600" b="1" dirty="0">
                <a:latin typeface="Times New Roman" pitchFamily="18" charset="0"/>
                <a:cs typeface="Times New Roman" pitchFamily="18" charset="0"/>
              </a:rPr>
              <a:t>STEP 2</a:t>
            </a:r>
            <a:r>
              <a:rPr lang="en-US" sz="1600" dirty="0">
                <a:latin typeface="Times New Roman" pitchFamily="18" charset="0"/>
                <a:cs typeface="Times New Roman" pitchFamily="18" charset="0"/>
              </a:rPr>
              <a:t>: Explain the procedure to the patient and gain verbal consent. Answer any questions that the patient may have.</a:t>
            </a:r>
          </a:p>
          <a:p>
            <a:pPr>
              <a:lnSpc>
                <a:spcPct val="150000"/>
              </a:lnSpc>
            </a:pPr>
            <a:r>
              <a:rPr lang="en-US" sz="1600" b="1" dirty="0">
                <a:latin typeface="Times New Roman" pitchFamily="18" charset="0"/>
                <a:cs typeface="Times New Roman" pitchFamily="18" charset="0"/>
              </a:rPr>
              <a:t>STEP 3</a:t>
            </a:r>
            <a:r>
              <a:rPr lang="en-US" sz="1600" dirty="0">
                <a:latin typeface="Times New Roman" pitchFamily="18" charset="0"/>
                <a:cs typeface="Times New Roman" pitchFamily="18" charset="0"/>
              </a:rPr>
              <a:t>: Ensure that a good light source is available.</a:t>
            </a:r>
          </a:p>
          <a:p>
            <a:pPr>
              <a:lnSpc>
                <a:spcPct val="150000"/>
              </a:lnSpc>
            </a:pPr>
            <a:r>
              <a:rPr lang="en-US" sz="1600" b="1" dirty="0">
                <a:latin typeface="Times New Roman" pitchFamily="18" charset="0"/>
                <a:cs typeface="Times New Roman" pitchFamily="18" charset="0"/>
              </a:rPr>
              <a:t>STEP 4</a:t>
            </a:r>
            <a:r>
              <a:rPr lang="en-US" sz="1600" dirty="0">
                <a:latin typeface="Times New Roman" pitchFamily="18" charset="0"/>
                <a:cs typeface="Times New Roman" pitchFamily="18" charset="0"/>
              </a:rPr>
              <a:t>: Prior to starting the procedure:</a:t>
            </a:r>
          </a:p>
          <a:p>
            <a:pPr>
              <a:lnSpc>
                <a:spcPct val="150000"/>
              </a:lnSpc>
            </a:pPr>
            <a:r>
              <a:rPr lang="en-US" sz="1600" dirty="0">
                <a:latin typeface="Times New Roman" pitchFamily="18" charset="0"/>
                <a:cs typeface="Times New Roman" pitchFamily="18" charset="0"/>
              </a:rPr>
              <a:t>Have</a:t>
            </a:r>
            <a:r>
              <a:rPr lang="en-US" sz="1600" b="1" dirty="0">
                <a:latin typeface="Times New Roman" pitchFamily="18" charset="0"/>
                <a:cs typeface="Times New Roman" pitchFamily="18" charset="0"/>
              </a:rPr>
              <a:t> </a:t>
            </a:r>
            <a:r>
              <a:rPr lang="en-US" sz="1600" b="1" i="1" dirty="0">
                <a:latin typeface="Times New Roman" pitchFamily="18" charset="0"/>
                <a:cs typeface="Times New Roman" pitchFamily="18" charset="0"/>
              </a:rPr>
              <a:t>female patients</a:t>
            </a:r>
            <a:r>
              <a:rPr lang="en-US" sz="1600" dirty="0">
                <a:latin typeface="Times New Roman" pitchFamily="18" charset="0"/>
                <a:cs typeface="Times New Roman" pitchFamily="18" charset="0"/>
              </a:rPr>
              <a:t> separate their labia and gently wash the </a:t>
            </a:r>
            <a:r>
              <a:rPr lang="en-US" sz="1600" dirty="0" smtClean="0">
                <a:latin typeface="Times New Roman" pitchFamily="18" charset="0"/>
                <a:cs typeface="Times New Roman" pitchFamily="18" charset="0"/>
              </a:rPr>
              <a:t>urethral area and inner labia with soap and water, </a:t>
            </a:r>
            <a:r>
              <a:rPr lang="en-US" sz="1600" dirty="0" smtClean="0">
                <a:solidFill>
                  <a:srgbClr val="FF0000"/>
                </a:solidFill>
                <a:latin typeface="Times New Roman" pitchFamily="18" charset="0"/>
                <a:cs typeface="Times New Roman" pitchFamily="18" charset="0"/>
              </a:rPr>
              <a:t>if they are able to</a:t>
            </a:r>
            <a:r>
              <a:rPr lang="en-US" sz="1600" dirty="0" smtClean="0">
                <a:latin typeface="Times New Roman" pitchFamily="18" charset="0"/>
                <a:cs typeface="Times New Roman" pitchFamily="18" charset="0"/>
              </a:rPr>
              <a:t>.</a:t>
            </a:r>
          </a:p>
          <a:p>
            <a:pPr>
              <a:lnSpc>
                <a:spcPct val="150000"/>
              </a:lnSpc>
            </a:pPr>
            <a:r>
              <a:rPr lang="en-US" sz="1600" dirty="0">
                <a:latin typeface="Times New Roman" pitchFamily="18" charset="0"/>
                <a:cs typeface="Times New Roman" pitchFamily="18" charset="0"/>
              </a:rPr>
              <a:t>Have </a:t>
            </a:r>
            <a:r>
              <a:rPr lang="en-US" sz="1600" b="1" i="1" dirty="0">
                <a:latin typeface="Times New Roman" pitchFamily="18" charset="0"/>
                <a:cs typeface="Times New Roman" pitchFamily="18" charset="0"/>
              </a:rPr>
              <a:t>male patients</a:t>
            </a:r>
            <a:r>
              <a:rPr lang="en-US" sz="1600" dirty="0">
                <a:latin typeface="Times New Roman" pitchFamily="18" charset="0"/>
                <a:cs typeface="Times New Roman" pitchFamily="18" charset="0"/>
              </a:rPr>
              <a:t> who have not been circumcised retract their foreskin and gently wash the head of the penis and foreskin with soap and water, if they are able to.</a:t>
            </a:r>
          </a:p>
          <a:p>
            <a:pPr>
              <a:lnSpc>
                <a:spcPct val="150000"/>
              </a:lnSpc>
            </a:pPr>
            <a:endParaRPr lang="en-US" sz="1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168C7B2-57B4-41C3-8046-875D4CCC2A44}" type="slidenum">
              <a:rPr lang="en-US" smtClean="0"/>
              <a:pPr/>
              <a:t>18</a:t>
            </a:fld>
            <a:endParaRPr lang="en-US"/>
          </a:p>
        </p:txBody>
      </p:sp>
    </p:spTree>
    <p:extLst>
      <p:ext uri="{BB962C8B-B14F-4D97-AF65-F5344CB8AC3E}">
        <p14:creationId xmlns:p14="http://schemas.microsoft.com/office/powerpoint/2010/main" val="563560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latin typeface="Times New Roman" pitchFamily="18" charset="0"/>
                <a:cs typeface="Times New Roman" pitchFamily="18" charset="0"/>
              </a:rPr>
              <a:t>Insertion….</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25000" lnSpcReduction="20000"/>
          </a:bodyPr>
          <a:lstStyle/>
          <a:p>
            <a:pPr>
              <a:lnSpc>
                <a:spcPct val="170000"/>
              </a:lnSpc>
            </a:pPr>
            <a:r>
              <a:rPr lang="en-US" sz="7200" b="1" dirty="0">
                <a:latin typeface="Times New Roman" pitchFamily="18" charset="0"/>
                <a:cs typeface="Times New Roman" pitchFamily="18" charset="0"/>
              </a:rPr>
              <a:t>STEP 5</a:t>
            </a:r>
            <a:r>
              <a:rPr lang="en-US" sz="7200" dirty="0">
                <a:latin typeface="Times New Roman" pitchFamily="18" charset="0"/>
                <a:cs typeface="Times New Roman" pitchFamily="18" charset="0"/>
              </a:rPr>
              <a:t>: Assist the patient into the supine position with knees bent, hips flexed, and feet resting apart and place the waterproof polyethylene sheet beneath the patient. </a:t>
            </a:r>
          </a:p>
          <a:p>
            <a:pPr>
              <a:lnSpc>
                <a:spcPct val="170000"/>
              </a:lnSpc>
            </a:pPr>
            <a:r>
              <a:rPr lang="en-US" sz="7200" b="1" dirty="0">
                <a:latin typeface="Times New Roman" pitchFamily="18" charset="0"/>
                <a:cs typeface="Times New Roman" pitchFamily="18" charset="0"/>
              </a:rPr>
              <a:t>Step 6</a:t>
            </a:r>
            <a:r>
              <a:rPr lang="en-US" sz="7200" dirty="0">
                <a:latin typeface="Times New Roman" pitchFamily="18" charset="0"/>
                <a:cs typeface="Times New Roman" pitchFamily="18" charset="0"/>
              </a:rPr>
              <a:t>: Perform hand hygiene. </a:t>
            </a:r>
          </a:p>
          <a:p>
            <a:pPr>
              <a:lnSpc>
                <a:spcPct val="170000"/>
              </a:lnSpc>
            </a:pPr>
            <a:r>
              <a:rPr lang="en-US" sz="7200" b="1" dirty="0">
                <a:latin typeface="Times New Roman" pitchFamily="18" charset="0"/>
                <a:cs typeface="Times New Roman" pitchFamily="18" charset="0"/>
              </a:rPr>
              <a:t>Step 7</a:t>
            </a:r>
            <a:r>
              <a:rPr lang="en-US" sz="7200" dirty="0">
                <a:latin typeface="Times New Roman" pitchFamily="18" charset="0"/>
                <a:cs typeface="Times New Roman" pitchFamily="18" charset="0"/>
              </a:rPr>
              <a:t>: Put non-sterile gloves on both hands.</a:t>
            </a:r>
          </a:p>
          <a:p>
            <a:pPr>
              <a:lnSpc>
                <a:spcPct val="170000"/>
              </a:lnSpc>
            </a:pPr>
            <a:r>
              <a:rPr lang="en-US" sz="7200" b="1" dirty="0">
                <a:latin typeface="Times New Roman" pitchFamily="18" charset="0"/>
                <a:cs typeface="Times New Roman" pitchFamily="18" charset="0"/>
              </a:rPr>
              <a:t>Step 8</a:t>
            </a:r>
            <a:r>
              <a:rPr lang="en-US" sz="7200" dirty="0">
                <a:latin typeface="Times New Roman" pitchFamily="18" charset="0"/>
                <a:cs typeface="Times New Roman" pitchFamily="18" charset="0"/>
              </a:rPr>
              <a:t>: Cover both thighs with a sterile drape with the opening in the drape revealing the area around the urethral opening. </a:t>
            </a:r>
          </a:p>
          <a:p>
            <a:pPr>
              <a:lnSpc>
                <a:spcPct val="170000"/>
              </a:lnSpc>
            </a:pPr>
            <a:r>
              <a:rPr lang="en-US" sz="7200" b="1" dirty="0">
                <a:latin typeface="Times New Roman" pitchFamily="18" charset="0"/>
                <a:cs typeface="Times New Roman" pitchFamily="18" charset="0"/>
              </a:rPr>
              <a:t>Step 9</a:t>
            </a:r>
            <a:r>
              <a:rPr lang="en-US" sz="7200" dirty="0">
                <a:latin typeface="Times New Roman" pitchFamily="18" charset="0"/>
                <a:cs typeface="Times New Roman" pitchFamily="18" charset="0"/>
              </a:rPr>
              <a:t>: For HCWs who are right-handed (dominant hand), stand on the patient’s right side (or on the left side if left-handed</a:t>
            </a:r>
            <a:r>
              <a:rPr lang="en-US" sz="6400" dirty="0">
                <a:latin typeface="Times New Roman" pitchFamily="18" charset="0"/>
                <a:cs typeface="Times New Roman" pitchFamily="18" charset="0"/>
              </a:rPr>
              <a:t>).</a:t>
            </a:r>
          </a:p>
          <a:p>
            <a:endParaRPr lang="en-US" dirty="0" smtClean="0"/>
          </a:p>
        </p:txBody>
      </p:sp>
      <p:sp>
        <p:nvSpPr>
          <p:cNvPr id="4" name="Slide Number Placeholder 3"/>
          <p:cNvSpPr>
            <a:spLocks noGrp="1"/>
          </p:cNvSpPr>
          <p:nvPr>
            <p:ph type="sldNum" sz="quarter" idx="12"/>
          </p:nvPr>
        </p:nvSpPr>
        <p:spPr/>
        <p:txBody>
          <a:bodyPr/>
          <a:lstStyle/>
          <a:p>
            <a:fld id="{1168C7B2-57B4-41C3-8046-875D4CCC2A44}" type="slidenum">
              <a:rPr lang="en-US" smtClean="0"/>
              <a:pPr/>
              <a:t>19</a:t>
            </a:fld>
            <a:endParaRPr lang="en-US"/>
          </a:p>
        </p:txBody>
      </p:sp>
    </p:spTree>
    <p:extLst>
      <p:ext uri="{BB962C8B-B14F-4D97-AF65-F5344CB8AC3E}">
        <p14:creationId xmlns:p14="http://schemas.microsoft.com/office/powerpoint/2010/main" val="3072886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3600" dirty="0" smtClean="0">
                <a:latin typeface="Times New Roman" pitchFamily="18" charset="0"/>
                <a:cs typeface="Times New Roman" pitchFamily="18" charset="0"/>
              </a:rPr>
              <a:t>Insertion</a:t>
            </a:r>
            <a:r>
              <a:rPr lang="en-US" sz="4400" dirty="0" smtClean="0">
                <a:latin typeface="Times New Roman" pitchFamily="18" charset="0"/>
                <a:cs typeface="Times New Roman" pitchFamily="18" charset="0"/>
              </a:rPr>
              <a:t>…</a:t>
            </a:r>
            <a:endParaRPr lang="en-US" sz="4400" dirty="0">
              <a:latin typeface="Times New Roman" pitchFamily="18" charset="0"/>
              <a:cs typeface="Times New Roman" pitchFamily="18" charset="0"/>
            </a:endParaRPr>
          </a:p>
        </p:txBody>
      </p:sp>
      <p:sp>
        <p:nvSpPr>
          <p:cNvPr id="3" name="Content Placeholder 2"/>
          <p:cNvSpPr>
            <a:spLocks noGrp="1"/>
          </p:cNvSpPr>
          <p:nvPr>
            <p:ph idx="1"/>
          </p:nvPr>
        </p:nvSpPr>
        <p:spPr>
          <a:xfrm>
            <a:off x="899319" y="1905000"/>
            <a:ext cx="10426393" cy="4632470"/>
          </a:xfrm>
        </p:spPr>
        <p:txBody>
          <a:bodyPr>
            <a:normAutofit fontScale="62500" lnSpcReduction="20000"/>
          </a:bodyPr>
          <a:lstStyle/>
          <a:p>
            <a:pPr>
              <a:lnSpc>
                <a:spcPct val="170000"/>
              </a:lnSpc>
            </a:pPr>
            <a:r>
              <a:rPr lang="en-US" b="1" dirty="0">
                <a:latin typeface="Times New Roman" pitchFamily="18" charset="0"/>
                <a:cs typeface="Times New Roman" pitchFamily="18" charset="0"/>
              </a:rPr>
              <a:t>Step 10a</a:t>
            </a:r>
            <a:r>
              <a:rPr lang="en-US" dirty="0">
                <a:latin typeface="Times New Roman" pitchFamily="18" charset="0"/>
                <a:cs typeface="Times New Roman" pitchFamily="18" charset="0"/>
              </a:rPr>
              <a:t>: For female patients, separate and hold the labia apart with the non-dominant hand to expose the urethral </a:t>
            </a:r>
            <a:r>
              <a:rPr lang="en-US" dirty="0" smtClean="0">
                <a:latin typeface="Times New Roman" pitchFamily="18" charset="0"/>
                <a:cs typeface="Times New Roman" pitchFamily="18" charset="0"/>
              </a:rPr>
              <a:t>opening. </a:t>
            </a:r>
          </a:p>
          <a:p>
            <a:pPr>
              <a:lnSpc>
                <a:spcPct val="170000"/>
              </a:lnSpc>
            </a:pPr>
            <a:r>
              <a:rPr lang="en-US" dirty="0" smtClean="0">
                <a:latin typeface="Times New Roman" pitchFamily="18" charset="0"/>
                <a:cs typeface="Times New Roman" pitchFamily="18" charset="0"/>
              </a:rPr>
              <a:t>Apply </a:t>
            </a:r>
            <a:r>
              <a:rPr lang="en-US" dirty="0">
                <a:latin typeface="Times New Roman" pitchFamily="18" charset="0"/>
                <a:cs typeface="Times New Roman" pitchFamily="18" charset="0"/>
              </a:rPr>
              <a:t>antiseptic by </a:t>
            </a:r>
            <a:r>
              <a:rPr lang="en-US" dirty="0">
                <a:solidFill>
                  <a:schemeClr val="tx1"/>
                </a:solidFill>
                <a:latin typeface="Times New Roman" pitchFamily="18" charset="0"/>
                <a:cs typeface="Times New Roman" pitchFamily="18" charset="0"/>
              </a:rPr>
              <a:t>moving from above, downward on one side, and then discarding the swab. Repeat on the other side, and lastly apply antiseptic </a:t>
            </a:r>
            <a:r>
              <a:rPr lang="en-US" dirty="0">
                <a:latin typeface="Times New Roman" pitchFamily="18" charset="0"/>
                <a:cs typeface="Times New Roman" pitchFamily="18" charset="0"/>
              </a:rPr>
              <a:t>at the center to clean the urethral </a:t>
            </a:r>
            <a:r>
              <a:rPr lang="en-US" dirty="0" smtClean="0">
                <a:latin typeface="Times New Roman" pitchFamily="18" charset="0"/>
                <a:cs typeface="Times New Roman" pitchFamily="18" charset="0"/>
              </a:rPr>
              <a:t>opening.</a:t>
            </a:r>
            <a:endParaRPr lang="en-US" dirty="0">
              <a:latin typeface="Times New Roman" pitchFamily="18" charset="0"/>
              <a:cs typeface="Times New Roman" pitchFamily="18" charset="0"/>
            </a:endParaRPr>
          </a:p>
          <a:p>
            <a:pPr>
              <a:lnSpc>
                <a:spcPct val="170000"/>
              </a:lnSpc>
            </a:pPr>
            <a:r>
              <a:rPr lang="en-US" b="1" dirty="0">
                <a:latin typeface="Times New Roman" pitchFamily="18" charset="0"/>
                <a:cs typeface="Times New Roman" pitchFamily="18" charset="0"/>
              </a:rPr>
              <a:t>Step 10b</a:t>
            </a:r>
            <a:r>
              <a:rPr lang="en-US" dirty="0">
                <a:latin typeface="Times New Roman" pitchFamily="18" charset="0"/>
                <a:cs typeface="Times New Roman" pitchFamily="18" charset="0"/>
              </a:rPr>
              <a:t>: For male patients,</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push back the foreskin for men who have not been circumcised, and hold the head of the penis with the non-dominant hand. </a:t>
            </a:r>
            <a:endParaRPr lang="en-US" dirty="0" smtClean="0">
              <a:latin typeface="Times New Roman" pitchFamily="18" charset="0"/>
              <a:cs typeface="Times New Roman" pitchFamily="18" charset="0"/>
            </a:endParaRPr>
          </a:p>
          <a:p>
            <a:pPr>
              <a:lnSpc>
                <a:spcPct val="170000"/>
              </a:lnSpc>
            </a:pPr>
            <a:r>
              <a:rPr lang="en-US" dirty="0" smtClean="0">
                <a:latin typeface="Times New Roman" pitchFamily="18" charset="0"/>
                <a:cs typeface="Times New Roman" pitchFamily="18" charset="0"/>
              </a:rPr>
              <a:t>Apply </a:t>
            </a:r>
            <a:r>
              <a:rPr lang="en-US" dirty="0">
                <a:latin typeface="Times New Roman" pitchFamily="18" charset="0"/>
                <a:cs typeface="Times New Roman" pitchFamily="18" charset="0"/>
              </a:rPr>
              <a:t>antiseptic in a </a:t>
            </a:r>
            <a:r>
              <a:rPr lang="en-US" dirty="0">
                <a:solidFill>
                  <a:schemeClr val="tx1"/>
                </a:solidFill>
                <a:latin typeface="Times New Roman" pitchFamily="18" charset="0"/>
                <a:cs typeface="Times New Roman" pitchFamily="18" charset="0"/>
              </a:rPr>
              <a:t>circular fashion</a:t>
            </a:r>
            <a:r>
              <a:rPr lang="en-US" dirty="0">
                <a:latin typeface="Times New Roman" pitchFamily="18" charset="0"/>
                <a:cs typeface="Times New Roman" pitchFamily="18" charset="0"/>
              </a:rPr>
              <a:t>, moving away from the urethral opening. Apply antiseptic solution two </a:t>
            </a:r>
            <a:r>
              <a:rPr lang="en-US" dirty="0" smtClean="0">
                <a:latin typeface="Times New Roman" pitchFamily="18" charset="0"/>
                <a:cs typeface="Times New Roman" pitchFamily="18" charset="0"/>
              </a:rPr>
              <a:t>times.</a:t>
            </a:r>
            <a:endParaRPr lang="en-US" dirty="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20</a:t>
            </a:fld>
            <a:endParaRPr lang="en-US"/>
          </a:p>
        </p:txBody>
      </p:sp>
    </p:spTree>
    <p:extLst>
      <p:ext uri="{BB962C8B-B14F-4D97-AF65-F5344CB8AC3E}">
        <p14:creationId xmlns:p14="http://schemas.microsoft.com/office/powerpoint/2010/main" val="2894371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2000" dirty="0">
                <a:latin typeface="Times New Roman" pitchFamily="18" charset="0"/>
                <a:cs typeface="Times New Roman" pitchFamily="18" charset="0"/>
              </a:rPr>
              <a:t>Cleaning Female and Male Genital Areas before Insertion of an Indwelling </a:t>
            </a:r>
            <a:r>
              <a:rPr lang="en-US" sz="2400" b="1" dirty="0">
                <a:latin typeface="Times New Roman" pitchFamily="18" charset="0"/>
                <a:cs typeface="Times New Roman" pitchFamily="18" charset="0"/>
              </a:rPr>
              <a:t>Catheter</a:t>
            </a:r>
            <a:endParaRPr lang="en-US" sz="3600" dirty="0">
              <a:latin typeface="Times New Roman" pitchFamily="18" charset="0"/>
              <a:cs typeface="Times New Roman" pitchFamily="18" charset="0"/>
            </a:endParaRPr>
          </a:p>
        </p:txBody>
      </p:sp>
      <p:pic>
        <p:nvPicPr>
          <p:cNvPr id="8" name="Picture 20" descr="Description: Description: The area around the vulva and the perineum is cleaned with an alcohol swab. The labia majora is gently pulled back to expose the urethral opening and the catheter is inserted."/>
          <p:cNvPicPr>
            <a:picLocks noChangeAspect="1" noChangeArrowheads="1"/>
          </p:cNvPicPr>
          <p:nvPr/>
        </p:nvPicPr>
        <p:blipFill>
          <a:blip r:embed="rId2">
            <a:extLst>
              <a:ext uri="{28A0092B-C50C-407E-A947-70E740481C1C}">
                <a14:useLocalDpi xmlns:a14="http://schemas.microsoft.com/office/drawing/2010/main" val="0"/>
              </a:ext>
            </a:extLst>
          </a:blip>
          <a:srcRect t="10962" r="57326" b="11330"/>
          <a:stretch>
            <a:fillRect/>
          </a:stretch>
        </p:blipFill>
        <p:spPr bwMode="auto">
          <a:xfrm>
            <a:off x="1207968" y="2145665"/>
            <a:ext cx="3702606" cy="3275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19" descr="Description: Description: http://www.brooksidepress.org/Products/Nursing_Fundamentals_II/images/MD0906_img_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2356" y="2145664"/>
            <a:ext cx="3661933" cy="3275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427308" y="5486370"/>
            <a:ext cx="4885279" cy="787010"/>
          </a:xfrm>
          <a:prstGeom prst="rect">
            <a:avLst/>
          </a:prstGeom>
        </p:spPr>
        <p:txBody>
          <a:bodyPr wrap="square">
            <a:spAutoFit/>
          </a:bodyPr>
          <a:lstStyle/>
          <a:p>
            <a:pPr>
              <a:lnSpc>
                <a:spcPct val="115000"/>
              </a:lnSpc>
            </a:pPr>
            <a:r>
              <a:rPr lang="en-US" sz="1795" b="1" dirty="0">
                <a:latin typeface="Times New Roman" panose="02020603050405020304" pitchFamily="18" charset="0"/>
                <a:ea typeface="Calibri" panose="020F0502020204030204" pitchFamily="34" charset="0"/>
                <a:cs typeface="Times New Roman" panose="02020603050405020304" pitchFamily="18" charset="0"/>
              </a:rPr>
              <a:t>Note:</a:t>
            </a:r>
            <a:r>
              <a:rPr lang="en-US" sz="1795" dirty="0">
                <a:latin typeface="Times New Roman" panose="02020603050405020304" pitchFamily="18" charset="0"/>
                <a:ea typeface="Calibri" panose="020F0502020204030204" pitchFamily="34" charset="0"/>
                <a:cs typeface="Times New Roman" panose="02020603050405020304" pitchFamily="18" charset="0"/>
              </a:rPr>
              <a:t> </a:t>
            </a:r>
            <a:r>
              <a:rPr lang="en-US" sz="1100" dirty="0">
                <a:latin typeface="Times New Roman" panose="02020603050405020304" pitchFamily="18" charset="0"/>
                <a:ea typeface="Calibri" panose="020F0502020204030204" pitchFamily="34" charset="0"/>
                <a:cs typeface="Times New Roman" panose="02020603050405020304" pitchFamily="18" charset="0"/>
              </a:rPr>
              <a:t>Wipe down one side of the urinary meatus, and discard the wipe. Using a sterile wipe, repeat on the opposite side of the urinary meatus, discard the wipe, and lastly, clean down the center. </a:t>
            </a:r>
            <a:endParaRPr lang="en-US" sz="1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6927317" y="5486369"/>
            <a:ext cx="4466188" cy="828753"/>
          </a:xfrm>
          <a:prstGeom prst="rect">
            <a:avLst/>
          </a:prstGeom>
        </p:spPr>
        <p:txBody>
          <a:bodyPr wrap="square">
            <a:spAutoFit/>
          </a:bodyPr>
          <a:lstStyle/>
          <a:p>
            <a:pPr>
              <a:lnSpc>
                <a:spcPct val="150000"/>
              </a:lnSpc>
            </a:pPr>
            <a:r>
              <a:rPr lang="en-US" sz="1100" b="1" dirty="0">
                <a:latin typeface="Times New Roman" panose="02020603050405020304" pitchFamily="18" charset="0"/>
                <a:ea typeface="Calibri" panose="020F0502020204030204" pitchFamily="34" charset="0"/>
              </a:rPr>
              <a:t>Note:</a:t>
            </a:r>
            <a:r>
              <a:rPr lang="en-US" sz="1100" dirty="0">
                <a:latin typeface="Times New Roman" panose="02020603050405020304" pitchFamily="18" charset="0"/>
                <a:ea typeface="Calibri" panose="020F0502020204030204" pitchFamily="34" charset="0"/>
              </a:rPr>
              <a:t> Clean the penis in a circular motion, starting at the tip of the penis and moving downward. Discard the wipe and repeat the cleaning with a new, sterile wipe.</a:t>
            </a:r>
            <a:endParaRPr lang="en-US" sz="1100" dirty="0"/>
          </a:p>
        </p:txBody>
      </p:sp>
      <p:sp>
        <p:nvSpPr>
          <p:cNvPr id="3" name="Slide Number Placeholder 2"/>
          <p:cNvSpPr>
            <a:spLocks noGrp="1"/>
          </p:cNvSpPr>
          <p:nvPr>
            <p:ph type="sldNum" sz="quarter" idx="12"/>
          </p:nvPr>
        </p:nvSpPr>
        <p:spPr/>
        <p:txBody>
          <a:bodyPr/>
          <a:lstStyle/>
          <a:p>
            <a:fld id="{1168C7B2-57B4-41C3-8046-875D4CCC2A44}" type="slidenum">
              <a:rPr lang="en-US" smtClean="0"/>
              <a:pPr/>
              <a:t>21</a:t>
            </a:fld>
            <a:endParaRPr lang="en-US"/>
          </a:p>
        </p:txBody>
      </p:sp>
    </p:spTree>
    <p:extLst>
      <p:ext uri="{BB962C8B-B14F-4D97-AF65-F5344CB8AC3E}">
        <p14:creationId xmlns:p14="http://schemas.microsoft.com/office/powerpoint/2010/main" val="442059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dirty="0" smtClean="0">
                <a:latin typeface="Times New Roman" pitchFamily="18" charset="0"/>
                <a:cs typeface="Times New Roman" pitchFamily="18" charset="0"/>
              </a:rPr>
              <a:t>Insertion…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a:lnSpc>
                <a:spcPct val="170000"/>
              </a:lnSpc>
            </a:pPr>
            <a:r>
              <a:rPr lang="en-US" b="1" dirty="0">
                <a:latin typeface="Times New Roman" pitchFamily="18" charset="0"/>
                <a:cs typeface="Times New Roman" pitchFamily="18" charset="0"/>
              </a:rPr>
              <a:t>STEP 11</a:t>
            </a:r>
            <a:r>
              <a:rPr lang="en-US" dirty="0">
                <a:latin typeface="Times New Roman" pitchFamily="18" charset="0"/>
                <a:cs typeface="Times New Roman" pitchFamily="18" charset="0"/>
              </a:rPr>
              <a:t>: Remove gloves.</a:t>
            </a:r>
          </a:p>
          <a:p>
            <a:pPr>
              <a:lnSpc>
                <a:spcPct val="170000"/>
              </a:lnSpc>
            </a:pPr>
            <a:r>
              <a:rPr lang="en-US" b="1" dirty="0">
                <a:latin typeface="Times New Roman" pitchFamily="18" charset="0"/>
                <a:cs typeface="Times New Roman" pitchFamily="18" charset="0"/>
              </a:rPr>
              <a:t>STEP 12</a:t>
            </a:r>
            <a:r>
              <a:rPr lang="en-US" dirty="0">
                <a:latin typeface="Times New Roman" pitchFamily="18" charset="0"/>
                <a:cs typeface="Times New Roman" pitchFamily="18" charset="0"/>
              </a:rPr>
              <a:t>: Perform hand hygiene and put on sterile gloves.</a:t>
            </a:r>
          </a:p>
          <a:p>
            <a:pPr>
              <a:lnSpc>
                <a:spcPct val="170000"/>
              </a:lnSpc>
            </a:pPr>
            <a:r>
              <a:rPr lang="en-US" b="1" dirty="0">
                <a:latin typeface="Times New Roman" pitchFamily="18" charset="0"/>
                <a:cs typeface="Times New Roman" pitchFamily="18" charset="0"/>
              </a:rPr>
              <a:t>STEP 13</a:t>
            </a:r>
            <a:r>
              <a:rPr lang="en-US" dirty="0">
                <a:latin typeface="Times New Roman" pitchFamily="18" charset="0"/>
                <a:cs typeface="Times New Roman" pitchFamily="18" charset="0"/>
              </a:rPr>
              <a:t>: If inserting a </a:t>
            </a:r>
            <a:r>
              <a:rPr lang="en-US" b="1" dirty="0">
                <a:latin typeface="Times New Roman" pitchFamily="18" charset="0"/>
                <a:cs typeface="Times New Roman" pitchFamily="18" charset="0"/>
              </a:rPr>
              <a:t>straight catheter</a:t>
            </a:r>
            <a:r>
              <a:rPr lang="en-US" dirty="0">
                <a:latin typeface="Times New Roman" pitchFamily="18" charset="0"/>
                <a:cs typeface="Times New Roman" pitchFamily="18" charset="0"/>
              </a:rPr>
              <a:t>, grasp the catheter about 5 cm (2 inches) from the catheter tip with the dominant hand and place the other end in the urine collection container.</a:t>
            </a:r>
          </a:p>
          <a:p>
            <a:pPr>
              <a:lnSpc>
                <a:spcPct val="170000"/>
              </a:lnSpc>
            </a:pPr>
            <a:r>
              <a:rPr lang="en-US" b="1" dirty="0">
                <a:latin typeface="Times New Roman" pitchFamily="18" charset="0"/>
                <a:cs typeface="Times New Roman" pitchFamily="18" charset="0"/>
              </a:rPr>
              <a:t>STEP 14a</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For women</a:t>
            </a:r>
            <a:r>
              <a:rPr lang="en-US" dirty="0">
                <a:latin typeface="Times New Roman" pitchFamily="18" charset="0"/>
                <a:cs typeface="Times New Roman" pitchFamily="18" charset="0"/>
              </a:rPr>
              <a:t>, apply lubricant jelly on the outer surface of the catheter and gently insert </a:t>
            </a:r>
            <a:r>
              <a:rPr lang="en-US" dirty="0" smtClean="0">
                <a:latin typeface="Times New Roman" pitchFamily="18" charset="0"/>
                <a:cs typeface="Times New Roman" pitchFamily="18" charset="0"/>
              </a:rPr>
              <a:t>it about </a:t>
            </a:r>
            <a:r>
              <a:rPr lang="en-US" dirty="0">
                <a:latin typeface="Times New Roman" pitchFamily="18" charset="0"/>
                <a:cs typeface="Times New Roman" pitchFamily="18" charset="0"/>
              </a:rPr>
              <a:t>5–8 cm </a:t>
            </a:r>
            <a:r>
              <a:rPr lang="en-US" dirty="0" smtClean="0">
                <a:latin typeface="Times New Roman" pitchFamily="18" charset="0"/>
                <a:cs typeface="Times New Roman" pitchFamily="18" charset="0"/>
              </a:rPr>
              <a:t>or </a:t>
            </a:r>
            <a:r>
              <a:rPr lang="en-US" dirty="0">
                <a:latin typeface="Times New Roman" pitchFamily="18" charset="0"/>
                <a:cs typeface="Times New Roman" pitchFamily="18" charset="0"/>
              </a:rPr>
              <a:t>until urine flows. For children, insert only about 3 </a:t>
            </a:r>
            <a:r>
              <a:rPr lang="en-US" dirty="0" smtClean="0">
                <a:latin typeface="Times New Roman" pitchFamily="18" charset="0"/>
                <a:cs typeface="Times New Roman" pitchFamily="18" charset="0"/>
              </a:rPr>
              <a:t>cm.</a:t>
            </a:r>
            <a:endParaRPr lang="en-US" dirty="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22</a:t>
            </a:fld>
            <a:endParaRPr lang="en-US"/>
          </a:p>
        </p:txBody>
      </p:sp>
    </p:spTree>
    <p:extLst>
      <p:ext uri="{BB962C8B-B14F-4D97-AF65-F5344CB8AC3E}">
        <p14:creationId xmlns:p14="http://schemas.microsoft.com/office/powerpoint/2010/main" val="1250246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400" dirty="0" smtClean="0">
                <a:latin typeface="Times New Roman" pitchFamily="18" charset="0"/>
                <a:cs typeface="Times New Roman" pitchFamily="18" charset="0"/>
              </a:rPr>
              <a:t>Insertion…</a:t>
            </a:r>
            <a:endParaRPr lang="en-US" sz="44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pPr>
              <a:lnSpc>
                <a:spcPct val="150000"/>
              </a:lnSpc>
            </a:pPr>
            <a:r>
              <a:rPr lang="en-US" sz="2400" b="1" dirty="0">
                <a:latin typeface="Times New Roman" pitchFamily="18" charset="0"/>
                <a:cs typeface="Times New Roman" pitchFamily="18" charset="0"/>
              </a:rPr>
              <a:t>STEP 14b</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For men</a:t>
            </a:r>
            <a:r>
              <a:rPr lang="en-US" sz="2400" dirty="0">
                <a:latin typeface="Times New Roman" pitchFamily="18" charset="0"/>
                <a:cs typeface="Times New Roman" pitchFamily="18" charset="0"/>
              </a:rPr>
              <a:t>, apply lubricant jelly on the outer surface of the catheter. Using the non-dominant hand, hold the penis with slight upward tension and perpendicular to the patient’s </a:t>
            </a:r>
            <a:r>
              <a:rPr lang="en-US" sz="2400" dirty="0" smtClean="0">
                <a:latin typeface="Times New Roman" pitchFamily="18" charset="0"/>
                <a:cs typeface="Times New Roman" pitchFamily="18" charset="0"/>
              </a:rPr>
              <a:t>body</a:t>
            </a:r>
          </a:p>
          <a:p>
            <a:pPr>
              <a:lnSpc>
                <a:spcPct val="150000"/>
              </a:lnSpc>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G</a:t>
            </a:r>
            <a:r>
              <a:rPr lang="en-US" sz="2400" dirty="0" smtClean="0">
                <a:latin typeface="Times New Roman" pitchFamily="18" charset="0"/>
                <a:cs typeface="Times New Roman" pitchFamily="18" charset="0"/>
              </a:rPr>
              <a:t>ently </a:t>
            </a:r>
            <a:r>
              <a:rPr lang="en-US" sz="2400" dirty="0">
                <a:latin typeface="Times New Roman" pitchFamily="18" charset="0"/>
                <a:cs typeface="Times New Roman" pitchFamily="18" charset="0"/>
              </a:rPr>
              <a:t>insert the lubricated catheter with the dominant </a:t>
            </a:r>
            <a:r>
              <a:rPr lang="en-US" sz="2400" dirty="0" smtClean="0">
                <a:latin typeface="Times New Roman" pitchFamily="18" charset="0"/>
                <a:cs typeface="Times New Roman" pitchFamily="18" charset="0"/>
              </a:rPr>
              <a:t>hand </a:t>
            </a:r>
            <a:r>
              <a:rPr lang="en-US" sz="2400" dirty="0">
                <a:latin typeface="Times New Roman" pitchFamily="18" charset="0"/>
                <a:cs typeface="Times New Roman" pitchFamily="18" charset="0"/>
              </a:rPr>
              <a:t>about 18–22 </a:t>
            </a:r>
            <a:r>
              <a:rPr lang="en-US" sz="2400" dirty="0" smtClean="0">
                <a:latin typeface="Times New Roman" pitchFamily="18" charset="0"/>
                <a:cs typeface="Times New Roman" pitchFamily="18" charset="0"/>
              </a:rPr>
              <a:t>cm, </a:t>
            </a:r>
            <a:r>
              <a:rPr lang="en-US" sz="2400" dirty="0">
                <a:latin typeface="Times New Roman" pitchFamily="18" charset="0"/>
                <a:cs typeface="Times New Roman" pitchFamily="18" charset="0"/>
              </a:rPr>
              <a:t>lower the penis 90 degrees toward the patient’s toes, advance the catheter a little more, and rotate the catheter until urine flows. For children, insert only about 5–8 </a:t>
            </a:r>
            <a:r>
              <a:rPr lang="en-US" sz="2400" dirty="0" smtClean="0">
                <a:latin typeface="Times New Roman" pitchFamily="18" charset="0"/>
                <a:cs typeface="Times New Roman" pitchFamily="18" charset="0"/>
              </a:rPr>
              <a:t>cm.</a:t>
            </a:r>
            <a:endParaRPr lang="en-US" sz="2400" dirty="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23</a:t>
            </a:fld>
            <a:endParaRPr lang="en-US"/>
          </a:p>
        </p:txBody>
      </p:sp>
    </p:spTree>
    <p:extLst>
      <p:ext uri="{BB962C8B-B14F-4D97-AF65-F5344CB8AC3E}">
        <p14:creationId xmlns:p14="http://schemas.microsoft.com/office/powerpoint/2010/main" val="1521924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127" y="372706"/>
            <a:ext cx="10489585" cy="1303694"/>
          </a:xfrm>
        </p:spPr>
        <p:txBody>
          <a:bodyPr>
            <a:noAutofit/>
          </a:bodyPr>
          <a:lstStyle/>
          <a:p>
            <a:pPr>
              <a:lnSpc>
                <a:spcPct val="150000"/>
              </a:lnSpc>
            </a:pPr>
            <a:r>
              <a:rPr lang="en-US" sz="3600" b="1" dirty="0" smtClean="0">
                <a:latin typeface="Times New Roman" pitchFamily="18" charset="0"/>
                <a:cs typeface="Times New Roman" pitchFamily="18" charset="0"/>
              </a:rPr>
              <a:t/>
            </a:r>
            <a:br>
              <a:rPr lang="en-US" sz="3600" b="1" dirty="0" smtClean="0">
                <a:latin typeface="Times New Roman" pitchFamily="18" charset="0"/>
                <a:cs typeface="Times New Roman" pitchFamily="18" charset="0"/>
              </a:rPr>
            </a:br>
            <a:r>
              <a:rPr lang="en-US" sz="3200" b="1" dirty="0" smtClean="0">
                <a:latin typeface="Times New Roman" pitchFamily="18" charset="0"/>
                <a:cs typeface="Times New Roman" pitchFamily="18" charset="0"/>
              </a:rPr>
              <a:t>Catheterization </a:t>
            </a:r>
            <a:r>
              <a:rPr lang="en-US" sz="3200" b="1" dirty="0">
                <a:latin typeface="Times New Roman" pitchFamily="18" charset="0"/>
                <a:cs typeface="Times New Roman" pitchFamily="18" charset="0"/>
              </a:rPr>
              <a:t>Techniques for Female and Male Patients</a:t>
            </a:r>
            <a:endParaRPr lang="en-US" sz="3200" dirty="0">
              <a:latin typeface="Times New Roman" pitchFamily="18" charset="0"/>
              <a:cs typeface="Times New Roman" pitchFamily="18" charset="0"/>
            </a:endParaRPr>
          </a:p>
        </p:txBody>
      </p:sp>
      <p:pic>
        <p:nvPicPr>
          <p:cNvPr id="6" name="Picture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8902" y="2209799"/>
            <a:ext cx="8572017" cy="3352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1168C7B2-57B4-41C3-8046-875D4CCC2A44}" type="slidenum">
              <a:rPr lang="en-US" smtClean="0"/>
              <a:pPr/>
              <a:t>24</a:t>
            </a:fld>
            <a:endParaRPr lang="en-US"/>
          </a:p>
        </p:txBody>
      </p:sp>
    </p:spTree>
    <p:extLst>
      <p:ext uri="{BB962C8B-B14F-4D97-AF65-F5344CB8AC3E}">
        <p14:creationId xmlns:p14="http://schemas.microsoft.com/office/powerpoint/2010/main" val="35446407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5273" y="1030778"/>
            <a:ext cx="9042553" cy="950422"/>
          </a:xfrm>
        </p:spPr>
        <p:txBody>
          <a:bodyPr/>
          <a:lstStyle/>
          <a:p>
            <a:pPr>
              <a:lnSpc>
                <a:spcPct val="150000"/>
              </a:lnSpc>
            </a:pPr>
            <a:r>
              <a:rPr lang="en-US" sz="4000" dirty="0" smtClean="0">
                <a:latin typeface="Times New Roman" pitchFamily="18" charset="0"/>
                <a:cs typeface="Times New Roman" pitchFamily="18" charset="0"/>
              </a:rPr>
              <a:t>Insertion…</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1508920" y="2209800"/>
            <a:ext cx="9098908" cy="3725333"/>
          </a:xfrm>
        </p:spPr>
        <p:txBody>
          <a:bodyPr>
            <a:normAutofit fontScale="25000" lnSpcReduction="20000"/>
          </a:bodyPr>
          <a:lstStyle/>
          <a:p>
            <a:pPr>
              <a:lnSpc>
                <a:spcPct val="170000"/>
              </a:lnSpc>
            </a:pPr>
            <a:r>
              <a:rPr lang="en-US" sz="6400" b="1" dirty="0" smtClean="0">
                <a:latin typeface="Times New Roman" pitchFamily="18" charset="0"/>
                <a:cs typeface="Times New Roman" pitchFamily="18" charset="0"/>
              </a:rPr>
              <a:t>STEP 15</a:t>
            </a:r>
            <a:r>
              <a:rPr lang="en-US" sz="6400" dirty="0" smtClean="0">
                <a:latin typeface="Times New Roman" pitchFamily="18" charset="0"/>
                <a:cs typeface="Times New Roman" pitchFamily="18" charset="0"/>
              </a:rPr>
              <a:t>: If inserting an indwelling catheter, push another 5 cm after urine appears and have another trained HCW wearing sterile gloves connect the catheter to the urine collection tubing if not using a closed system. Always ensure that urine is flowing before filling the balloon. </a:t>
            </a:r>
          </a:p>
          <a:p>
            <a:pPr>
              <a:lnSpc>
                <a:spcPct val="170000"/>
              </a:lnSpc>
            </a:pPr>
            <a:r>
              <a:rPr lang="en-US" sz="6400" b="1" dirty="0" smtClean="0">
                <a:latin typeface="Times New Roman" pitchFamily="18" charset="0"/>
                <a:cs typeface="Times New Roman" pitchFamily="18" charset="0"/>
              </a:rPr>
              <a:t>STEP 16: </a:t>
            </a:r>
            <a:endParaRPr lang="en-US" sz="6400" dirty="0" smtClean="0">
              <a:latin typeface="Times New Roman" pitchFamily="18" charset="0"/>
              <a:cs typeface="Times New Roman" pitchFamily="18" charset="0"/>
            </a:endParaRPr>
          </a:p>
          <a:p>
            <a:pPr>
              <a:lnSpc>
                <a:spcPct val="170000"/>
              </a:lnSpc>
            </a:pPr>
            <a:r>
              <a:rPr lang="en-US" sz="6400" b="1" dirty="0" smtClean="0">
                <a:latin typeface="Times New Roman" pitchFamily="18" charset="0"/>
                <a:cs typeface="Times New Roman" pitchFamily="18" charset="0"/>
              </a:rPr>
              <a:t>For an indwelling catheter</a:t>
            </a:r>
            <a:r>
              <a:rPr lang="en-US" sz="6400" dirty="0" smtClean="0">
                <a:latin typeface="Times New Roman" pitchFamily="18" charset="0"/>
                <a:cs typeface="Times New Roman" pitchFamily="18" charset="0"/>
              </a:rPr>
              <a:t>, fill the balloon as per the manufacturer’s instructions and pull out gently to feel resistance.</a:t>
            </a:r>
          </a:p>
          <a:p>
            <a:pPr>
              <a:lnSpc>
                <a:spcPct val="170000"/>
              </a:lnSpc>
            </a:pPr>
            <a:r>
              <a:rPr lang="en-US" sz="6400" b="1" dirty="0" smtClean="0">
                <a:latin typeface="Times New Roman" pitchFamily="18" charset="0"/>
                <a:cs typeface="Times New Roman" pitchFamily="18" charset="0"/>
              </a:rPr>
              <a:t>For </a:t>
            </a:r>
            <a:r>
              <a:rPr lang="en-US" sz="6400" b="1" dirty="0">
                <a:latin typeface="Times New Roman" pitchFamily="18" charset="0"/>
                <a:cs typeface="Times New Roman" pitchFamily="18" charset="0"/>
              </a:rPr>
              <a:t>straight (in-and-out) catheterization</a:t>
            </a:r>
            <a:r>
              <a:rPr lang="en-US" sz="6400" dirty="0">
                <a:latin typeface="Times New Roman" pitchFamily="18" charset="0"/>
                <a:cs typeface="Times New Roman" pitchFamily="18" charset="0"/>
              </a:rPr>
              <a:t>, allow the urine to drain slowly into the collection container and then gently remove the catheter.</a:t>
            </a:r>
          </a:p>
          <a:p>
            <a:pPr>
              <a:lnSpc>
                <a:spcPct val="170000"/>
              </a:lnSpc>
            </a:pPr>
            <a:r>
              <a:rPr lang="en-US" sz="6400" b="1" dirty="0">
                <a:latin typeface="Times New Roman" pitchFamily="18" charset="0"/>
                <a:cs typeface="Times New Roman" pitchFamily="18" charset="0"/>
              </a:rPr>
              <a:t>STEP 17</a:t>
            </a:r>
            <a:r>
              <a:rPr lang="en-US" sz="6400" dirty="0">
                <a:latin typeface="Times New Roman" pitchFamily="18" charset="0"/>
                <a:cs typeface="Times New Roman" pitchFamily="18" charset="0"/>
              </a:rPr>
              <a:t>: Secure the catheter to the patient’s thigh (for women) or lower abdomen (for men</a:t>
            </a:r>
            <a:r>
              <a:rPr lang="en-US" dirty="0"/>
              <a:t>)</a:t>
            </a:r>
          </a:p>
        </p:txBody>
      </p:sp>
      <p:sp>
        <p:nvSpPr>
          <p:cNvPr id="4" name="Slide Number Placeholder 3"/>
          <p:cNvSpPr>
            <a:spLocks noGrp="1"/>
          </p:cNvSpPr>
          <p:nvPr>
            <p:ph type="sldNum" sz="quarter" idx="12"/>
          </p:nvPr>
        </p:nvSpPr>
        <p:spPr/>
        <p:txBody>
          <a:bodyPr/>
          <a:lstStyle/>
          <a:p>
            <a:fld id="{1168C7B2-57B4-41C3-8046-875D4CCC2A44}" type="slidenum">
              <a:rPr lang="en-US" smtClean="0"/>
              <a:pPr/>
              <a:t>25</a:t>
            </a:fld>
            <a:endParaRPr lang="en-US"/>
          </a:p>
        </p:txBody>
      </p:sp>
    </p:spTree>
    <p:extLst>
      <p:ext uri="{BB962C8B-B14F-4D97-AF65-F5344CB8AC3E}">
        <p14:creationId xmlns:p14="http://schemas.microsoft.com/office/powerpoint/2010/main" val="134044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3600" b="1" dirty="0">
                <a:latin typeface="Times New Roman" pitchFamily="18" charset="0"/>
                <a:cs typeface="Times New Roman" pitchFamily="18" charset="0"/>
              </a:rPr>
              <a:t>Securing a Female Indwelling Catheter </a:t>
            </a:r>
            <a:endParaRPr lang="en-US" sz="3600" dirty="0">
              <a:latin typeface="Times New Roman" pitchFamily="18" charset="0"/>
              <a:cs typeface="Times New Roman" pitchFamily="18" charset="0"/>
            </a:endParaRPr>
          </a:p>
        </p:txBody>
      </p:sp>
      <p:pic>
        <p:nvPicPr>
          <p:cNvPr id="4098" name="Picture 17" descr="Description: Description: http://www.brooksidepress.org/Products/Nursing_Fundamentals_II/images/MD0906_img_14_25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6719" y="2667000"/>
            <a:ext cx="5862514"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1168C7B2-57B4-41C3-8046-875D4CCC2A44}" type="slidenum">
              <a:rPr lang="en-US" smtClean="0"/>
              <a:pPr/>
              <a:t>26</a:t>
            </a:fld>
            <a:endParaRPr lang="en-US"/>
          </a:p>
        </p:txBody>
      </p:sp>
    </p:spTree>
    <p:extLst>
      <p:ext uri="{BB962C8B-B14F-4D97-AF65-F5344CB8AC3E}">
        <p14:creationId xmlns:p14="http://schemas.microsoft.com/office/powerpoint/2010/main" val="3670196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latin typeface="Times New Roman" pitchFamily="18" charset="0"/>
                <a:cs typeface="Times New Roman" pitchFamily="18" charset="0"/>
              </a:rPr>
              <a:t>Insertion…</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62500" lnSpcReduction="20000"/>
          </a:bodyPr>
          <a:lstStyle/>
          <a:p>
            <a:pPr>
              <a:lnSpc>
                <a:spcPct val="170000"/>
              </a:lnSpc>
            </a:pPr>
            <a:r>
              <a:rPr lang="en-US" b="1" dirty="0">
                <a:latin typeface="Times New Roman" pitchFamily="18" charset="0"/>
                <a:cs typeface="Times New Roman" pitchFamily="18" charset="0"/>
              </a:rPr>
              <a:t>STEP 18</a:t>
            </a:r>
            <a:r>
              <a:rPr lang="en-US" dirty="0">
                <a:latin typeface="Times New Roman" pitchFamily="18" charset="0"/>
                <a:cs typeface="Times New Roman" pitchFamily="18" charset="0"/>
              </a:rPr>
              <a:t>: Place soiled items, including the straight catheter, in a plastic bag or leak-proof, covered container for contaminated waste.</a:t>
            </a:r>
          </a:p>
          <a:p>
            <a:pPr>
              <a:lnSpc>
                <a:spcPct val="170000"/>
              </a:lnSpc>
            </a:pPr>
            <a:r>
              <a:rPr lang="en-US" b="1" dirty="0">
                <a:latin typeface="Times New Roman" pitchFamily="18" charset="0"/>
                <a:cs typeface="Times New Roman" pitchFamily="18" charset="0"/>
              </a:rPr>
              <a:t>STEP 19</a:t>
            </a:r>
            <a:r>
              <a:rPr lang="en-US" dirty="0">
                <a:latin typeface="Times New Roman" pitchFamily="18" charset="0"/>
                <a:cs typeface="Times New Roman" pitchFamily="18" charset="0"/>
              </a:rPr>
              <a:t>: Ensure that the patient is left dry and comfortable.</a:t>
            </a:r>
          </a:p>
          <a:p>
            <a:pPr>
              <a:lnSpc>
                <a:spcPct val="170000"/>
              </a:lnSpc>
            </a:pPr>
            <a:r>
              <a:rPr lang="en-US" b="1" dirty="0">
                <a:latin typeface="Times New Roman" pitchFamily="18" charset="0"/>
                <a:cs typeface="Times New Roman" pitchFamily="18" charset="0"/>
              </a:rPr>
              <a:t>STEP 20</a:t>
            </a:r>
            <a:r>
              <a:rPr lang="en-US" dirty="0">
                <a:latin typeface="Times New Roman" pitchFamily="18" charset="0"/>
                <a:cs typeface="Times New Roman" pitchFamily="18" charset="0"/>
              </a:rPr>
              <a:t>: Remove gloves and place them in a plastic bag or container for contaminated waste.</a:t>
            </a:r>
          </a:p>
          <a:p>
            <a:pPr>
              <a:lnSpc>
                <a:spcPct val="170000"/>
              </a:lnSpc>
            </a:pPr>
            <a:r>
              <a:rPr lang="en-US" b="1" dirty="0">
                <a:latin typeface="Times New Roman" pitchFamily="18" charset="0"/>
                <a:cs typeface="Times New Roman" pitchFamily="18" charset="0"/>
              </a:rPr>
              <a:t>STEP 21</a:t>
            </a:r>
            <a:r>
              <a:rPr lang="en-US" dirty="0">
                <a:latin typeface="Times New Roman" pitchFamily="18" charset="0"/>
                <a:cs typeface="Times New Roman" pitchFamily="18" charset="0"/>
              </a:rPr>
              <a:t>: Perform hand hygiene.</a:t>
            </a:r>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27</a:t>
            </a:fld>
            <a:endParaRPr lang="en-US"/>
          </a:p>
        </p:txBody>
      </p:sp>
    </p:spTree>
    <p:extLst>
      <p:ext uri="{BB962C8B-B14F-4D97-AF65-F5344CB8AC3E}">
        <p14:creationId xmlns:p14="http://schemas.microsoft.com/office/powerpoint/2010/main" val="2859755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5273" y="1030778"/>
            <a:ext cx="9042553" cy="950422"/>
          </a:xfrm>
        </p:spPr>
        <p:txBody>
          <a:bodyPr/>
          <a:lstStyle/>
          <a:p>
            <a:pPr>
              <a:lnSpc>
                <a:spcPct val="150000"/>
              </a:lnSpc>
            </a:pPr>
            <a:r>
              <a:rPr lang="en-US" sz="3200" b="1" dirty="0" smtClean="0">
                <a:latin typeface="Times New Roman" pitchFamily="18" charset="0"/>
                <a:cs typeface="Times New Roman" pitchFamily="18" charset="0"/>
              </a:rPr>
              <a:t>Removal or Replacement of a Urinary Catheter</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1585119" y="2286000"/>
            <a:ext cx="9022708" cy="3649133"/>
          </a:xfrm>
        </p:spPr>
        <p:txBody>
          <a:bodyPr>
            <a:normAutofit fontScale="25000" lnSpcReduction="20000"/>
          </a:bodyPr>
          <a:lstStyle/>
          <a:p>
            <a:pPr>
              <a:lnSpc>
                <a:spcPct val="170000"/>
              </a:lnSpc>
            </a:pPr>
            <a:r>
              <a:rPr lang="en-US" sz="7200" b="1" dirty="0" smtClean="0">
                <a:latin typeface="Times New Roman" pitchFamily="18" charset="0"/>
                <a:cs typeface="Times New Roman" pitchFamily="18" charset="0"/>
              </a:rPr>
              <a:t>STEP </a:t>
            </a:r>
            <a:r>
              <a:rPr lang="en-US" sz="7200" b="1" dirty="0">
                <a:latin typeface="Times New Roman" pitchFamily="18" charset="0"/>
                <a:cs typeface="Times New Roman" pitchFamily="18" charset="0"/>
              </a:rPr>
              <a:t>1</a:t>
            </a:r>
            <a:r>
              <a:rPr lang="en-US" sz="7200" dirty="0">
                <a:latin typeface="Times New Roman" pitchFamily="18" charset="0"/>
                <a:cs typeface="Times New Roman" pitchFamily="18" charset="0"/>
              </a:rPr>
              <a:t>: Make sure that all items are available </a:t>
            </a:r>
            <a:r>
              <a:rPr lang="en-US" sz="7200" dirty="0" smtClean="0">
                <a:latin typeface="Times New Roman" pitchFamily="18" charset="0"/>
                <a:cs typeface="Times New Roman" pitchFamily="18" charset="0"/>
              </a:rPr>
              <a:t>if </a:t>
            </a:r>
            <a:r>
              <a:rPr lang="en-US" sz="7200" dirty="0">
                <a:latin typeface="Times New Roman" pitchFamily="18" charset="0"/>
                <a:cs typeface="Times New Roman" pitchFamily="18" charset="0"/>
              </a:rPr>
              <a:t>replacing an indwelling catheter, including:</a:t>
            </a:r>
          </a:p>
          <a:p>
            <a:pPr lvl="0">
              <a:lnSpc>
                <a:spcPct val="170000"/>
              </a:lnSpc>
            </a:pPr>
            <a:r>
              <a:rPr lang="en-US" sz="7200" dirty="0">
                <a:latin typeface="Times New Roman" pitchFamily="18" charset="0"/>
                <a:cs typeface="Times New Roman" pitchFamily="18" charset="0"/>
              </a:rPr>
              <a:t>A pair of non-sterile gloves (if replacing the catheter, a pair of sterile gloves will be needed as well)</a:t>
            </a:r>
            <a:endParaRPr lang="en-US" sz="7200" dirty="0" smtClean="0">
              <a:effectLst/>
              <a:latin typeface="Times New Roman" pitchFamily="18" charset="0"/>
              <a:cs typeface="Times New Roman" pitchFamily="18" charset="0"/>
            </a:endParaRPr>
          </a:p>
          <a:p>
            <a:pPr lvl="0">
              <a:lnSpc>
                <a:spcPct val="170000"/>
              </a:lnSpc>
            </a:pPr>
            <a:r>
              <a:rPr lang="en-US" sz="7200" dirty="0">
                <a:latin typeface="Times New Roman" pitchFamily="18" charset="0"/>
                <a:cs typeface="Times New Roman" pitchFamily="18" charset="0"/>
              </a:rPr>
              <a:t>A sterile syringe for removing fluid from the catheter balloon</a:t>
            </a:r>
            <a:endParaRPr lang="en-US" sz="7200" dirty="0" smtClean="0">
              <a:effectLst/>
              <a:latin typeface="Times New Roman" pitchFamily="18" charset="0"/>
              <a:cs typeface="Times New Roman" pitchFamily="18" charset="0"/>
            </a:endParaRPr>
          </a:p>
          <a:p>
            <a:pPr lvl="0">
              <a:lnSpc>
                <a:spcPct val="170000"/>
              </a:lnSpc>
            </a:pPr>
            <a:r>
              <a:rPr lang="en-US" sz="7200" dirty="0">
                <a:latin typeface="Times New Roman" pitchFamily="18" charset="0"/>
                <a:cs typeface="Times New Roman" pitchFamily="18" charset="0"/>
              </a:rPr>
              <a:t>Sponge forceps with gauze squares (2 inches x 2 inches) or large, cotton applicators</a:t>
            </a:r>
            <a:endParaRPr lang="en-US" sz="7200" dirty="0" smtClean="0">
              <a:effectLst/>
              <a:latin typeface="Times New Roman" pitchFamily="18" charset="0"/>
              <a:cs typeface="Times New Roman" pitchFamily="18" charset="0"/>
            </a:endParaRPr>
          </a:p>
          <a:p>
            <a:pPr lvl="0">
              <a:lnSpc>
                <a:spcPct val="170000"/>
              </a:lnSpc>
            </a:pPr>
            <a:r>
              <a:rPr lang="en-US" sz="7200" dirty="0">
                <a:latin typeface="Times New Roman" pitchFamily="18" charset="0"/>
                <a:cs typeface="Times New Roman" pitchFamily="18" charset="0"/>
              </a:rPr>
              <a:t>A plastic bag for contaminated waste or a leak-proof, covered waste container for disposal of contaminated items</a:t>
            </a:r>
            <a:endParaRPr lang="en-US" sz="7200" dirty="0" smtClean="0">
              <a:effectLst/>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28</a:t>
            </a:fld>
            <a:endParaRPr lang="en-US"/>
          </a:p>
        </p:txBody>
      </p:sp>
    </p:spTree>
    <p:extLst>
      <p:ext uri="{BB962C8B-B14F-4D97-AF65-F5344CB8AC3E}">
        <p14:creationId xmlns:p14="http://schemas.microsoft.com/office/powerpoint/2010/main" val="1157559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smtClean="0">
                <a:latin typeface="Times New Roman" pitchFamily="18" charset="0"/>
                <a:cs typeface="Times New Roman" pitchFamily="18" charset="0"/>
              </a:rPr>
              <a:t>Removal or replacement….</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a:lnSpc>
                <a:spcPct val="170000"/>
              </a:lnSpc>
            </a:pPr>
            <a:r>
              <a:rPr lang="en-US" b="1" dirty="0" smtClean="0">
                <a:latin typeface="Times New Roman" pitchFamily="18" charset="0"/>
                <a:cs typeface="Times New Roman" pitchFamily="18" charset="0"/>
              </a:rPr>
              <a:t>STEP 2</a:t>
            </a:r>
            <a:r>
              <a:rPr lang="en-US" dirty="0" smtClean="0">
                <a:latin typeface="Times New Roman" pitchFamily="18" charset="0"/>
                <a:cs typeface="Times New Roman" pitchFamily="18" charset="0"/>
              </a:rPr>
              <a:t>: Have the patient wash the urethral area (women) or the head of the penis (men) with soap and water, or do this step for them. Perform hand hygiene and wear a pair of non-sterile gloves. Remove and dispose of the gloves after cleaning.</a:t>
            </a:r>
          </a:p>
          <a:p>
            <a:pPr>
              <a:lnSpc>
                <a:spcPct val="170000"/>
              </a:lnSpc>
            </a:pPr>
            <a:r>
              <a:rPr lang="en-US" b="1" dirty="0" smtClean="0">
                <a:latin typeface="Times New Roman" pitchFamily="18" charset="0"/>
                <a:cs typeface="Times New Roman" pitchFamily="18" charset="0"/>
              </a:rPr>
              <a:t>STEP 3</a:t>
            </a:r>
            <a:r>
              <a:rPr lang="en-US" dirty="0" smtClean="0">
                <a:latin typeface="Times New Roman" pitchFamily="18" charset="0"/>
                <a:cs typeface="Times New Roman" pitchFamily="18" charset="0"/>
              </a:rPr>
              <a:t>: Perform hand hygiene</a:t>
            </a:r>
          </a:p>
          <a:p>
            <a:pPr>
              <a:lnSpc>
                <a:spcPct val="170000"/>
              </a:lnSpc>
            </a:pPr>
            <a:r>
              <a:rPr lang="en-US" b="1" dirty="0">
                <a:latin typeface="Times New Roman" pitchFamily="18" charset="0"/>
                <a:cs typeface="Times New Roman" pitchFamily="18" charset="0"/>
              </a:rPr>
              <a:t>STEP 4</a:t>
            </a:r>
            <a:r>
              <a:rPr lang="en-US" dirty="0">
                <a:latin typeface="Times New Roman" pitchFamily="18" charset="0"/>
                <a:cs typeface="Times New Roman" pitchFamily="18" charset="0"/>
              </a:rPr>
              <a:t>: Put gloves on both hands; non-sterile gloves for removal, sterile gloves for replacement.</a:t>
            </a:r>
          </a:p>
          <a:p>
            <a:pPr>
              <a:lnSpc>
                <a:spcPct val="170000"/>
              </a:lnSpc>
            </a:pPr>
            <a:r>
              <a:rPr lang="en-US" b="1" dirty="0">
                <a:latin typeface="Times New Roman" pitchFamily="18" charset="0"/>
                <a:cs typeface="Times New Roman" pitchFamily="18" charset="0"/>
              </a:rPr>
              <a:t>STEP 5</a:t>
            </a:r>
            <a:r>
              <a:rPr lang="en-US" dirty="0">
                <a:latin typeface="Times New Roman" pitchFamily="18" charset="0"/>
                <a:cs typeface="Times New Roman" pitchFamily="18" charset="0"/>
              </a:rPr>
              <a:t>: With a syringe, remove the water from the catheter balloon.</a:t>
            </a:r>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29</a:t>
            </a:fld>
            <a:endParaRPr lang="en-US"/>
          </a:p>
        </p:txBody>
      </p:sp>
    </p:spTree>
    <p:extLst>
      <p:ext uri="{BB962C8B-B14F-4D97-AF65-F5344CB8AC3E}">
        <p14:creationId xmlns:p14="http://schemas.microsoft.com/office/powerpoint/2010/main" val="2861532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smtClean="0">
                <a:latin typeface="Times New Roman" pitchFamily="18" charset="0"/>
                <a:cs typeface="Times New Roman" pitchFamily="18" charset="0"/>
              </a:rPr>
              <a:t>Removal or replacement</a:t>
            </a:r>
            <a:r>
              <a:rPr lang="en-US" sz="5400" dirty="0" smtClean="0">
                <a:latin typeface="Times New Roman" pitchFamily="18" charset="0"/>
                <a:cs typeface="Times New Roman" pitchFamily="18" charset="0"/>
              </a:rPr>
              <a:t>…</a:t>
            </a:r>
            <a:endParaRPr lang="en-US" sz="54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pPr>
              <a:lnSpc>
                <a:spcPct val="170000"/>
              </a:lnSpc>
            </a:pPr>
            <a:r>
              <a:rPr lang="en-US" sz="3000" b="1" dirty="0">
                <a:latin typeface="Times New Roman" pitchFamily="18" charset="0"/>
                <a:cs typeface="Times New Roman" pitchFamily="18" charset="0"/>
              </a:rPr>
              <a:t>STEP 6a</a:t>
            </a:r>
            <a:r>
              <a:rPr lang="en-US" sz="3000" dirty="0">
                <a:latin typeface="Times New Roman" pitchFamily="18" charset="0"/>
                <a:cs typeface="Times New Roman" pitchFamily="18" charset="0"/>
              </a:rPr>
              <a:t>: </a:t>
            </a:r>
            <a:r>
              <a:rPr lang="en-US" sz="3000" b="1" dirty="0">
                <a:latin typeface="Times New Roman" pitchFamily="18" charset="0"/>
                <a:cs typeface="Times New Roman" pitchFamily="18" charset="0"/>
              </a:rPr>
              <a:t>For women</a:t>
            </a:r>
            <a:r>
              <a:rPr lang="en-US" sz="3000" dirty="0">
                <a:latin typeface="Times New Roman" pitchFamily="18" charset="0"/>
                <a:cs typeface="Times New Roman" pitchFamily="18" charset="0"/>
              </a:rPr>
              <a:t>, separate and hold the labia apart with the non-dominant hand; using cotton applicators or a gauze swab held with forceps, clean the urethral opening and area around it with an antiseptic solution. </a:t>
            </a:r>
          </a:p>
          <a:p>
            <a:pPr>
              <a:lnSpc>
                <a:spcPct val="170000"/>
              </a:lnSpc>
            </a:pPr>
            <a:r>
              <a:rPr lang="en-US" sz="3000" b="1" dirty="0">
                <a:latin typeface="Times New Roman" pitchFamily="18" charset="0"/>
                <a:cs typeface="Times New Roman" pitchFamily="18" charset="0"/>
              </a:rPr>
              <a:t>STEP 6b</a:t>
            </a:r>
            <a:r>
              <a:rPr lang="en-US" sz="3000" dirty="0">
                <a:latin typeface="Times New Roman" pitchFamily="18" charset="0"/>
                <a:cs typeface="Times New Roman" pitchFamily="18" charset="0"/>
              </a:rPr>
              <a:t>: </a:t>
            </a:r>
            <a:r>
              <a:rPr lang="en-US" sz="3000" b="1" dirty="0">
                <a:latin typeface="Times New Roman" pitchFamily="18" charset="0"/>
                <a:cs typeface="Times New Roman" pitchFamily="18" charset="0"/>
              </a:rPr>
              <a:t>For men</a:t>
            </a:r>
            <a:r>
              <a:rPr lang="en-US" sz="3000" dirty="0">
                <a:latin typeface="Times New Roman" pitchFamily="18" charset="0"/>
                <a:cs typeface="Times New Roman" pitchFamily="18" charset="0"/>
              </a:rPr>
              <a:t>, push back the foreskin for those who have not been circumcised, and hold the head of the penis with the non-dominant hand</a:t>
            </a:r>
            <a:r>
              <a:rPr lang="en-US" sz="3000" dirty="0" smtClean="0">
                <a:latin typeface="Times New Roman" pitchFamily="18" charset="0"/>
                <a:cs typeface="Times New Roman" pitchFamily="18" charset="0"/>
              </a:rPr>
              <a:t>..</a:t>
            </a:r>
            <a:endParaRPr lang="en-US" sz="3000" dirty="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30</a:t>
            </a:fld>
            <a:endParaRPr lang="en-US"/>
          </a:p>
        </p:txBody>
      </p:sp>
    </p:spTree>
    <p:extLst>
      <p:ext uri="{BB962C8B-B14F-4D97-AF65-F5344CB8AC3E}">
        <p14:creationId xmlns:p14="http://schemas.microsoft.com/office/powerpoint/2010/main" val="11239948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000" dirty="0" smtClean="0">
                <a:latin typeface="Times New Roman" pitchFamily="18" charset="0"/>
                <a:cs typeface="Times New Roman" pitchFamily="18" charset="0"/>
              </a:rPr>
              <a:t>Removal or replacement…</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pPr>
              <a:lnSpc>
                <a:spcPct val="150000"/>
              </a:lnSpc>
            </a:pPr>
            <a:r>
              <a:rPr lang="en-US" b="1" dirty="0">
                <a:latin typeface="Times New Roman" pitchFamily="18" charset="0"/>
                <a:cs typeface="Times New Roman" pitchFamily="18" charset="0"/>
              </a:rPr>
              <a:t>STEP 7</a:t>
            </a:r>
            <a:r>
              <a:rPr lang="en-US" dirty="0">
                <a:latin typeface="Times New Roman" pitchFamily="18" charset="0"/>
                <a:cs typeface="Times New Roman" pitchFamily="18" charset="0"/>
              </a:rPr>
              <a:t>: If you are just removing the catheter, follow Steps 18 through 21 of the Insertion Procedure.</a:t>
            </a:r>
          </a:p>
          <a:p>
            <a:pPr>
              <a:lnSpc>
                <a:spcPct val="150000"/>
              </a:lnSpc>
            </a:pPr>
            <a:r>
              <a:rPr lang="en-US" b="1" dirty="0">
                <a:latin typeface="Times New Roman" pitchFamily="18" charset="0"/>
                <a:cs typeface="Times New Roman" pitchFamily="18" charset="0"/>
              </a:rPr>
              <a:t>STEP 8</a:t>
            </a:r>
            <a:r>
              <a:rPr lang="en-US" dirty="0">
                <a:latin typeface="Times New Roman" pitchFamily="18" charset="0"/>
                <a:cs typeface="Times New Roman" pitchFamily="18" charset="0"/>
              </a:rPr>
              <a:t>: If you are replacing the indwelling catheter, follow Steps 4 through 21 of the Insertion Procedure.</a:t>
            </a:r>
          </a:p>
          <a:p>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168C7B2-57B4-41C3-8046-875D4CCC2A44}" type="slidenum">
              <a:rPr lang="en-US" smtClean="0"/>
              <a:pPr/>
              <a:t>31</a:t>
            </a:fld>
            <a:endParaRPr lang="en-US"/>
          </a:p>
        </p:txBody>
      </p:sp>
    </p:spTree>
    <p:extLst>
      <p:ext uri="{BB962C8B-B14F-4D97-AF65-F5344CB8AC3E}">
        <p14:creationId xmlns:p14="http://schemas.microsoft.com/office/powerpoint/2010/main" val="18854830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3200" b="1" dirty="0">
                <a:latin typeface="Times New Roman" pitchFamily="18" charset="0"/>
                <a:cs typeface="Times New Roman" pitchFamily="18" charset="0"/>
              </a:rPr>
              <a:t>Recommended Catheter Maintenance Practices</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lvl="0">
              <a:lnSpc>
                <a:spcPct val="150000"/>
              </a:lnSpc>
            </a:pPr>
            <a:r>
              <a:rPr lang="en-US" sz="1600" dirty="0">
                <a:latin typeface="Times New Roman" pitchFamily="18" charset="0"/>
                <a:cs typeface="Times New Roman" pitchFamily="18" charset="0"/>
              </a:rPr>
              <a:t>Educate HCWs on the insertion, care, and maintenance of urinary catheters and about prevention of CAUTIs. </a:t>
            </a:r>
          </a:p>
          <a:p>
            <a:pPr lvl="0">
              <a:lnSpc>
                <a:spcPct val="150000"/>
              </a:lnSpc>
            </a:pPr>
            <a:r>
              <a:rPr lang="en-US" sz="1600" dirty="0" smtClean="0">
                <a:latin typeface="Times New Roman" pitchFamily="18" charset="0"/>
                <a:cs typeface="Times New Roman" pitchFamily="18" charset="0"/>
              </a:rPr>
              <a:t>Always </a:t>
            </a:r>
            <a:r>
              <a:rPr lang="en-US" sz="1600" dirty="0">
                <a:latin typeface="Times New Roman" pitchFamily="18" charset="0"/>
                <a:cs typeface="Times New Roman" pitchFamily="18" charset="0"/>
              </a:rPr>
              <a:t>follow Standard Precautions to protect against contact with blood or body fluids, including wearing gloves and other personal protective equipment (PPE) (face shield, goggles, plastic apron) if there is a risk of splashing, during any manipulation of the catheter or collection system. </a:t>
            </a:r>
            <a:endParaRPr lang="en-US" sz="1600" dirty="0" smtClean="0">
              <a:latin typeface="Times New Roman" pitchFamily="18" charset="0"/>
              <a:cs typeface="Times New Roman" pitchFamily="18" charset="0"/>
            </a:endParaRPr>
          </a:p>
          <a:p>
            <a:pPr lvl="0">
              <a:lnSpc>
                <a:spcPct val="150000"/>
              </a:lnSpc>
            </a:pPr>
            <a:r>
              <a:rPr lang="en-US" sz="1600" dirty="0" smtClean="0">
                <a:latin typeface="Times New Roman" pitchFamily="18" charset="0"/>
                <a:cs typeface="Times New Roman" pitchFamily="18" charset="0"/>
              </a:rPr>
              <a:t>Perform </a:t>
            </a:r>
            <a:r>
              <a:rPr lang="en-US" sz="1600" dirty="0">
                <a:latin typeface="Times New Roman" pitchFamily="18" charset="0"/>
                <a:cs typeface="Times New Roman" pitchFamily="18" charset="0"/>
              </a:rPr>
              <a:t>hand hygiene immediately before and after any handling of the urinary catheter, insertion site, or collection set </a:t>
            </a:r>
            <a:endParaRPr lang="en-US" sz="1600" dirty="0" smtClean="0">
              <a:latin typeface="Times New Roman" pitchFamily="18" charset="0"/>
              <a:cs typeface="Times New Roman" pitchFamily="18" charset="0"/>
            </a:endParaRPr>
          </a:p>
          <a:p>
            <a:pPr lvl="0">
              <a:lnSpc>
                <a:spcPct val="150000"/>
              </a:lnSpc>
            </a:pPr>
            <a:r>
              <a:rPr lang="en-US" sz="1600" dirty="0" smtClean="0">
                <a:latin typeface="Times New Roman" pitchFamily="18" charset="0"/>
                <a:cs typeface="Times New Roman" pitchFamily="18" charset="0"/>
              </a:rPr>
              <a:t>Check </a:t>
            </a:r>
            <a:r>
              <a:rPr lang="en-US" sz="1600" dirty="0">
                <a:latin typeface="Times New Roman" pitchFamily="18" charset="0"/>
                <a:cs typeface="Times New Roman" pitchFamily="18" charset="0"/>
              </a:rPr>
              <a:t>the flow of urine through the catheter several times a day to ensure that the catheter is not blocked.</a:t>
            </a:r>
            <a:endParaRPr lang="en-US" sz="1600" dirty="0" smtClean="0">
              <a:effectLst/>
              <a:latin typeface="Times New Roman" pitchFamily="18" charset="0"/>
              <a:cs typeface="Times New Roman" pitchFamily="18" charset="0"/>
            </a:endParaRPr>
          </a:p>
          <a:p>
            <a:endParaRPr lang="en-US" sz="1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168C7B2-57B4-41C3-8046-875D4CCC2A44}" type="slidenum">
              <a:rPr lang="en-US" smtClean="0"/>
              <a:pPr/>
              <a:t>32</a:t>
            </a:fld>
            <a:endParaRPr lang="en-US"/>
          </a:p>
        </p:txBody>
      </p:sp>
    </p:spTree>
    <p:extLst>
      <p:ext uri="{BB962C8B-B14F-4D97-AF65-F5344CB8AC3E}">
        <p14:creationId xmlns:p14="http://schemas.microsoft.com/office/powerpoint/2010/main" val="287569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3200" dirty="0" smtClean="0">
                <a:latin typeface="Times New Roman" pitchFamily="18" charset="0"/>
                <a:cs typeface="Times New Roman" pitchFamily="18" charset="0"/>
              </a:rPr>
              <a:t>Recommended</a:t>
            </a:r>
            <a:r>
              <a:rPr lang="en-US" sz="4400" dirty="0" smtClean="0">
                <a:latin typeface="Times New Roman" pitchFamily="18" charset="0"/>
                <a:cs typeface="Times New Roman" pitchFamily="18" charset="0"/>
              </a:rPr>
              <a:t>….</a:t>
            </a:r>
            <a:endParaRPr lang="en-US" sz="44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lvl="0">
              <a:lnSpc>
                <a:spcPct val="170000"/>
              </a:lnSpc>
            </a:pPr>
            <a:r>
              <a:rPr lang="en-US" dirty="0">
                <a:latin typeface="Times New Roman" pitchFamily="18" charset="0"/>
                <a:cs typeface="Times New Roman" pitchFamily="18" charset="0"/>
              </a:rPr>
              <a:t>Maintain catheter securement to the patient’s leg or abdomen to prevent movement and pulling.</a:t>
            </a:r>
            <a:endParaRPr lang="en-US" dirty="0" smtClean="0">
              <a:effectLst/>
              <a:latin typeface="Times New Roman" pitchFamily="18" charset="0"/>
              <a:cs typeface="Times New Roman" pitchFamily="18" charset="0"/>
            </a:endParaRPr>
          </a:p>
          <a:p>
            <a:pPr lvl="0">
              <a:lnSpc>
                <a:spcPct val="170000"/>
              </a:lnSpc>
            </a:pPr>
            <a:r>
              <a:rPr lang="en-US" dirty="0">
                <a:latin typeface="Times New Roman" pitchFamily="18" charset="0"/>
                <a:cs typeface="Times New Roman" pitchFamily="18" charset="0"/>
              </a:rPr>
              <a:t>Cleanse </a:t>
            </a:r>
            <a:r>
              <a:rPr lang="en-US" dirty="0">
                <a:solidFill>
                  <a:schemeClr val="tx1"/>
                </a:solidFill>
                <a:latin typeface="Times New Roman" pitchFamily="18" charset="0"/>
                <a:cs typeface="Times New Roman" pitchFamily="18" charset="0"/>
              </a:rPr>
              <a:t>the perineal area daily with soap and water during routine bathing while the catheter is in </a:t>
            </a:r>
            <a:r>
              <a:rPr lang="en-US" dirty="0" smtClean="0">
                <a:solidFill>
                  <a:schemeClr val="tx1"/>
                </a:solidFill>
                <a:latin typeface="Times New Roman" pitchFamily="18" charset="0"/>
                <a:cs typeface="Times New Roman" pitchFamily="18" charset="0"/>
              </a:rPr>
              <a:t>place</a:t>
            </a:r>
            <a:endParaRPr lang="en-US" dirty="0" smtClean="0">
              <a:solidFill>
                <a:schemeClr val="tx1"/>
              </a:solidFill>
              <a:effectLst/>
              <a:latin typeface="Times New Roman" pitchFamily="18" charset="0"/>
              <a:cs typeface="Times New Roman" pitchFamily="18" charset="0"/>
            </a:endParaRPr>
          </a:p>
          <a:p>
            <a:pPr lvl="0">
              <a:lnSpc>
                <a:spcPct val="170000"/>
              </a:lnSpc>
            </a:pPr>
            <a:r>
              <a:rPr lang="en-US" dirty="0">
                <a:latin typeface="Times New Roman" pitchFamily="18" charset="0"/>
                <a:cs typeface="Times New Roman" pitchFamily="18" charset="0"/>
              </a:rPr>
              <a:t>Wash the head of the penis and urethral opening (men) or the tissue around the urethral opening (women), the perineal area, buttocks, and any area that is soiled after a bowel movement or if the patient is incontinent</a:t>
            </a:r>
            <a:r>
              <a:rPr lang="en-US" dirty="0" smtClean="0"/>
              <a:t>.</a:t>
            </a:r>
            <a:endParaRPr lang="en-US" dirty="0" smtClean="0">
              <a:effectLst/>
            </a:endParaRPr>
          </a:p>
        </p:txBody>
      </p:sp>
      <p:sp>
        <p:nvSpPr>
          <p:cNvPr id="4" name="Slide Number Placeholder 3"/>
          <p:cNvSpPr>
            <a:spLocks noGrp="1"/>
          </p:cNvSpPr>
          <p:nvPr>
            <p:ph type="sldNum" sz="quarter" idx="12"/>
          </p:nvPr>
        </p:nvSpPr>
        <p:spPr/>
        <p:txBody>
          <a:bodyPr/>
          <a:lstStyle/>
          <a:p>
            <a:fld id="{1168C7B2-57B4-41C3-8046-875D4CCC2A44}" type="slidenum">
              <a:rPr lang="en-US" smtClean="0"/>
              <a:pPr/>
              <a:t>33</a:t>
            </a:fld>
            <a:endParaRPr lang="en-US"/>
          </a:p>
        </p:txBody>
      </p:sp>
    </p:spTree>
    <p:extLst>
      <p:ext uri="{BB962C8B-B14F-4D97-AF65-F5344CB8AC3E}">
        <p14:creationId xmlns:p14="http://schemas.microsoft.com/office/powerpoint/2010/main" val="3150495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i="1" dirty="0" smtClean="0">
                <a:latin typeface="Times New Roman" pitchFamily="18" charset="0"/>
                <a:cs typeface="Times New Roman" pitchFamily="18" charset="0"/>
              </a:rPr>
              <a:t>Avoid the following practices for catheter maintenance</a:t>
            </a:r>
            <a:r>
              <a:rPr lang="en-US" sz="3200" dirty="0" smtClean="0">
                <a:latin typeface="Times New Roman" pitchFamily="18" charset="0"/>
                <a:cs typeface="Times New Roman" pitchFamily="18" charset="0"/>
              </a:rPr>
              <a:t>: </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1432720" y="2133600"/>
            <a:ext cx="9175108" cy="3801533"/>
          </a:xfrm>
        </p:spPr>
        <p:txBody>
          <a:bodyPr>
            <a:noAutofit/>
          </a:bodyPr>
          <a:lstStyle/>
          <a:p>
            <a:pPr lvl="0">
              <a:lnSpc>
                <a:spcPct val="170000"/>
              </a:lnSpc>
            </a:pPr>
            <a:r>
              <a:rPr lang="en-US" sz="1600" dirty="0" smtClean="0">
                <a:latin typeface="Times New Roman" pitchFamily="18" charset="0"/>
                <a:cs typeface="Times New Roman" pitchFamily="18" charset="0"/>
              </a:rPr>
              <a:t>Avoid </a:t>
            </a:r>
            <a:r>
              <a:rPr lang="en-US" sz="1600" dirty="0">
                <a:latin typeface="Times New Roman" pitchFamily="18" charset="0"/>
                <a:cs typeface="Times New Roman" pitchFamily="18" charset="0"/>
              </a:rPr>
              <a:t>disconnecting the catheter from the drainage tubing (unless deemed medically necessary). Change the urinary catheter if the closed system is disconnected.</a:t>
            </a:r>
            <a:endParaRPr lang="en-US" sz="1600" dirty="0" smtClean="0">
              <a:effectLst/>
              <a:latin typeface="Times New Roman" pitchFamily="18" charset="0"/>
              <a:cs typeface="Times New Roman" pitchFamily="18" charset="0"/>
            </a:endParaRPr>
          </a:p>
          <a:p>
            <a:pPr lvl="0">
              <a:lnSpc>
                <a:spcPct val="170000"/>
              </a:lnSpc>
            </a:pPr>
            <a:r>
              <a:rPr lang="en-US" sz="1600" dirty="0">
                <a:latin typeface="Times New Roman" pitchFamily="18" charset="0"/>
                <a:cs typeface="Times New Roman" pitchFamily="18" charset="0"/>
              </a:rPr>
              <a:t>Do </a:t>
            </a:r>
            <a:r>
              <a:rPr lang="en-US" sz="1600" b="1" dirty="0">
                <a:latin typeface="Times New Roman" pitchFamily="18" charset="0"/>
                <a:cs typeface="Times New Roman" pitchFamily="18" charset="0"/>
              </a:rPr>
              <a:t>not</a:t>
            </a:r>
            <a:r>
              <a:rPr lang="en-US" sz="1600" dirty="0">
                <a:latin typeface="Times New Roman" pitchFamily="18" charset="0"/>
                <a:cs typeface="Times New Roman" pitchFamily="18" charset="0"/>
              </a:rPr>
              <a:t> clean the perineum area with antiseptics while the catheter is in place. Routine hygiene (e.g., cleansing of the meatal surface [opening of the urethra] during daily bathing or showering with soap and water) is appropriate. </a:t>
            </a:r>
            <a:endParaRPr lang="en-US" sz="1600" dirty="0" smtClean="0">
              <a:effectLst/>
              <a:latin typeface="Times New Roman" pitchFamily="18" charset="0"/>
              <a:cs typeface="Times New Roman" pitchFamily="18" charset="0"/>
            </a:endParaRPr>
          </a:p>
          <a:p>
            <a:pPr lvl="0">
              <a:lnSpc>
                <a:spcPct val="170000"/>
              </a:lnSpc>
            </a:pPr>
            <a:r>
              <a:rPr lang="en-US" sz="1600" dirty="0" smtClean="0">
                <a:latin typeface="Times New Roman" pitchFamily="18" charset="0"/>
                <a:cs typeface="Times New Roman" pitchFamily="18" charset="0"/>
              </a:rPr>
              <a:t>Do </a:t>
            </a:r>
            <a:r>
              <a:rPr lang="en-US" sz="1600" b="1" dirty="0">
                <a:latin typeface="Times New Roman" pitchFamily="18" charset="0"/>
                <a:cs typeface="Times New Roman" pitchFamily="18" charset="0"/>
              </a:rPr>
              <a:t>not</a:t>
            </a:r>
            <a:r>
              <a:rPr lang="en-US" sz="1600" dirty="0">
                <a:latin typeface="Times New Roman" pitchFamily="18" charset="0"/>
                <a:cs typeface="Times New Roman" pitchFamily="18" charset="0"/>
              </a:rPr>
              <a:t> treat asymptomatic bacteriuria in catheterized patients except before invasive urologic procedures.</a:t>
            </a:r>
            <a:endParaRPr lang="en-US" sz="1600" dirty="0" smtClean="0">
              <a:effectLst/>
              <a:latin typeface="Times New Roman" pitchFamily="18" charset="0"/>
              <a:cs typeface="Times New Roman" pitchFamily="18" charset="0"/>
            </a:endParaRPr>
          </a:p>
          <a:p>
            <a:pPr lvl="0">
              <a:lnSpc>
                <a:spcPct val="170000"/>
              </a:lnSpc>
            </a:pPr>
            <a:r>
              <a:rPr lang="en-US" sz="1600" dirty="0">
                <a:latin typeface="Times New Roman" pitchFamily="18" charset="0"/>
                <a:cs typeface="Times New Roman" pitchFamily="18" charset="0"/>
              </a:rPr>
              <a:t>Do </a:t>
            </a:r>
            <a:r>
              <a:rPr lang="en-US" sz="1600" b="1" dirty="0">
                <a:latin typeface="Times New Roman" pitchFamily="18" charset="0"/>
                <a:cs typeface="Times New Roman" pitchFamily="18" charset="0"/>
              </a:rPr>
              <a:t>not</a:t>
            </a:r>
            <a:r>
              <a:rPr lang="en-US" sz="1600" dirty="0">
                <a:latin typeface="Times New Roman" pitchFamily="18" charset="0"/>
                <a:cs typeface="Times New Roman" pitchFamily="18" charset="0"/>
              </a:rPr>
              <a:t> perform continuous irrigation of the bladder with antimicrobials as a routine IPC measure. If continuous irrigation is being used to prevent obstruction, maintain a closed system</a:t>
            </a:r>
            <a:r>
              <a:rPr lang="en-US" sz="1600" dirty="0" smtClean="0">
                <a:latin typeface="Times New Roman" pitchFamily="18" charset="0"/>
                <a:cs typeface="Times New Roman" pitchFamily="18" charset="0"/>
              </a:rPr>
              <a:t>.</a:t>
            </a:r>
            <a:endParaRPr lang="en-US" sz="1600" dirty="0" smtClean="0">
              <a:effectLst/>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168C7B2-57B4-41C3-8046-875D4CCC2A44}" type="slidenum">
              <a:rPr lang="en-US" smtClean="0"/>
              <a:pPr/>
              <a:t>34</a:t>
            </a:fld>
            <a:endParaRPr lang="en-US"/>
          </a:p>
        </p:txBody>
      </p:sp>
    </p:spTree>
    <p:extLst>
      <p:ext uri="{BB962C8B-B14F-4D97-AF65-F5344CB8AC3E}">
        <p14:creationId xmlns:p14="http://schemas.microsoft.com/office/powerpoint/2010/main" val="39022014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5273" y="1030778"/>
            <a:ext cx="9042553" cy="645622"/>
          </a:xfrm>
        </p:spPr>
        <p:txBody>
          <a:bodyPr/>
          <a:lstStyle/>
          <a:p>
            <a:pPr>
              <a:lnSpc>
                <a:spcPct val="150000"/>
              </a:lnSpc>
            </a:pPr>
            <a:r>
              <a:rPr lang="en-US" sz="3600" i="1" dirty="0" smtClean="0">
                <a:latin typeface="Times New Roman" pitchFamily="18" charset="0"/>
                <a:cs typeface="Times New Roman" pitchFamily="18" charset="0"/>
              </a:rPr>
              <a:t>Avoid….</a:t>
            </a:r>
            <a:endParaRPr lang="en-US" sz="3600" i="1" dirty="0">
              <a:latin typeface="Times New Roman" pitchFamily="18" charset="0"/>
              <a:cs typeface="Times New Roman" pitchFamily="18" charset="0"/>
            </a:endParaRPr>
          </a:p>
        </p:txBody>
      </p:sp>
      <p:sp>
        <p:nvSpPr>
          <p:cNvPr id="3" name="Content Placeholder 2"/>
          <p:cNvSpPr>
            <a:spLocks noGrp="1"/>
          </p:cNvSpPr>
          <p:nvPr>
            <p:ph idx="1"/>
          </p:nvPr>
        </p:nvSpPr>
        <p:spPr>
          <a:xfrm>
            <a:off x="836127" y="1828801"/>
            <a:ext cx="10489585" cy="4639412"/>
          </a:xfrm>
        </p:spPr>
        <p:txBody>
          <a:bodyPr>
            <a:normAutofit fontScale="70000" lnSpcReduction="20000"/>
          </a:bodyPr>
          <a:lstStyle/>
          <a:p>
            <a:pPr>
              <a:lnSpc>
                <a:spcPct val="170000"/>
              </a:lnSpc>
            </a:pPr>
            <a:r>
              <a:rPr lang="en-US" sz="2600" dirty="0">
                <a:latin typeface="Times New Roman" pitchFamily="18" charset="0"/>
                <a:cs typeface="Times New Roman" pitchFamily="18" charset="0"/>
              </a:rPr>
              <a:t>Do </a:t>
            </a:r>
            <a:r>
              <a:rPr lang="en-US" sz="2600" b="1" dirty="0">
                <a:latin typeface="Times New Roman" pitchFamily="18" charset="0"/>
                <a:cs typeface="Times New Roman" pitchFamily="18" charset="0"/>
              </a:rPr>
              <a:t>not</a:t>
            </a:r>
            <a:r>
              <a:rPr lang="en-US" sz="2600" dirty="0">
                <a:latin typeface="Times New Roman" pitchFamily="18" charset="0"/>
                <a:cs typeface="Times New Roman" pitchFamily="18" charset="0"/>
              </a:rPr>
              <a:t> use systemic </a:t>
            </a:r>
            <a:r>
              <a:rPr lang="en-US" sz="2600" dirty="0" smtClean="0">
                <a:latin typeface="Times New Roman" pitchFamily="18" charset="0"/>
                <a:cs typeface="Times New Roman" pitchFamily="18" charset="0"/>
              </a:rPr>
              <a:t>antimicrobial </a:t>
            </a:r>
            <a:r>
              <a:rPr lang="en-US" sz="2600" dirty="0" err="1" smtClean="0">
                <a:latin typeface="Times New Roman" pitchFamily="18" charset="0"/>
                <a:cs typeface="Times New Roman" pitchFamily="18" charset="0"/>
              </a:rPr>
              <a:t>rOutinely</a:t>
            </a:r>
            <a:r>
              <a:rPr lang="en-US" sz="2600" dirty="0" smtClean="0">
                <a:latin typeface="Times New Roman" pitchFamily="18" charset="0"/>
                <a:cs typeface="Times New Roman" pitchFamily="18" charset="0"/>
              </a:rPr>
              <a:t> </a:t>
            </a:r>
            <a:r>
              <a:rPr lang="en-US" sz="2600" dirty="0">
                <a:latin typeface="Times New Roman" pitchFamily="18" charset="0"/>
                <a:cs typeface="Times New Roman" pitchFamily="18" charset="0"/>
              </a:rPr>
              <a:t>as prophylaxis (a preventive treatment) either for short- or long-term catheterization unless there are clinical indications (e.g., bacteriuria upon catheter removal post-urologic surgery</a:t>
            </a:r>
            <a:r>
              <a:rPr lang="en-US" sz="2600" dirty="0" smtClean="0">
                <a:latin typeface="Times New Roman" pitchFamily="18" charset="0"/>
                <a:cs typeface="Times New Roman" pitchFamily="18" charset="0"/>
              </a:rPr>
              <a:t>).</a:t>
            </a:r>
          </a:p>
          <a:p>
            <a:pPr lvl="0">
              <a:lnSpc>
                <a:spcPct val="170000"/>
              </a:lnSpc>
            </a:pPr>
            <a:r>
              <a:rPr lang="en-US" sz="2600" dirty="0" smtClean="0">
                <a:latin typeface="Times New Roman" pitchFamily="18" charset="0"/>
                <a:cs typeface="Times New Roman" pitchFamily="18" charset="0"/>
              </a:rPr>
              <a:t>Do </a:t>
            </a:r>
            <a:r>
              <a:rPr lang="en-US" sz="2600" b="1" dirty="0" smtClean="0">
                <a:latin typeface="Times New Roman" pitchFamily="18" charset="0"/>
                <a:cs typeface="Times New Roman" pitchFamily="18" charset="0"/>
              </a:rPr>
              <a:t>not</a:t>
            </a:r>
            <a:r>
              <a:rPr lang="en-US" sz="2600" dirty="0" smtClean="0">
                <a:latin typeface="Times New Roman" pitchFamily="18" charset="0"/>
                <a:cs typeface="Times New Roman" pitchFamily="18" charset="0"/>
              </a:rPr>
              <a:t> change catheters or drainage bags at routine, fixed intervals. Rather, change catheters and drainage bags based on clinical indications such as infection, obstruction, or when the closed system is compromised.</a:t>
            </a:r>
            <a:endParaRPr lang="en-US" sz="2600" dirty="0" smtClean="0">
              <a:effectLst/>
              <a:latin typeface="Times New Roman" pitchFamily="18" charset="0"/>
              <a:cs typeface="Times New Roman" pitchFamily="18" charset="0"/>
            </a:endParaRPr>
          </a:p>
          <a:p>
            <a:pPr lvl="0">
              <a:lnSpc>
                <a:spcPct val="170000"/>
              </a:lnSpc>
            </a:pPr>
            <a:r>
              <a:rPr lang="en-US" sz="2600" dirty="0" smtClean="0">
                <a:latin typeface="Times New Roman" pitchFamily="18" charset="0"/>
                <a:cs typeface="Times New Roman" pitchFamily="18" charset="0"/>
              </a:rPr>
              <a:t>Do</a:t>
            </a:r>
            <a:r>
              <a:rPr lang="en-US" sz="2600" b="1" dirty="0" smtClean="0">
                <a:latin typeface="Times New Roman" pitchFamily="18" charset="0"/>
                <a:cs typeface="Times New Roman" pitchFamily="18" charset="0"/>
              </a:rPr>
              <a:t> not</a:t>
            </a:r>
            <a:r>
              <a:rPr lang="en-US" sz="2600" dirty="0" smtClean="0">
                <a:latin typeface="Times New Roman" pitchFamily="18" charset="0"/>
                <a:cs typeface="Times New Roman" pitchFamily="18" charset="0"/>
              </a:rPr>
              <a:t> use antibiotic-coated catheters.</a:t>
            </a:r>
            <a:endParaRPr lang="en-US" sz="2600" dirty="0" smtClean="0">
              <a:effectLst/>
              <a:latin typeface="Times New Roman" pitchFamily="18" charset="0"/>
              <a:cs typeface="Times New Roman" pitchFamily="18" charset="0"/>
            </a:endParaRPr>
          </a:p>
          <a:p>
            <a:pPr lvl="0">
              <a:lnSpc>
                <a:spcPct val="170000"/>
              </a:lnSpc>
            </a:pPr>
            <a:r>
              <a:rPr lang="en-US" sz="2600" dirty="0" smtClean="0">
                <a:latin typeface="Times New Roman" pitchFamily="18" charset="0"/>
                <a:cs typeface="Times New Roman" pitchFamily="18" charset="0"/>
              </a:rPr>
              <a:t>Do </a:t>
            </a:r>
            <a:r>
              <a:rPr lang="en-US" sz="2600" b="1" dirty="0" smtClean="0">
                <a:latin typeface="Times New Roman" pitchFamily="18" charset="0"/>
                <a:cs typeface="Times New Roman" pitchFamily="18" charset="0"/>
              </a:rPr>
              <a:t>not</a:t>
            </a:r>
            <a:r>
              <a:rPr lang="en-US" sz="2600" dirty="0" smtClean="0">
                <a:latin typeface="Times New Roman" pitchFamily="18" charset="0"/>
                <a:cs typeface="Times New Roman" pitchFamily="18" charset="0"/>
              </a:rPr>
              <a:t> use routine instillation of antiseptic or antimicrobial solutions into urinary drainage bags: </a:t>
            </a:r>
            <a:endParaRPr lang="en-US" sz="2600" dirty="0" smtClean="0">
              <a:effectLst/>
              <a:latin typeface="Times New Roman" pitchFamily="18" charset="0"/>
              <a:cs typeface="Times New Roman" pitchFamily="18" charset="0"/>
            </a:endParaRPr>
          </a:p>
          <a:p>
            <a:pPr lvl="0">
              <a:lnSpc>
                <a:spcPct val="170000"/>
              </a:lnSpc>
            </a:pPr>
            <a:r>
              <a:rPr lang="en-US" sz="2600" dirty="0" smtClean="0">
                <a:latin typeface="Times New Roman" pitchFamily="18" charset="0"/>
                <a:cs typeface="Times New Roman" pitchFamily="18" charset="0"/>
              </a:rPr>
              <a:t>Do</a:t>
            </a:r>
            <a:r>
              <a:rPr lang="en-US" sz="2600" b="1" dirty="0" smtClean="0">
                <a:latin typeface="Times New Roman" pitchFamily="18" charset="0"/>
                <a:cs typeface="Times New Roman" pitchFamily="18" charset="0"/>
              </a:rPr>
              <a:t> not</a:t>
            </a:r>
            <a:r>
              <a:rPr lang="en-US" sz="2600" dirty="0" smtClean="0">
                <a:latin typeface="Times New Roman" pitchFamily="18" charset="0"/>
                <a:cs typeface="Times New Roman" pitchFamily="18" charset="0"/>
              </a:rPr>
              <a:t> re-use catheters between patients; biofilm develops in the lumen, which is narrow and difficult to reprocess adequately.</a:t>
            </a:r>
            <a:endParaRPr lang="en-US" sz="2600" dirty="0" smtClean="0">
              <a:effectLst/>
              <a:latin typeface="Times New Roman" pitchFamily="18" charset="0"/>
              <a:cs typeface="Times New Roman" pitchFamily="18" charset="0"/>
            </a:endParaRPr>
          </a:p>
          <a:p>
            <a:endParaRPr lang="en-US" dirty="0" smtClean="0"/>
          </a:p>
          <a:p>
            <a:endParaRPr lang="en-US" dirty="0"/>
          </a:p>
        </p:txBody>
      </p:sp>
      <p:sp>
        <p:nvSpPr>
          <p:cNvPr id="4" name="Slide Number Placeholder 3"/>
          <p:cNvSpPr>
            <a:spLocks noGrp="1"/>
          </p:cNvSpPr>
          <p:nvPr>
            <p:ph type="sldNum" sz="quarter" idx="12"/>
          </p:nvPr>
        </p:nvSpPr>
        <p:spPr/>
        <p:txBody>
          <a:bodyPr/>
          <a:lstStyle/>
          <a:p>
            <a:fld id="{1168C7B2-57B4-41C3-8046-875D4CCC2A44}" type="slidenum">
              <a:rPr lang="en-US" smtClean="0"/>
              <a:pPr/>
              <a:t>35</a:t>
            </a:fld>
            <a:endParaRPr lang="en-US"/>
          </a:p>
        </p:txBody>
      </p:sp>
    </p:spTree>
    <p:extLst>
      <p:ext uri="{BB962C8B-B14F-4D97-AF65-F5344CB8AC3E}">
        <p14:creationId xmlns:p14="http://schemas.microsoft.com/office/powerpoint/2010/main" val="8318931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5273" y="1030778"/>
            <a:ext cx="9042553" cy="798022"/>
          </a:xfrm>
        </p:spPr>
        <p:txBody>
          <a:bodyPr/>
          <a:lstStyle/>
          <a:p>
            <a:pPr>
              <a:lnSpc>
                <a:spcPct val="150000"/>
              </a:lnSpc>
            </a:pPr>
            <a:r>
              <a:rPr lang="en-US" sz="4000" dirty="0" smtClean="0">
                <a:latin typeface="Times New Roman" pitchFamily="18" charset="0"/>
                <a:cs typeface="Times New Roman" pitchFamily="18" charset="0"/>
              </a:rPr>
              <a:t>Cont..</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1356520" y="1905000"/>
            <a:ext cx="9251308" cy="4030133"/>
          </a:xfrm>
        </p:spPr>
        <p:txBody>
          <a:bodyPr>
            <a:normAutofit fontScale="62500" lnSpcReduction="20000"/>
          </a:bodyPr>
          <a:lstStyle/>
          <a:p>
            <a:pPr>
              <a:lnSpc>
                <a:spcPct val="170000"/>
              </a:lnSpc>
              <a:buNone/>
            </a:pPr>
            <a:r>
              <a:rPr lang="en-GB" b="1" dirty="0" smtClean="0">
                <a:latin typeface="Times New Roman" pitchFamily="18" charset="0"/>
                <a:cs typeface="Times New Roman" pitchFamily="18" charset="0"/>
              </a:rPr>
              <a:t>The CAUTI prevention practice bundle consists of the following interventions:</a:t>
            </a:r>
            <a:endParaRPr lang="en-US" dirty="0" smtClean="0">
              <a:latin typeface="Times New Roman" pitchFamily="18" charset="0"/>
              <a:cs typeface="Times New Roman" pitchFamily="18" charset="0"/>
            </a:endParaRPr>
          </a:p>
          <a:p>
            <a:pPr>
              <a:lnSpc>
                <a:spcPct val="170000"/>
              </a:lnSpc>
            </a:pPr>
            <a:r>
              <a:rPr lang="en-US" b="1" dirty="0" smtClean="0">
                <a:latin typeface="Times New Roman" pitchFamily="18" charset="0"/>
                <a:cs typeface="Times New Roman" pitchFamily="18" charset="0"/>
              </a:rPr>
              <a:t>Insertion of catheters only when indicated</a:t>
            </a:r>
            <a:r>
              <a:rPr lang="en-US" dirty="0" smtClean="0">
                <a:latin typeface="Times New Roman" pitchFamily="18" charset="0"/>
                <a:cs typeface="Times New Roman" pitchFamily="18" charset="0"/>
              </a:rPr>
              <a:t> and removal of catheters when they are not medically necessary.</a:t>
            </a:r>
          </a:p>
          <a:p>
            <a:pPr>
              <a:lnSpc>
                <a:spcPct val="170000"/>
              </a:lnSpc>
            </a:pPr>
            <a:r>
              <a:rPr lang="en-US" b="1" dirty="0" smtClean="0">
                <a:latin typeface="Times New Roman" pitchFamily="18" charset="0"/>
                <a:cs typeface="Times New Roman" pitchFamily="18" charset="0"/>
              </a:rPr>
              <a:t>Consideration of alternatives for urinary output management</a:t>
            </a:r>
            <a:r>
              <a:rPr lang="en-US" dirty="0" smtClean="0">
                <a:latin typeface="Times New Roman" pitchFamily="18" charset="0"/>
                <a:cs typeface="Times New Roman" pitchFamily="18" charset="0"/>
              </a:rPr>
              <a:t>, including condom catheters and in-and-out catheterization, when appropriate.</a:t>
            </a:r>
          </a:p>
          <a:p>
            <a:pPr>
              <a:lnSpc>
                <a:spcPct val="170000"/>
              </a:lnSpc>
            </a:pPr>
            <a:r>
              <a:rPr lang="en-US" b="1" dirty="0" smtClean="0">
                <a:latin typeface="Times New Roman" pitchFamily="18" charset="0"/>
                <a:cs typeface="Times New Roman" pitchFamily="18" charset="0"/>
              </a:rPr>
              <a:t>Hand hygiene</a:t>
            </a:r>
            <a:r>
              <a:rPr lang="en-US" dirty="0" smtClean="0">
                <a:latin typeface="Times New Roman" pitchFamily="18" charset="0"/>
                <a:cs typeface="Times New Roman" pitchFamily="18" charset="0"/>
              </a:rPr>
              <a:t> before insertion and manipulation of catheters.</a:t>
            </a:r>
          </a:p>
          <a:p>
            <a:pPr>
              <a:lnSpc>
                <a:spcPct val="170000"/>
              </a:lnSpc>
            </a:pPr>
            <a:endParaRPr lang="en-US" dirty="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5273" y="1030778"/>
            <a:ext cx="9042553" cy="721822"/>
          </a:xfrm>
        </p:spPr>
        <p:txBody>
          <a:bodyPr/>
          <a:lstStyle/>
          <a:p>
            <a:pPr lvl="0"/>
            <a:r>
              <a:rPr lang="en-US" sz="4000" dirty="0" smtClean="0">
                <a:latin typeface="Times New Roman" pitchFamily="18" charset="0"/>
                <a:cs typeface="Times New Roman" pitchFamily="18" charset="0"/>
              </a:rPr>
              <a:t/>
            </a:r>
            <a:br>
              <a:rPr lang="en-US" sz="4000" dirty="0" smtClean="0">
                <a:latin typeface="Times New Roman" pitchFamily="18" charset="0"/>
                <a:cs typeface="Times New Roman" pitchFamily="18" charset="0"/>
              </a:rPr>
            </a:br>
            <a:r>
              <a:rPr lang="en-US" sz="4000" dirty="0" smtClean="0">
                <a:latin typeface="Times New Roman" pitchFamily="18" charset="0"/>
                <a:cs typeface="Times New Roman" pitchFamily="18" charset="0"/>
              </a:rPr>
              <a:t>Summary</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lnSpc>
                <a:spcPct val="150000"/>
              </a:lnSpc>
              <a:buNone/>
            </a:pPr>
            <a:r>
              <a:rPr lang="en-GB" sz="2400" dirty="0" smtClean="0">
                <a:latin typeface="Times New Roman" pitchFamily="18" charset="0"/>
                <a:cs typeface="Times New Roman" pitchFamily="18" charset="0"/>
              </a:rPr>
              <a:t>Health care workers can prevent CAUTIs by limiting use of indwelling urinary catheters, daily reviews of indications for continuation of indwelling catheters, and stringently applying the IPC practices recommended in this chapter for insertion, maintenance, and removal. Applying recommendations of the CAUTI prevention bundle will also help avoid infections</a:t>
            </a:r>
            <a:endParaRPr lang="en-US" sz="2400"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6">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 xmlns:thm15="http://schemas.microsoft.com/office/thememl/2012/main" name="Presentation1" id="{FF8D033B-E2B8-2549-8206-D2592AE46FED}" vid="{E3C3ECE2-B6B8-A844-8217-32346E2508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Theme6</Template>
  <TotalTime>676</TotalTime>
  <Words>2989</Words>
  <Application>Microsoft Office PowerPoint</Application>
  <PresentationFormat>Custom</PresentationFormat>
  <Paragraphs>251</Paragraphs>
  <Slides>37</Slides>
  <Notes>12</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Theme6</vt:lpstr>
      <vt:lpstr>VOLUME 2 CHAPTER 2:PREVENTION OF CATHETER ASSOCIATED URINARY TRACT INFECTIONS  (CAUTI)</vt:lpstr>
      <vt:lpstr>Chapter Outline</vt:lpstr>
      <vt:lpstr>Learning objectives </vt:lpstr>
      <vt:lpstr>Introduction </vt:lpstr>
      <vt:lpstr>PowerPoint Presentation</vt:lpstr>
      <vt:lpstr> Epidemiology and mechanisms of CAUTIs</vt:lpstr>
      <vt:lpstr>PowerPoint Presentation</vt:lpstr>
      <vt:lpstr>Mechanism </vt:lpstr>
      <vt:lpstr>Common pathogens </vt:lpstr>
      <vt:lpstr>Risk Factors of CAUTI</vt:lpstr>
      <vt:lpstr>Cont..</vt:lpstr>
      <vt:lpstr> Catheter-Associated Urinary Tract Infection Prevention Strategies </vt:lpstr>
      <vt:lpstr> Acceptable indications for catheterization </vt:lpstr>
      <vt:lpstr>  Alternative methods for limiting the use of indwelling catheters</vt:lpstr>
      <vt:lpstr>General guidelines for proper catheter insertion techniques</vt:lpstr>
      <vt:lpstr> Urinary catheter insertion procedure</vt:lpstr>
      <vt:lpstr>Cont…</vt:lpstr>
      <vt:lpstr>Insertion…</vt:lpstr>
      <vt:lpstr>Insertion….</vt:lpstr>
      <vt:lpstr>Insertion…</vt:lpstr>
      <vt:lpstr>Cleaning Female and Male Genital Areas before Insertion of an Indwelling Catheter</vt:lpstr>
      <vt:lpstr>Insertion…</vt:lpstr>
      <vt:lpstr>Insertion…</vt:lpstr>
      <vt:lpstr> Catheterization Techniques for Female and Male Patients</vt:lpstr>
      <vt:lpstr>Insertion…</vt:lpstr>
      <vt:lpstr>Securing a Female Indwelling Catheter </vt:lpstr>
      <vt:lpstr>Insertion…</vt:lpstr>
      <vt:lpstr>Removal or Replacement of a Urinary Catheter</vt:lpstr>
      <vt:lpstr>Removal or replacement….</vt:lpstr>
      <vt:lpstr>Removal or replacement…</vt:lpstr>
      <vt:lpstr>Removal or replacement…</vt:lpstr>
      <vt:lpstr>Recommended Catheter Maintenance Practices</vt:lpstr>
      <vt:lpstr>Recommended….</vt:lpstr>
      <vt:lpstr>Avoid the following practices for catheter maintenance: </vt:lpstr>
      <vt:lpstr>Avoid….</vt:lpstr>
      <vt:lpstr>Cont..</vt:lpstr>
      <vt:lpstr> Summary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Infection Prevention and Patient Safety</dc:title>
  <dc:creator>user</dc:creator>
  <cp:lastModifiedBy>moh</cp:lastModifiedBy>
  <cp:revision>109</cp:revision>
  <dcterms:created xsi:type="dcterms:W3CDTF">2018-12-17T08:49:22Z</dcterms:created>
  <dcterms:modified xsi:type="dcterms:W3CDTF">2019-09-27T07:18:47Z</dcterms:modified>
</cp:coreProperties>
</file>