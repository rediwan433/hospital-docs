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9" r:id="rId5"/>
    <p:sldId id="259" r:id="rId6"/>
    <p:sldId id="279" r:id="rId7"/>
    <p:sldId id="303" r:id="rId8"/>
    <p:sldId id="260" r:id="rId9"/>
    <p:sldId id="261" r:id="rId10"/>
    <p:sldId id="262" r:id="rId11"/>
    <p:sldId id="263" r:id="rId12"/>
    <p:sldId id="264" r:id="rId13"/>
    <p:sldId id="270" r:id="rId14"/>
    <p:sldId id="271" r:id="rId15"/>
    <p:sldId id="272" r:id="rId16"/>
    <p:sldId id="275" r:id="rId17"/>
    <p:sldId id="273" r:id="rId18"/>
    <p:sldId id="276" r:id="rId19"/>
    <p:sldId id="274" r:id="rId20"/>
    <p:sldId id="277" r:id="rId21"/>
    <p:sldId id="278" r:id="rId22"/>
    <p:sldId id="304" r:id="rId23"/>
    <p:sldId id="265" r:id="rId24"/>
    <p:sldId id="266" r:id="rId25"/>
    <p:sldId id="267" r:id="rId26"/>
    <p:sldId id="268"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5" r:id="rId42"/>
    <p:sldId id="294" r:id="rId43"/>
    <p:sldId id="296" r:id="rId44"/>
    <p:sldId id="297" r:id="rId45"/>
    <p:sldId id="298" r:id="rId46"/>
    <p:sldId id="299" r:id="rId47"/>
    <p:sldId id="305" r:id="rId48"/>
    <p:sldId id="300" r:id="rId49"/>
    <p:sldId id="301" r:id="rId50"/>
    <p:sldId id="302"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479" autoAdjust="0"/>
    <p:restoredTop sz="94660"/>
  </p:normalViewPr>
  <p:slideViewPr>
    <p:cSldViewPr>
      <p:cViewPr varScale="1">
        <p:scale>
          <a:sx n="70" d="100"/>
          <a:sy n="70" d="100"/>
        </p:scale>
        <p:origin x="1590"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shadeToTitle="1">
        <a:gradFill flip="none" rotWithShape="1">
          <a:gsLst>
            <a:gs pos="0">
              <a:schemeClr val="accent2">
                <a:lumMod val="0"/>
                <a:lumOff val="100000"/>
                <a:alpha val="88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grpSp>
        <p:nvGrpSpPr>
          <p:cNvPr id="18" name="Group 17"/>
          <p:cNvGrpSpPr/>
          <p:nvPr/>
        </p:nvGrpSpPr>
        <p:grpSpPr>
          <a:xfrm>
            <a:off x="0" y="109830"/>
            <a:ext cx="9274629" cy="6598881"/>
            <a:chOff x="0" y="211434"/>
            <a:chExt cx="9278874" cy="6958648"/>
          </a:xfrm>
          <a:noFill/>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 y="211434"/>
              <a:ext cx="9278197" cy="6958648"/>
            </a:xfrm>
            <a:prstGeom prst="rect">
              <a:avLst/>
            </a:prstGeom>
            <a:grpFill/>
          </p:spPr>
        </p:pic>
        <p:sp>
          <p:nvSpPr>
            <p:cNvPr id="11" name="Rectangle 10"/>
            <p:cNvSpPr/>
            <p:nvPr/>
          </p:nvSpPr>
          <p:spPr>
            <a:xfrm>
              <a:off x="1515532" y="1682076"/>
              <a:ext cx="6112935" cy="3656814"/>
            </a:xfrm>
            <a:prstGeom prst="rect">
              <a:avLst/>
            </a:prstGeom>
            <a:grp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a:grpFill/>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a:grpFill/>
          </p:spPr>
        </p:pic>
      </p:grpSp>
      <p:sp>
        <p:nvSpPr>
          <p:cNvPr id="2" name="Title 1"/>
          <p:cNvSpPr>
            <a:spLocks noGrp="1"/>
          </p:cNvSpPr>
          <p:nvPr>
            <p:ph type="ctrTitle"/>
          </p:nvPr>
        </p:nvSpPr>
        <p:spPr>
          <a:xfrm>
            <a:off x="1656662" y="1879926"/>
            <a:ext cx="5820385" cy="1528328"/>
          </a:xfrm>
        </p:spPr>
        <p:txBody>
          <a:bodyPr anchor="b">
            <a:noAutofit/>
          </a:bodyPr>
          <a:lstStyle>
            <a:lvl1pPr marL="0" marR="0" indent="0" algn="ctr" defTabSz="457200" rtl="0" eaLnBrk="1" fontAlgn="auto" latinLnBrk="0" hangingPunct="1">
              <a:lnSpc>
                <a:spcPct val="100000"/>
              </a:lnSpc>
              <a:spcBef>
                <a:spcPct val="0"/>
              </a:spcBef>
              <a:spcAft>
                <a:spcPts val="0"/>
              </a:spcAft>
              <a:buClrTx/>
              <a:buSzTx/>
              <a:buFontTx/>
              <a:buNone/>
              <a:tabLst/>
              <a:defRPr lang="en-US" sz="3600" b="1" smtClean="0">
                <a:effectLst/>
              </a:defRPr>
            </a:lvl1pPr>
          </a:lstStyle>
          <a:p>
            <a:r>
              <a:rPr lang="en-US" altLang="en-US" smtClean="0">
                <a:solidFill>
                  <a:prstClr val="black"/>
                </a:solidFill>
              </a:rPr>
              <a:t>Click to edit Master title style</a:t>
            </a:r>
            <a:endParaRPr lang="en-US" altLang="en-US" dirty="0">
              <a:solidFill>
                <a:prstClr val="black"/>
              </a:solidFill>
            </a:endParaRPr>
          </a:p>
        </p:txBody>
      </p:sp>
      <p:sp>
        <p:nvSpPr>
          <p:cNvPr id="3" name="Subtitle 2"/>
          <p:cNvSpPr>
            <a:spLocks noGrp="1"/>
          </p:cNvSpPr>
          <p:nvPr>
            <p:ph type="subTitle" idx="1"/>
          </p:nvPr>
        </p:nvSpPr>
        <p:spPr>
          <a:xfrm>
            <a:off x="2332652" y="3597481"/>
            <a:ext cx="4478695" cy="1012902"/>
          </a:xfrm>
        </p:spPr>
        <p:txBody>
          <a:bodyPr anchor="t">
            <a:normAutofit/>
          </a:bodyPr>
          <a:lstStyle>
            <a:lvl1pPr marL="0" indent="0" algn="ctr">
              <a:buNone/>
              <a:defRPr sz="3200" b="0" i="0">
                <a:solidFill>
                  <a:schemeClr val="tx1"/>
                </a:solidFill>
                <a:latin typeface="Arial" charset="0"/>
                <a:ea typeface="Arial" charset="0"/>
                <a:cs typeface="Arial"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5671241" y="4972192"/>
            <a:ext cx="972156" cy="361810"/>
          </a:xfrm>
        </p:spPr>
        <p:txBody>
          <a:bodyPr/>
          <a:lstStyle/>
          <a:p>
            <a:fld id="{34BDD43F-DB9D-4394-B35F-EF37BA961024}" type="datetimeFigureOut">
              <a:rPr lang="en-US" smtClean="0"/>
              <a:t>15-Dec-20</a:t>
            </a:fld>
            <a:endParaRPr lang="en-US" dirty="0"/>
          </a:p>
        </p:txBody>
      </p:sp>
      <p:sp>
        <p:nvSpPr>
          <p:cNvPr id="5" name="Footer Placeholder 4"/>
          <p:cNvSpPr>
            <a:spLocks noGrp="1"/>
          </p:cNvSpPr>
          <p:nvPr>
            <p:ph type="ftr" sz="quarter" idx="11"/>
          </p:nvPr>
        </p:nvSpPr>
        <p:spPr>
          <a:xfrm>
            <a:off x="1921934" y="4972193"/>
            <a:ext cx="3749306" cy="361809"/>
          </a:xfrm>
        </p:spPr>
        <p:txBody>
          <a:bodyPr/>
          <a:lstStyle/>
          <a:p>
            <a:endParaRPr lang="en-US" dirty="0"/>
          </a:p>
        </p:txBody>
      </p:sp>
      <p:sp>
        <p:nvSpPr>
          <p:cNvPr id="6" name="Slide Number Placeholder 5"/>
          <p:cNvSpPr>
            <a:spLocks noGrp="1"/>
          </p:cNvSpPr>
          <p:nvPr>
            <p:ph type="sldNum" sz="quarter" idx="12"/>
          </p:nvPr>
        </p:nvSpPr>
        <p:spPr>
          <a:xfrm>
            <a:off x="6811347" y="4972192"/>
            <a:ext cx="726151" cy="361809"/>
          </a:xfrm>
        </p:spPr>
        <p:txBody>
          <a:bodyPr/>
          <a:lstStyle/>
          <a:p>
            <a:fld id="{42E19AF1-D5BF-442C-A716-C551494C7DEA}" type="slidenum">
              <a:rPr lang="en-US" smtClean="0"/>
              <a:t>‹#›</a:t>
            </a:fld>
            <a:endParaRPr lang="en-US" dirty="0"/>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grpSp>
        <p:nvGrpSpPr>
          <p:cNvPr id="9" name="Group 8"/>
          <p:cNvGrpSpPr/>
          <p:nvPr/>
        </p:nvGrpSpPr>
        <p:grpSpPr>
          <a:xfrm>
            <a:off x="2979689" y="76751"/>
            <a:ext cx="3029101" cy="1142630"/>
            <a:chOff x="2823850" y="0"/>
            <a:chExt cx="3344655" cy="1448456"/>
          </a:xfrm>
        </p:grpSpPr>
        <p:pic>
          <p:nvPicPr>
            <p:cNvPr id="16" name="Picture 15" descr="Ethiopia_MOH"/>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7" name="TextBox 6"/>
            <p:cNvSpPr txBox="1"/>
            <p:nvPr userDrawn="1"/>
          </p:nvSpPr>
          <p:spPr>
            <a:xfrm>
              <a:off x="2823850" y="1037574"/>
              <a:ext cx="3344655" cy="410882"/>
            </a:xfrm>
            <a:prstGeom prst="rect">
              <a:avLst/>
            </a:prstGeom>
            <a:noFill/>
          </p:spPr>
          <p:txBody>
            <a:bodyPr wrap="square" rtlCol="0">
              <a:spAutoFit/>
            </a:bodyPr>
            <a:lstStyle/>
            <a:p>
              <a:pPr algn="ctr">
                <a:lnSpc>
                  <a:spcPct val="115000"/>
                </a:lnSpc>
                <a:spcAft>
                  <a:spcPts val="1000"/>
                </a:spcAft>
              </a:pPr>
              <a:r>
                <a:rPr lang="en-US" sz="1800" dirty="0" smtClean="0">
                  <a:solidFill>
                    <a:srgbClr val="0066FF"/>
                  </a:solidFill>
                  <a:effectLst/>
                  <a:latin typeface="Britannic Bold" charset="0"/>
                  <a:ea typeface="Calibri" charset="0"/>
                  <a:cs typeface="Times New Roman" charset="0"/>
                </a:rPr>
                <a:t>Federal Ministry of Health</a:t>
              </a:r>
              <a:endParaRPr lang="en-US" sz="16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71643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flip="none" rotWithShape="1">
          <a:gsLst>
            <a:gs pos="23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1030778"/>
            <a:ext cx="6798734" cy="1188426"/>
          </a:xfrm>
        </p:spPr>
        <p:txBody>
          <a:bodyPr>
            <a:noAutofit/>
          </a:bodyPr>
          <a:lstStyle>
            <a:lvl1pPr>
              <a:defRPr sz="4800" b="1" u="none"/>
            </a:lvl1pPr>
          </a:lstStyle>
          <a:p>
            <a:r>
              <a:rPr lang="en-US" smtClean="0"/>
              <a:t>Click to edit Master title style</a:t>
            </a:r>
            <a:endParaRPr lang="en-US" dirty="0"/>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356671" y="5960533"/>
            <a:ext cx="850200" cy="279400"/>
          </a:xfrm>
        </p:spPr>
        <p:txBody>
          <a:bodyPr/>
          <a:lstStyle/>
          <a:p>
            <a:fld id="{34BDD43F-DB9D-4394-B35F-EF37BA961024}" type="datetimeFigureOut">
              <a:rPr lang="en-US" smtClean="0"/>
              <a:t>15-Dec-20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206871" y="5960533"/>
            <a:ext cx="724154" cy="279400"/>
          </a:xfrm>
        </p:spPr>
        <p:txBody>
          <a:bodyPr/>
          <a:lstStyle/>
          <a:p>
            <a:fld id="{42E19AF1-D5BF-442C-A716-C551494C7DEA}" type="slidenum">
              <a:rPr lang="en-US" smtClean="0"/>
              <a:t>‹#›</a:t>
            </a:fld>
            <a:endParaRPr lang="en-US" dirty="0"/>
          </a:p>
        </p:txBody>
      </p:sp>
    </p:spTree>
    <p:extLst>
      <p:ext uri="{BB962C8B-B14F-4D97-AF65-F5344CB8AC3E}">
        <p14:creationId xmlns:p14="http://schemas.microsoft.com/office/powerpoint/2010/main" val="1040560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flip="none" rotWithShape="1">
          <a:gsLst>
            <a:gs pos="0">
              <a:schemeClr val="accent3">
                <a:lumMod val="0"/>
                <a:lumOff val="100000"/>
                <a:alpha val="93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BDD43F-DB9D-4394-B35F-EF37BA961024}" type="datetimeFigureOut">
              <a:rPr lang="en-US" smtClean="0"/>
              <a:t>15-Dec-20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580091" y="5960533"/>
            <a:ext cx="865640" cy="279400"/>
          </a:xfrm>
        </p:spPr>
        <p:txBody>
          <a:bodyPr/>
          <a:lstStyle/>
          <a:p>
            <a:fld id="{42E19AF1-D5BF-442C-A716-C551494C7DEA}" type="slidenum">
              <a:rPr lang="en-US" smtClean="0"/>
              <a:t>‹#›</a:t>
            </a:fld>
            <a:endParaRPr lang="en-US" dirty="0"/>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397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5" y="1052393"/>
            <a:ext cx="6798734"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4BDD43F-DB9D-4394-B35F-EF37BA961024}" type="datetimeFigureOut">
              <a:rPr lang="en-US" smtClean="0"/>
              <a:t>15-Dec-20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7580091" y="5934456"/>
            <a:ext cx="765888" cy="305477"/>
          </a:xfrm>
        </p:spPr>
        <p:txBody>
          <a:bodyPr/>
          <a:lstStyle/>
          <a:p>
            <a:fld id="{42E19AF1-D5BF-442C-A716-C551494C7DEA}" type="slidenum">
              <a:rPr lang="en-US" smtClean="0"/>
              <a:t>‹#›</a:t>
            </a:fld>
            <a:endParaRPr lang="en-US" dirty="0"/>
          </a:p>
        </p:txBody>
      </p:sp>
    </p:spTree>
    <p:extLst>
      <p:ext uri="{BB962C8B-B14F-4D97-AF65-F5344CB8AC3E}">
        <p14:creationId xmlns:p14="http://schemas.microsoft.com/office/powerpoint/2010/main" val="213744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4BDD43F-DB9D-4394-B35F-EF37BA961024}" type="datetimeFigureOut">
              <a:rPr lang="en-US" smtClean="0"/>
              <a:t>15-Dec-20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2E19AF1-D5BF-442C-A716-C551494C7DEA}" type="slidenum">
              <a:rPr lang="en-US" smtClean="0"/>
              <a:t>‹#›</a:t>
            </a:fld>
            <a:endParaRPr lang="en-US" dirty="0"/>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138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4BDD43F-DB9D-4394-B35F-EF37BA961024}" type="datetimeFigureOut">
              <a:rPr lang="en-US" smtClean="0"/>
              <a:t>15-Dec-20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2E19AF1-D5BF-442C-A716-C551494C7DEA}" type="slidenum">
              <a:rPr lang="en-US" smtClean="0"/>
              <a:t>‹#›</a:t>
            </a:fld>
            <a:endParaRPr lang="en-US" dirty="0"/>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3762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BDD43F-DB9D-4394-B35F-EF37BA961024}" type="datetimeFigureOut">
              <a:rPr lang="en-US" smtClean="0"/>
              <a:t>15-Dec-20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2E19AF1-D5BF-442C-A716-C551494C7DEA}" type="slidenum">
              <a:rPr lang="en-US" smtClean="0"/>
              <a:t>‹#›</a:t>
            </a:fld>
            <a:endParaRPr lang="en-US" dirty="0"/>
          </a:p>
        </p:txBody>
      </p:sp>
    </p:spTree>
    <p:extLst>
      <p:ext uri="{BB962C8B-B14F-4D97-AF65-F5344CB8AC3E}">
        <p14:creationId xmlns:p14="http://schemas.microsoft.com/office/powerpoint/2010/main" val="64074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BDD43F-DB9D-4394-B35F-EF37BA961024}" type="datetimeFigureOut">
              <a:rPr lang="en-US" smtClean="0"/>
              <a:t>15-Dec-20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E19AF1-D5BF-442C-A716-C551494C7DEA}" type="slidenum">
              <a:rPr lang="en-US" smtClean="0"/>
              <a:t>‹#›</a:t>
            </a:fld>
            <a:endParaRPr lang="en-US" dirty="0"/>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52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BDD43F-DB9D-4394-B35F-EF37BA961024}" type="datetimeFigureOut">
              <a:rPr lang="en-US" smtClean="0"/>
              <a:t>15-Dec-20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E19AF1-D5BF-442C-A716-C551494C7DEA}" type="slidenum">
              <a:rPr lang="en-US" smtClean="0"/>
              <a:t>‹#›</a:t>
            </a:fld>
            <a:endParaRPr lang="en-US" dirty="0"/>
          </a:p>
        </p:txBody>
      </p:sp>
    </p:spTree>
    <p:extLst>
      <p:ext uri="{BB962C8B-B14F-4D97-AF65-F5344CB8AC3E}">
        <p14:creationId xmlns:p14="http://schemas.microsoft.com/office/powerpoint/2010/main" val="155454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BDD43F-DB9D-4394-B35F-EF37BA961024}" type="datetimeFigureOut">
              <a:rPr lang="en-US" smtClean="0"/>
              <a:t>15-Dec-20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E19AF1-D5BF-442C-A716-C551494C7DEA}" type="slidenum">
              <a:rPr lang="en-US" smtClean="0"/>
              <a:t>‹#›</a:t>
            </a:fld>
            <a:endParaRPr lang="en-US" dirty="0"/>
          </a:p>
        </p:txBody>
      </p:sp>
    </p:spTree>
    <p:extLst>
      <p:ext uri="{BB962C8B-B14F-4D97-AF65-F5344CB8AC3E}">
        <p14:creationId xmlns:p14="http://schemas.microsoft.com/office/powerpoint/2010/main" val="98052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BDD43F-DB9D-4394-B35F-EF37BA961024}" type="datetimeFigureOut">
              <a:rPr lang="en-US" smtClean="0"/>
              <a:t>15-Dec-20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E19AF1-D5BF-442C-A716-C551494C7DEA}" type="slidenum">
              <a:rPr lang="en-US" smtClean="0"/>
              <a:t>‹#›</a:t>
            </a:fld>
            <a:endParaRPr lang="en-US" dirty="0"/>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533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BDD43F-DB9D-4394-B35F-EF37BA961024}" type="datetimeFigureOut">
              <a:rPr lang="en-US" smtClean="0"/>
              <a:t>15-Dec-20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E19AF1-D5BF-442C-A716-C551494C7DEA}" type="slidenum">
              <a:rPr lang="en-US" smtClean="0"/>
              <a:t>‹#›</a:t>
            </a:fld>
            <a:endParaRPr lang="en-US" dirty="0"/>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8538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BDD43F-DB9D-4394-B35F-EF37BA961024}" type="datetimeFigureOut">
              <a:rPr lang="en-US" smtClean="0"/>
              <a:t>15-Dec-20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E19AF1-D5BF-442C-A716-C551494C7DEA}" type="slidenum">
              <a:rPr lang="en-US" smtClean="0"/>
              <a:t>‹#›</a:t>
            </a:fld>
            <a:endParaRPr lang="en-US" dirty="0"/>
          </a:p>
        </p:txBody>
      </p:sp>
    </p:spTree>
    <p:extLst>
      <p:ext uri="{BB962C8B-B14F-4D97-AF65-F5344CB8AC3E}">
        <p14:creationId xmlns:p14="http://schemas.microsoft.com/office/powerpoint/2010/main" val="174620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BDD43F-DB9D-4394-B35F-EF37BA961024}" type="datetimeFigureOut">
              <a:rPr lang="en-US" smtClean="0"/>
              <a:t>15-Dec-20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E19AF1-D5BF-442C-A716-C551494C7DEA}" type="slidenum">
              <a:rPr lang="en-US" smtClean="0"/>
              <a:t>‹#›</a:t>
            </a:fld>
            <a:endParaRPr lang="en-US" dirty="0"/>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0804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BDD43F-DB9D-4394-B35F-EF37BA961024}" type="datetimeFigureOut">
              <a:rPr lang="en-US" smtClean="0"/>
              <a:t>15-Dec-20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E19AF1-D5BF-442C-A716-C551494C7DEA}" type="slidenum">
              <a:rPr lang="en-US" smtClean="0"/>
              <a:t>‹#›</a:t>
            </a:fld>
            <a:endParaRPr lang="en-US" dirty="0"/>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9183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4BDD43F-DB9D-4394-B35F-EF37BA961024}" type="datetimeFigureOut">
              <a:rPr lang="en-US" smtClean="0"/>
              <a:t>15-Dec-20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E19AF1-D5BF-442C-A716-C551494C7DEA}" type="slidenum">
              <a:rPr lang="en-US" smtClean="0"/>
              <a:t>‹#›</a:t>
            </a:fld>
            <a:endParaRPr lang="en-US" dirty="0"/>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2923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4BDD43F-DB9D-4394-B35F-EF37BA961024}" type="datetimeFigureOut">
              <a:rPr lang="en-US" smtClean="0"/>
              <a:t>15-Dec-20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E19AF1-D5BF-442C-A716-C551494C7DEA}" type="slidenum">
              <a:rPr lang="en-US" smtClean="0"/>
              <a:t>‹#›</a:t>
            </a:fld>
            <a:endParaRPr lang="en-US" dirty="0"/>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35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5.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356670" y="5935132"/>
            <a:ext cx="673085" cy="304801"/>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4BDD43F-DB9D-4394-B35F-EF37BA961024}" type="datetimeFigureOut">
              <a:rPr lang="en-US" smtClean="0"/>
              <a:t>15-Dec-20</a:t>
            </a:fld>
            <a:endParaRPr lang="en-US" dirty="0"/>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7029755" y="5960533"/>
            <a:ext cx="945846"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2E19AF1-D5BF-442C-A716-C551494C7DEA}" type="slidenum">
              <a:rPr lang="en-US" smtClean="0"/>
              <a:t>‹#›</a:t>
            </a:fld>
            <a:endParaRPr lang="en-US" dirty="0"/>
          </a:p>
        </p:txBody>
      </p:sp>
      <p:grpSp>
        <p:nvGrpSpPr>
          <p:cNvPr id="12" name="Group 11"/>
          <p:cNvGrpSpPr/>
          <p:nvPr/>
        </p:nvGrpSpPr>
        <p:grpSpPr>
          <a:xfrm>
            <a:off x="3372583" y="4072"/>
            <a:ext cx="2407298" cy="1306286"/>
            <a:chOff x="2823850" y="0"/>
            <a:chExt cx="3344655" cy="1951286"/>
          </a:xfrm>
        </p:grpSpPr>
        <p:pic>
          <p:nvPicPr>
            <p:cNvPr id="13" name="Picture 12" descr="Ethiopia_MOH"/>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14" name="TextBox 13"/>
            <p:cNvSpPr txBox="1"/>
            <p:nvPr userDrawn="1"/>
          </p:nvSpPr>
          <p:spPr>
            <a:xfrm>
              <a:off x="2823850" y="1037574"/>
              <a:ext cx="3344655" cy="913712"/>
            </a:xfrm>
            <a:prstGeom prst="rect">
              <a:avLst/>
            </a:prstGeom>
            <a:noFill/>
          </p:spPr>
          <p:txBody>
            <a:bodyPr wrap="square" rtlCol="0">
              <a:spAutoFit/>
            </a:bodyPr>
            <a:lstStyle/>
            <a:p>
              <a:pPr algn="ctr">
                <a:lnSpc>
                  <a:spcPct val="115000"/>
                </a:lnSpc>
                <a:spcAft>
                  <a:spcPts val="1000"/>
                </a:spcAft>
              </a:pPr>
              <a:r>
                <a:rPr lang="en-US" sz="1100" dirty="0" smtClean="0">
                  <a:solidFill>
                    <a:srgbClr val="0066FF"/>
                  </a:solidFill>
                  <a:effectLst/>
                  <a:latin typeface="Britannic Bold" charset="0"/>
                  <a:ea typeface="Calibri" charset="0"/>
                  <a:cs typeface="Times New Roman" charset="0"/>
                </a:rPr>
                <a:t>Federal Ministry of Health</a:t>
              </a:r>
              <a:endParaRPr lang="en-US" sz="11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1552993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4.xml"/><Relationship Id="rId4" Type="http://schemas.openxmlformats.org/officeDocument/2006/relationships/image" Target="../media/image21.jpeg"/></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1600200"/>
            <a:ext cx="5943600" cy="1828800"/>
          </a:xfrm>
        </p:spPr>
        <p:txBody>
          <a:bodyPr/>
          <a:lstStyle/>
          <a:p>
            <a:r>
              <a:rPr lang="en-US" sz="2800" dirty="0" smtClean="0"/>
              <a:t>Volume 1_Section 1</a:t>
            </a:r>
            <a:br>
              <a:rPr lang="en-US" sz="2800" dirty="0" smtClean="0"/>
            </a:br>
            <a:r>
              <a:rPr lang="en-US" sz="2800" dirty="0" smtClean="0"/>
              <a:t/>
            </a:r>
            <a:br>
              <a:rPr lang="en-US" sz="2800" dirty="0" smtClean="0"/>
            </a:br>
            <a:r>
              <a:rPr lang="en-US" sz="2800" dirty="0" smtClean="0"/>
              <a:t>Chapter 3: Standard and Transmission Based Precaution</a:t>
            </a:r>
            <a:endParaRPr lang="en-US" sz="2800" dirty="0"/>
          </a:p>
        </p:txBody>
      </p:sp>
      <p:sp>
        <p:nvSpPr>
          <p:cNvPr id="3" name="Subtitle 2"/>
          <p:cNvSpPr>
            <a:spLocks noGrp="1"/>
          </p:cNvSpPr>
          <p:nvPr>
            <p:ph type="subTitle" idx="1"/>
          </p:nvPr>
        </p:nvSpPr>
        <p:spPr>
          <a:xfrm>
            <a:off x="2332652" y="3711498"/>
            <a:ext cx="4478695" cy="1012902"/>
          </a:xfrm>
        </p:spPr>
        <p:txBody>
          <a:bodyPr>
            <a:noAutofit/>
          </a:bodyPr>
          <a:lstStyle/>
          <a:p>
            <a:r>
              <a:rPr lang="en-US" sz="2400" b="1" dirty="0">
                <a:ln w="3175" cmpd="sng">
                  <a:noFill/>
                </a:ln>
                <a:solidFill>
                  <a:schemeClr val="tx1">
                    <a:lumMod val="85000"/>
                    <a:lumOff val="15000"/>
                  </a:schemeClr>
                </a:solidFill>
                <a:latin typeface="+mn-lt"/>
              </a:rPr>
              <a:t>IPC and PS for Healthcare Setting in Ethiopia</a:t>
            </a:r>
          </a:p>
          <a:p>
            <a:endParaRPr lang="en-US" b="1" dirty="0">
              <a:ln w="3175" cmpd="sng">
                <a:noFill/>
              </a:ln>
              <a:solidFill>
                <a:schemeClr val="tx1">
                  <a:lumMod val="85000"/>
                  <a:lumOff val="15000"/>
                </a:schemeClr>
              </a:solidFill>
              <a:latin typeface="+mj-lt"/>
              <a:ea typeface="+mj-ea"/>
              <a:cs typeface="+mj-cs"/>
            </a:endParaRPr>
          </a:p>
        </p:txBody>
      </p:sp>
    </p:spTree>
    <p:extLst>
      <p:ext uri="{BB962C8B-B14F-4D97-AF65-F5344CB8AC3E}">
        <p14:creationId xmlns:p14="http://schemas.microsoft.com/office/powerpoint/2010/main" val="1104754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Outline</a:t>
            </a:r>
          </a:p>
        </p:txBody>
      </p:sp>
      <p:sp>
        <p:nvSpPr>
          <p:cNvPr id="3" name="Content Placeholder 2"/>
          <p:cNvSpPr>
            <a:spLocks noGrp="1"/>
          </p:cNvSpPr>
          <p:nvPr>
            <p:ph idx="1"/>
          </p:nvPr>
        </p:nvSpPr>
        <p:spPr/>
        <p:txBody>
          <a:bodyPr>
            <a:normAutofit/>
          </a:bodyPr>
          <a:lstStyle/>
          <a:p>
            <a:pPr marL="0" lvl="0" indent="0">
              <a:buNone/>
            </a:pPr>
            <a:r>
              <a:rPr lang="en-US" dirty="0" smtClean="0"/>
              <a:t>3.1: Overview</a:t>
            </a:r>
          </a:p>
          <a:p>
            <a:pPr marL="0" lvl="0" indent="0">
              <a:buNone/>
            </a:pPr>
            <a:r>
              <a:rPr lang="en-US" dirty="0" smtClean="0"/>
              <a:t>3.2: Standard </a:t>
            </a:r>
            <a:r>
              <a:rPr lang="en-US" dirty="0"/>
              <a:t>Precaution</a:t>
            </a:r>
          </a:p>
          <a:p>
            <a:pPr marL="0" lvl="0" indent="0">
              <a:buNone/>
            </a:pPr>
            <a:r>
              <a:rPr lang="en-US" dirty="0" smtClean="0"/>
              <a:t>3.3: Transmission </a:t>
            </a:r>
            <a:r>
              <a:rPr lang="en-US" dirty="0"/>
              <a:t>based precaution</a:t>
            </a:r>
          </a:p>
          <a:p>
            <a:pPr marL="0" lvl="0" indent="0">
              <a:buNone/>
            </a:pPr>
            <a:r>
              <a:rPr lang="en-US" dirty="0" smtClean="0"/>
              <a:t>3.4: Empiric use of Transmission </a:t>
            </a:r>
            <a:r>
              <a:rPr lang="en-US" dirty="0"/>
              <a:t>B</a:t>
            </a:r>
            <a:r>
              <a:rPr lang="en-US" dirty="0" smtClean="0"/>
              <a:t>ased </a:t>
            </a:r>
            <a:r>
              <a:rPr lang="en-US" dirty="0"/>
              <a:t>P</a:t>
            </a:r>
            <a:r>
              <a:rPr lang="en-US" dirty="0" smtClean="0"/>
              <a:t>recaution</a:t>
            </a:r>
            <a:endParaRPr lang="en-US" dirty="0"/>
          </a:p>
          <a:p>
            <a:endParaRPr lang="en-US" dirty="0"/>
          </a:p>
        </p:txBody>
      </p:sp>
    </p:spTree>
    <p:extLst>
      <p:ext uri="{BB962C8B-B14F-4D97-AF65-F5344CB8AC3E}">
        <p14:creationId xmlns:p14="http://schemas.microsoft.com/office/powerpoint/2010/main" val="36645088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Objectives</a:t>
            </a:r>
            <a:endParaRPr lang="en-US" dirty="0"/>
          </a:p>
        </p:txBody>
      </p:sp>
      <p:sp>
        <p:nvSpPr>
          <p:cNvPr id="3" name="Content Placeholder 2"/>
          <p:cNvSpPr>
            <a:spLocks noGrp="1"/>
          </p:cNvSpPr>
          <p:nvPr>
            <p:ph idx="1"/>
          </p:nvPr>
        </p:nvSpPr>
        <p:spPr>
          <a:xfrm>
            <a:off x="1176864" y="2490135"/>
            <a:ext cx="6900335" cy="3682065"/>
          </a:xfrm>
        </p:spPr>
        <p:txBody>
          <a:bodyPr>
            <a:normAutofit fontScale="77500" lnSpcReduction="20000"/>
          </a:bodyPr>
          <a:lstStyle/>
          <a:p>
            <a:pPr lvl="0" algn="just"/>
            <a:r>
              <a:rPr lang="en-US" dirty="0"/>
              <a:t>Define </a:t>
            </a:r>
            <a:r>
              <a:rPr lang="en-US" dirty="0" smtClean="0"/>
              <a:t>standard and </a:t>
            </a:r>
            <a:r>
              <a:rPr lang="en-US" dirty="0"/>
              <a:t>transmission based precautions </a:t>
            </a:r>
          </a:p>
          <a:p>
            <a:pPr lvl="0" algn="just"/>
            <a:r>
              <a:rPr lang="en-US" dirty="0"/>
              <a:t>List the principles of standard precaution</a:t>
            </a:r>
          </a:p>
          <a:p>
            <a:pPr lvl="0" algn="just"/>
            <a:r>
              <a:rPr lang="en-US" dirty="0"/>
              <a:t>List components of standard precaution</a:t>
            </a:r>
          </a:p>
          <a:p>
            <a:pPr lvl="0" algn="just"/>
            <a:r>
              <a:rPr lang="en-US" dirty="0"/>
              <a:t>Describe the role of Empiric / </a:t>
            </a:r>
            <a:r>
              <a:rPr lang="en-US" dirty="0" err="1" smtClean="0"/>
              <a:t>Syndoromic</a:t>
            </a:r>
            <a:r>
              <a:rPr lang="en-US" dirty="0" smtClean="0"/>
              <a:t> </a:t>
            </a:r>
            <a:r>
              <a:rPr lang="en-US" dirty="0"/>
              <a:t>use of transmission in prevention of HAI’s</a:t>
            </a:r>
          </a:p>
          <a:p>
            <a:pPr lvl="0" algn="just"/>
            <a:r>
              <a:rPr lang="en-US" dirty="0"/>
              <a:t>List the components of transmission based precaution</a:t>
            </a:r>
          </a:p>
          <a:p>
            <a:pPr lvl="0" algn="just"/>
            <a:r>
              <a:rPr lang="en-US" dirty="0"/>
              <a:t>Elucidate the recommended precautions for each route of infection transmission during out break </a:t>
            </a:r>
          </a:p>
          <a:p>
            <a:pPr algn="just"/>
            <a:endParaRPr lang="en-US" dirty="0"/>
          </a:p>
        </p:txBody>
      </p:sp>
    </p:spTree>
    <p:extLst>
      <p:ext uri="{BB962C8B-B14F-4D97-AF65-F5344CB8AC3E}">
        <p14:creationId xmlns:p14="http://schemas.microsoft.com/office/powerpoint/2010/main" val="15428044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3.1: Overview</a:t>
            </a:r>
            <a:endParaRPr lang="en-US" dirty="0"/>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499233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a:t>
            </a:r>
            <a:endParaRPr lang="en-US" dirty="0"/>
          </a:p>
        </p:txBody>
      </p:sp>
      <p:sp>
        <p:nvSpPr>
          <p:cNvPr id="3" name="Content Placeholder 2"/>
          <p:cNvSpPr>
            <a:spLocks noGrp="1"/>
          </p:cNvSpPr>
          <p:nvPr>
            <p:ph idx="1"/>
          </p:nvPr>
        </p:nvSpPr>
        <p:spPr>
          <a:xfrm>
            <a:off x="762000" y="2438401"/>
            <a:ext cx="7620000" cy="3733800"/>
          </a:xfrm>
        </p:spPr>
        <p:txBody>
          <a:bodyPr>
            <a:normAutofit fontScale="85000" lnSpcReduction="20000"/>
          </a:bodyPr>
          <a:lstStyle/>
          <a:p>
            <a:pPr lvl="0" algn="just"/>
            <a:r>
              <a:rPr lang="en-US" dirty="0"/>
              <a:t>The guideline issued by the CDC in 1996 involves two level approaches, namely standard precaution and transmission precaution. </a:t>
            </a:r>
            <a:endParaRPr lang="en-US" dirty="0" smtClean="0"/>
          </a:p>
          <a:p>
            <a:pPr algn="just"/>
            <a:r>
              <a:rPr lang="en-US" dirty="0"/>
              <a:t>Standard Precautions combine the major features of universal precaution and body substance isolation.  </a:t>
            </a:r>
            <a:endParaRPr lang="en-US" dirty="0" smtClean="0"/>
          </a:p>
          <a:p>
            <a:pPr lvl="0" algn="just"/>
            <a:r>
              <a:rPr lang="en-US" dirty="0" smtClean="0"/>
              <a:t>Standard </a:t>
            </a:r>
            <a:r>
              <a:rPr lang="en-US" dirty="0"/>
              <a:t>Precautions, which apply to all clients and patients attending healthcare facilities on the one hand, and Transmission-Based Precautions which apply primarily to hospitalized </a:t>
            </a:r>
            <a:r>
              <a:rPr lang="en-US" dirty="0" smtClean="0"/>
              <a:t>patients.</a:t>
            </a:r>
          </a:p>
          <a:p>
            <a:pPr algn="just"/>
            <a:endParaRPr lang="en-US" dirty="0"/>
          </a:p>
          <a:p>
            <a:pPr lvl="0" algn="just"/>
            <a:endParaRPr lang="en-US" dirty="0"/>
          </a:p>
          <a:p>
            <a:pPr algn="just"/>
            <a:endParaRPr lang="en-US" dirty="0"/>
          </a:p>
        </p:txBody>
      </p:sp>
    </p:spTree>
    <p:extLst>
      <p:ext uri="{BB962C8B-B14F-4D97-AF65-F5344CB8AC3E}">
        <p14:creationId xmlns:p14="http://schemas.microsoft.com/office/powerpoint/2010/main" val="22668239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cont’d…</a:t>
            </a:r>
            <a:endParaRPr lang="en-US" dirty="0"/>
          </a:p>
        </p:txBody>
      </p:sp>
      <p:sp>
        <p:nvSpPr>
          <p:cNvPr id="3" name="Content Placeholder 2"/>
          <p:cNvSpPr>
            <a:spLocks noGrp="1"/>
          </p:cNvSpPr>
          <p:nvPr>
            <p:ph idx="1"/>
          </p:nvPr>
        </p:nvSpPr>
        <p:spPr>
          <a:xfrm>
            <a:off x="914400" y="2490135"/>
            <a:ext cx="7391400" cy="3682065"/>
          </a:xfrm>
        </p:spPr>
        <p:txBody>
          <a:bodyPr>
            <a:normAutofit fontScale="77500" lnSpcReduction="20000"/>
          </a:bodyPr>
          <a:lstStyle/>
          <a:p>
            <a:pPr algn="just"/>
            <a:r>
              <a:rPr lang="en-US" dirty="0"/>
              <a:t>Actually, either approach is too interlinked to be used in separation. </a:t>
            </a:r>
            <a:endParaRPr lang="en-US" dirty="0" smtClean="0"/>
          </a:p>
          <a:p>
            <a:pPr algn="just"/>
            <a:r>
              <a:rPr lang="en-US" dirty="0" smtClean="0"/>
              <a:t>Thus</a:t>
            </a:r>
            <a:r>
              <a:rPr lang="en-US" dirty="0"/>
              <a:t>, the relatively specific approach-transmission-based precautions must be used in conjunction with the Standard Precautions</a:t>
            </a:r>
            <a:r>
              <a:rPr lang="en-US" dirty="0" smtClean="0"/>
              <a:t>.</a:t>
            </a:r>
          </a:p>
          <a:p>
            <a:pPr lvl="0" algn="just"/>
            <a:r>
              <a:rPr lang="en-US" dirty="0" smtClean="0"/>
              <a:t>The basic concept in the implementation the precautions is breaking the disease transmission cycle. </a:t>
            </a:r>
          </a:p>
          <a:p>
            <a:pPr algn="just"/>
            <a:r>
              <a:rPr lang="en-US" dirty="0" smtClean="0"/>
              <a:t>The </a:t>
            </a:r>
            <a:r>
              <a:rPr lang="en-US" dirty="0"/>
              <a:t>rationale is that, for transmission to occur within the health care setting, all elements in the disease transmission cycle must be present</a:t>
            </a:r>
          </a:p>
          <a:p>
            <a:endParaRPr lang="en-US" dirty="0"/>
          </a:p>
        </p:txBody>
      </p:sp>
    </p:spTree>
    <p:extLst>
      <p:ext uri="{BB962C8B-B14F-4D97-AF65-F5344CB8AC3E}">
        <p14:creationId xmlns:p14="http://schemas.microsoft.com/office/powerpoint/2010/main" val="8671140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3.2: Standard Precaution</a:t>
            </a:r>
            <a:endParaRPr lang="en-US" dirty="0"/>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726068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smtClean="0"/>
              <a:t/>
            </a:r>
            <a:br>
              <a:rPr lang="en-US" dirty="0" smtClean="0"/>
            </a:br>
            <a:r>
              <a:rPr lang="en-US" dirty="0" smtClean="0"/>
              <a:t>Standard </a:t>
            </a:r>
            <a:r>
              <a:rPr lang="en-US" dirty="0"/>
              <a:t>Precaution </a:t>
            </a:r>
            <a:br>
              <a:rPr lang="en-US" dirty="0"/>
            </a:br>
            <a:endParaRPr lang="en-US" dirty="0"/>
          </a:p>
        </p:txBody>
      </p:sp>
      <p:sp>
        <p:nvSpPr>
          <p:cNvPr id="3" name="Content Placeholder 2"/>
          <p:cNvSpPr>
            <a:spLocks noGrp="1"/>
          </p:cNvSpPr>
          <p:nvPr>
            <p:ph idx="1"/>
          </p:nvPr>
        </p:nvSpPr>
        <p:spPr>
          <a:xfrm>
            <a:off x="1176864" y="2490135"/>
            <a:ext cx="7052735" cy="3682065"/>
          </a:xfrm>
        </p:spPr>
        <p:txBody>
          <a:bodyPr>
            <a:normAutofit fontScale="77500" lnSpcReduction="20000"/>
          </a:bodyPr>
          <a:lstStyle/>
          <a:p>
            <a:pPr lvl="0" algn="just"/>
            <a:r>
              <a:rPr lang="en-US" b="1" dirty="0" smtClean="0"/>
              <a:t>These are </a:t>
            </a:r>
            <a:r>
              <a:rPr lang="en-US" b="1" dirty="0"/>
              <a:t>set of guidelines designed to create physical, chemical and mechanical protective barrier</a:t>
            </a:r>
            <a:r>
              <a:rPr lang="en-US" dirty="0"/>
              <a:t> between microorganism and person to prevent the spread of infection (the barrier serves to break the diseases transmission cycle</a:t>
            </a:r>
            <a:r>
              <a:rPr lang="en-US" dirty="0" smtClean="0"/>
              <a:t>).</a:t>
            </a:r>
          </a:p>
          <a:p>
            <a:r>
              <a:rPr lang="en-US" dirty="0"/>
              <a:t>Example of barriers </a:t>
            </a:r>
          </a:p>
          <a:p>
            <a:pPr lvl="1"/>
            <a:r>
              <a:rPr lang="en-US" dirty="0"/>
              <a:t>Physical-PPE </a:t>
            </a:r>
          </a:p>
          <a:p>
            <a:pPr lvl="1"/>
            <a:r>
              <a:rPr lang="en-US" dirty="0"/>
              <a:t>Mechanical barrier –HLD and Sterilization</a:t>
            </a:r>
          </a:p>
          <a:p>
            <a:pPr lvl="1"/>
            <a:r>
              <a:rPr lang="en-US" dirty="0"/>
              <a:t>Chemical- </a:t>
            </a:r>
            <a:r>
              <a:rPr lang="en-US" dirty="0" smtClean="0"/>
              <a:t>Antiseptic </a:t>
            </a:r>
            <a:r>
              <a:rPr lang="en-US" dirty="0"/>
              <a:t>and </a:t>
            </a:r>
            <a:r>
              <a:rPr lang="en-US" dirty="0" smtClean="0"/>
              <a:t>Disinfectant </a:t>
            </a:r>
            <a:endParaRPr lang="en-US" dirty="0"/>
          </a:p>
          <a:p>
            <a:pPr lvl="0" algn="just"/>
            <a:endParaRPr lang="en-US" dirty="0"/>
          </a:p>
          <a:p>
            <a:pPr algn="just"/>
            <a:endParaRPr lang="en-US" dirty="0"/>
          </a:p>
        </p:txBody>
      </p:sp>
    </p:spTree>
    <p:extLst>
      <p:ext uri="{BB962C8B-B14F-4D97-AF65-F5344CB8AC3E}">
        <p14:creationId xmlns:p14="http://schemas.microsoft.com/office/powerpoint/2010/main" val="17289805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030778"/>
            <a:ext cx="7924800" cy="1188426"/>
          </a:xfrm>
        </p:spPr>
        <p:txBody>
          <a:bodyPr/>
          <a:lstStyle/>
          <a:p>
            <a:r>
              <a:rPr lang="en-US" dirty="0"/>
              <a:t>Standard </a:t>
            </a:r>
            <a:r>
              <a:rPr lang="en-US" dirty="0" smtClean="0"/>
              <a:t>Precaution cont’d…</a:t>
            </a:r>
            <a:endParaRPr lang="en-US" dirty="0"/>
          </a:p>
        </p:txBody>
      </p:sp>
      <p:sp>
        <p:nvSpPr>
          <p:cNvPr id="3" name="Content Placeholder 2"/>
          <p:cNvSpPr>
            <a:spLocks noGrp="1"/>
          </p:cNvSpPr>
          <p:nvPr>
            <p:ph idx="1"/>
          </p:nvPr>
        </p:nvSpPr>
        <p:spPr>
          <a:xfrm>
            <a:off x="838200" y="2490135"/>
            <a:ext cx="7467600" cy="3682065"/>
          </a:xfrm>
        </p:spPr>
        <p:txBody>
          <a:bodyPr>
            <a:normAutofit fontScale="77500" lnSpcReduction="20000"/>
          </a:bodyPr>
          <a:lstStyle/>
          <a:p>
            <a:pPr algn="just"/>
            <a:r>
              <a:rPr lang="en-US" dirty="0"/>
              <a:t>Standard Precaution</a:t>
            </a:r>
            <a:r>
              <a:rPr lang="en-US" b="1" dirty="0"/>
              <a:t> </a:t>
            </a:r>
            <a:r>
              <a:rPr lang="en-US" dirty="0"/>
              <a:t>is first level </a:t>
            </a:r>
            <a:r>
              <a:rPr lang="en-US" dirty="0" smtClean="0"/>
              <a:t>precautions.</a:t>
            </a:r>
          </a:p>
          <a:p>
            <a:pPr algn="just"/>
            <a:r>
              <a:rPr lang="en-US" dirty="0"/>
              <a:t>The aim of standard precautions is to reduce the risk of transmitting micro microorganisms </a:t>
            </a:r>
            <a:r>
              <a:rPr lang="en-US" dirty="0" smtClean="0"/>
              <a:t>from </a:t>
            </a:r>
            <a:r>
              <a:rPr lang="en-US" dirty="0"/>
              <a:t>known or unknown source infection </a:t>
            </a:r>
            <a:r>
              <a:rPr lang="en-US" dirty="0" smtClean="0"/>
              <a:t>within </a:t>
            </a:r>
            <a:r>
              <a:rPr lang="en-US" dirty="0"/>
              <a:t>health care </a:t>
            </a:r>
            <a:r>
              <a:rPr lang="en-US" dirty="0" smtClean="0"/>
              <a:t>settings.</a:t>
            </a:r>
          </a:p>
          <a:p>
            <a:pPr algn="just"/>
            <a:r>
              <a:rPr lang="en-US" dirty="0"/>
              <a:t>Applying Standard Precaution while providing patient care is based on the anticipated interaction </a:t>
            </a:r>
            <a:r>
              <a:rPr lang="en-US" dirty="0" smtClean="0"/>
              <a:t>HCW will have with patient.</a:t>
            </a:r>
          </a:p>
          <a:p>
            <a:pPr algn="just"/>
            <a:r>
              <a:rPr lang="en-US" dirty="0"/>
              <a:t>They provide a rationale for appropriate utilization of limited IPC resources.</a:t>
            </a:r>
            <a:endParaRPr lang="en-US" dirty="0" smtClean="0"/>
          </a:p>
          <a:p>
            <a:pPr algn="just"/>
            <a:endParaRPr lang="en-US" dirty="0"/>
          </a:p>
          <a:p>
            <a:endParaRPr lang="en-US" dirty="0"/>
          </a:p>
        </p:txBody>
      </p:sp>
    </p:spTree>
    <p:extLst>
      <p:ext uri="{BB962C8B-B14F-4D97-AF65-F5344CB8AC3E}">
        <p14:creationId xmlns:p14="http://schemas.microsoft.com/office/powerpoint/2010/main" val="22551885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Principles of Standard Precaution</a:t>
            </a:r>
          </a:p>
        </p:txBody>
      </p:sp>
      <p:sp>
        <p:nvSpPr>
          <p:cNvPr id="3" name="Content Placeholder 2"/>
          <p:cNvSpPr>
            <a:spLocks noGrp="1"/>
          </p:cNvSpPr>
          <p:nvPr>
            <p:ph idx="1"/>
          </p:nvPr>
        </p:nvSpPr>
        <p:spPr>
          <a:xfrm>
            <a:off x="1176865" y="2490135"/>
            <a:ext cx="6798736" cy="3148665"/>
          </a:xfrm>
        </p:spPr>
        <p:txBody>
          <a:bodyPr>
            <a:normAutofit fontScale="85000" lnSpcReduction="10000"/>
          </a:bodyPr>
          <a:lstStyle/>
          <a:p>
            <a:pPr lvl="0" algn="just"/>
            <a:r>
              <a:rPr lang="en-US" dirty="0"/>
              <a:t>Consider every client and patient as potentially infectious or susceptible to infection.</a:t>
            </a:r>
          </a:p>
          <a:p>
            <a:pPr lvl="0" algn="just"/>
            <a:r>
              <a:rPr lang="en-US" dirty="0"/>
              <a:t>Apply to all patients and clients attending health care facility</a:t>
            </a:r>
          </a:p>
          <a:p>
            <a:pPr lvl="0" algn="just"/>
            <a:r>
              <a:rPr lang="en-US" dirty="0"/>
              <a:t>Apply to all blood, body fluid, secretion, execration (except sweat), mucous membrane and no intact skin.</a:t>
            </a:r>
          </a:p>
          <a:p>
            <a:pPr algn="just"/>
            <a:endParaRPr lang="en-US" dirty="0"/>
          </a:p>
        </p:txBody>
      </p:sp>
    </p:spTree>
    <p:extLst>
      <p:ext uri="{BB962C8B-B14F-4D97-AF65-F5344CB8AC3E}">
        <p14:creationId xmlns:p14="http://schemas.microsoft.com/office/powerpoint/2010/main" val="22934918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defTabSz="457200" rtl="0">
              <a:spcBef>
                <a:spcPct val="0"/>
              </a:spcBef>
            </a:pPr>
            <a:r>
              <a:rPr lang="en-US" sz="4800" b="1" kern="1200" dirty="0" smtClean="0">
                <a:ln w="3175" cmpd="sng">
                  <a:noFill/>
                </a:ln>
                <a:solidFill>
                  <a:schemeClr val="tx1">
                    <a:lumMod val="85000"/>
                    <a:lumOff val="15000"/>
                  </a:schemeClr>
                </a:solidFill>
                <a:latin typeface="+mj-lt"/>
                <a:ea typeface="+mj-ea"/>
                <a:cs typeface="+mj-cs"/>
              </a:rPr>
              <a:t/>
            </a:r>
            <a:br>
              <a:rPr lang="en-US" sz="4800" b="1" kern="1200" dirty="0" smtClean="0">
                <a:ln w="3175" cmpd="sng">
                  <a:noFill/>
                </a:ln>
                <a:solidFill>
                  <a:schemeClr val="tx1">
                    <a:lumMod val="85000"/>
                    <a:lumOff val="15000"/>
                  </a:schemeClr>
                </a:solidFill>
                <a:latin typeface="+mj-lt"/>
                <a:ea typeface="+mj-ea"/>
                <a:cs typeface="+mj-cs"/>
              </a:rPr>
            </a:br>
            <a:r>
              <a:rPr lang="en-US" sz="4800" b="1" kern="1200" dirty="0" smtClean="0">
                <a:ln w="3175" cmpd="sng">
                  <a:noFill/>
                </a:ln>
                <a:solidFill>
                  <a:schemeClr val="tx1">
                    <a:lumMod val="85000"/>
                    <a:lumOff val="15000"/>
                  </a:schemeClr>
                </a:solidFill>
                <a:latin typeface="+mj-lt"/>
                <a:ea typeface="+mj-ea"/>
                <a:cs typeface="+mj-cs"/>
              </a:rPr>
              <a:t>Key </a:t>
            </a:r>
            <a:r>
              <a:rPr lang="en-US" sz="4800" b="1" kern="1200" dirty="0">
                <a:ln w="3175" cmpd="sng">
                  <a:noFill/>
                </a:ln>
                <a:solidFill>
                  <a:schemeClr val="tx1">
                    <a:lumMod val="85000"/>
                    <a:lumOff val="15000"/>
                  </a:schemeClr>
                </a:solidFill>
                <a:latin typeface="+mj-lt"/>
                <a:ea typeface="+mj-ea"/>
                <a:cs typeface="+mj-cs"/>
              </a:rPr>
              <a:t>Components of Standard Precautions</a:t>
            </a:r>
            <a:br>
              <a:rPr lang="en-US" sz="4800" b="1" kern="1200" dirty="0">
                <a:ln w="3175" cmpd="sng">
                  <a:noFill/>
                </a:ln>
                <a:solidFill>
                  <a:schemeClr val="tx1">
                    <a:lumMod val="85000"/>
                    <a:lumOff val="15000"/>
                  </a:schemeClr>
                </a:solidFill>
                <a:latin typeface="+mj-lt"/>
                <a:ea typeface="+mj-ea"/>
                <a:cs typeface="+mj-cs"/>
              </a:rPr>
            </a:br>
            <a:endParaRPr lang="en-US" sz="4800" b="1" kern="1200" dirty="0">
              <a:ln w="3175" cmpd="sng">
                <a:noFill/>
              </a:ln>
              <a:solidFill>
                <a:schemeClr val="tx1">
                  <a:lumMod val="85000"/>
                  <a:lumOff val="15000"/>
                </a:schemeClr>
              </a:solidFill>
              <a:latin typeface="+mj-lt"/>
              <a:ea typeface="+mj-ea"/>
              <a:cs typeface="+mj-cs"/>
            </a:endParaRPr>
          </a:p>
        </p:txBody>
      </p:sp>
      <p:sp>
        <p:nvSpPr>
          <p:cNvPr id="3" name="Content Placeholder 2"/>
          <p:cNvSpPr>
            <a:spLocks noGrp="1"/>
          </p:cNvSpPr>
          <p:nvPr>
            <p:ph idx="1"/>
          </p:nvPr>
        </p:nvSpPr>
        <p:spPr>
          <a:xfrm>
            <a:off x="838200" y="2667000"/>
            <a:ext cx="7391400" cy="2539065"/>
          </a:xfrm>
        </p:spPr>
        <p:txBody>
          <a:bodyPr>
            <a:noAutofit/>
          </a:bodyPr>
          <a:lstStyle/>
          <a:p>
            <a:pPr algn="just"/>
            <a:r>
              <a:rPr lang="en-US" sz="2800" dirty="0"/>
              <a:t>The components of Standard Precautions create protective barriers for preventing infections in visitors, patients, and HCWs and are based upon the premise that every person (patient, visitor, or HCW) is potentially infectious and susceptible to infection.</a:t>
            </a:r>
          </a:p>
          <a:p>
            <a:endParaRPr lang="en-US" sz="2800" dirty="0"/>
          </a:p>
        </p:txBody>
      </p:sp>
    </p:spTree>
    <p:extLst>
      <p:ext uri="{BB962C8B-B14F-4D97-AF65-F5344CB8AC3E}">
        <p14:creationId xmlns:p14="http://schemas.microsoft.com/office/powerpoint/2010/main" val="21609783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sz="4400" b="1" dirty="0"/>
              <a:t>Key Components of Standard Precautions Cont’d…</a:t>
            </a:r>
            <a:br>
              <a:rPr lang="en-US" sz="4400" b="1" dirty="0"/>
            </a:br>
            <a:endParaRPr lang="en-US" sz="5300" b="1" dirty="0"/>
          </a:p>
        </p:txBody>
      </p:sp>
      <p:sp>
        <p:nvSpPr>
          <p:cNvPr id="12" name="Content Placeholder 11"/>
          <p:cNvSpPr>
            <a:spLocks noGrp="1"/>
          </p:cNvSpPr>
          <p:nvPr>
            <p:ph sz="half" idx="1"/>
          </p:nvPr>
        </p:nvSpPr>
        <p:spPr/>
        <p:txBody>
          <a:bodyPr/>
          <a:lstStyle/>
          <a:p>
            <a:r>
              <a:rPr lang="en-US" b="1" dirty="0" smtClean="0">
                <a:solidFill>
                  <a:schemeClr val="accent3"/>
                </a:solidFill>
              </a:rPr>
              <a:t>Hand Hygiene </a:t>
            </a:r>
            <a:endParaRPr lang="en-US" b="1" dirty="0">
              <a:solidFill>
                <a:schemeClr val="accent3"/>
              </a:solidFill>
            </a:endParaRPr>
          </a:p>
        </p:txBody>
      </p:sp>
      <p:sp>
        <p:nvSpPr>
          <p:cNvPr id="13" name="Content Placeholder 12"/>
          <p:cNvSpPr>
            <a:spLocks noGrp="1"/>
          </p:cNvSpPr>
          <p:nvPr>
            <p:ph sz="half" idx="2"/>
          </p:nvPr>
        </p:nvSpPr>
        <p:spPr/>
        <p:txBody>
          <a:bodyPr/>
          <a:lstStyle/>
          <a:p>
            <a:pPr algn="just"/>
            <a:r>
              <a:rPr lang="en-US" dirty="0"/>
              <a:t>After touching blood, body fluids, secretions, excretions and contaminated items;</a:t>
            </a:r>
          </a:p>
          <a:p>
            <a:pPr algn="just"/>
            <a:r>
              <a:rPr lang="en-US" dirty="0"/>
              <a:t>Immediately after removing gloves;</a:t>
            </a:r>
          </a:p>
          <a:p>
            <a:pPr algn="just"/>
            <a:r>
              <a:rPr lang="en-US" dirty="0"/>
              <a:t>Between patient contacts</a:t>
            </a:r>
          </a:p>
          <a:p>
            <a:pPr algn="just"/>
            <a:endParaRPr lang="en-US" dirty="0"/>
          </a:p>
        </p:txBody>
      </p:sp>
      <p:pic>
        <p:nvPicPr>
          <p:cNvPr id="16" name="Picture 4" descr="handwash_buck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352800"/>
            <a:ext cx="2590800" cy="2490065"/>
          </a:xfrm>
          <a:prstGeom prst="rect">
            <a:avLst/>
          </a:prstGeom>
          <a:noFill/>
          <a:ln w="44450">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04572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Key </a:t>
            </a:r>
            <a:r>
              <a:rPr lang="en-US" b="1" dirty="0"/>
              <a:t>Components of Standard Precautions Cont’d…</a:t>
            </a:r>
            <a:br>
              <a:rPr lang="en-US" b="1" dirty="0"/>
            </a:br>
            <a:endParaRPr lang="en-US" dirty="0"/>
          </a:p>
        </p:txBody>
      </p:sp>
      <p:sp>
        <p:nvSpPr>
          <p:cNvPr id="3" name="Content Placeholder 2"/>
          <p:cNvSpPr>
            <a:spLocks noGrp="1"/>
          </p:cNvSpPr>
          <p:nvPr>
            <p:ph sz="half" idx="1"/>
          </p:nvPr>
        </p:nvSpPr>
        <p:spPr/>
        <p:txBody>
          <a:bodyPr/>
          <a:lstStyle/>
          <a:p>
            <a:r>
              <a:rPr lang="en-US" b="1" dirty="0" smtClean="0">
                <a:solidFill>
                  <a:schemeClr val="accent3"/>
                </a:solidFill>
              </a:rPr>
              <a:t>Wearing Gloves</a:t>
            </a:r>
            <a:endParaRPr lang="en-US" b="1" dirty="0">
              <a:solidFill>
                <a:schemeClr val="accent3"/>
              </a:solidFill>
            </a:endParaRPr>
          </a:p>
        </p:txBody>
      </p:sp>
      <p:sp>
        <p:nvSpPr>
          <p:cNvPr id="4" name="Content Placeholder 3"/>
          <p:cNvSpPr>
            <a:spLocks noGrp="1"/>
          </p:cNvSpPr>
          <p:nvPr>
            <p:ph sz="half" idx="2"/>
          </p:nvPr>
        </p:nvSpPr>
        <p:spPr>
          <a:xfrm>
            <a:off x="4645152" y="2487168"/>
            <a:ext cx="3337560" cy="3608832"/>
          </a:xfrm>
        </p:spPr>
        <p:txBody>
          <a:bodyPr/>
          <a:lstStyle/>
          <a:p>
            <a:pPr algn="just"/>
            <a:r>
              <a:rPr lang="en-US" dirty="0"/>
              <a:t>For contact with blood, body fluids, secretions/excretions or contaminated items;</a:t>
            </a:r>
          </a:p>
          <a:p>
            <a:pPr algn="just"/>
            <a:r>
              <a:rPr lang="en-US" dirty="0"/>
              <a:t>For contact with mucous membranes and non-intact </a:t>
            </a:r>
            <a:r>
              <a:rPr lang="en-US" dirty="0" smtClean="0"/>
              <a:t>skin</a:t>
            </a:r>
            <a:endParaRPr lang="en-US" dirty="0"/>
          </a:p>
        </p:txBody>
      </p:sp>
      <p:pic>
        <p:nvPicPr>
          <p:cNvPr id="5" name="Picture 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429000"/>
            <a:ext cx="2728913" cy="2505507"/>
          </a:xfrm>
          <a:prstGeom prst="rect">
            <a:avLst/>
          </a:prstGeom>
          <a:ln w="28575">
            <a:headEnd/>
            <a:tailEnd/>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6977081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Key </a:t>
            </a:r>
            <a:r>
              <a:rPr lang="en-US" b="1" dirty="0"/>
              <a:t>Components of Standard Precautions Cont’d…</a:t>
            </a:r>
            <a:br>
              <a:rPr lang="en-US" b="1" dirty="0"/>
            </a:br>
            <a:endParaRPr lang="en-US" dirty="0"/>
          </a:p>
        </p:txBody>
      </p:sp>
      <p:sp>
        <p:nvSpPr>
          <p:cNvPr id="3" name="Content Placeholder 2"/>
          <p:cNvSpPr>
            <a:spLocks noGrp="1"/>
          </p:cNvSpPr>
          <p:nvPr>
            <p:ph sz="half" idx="1"/>
          </p:nvPr>
        </p:nvSpPr>
        <p:spPr/>
        <p:txBody>
          <a:bodyPr>
            <a:normAutofit lnSpcReduction="10000"/>
          </a:bodyPr>
          <a:lstStyle/>
          <a:p>
            <a:r>
              <a:rPr lang="en-US" b="1" dirty="0" smtClean="0">
                <a:solidFill>
                  <a:schemeClr val="accent3"/>
                </a:solidFill>
              </a:rPr>
              <a:t>Gowns/Aprons</a:t>
            </a:r>
            <a:endParaRPr lang="en-US" b="1" dirty="0">
              <a:solidFill>
                <a:schemeClr val="accent3"/>
              </a:solidFill>
            </a:endParaRPr>
          </a:p>
        </p:txBody>
      </p:sp>
      <p:sp>
        <p:nvSpPr>
          <p:cNvPr id="4" name="Content Placeholder 3"/>
          <p:cNvSpPr>
            <a:spLocks noGrp="1"/>
          </p:cNvSpPr>
          <p:nvPr>
            <p:ph sz="half" idx="2"/>
          </p:nvPr>
        </p:nvSpPr>
        <p:spPr/>
        <p:txBody>
          <a:bodyPr>
            <a:normAutofit lnSpcReduction="10000"/>
          </a:bodyPr>
          <a:lstStyle/>
          <a:p>
            <a:pPr algn="just"/>
            <a:r>
              <a:rPr lang="en-US" dirty="0"/>
              <a:t>Protect skin from blood or body fluid contact</a:t>
            </a:r>
          </a:p>
          <a:p>
            <a:pPr algn="just"/>
            <a:r>
              <a:rPr lang="en-US" dirty="0"/>
              <a:t>Prevent soiling of clothing during procedures that may involve contact with blood or any body fluids (secretions/excretions)</a:t>
            </a:r>
          </a:p>
          <a:p>
            <a:pPr algn="just"/>
            <a:endParaRPr lang="en-US" dirty="0"/>
          </a:p>
        </p:txBody>
      </p:sp>
      <p:pic>
        <p:nvPicPr>
          <p:cNvPr id="7" name="Picture 7" descr="decontaminate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429000"/>
            <a:ext cx="2362200" cy="2438400"/>
          </a:xfrm>
          <a:prstGeom prst="rect">
            <a:avLst/>
          </a:prstGeom>
          <a:noFill/>
          <a:ln w="38100">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75937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Key </a:t>
            </a:r>
            <a:r>
              <a:rPr lang="en-US" b="1" dirty="0"/>
              <a:t>Components of Standard Precautions Cont’d…</a:t>
            </a:r>
            <a:br>
              <a:rPr lang="en-US" b="1" dirty="0"/>
            </a:br>
            <a:endParaRPr lang="en-US" dirty="0"/>
          </a:p>
        </p:txBody>
      </p:sp>
      <p:sp>
        <p:nvSpPr>
          <p:cNvPr id="3" name="Content Placeholder 2"/>
          <p:cNvSpPr>
            <a:spLocks noGrp="1"/>
          </p:cNvSpPr>
          <p:nvPr>
            <p:ph sz="half" idx="1"/>
          </p:nvPr>
        </p:nvSpPr>
        <p:spPr/>
        <p:txBody>
          <a:bodyPr/>
          <a:lstStyle/>
          <a:p>
            <a:r>
              <a:rPr lang="en-US" b="1" dirty="0" smtClean="0">
                <a:solidFill>
                  <a:schemeClr val="accent3"/>
                </a:solidFill>
              </a:rPr>
              <a:t>Masks, Google's and Face shields</a:t>
            </a:r>
            <a:endParaRPr lang="en-US" b="1" dirty="0">
              <a:solidFill>
                <a:schemeClr val="accent3"/>
              </a:solidFill>
            </a:endParaRPr>
          </a:p>
        </p:txBody>
      </p:sp>
      <p:sp>
        <p:nvSpPr>
          <p:cNvPr id="4" name="Content Placeholder 3"/>
          <p:cNvSpPr>
            <a:spLocks noGrp="1"/>
          </p:cNvSpPr>
          <p:nvPr>
            <p:ph sz="half" idx="2"/>
          </p:nvPr>
        </p:nvSpPr>
        <p:spPr/>
        <p:txBody>
          <a:bodyPr/>
          <a:lstStyle/>
          <a:p>
            <a:pPr algn="just"/>
            <a:r>
              <a:rPr lang="en-US" dirty="0"/>
              <a:t>Protect mucous membranes of eyes, nose and mouth when contact with blood and body fluids is likely or possible</a:t>
            </a:r>
          </a:p>
          <a:p>
            <a:pPr marL="0" indent="0">
              <a:buNone/>
            </a:pPr>
            <a:endParaRPr lang="en-US" dirty="0"/>
          </a:p>
        </p:txBody>
      </p:sp>
      <p:pic>
        <p:nvPicPr>
          <p:cNvPr id="5" name="Picture 4" descr="pp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4648200"/>
            <a:ext cx="2057400" cy="1219200"/>
          </a:xfrm>
          <a:prstGeom prst="rect">
            <a:avLst/>
          </a:prstGeom>
          <a:solidFill>
            <a:schemeClr val="accent1"/>
          </a:solidFill>
          <a:ln w="44450">
            <a:solidFill>
              <a:schemeClr val="accent1"/>
            </a:solidFill>
            <a:miter lim="800000"/>
            <a:headEnd/>
            <a:tailEnd/>
          </a:ln>
        </p:spPr>
      </p:pic>
      <p:pic>
        <p:nvPicPr>
          <p:cNvPr id="6" name="Picture 6" descr="denti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352800"/>
            <a:ext cx="2362200" cy="1219200"/>
          </a:xfrm>
          <a:prstGeom prst="rect">
            <a:avLst/>
          </a:prstGeom>
          <a:ln w="38100">
            <a:headEnd/>
            <a:tailEnd/>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0434649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Key </a:t>
            </a:r>
            <a:r>
              <a:rPr lang="en-US" b="1" dirty="0"/>
              <a:t>Components of Standard Precautions Cont’d…</a:t>
            </a:r>
            <a:br>
              <a:rPr lang="en-US" b="1" dirty="0"/>
            </a:br>
            <a:endParaRPr lang="en-US" dirty="0"/>
          </a:p>
        </p:txBody>
      </p:sp>
      <p:sp>
        <p:nvSpPr>
          <p:cNvPr id="3" name="Content Placeholder 2"/>
          <p:cNvSpPr>
            <a:spLocks noGrp="1"/>
          </p:cNvSpPr>
          <p:nvPr>
            <p:ph sz="half" idx="1"/>
          </p:nvPr>
        </p:nvSpPr>
        <p:spPr/>
        <p:txBody>
          <a:bodyPr>
            <a:normAutofit fontScale="92500" lnSpcReduction="20000"/>
          </a:bodyPr>
          <a:lstStyle/>
          <a:p>
            <a:r>
              <a:rPr lang="en-US" b="1" dirty="0" smtClean="0">
                <a:solidFill>
                  <a:schemeClr val="accent3"/>
                </a:solidFill>
              </a:rPr>
              <a:t>Sharps and Injection Safety </a:t>
            </a:r>
            <a:endParaRPr lang="en-US" b="1" dirty="0">
              <a:solidFill>
                <a:schemeClr val="accent3"/>
              </a:solidFill>
            </a:endParaRPr>
          </a:p>
        </p:txBody>
      </p:sp>
      <p:sp>
        <p:nvSpPr>
          <p:cNvPr id="4" name="Content Placeholder 3"/>
          <p:cNvSpPr>
            <a:spLocks noGrp="1"/>
          </p:cNvSpPr>
          <p:nvPr>
            <p:ph sz="half" idx="2"/>
          </p:nvPr>
        </p:nvSpPr>
        <p:spPr/>
        <p:txBody>
          <a:bodyPr>
            <a:normAutofit fontScale="92500" lnSpcReduction="20000"/>
          </a:bodyPr>
          <a:lstStyle/>
          <a:p>
            <a:pPr algn="just"/>
            <a:r>
              <a:rPr lang="en-US" dirty="0"/>
              <a:t>Avoid recapping, bending, breaking, or hand manipulate used needles; use a one-handed scoop technique only if needed;</a:t>
            </a:r>
          </a:p>
          <a:p>
            <a:pPr algn="just"/>
            <a:r>
              <a:rPr lang="en-US" dirty="0"/>
              <a:t>Avoid removing used needles from disposable syringes</a:t>
            </a:r>
          </a:p>
          <a:p>
            <a:pPr algn="just"/>
            <a:r>
              <a:rPr lang="en-US" dirty="0"/>
              <a:t>Place used sharps in puncture-resistant container at point of use</a:t>
            </a:r>
          </a:p>
          <a:p>
            <a:endParaRPr lang="en-US" dirty="0"/>
          </a:p>
        </p:txBody>
      </p:sp>
      <p:pic>
        <p:nvPicPr>
          <p:cNvPr id="5" name="Picture 8" descr="blade_remov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3962400"/>
            <a:ext cx="2209800" cy="2082800"/>
          </a:xfrm>
          <a:prstGeom prst="rect">
            <a:avLst/>
          </a:prstGeom>
          <a:noFill/>
          <a:ln w="38100">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grpSp>
        <p:nvGrpSpPr>
          <p:cNvPr id="6" name="Group 22"/>
          <p:cNvGrpSpPr>
            <a:grpSpLocks/>
          </p:cNvGrpSpPr>
          <p:nvPr/>
        </p:nvGrpSpPr>
        <p:grpSpPr bwMode="auto">
          <a:xfrm>
            <a:off x="838200" y="2971800"/>
            <a:ext cx="3662704" cy="1449219"/>
            <a:chOff x="2316" y="3409"/>
            <a:chExt cx="1657" cy="1474"/>
          </a:xfrm>
        </p:grpSpPr>
        <p:pic>
          <p:nvPicPr>
            <p:cNvPr id="7" name="Picture 23" descr="Two handed recapp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9" y="3409"/>
              <a:ext cx="864" cy="1345"/>
            </a:xfrm>
            <a:prstGeom prst="rect">
              <a:avLst/>
            </a:prstGeom>
            <a:ln w="38100"/>
          </p:spPr>
          <p:style>
            <a:lnRef idx="2">
              <a:schemeClr val="accent1"/>
            </a:lnRef>
            <a:fillRef idx="1">
              <a:schemeClr val="lt1"/>
            </a:fillRef>
            <a:effectRef idx="0">
              <a:schemeClr val="accent1"/>
            </a:effectRef>
            <a:fontRef idx="minor">
              <a:schemeClr val="dk1"/>
            </a:fontRef>
          </p:style>
        </p:pic>
        <p:sp>
          <p:nvSpPr>
            <p:cNvPr id="8" name="Text Box 24"/>
            <p:cNvSpPr txBox="1">
              <a:spLocks noChangeArrowheads="1"/>
            </p:cNvSpPr>
            <p:nvPr/>
          </p:nvSpPr>
          <p:spPr bwMode="auto">
            <a:xfrm>
              <a:off x="2316" y="3818"/>
              <a:ext cx="3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endParaRPr lang="en-GB" sz="2800">
                <a:solidFill>
                  <a:srgbClr val="FFFFFF"/>
                </a:solidFill>
                <a:latin typeface="GillSans" pitchFamily="34" charset="0"/>
              </a:endParaRPr>
            </a:p>
          </p:txBody>
        </p:sp>
        <p:sp>
          <p:nvSpPr>
            <p:cNvPr id="9" name="Text Box 25"/>
            <p:cNvSpPr txBox="1">
              <a:spLocks noChangeArrowheads="1"/>
            </p:cNvSpPr>
            <p:nvPr/>
          </p:nvSpPr>
          <p:spPr bwMode="auto">
            <a:xfrm>
              <a:off x="3711" y="3944"/>
              <a:ext cx="262" cy="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5400" dirty="0">
                  <a:solidFill>
                    <a:srgbClr val="FF0000"/>
                  </a:solidFill>
                  <a:latin typeface="GillSans" pitchFamily="34" charset="0"/>
                  <a:sym typeface="Wingdings" pitchFamily="2" charset="2"/>
                </a:rPr>
                <a:t></a:t>
              </a:r>
              <a:endParaRPr lang="en-US" dirty="0">
                <a:solidFill>
                  <a:srgbClr val="FFFFFF"/>
                </a:solidFill>
                <a:latin typeface="GillSans" pitchFamily="34" charset="0"/>
              </a:endParaRPr>
            </a:p>
          </p:txBody>
        </p:sp>
      </p:grpSp>
    </p:spTree>
    <p:extLst>
      <p:ext uri="{BB962C8B-B14F-4D97-AF65-F5344CB8AC3E}">
        <p14:creationId xmlns:p14="http://schemas.microsoft.com/office/powerpoint/2010/main" val="42054979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Key </a:t>
            </a:r>
            <a:r>
              <a:rPr lang="en-US" b="1" dirty="0"/>
              <a:t>Components of Standard Precautions Cont’d…</a:t>
            </a:r>
            <a:br>
              <a:rPr lang="en-US" b="1" dirty="0"/>
            </a:br>
            <a:endParaRPr lang="en-US" dirty="0"/>
          </a:p>
        </p:txBody>
      </p:sp>
      <p:sp>
        <p:nvSpPr>
          <p:cNvPr id="3" name="Content Placeholder 2"/>
          <p:cNvSpPr>
            <a:spLocks noGrp="1"/>
          </p:cNvSpPr>
          <p:nvPr>
            <p:ph sz="half" idx="1"/>
          </p:nvPr>
        </p:nvSpPr>
        <p:spPr/>
        <p:txBody>
          <a:bodyPr/>
          <a:lstStyle/>
          <a:p>
            <a:r>
              <a:rPr lang="en-US" b="1" dirty="0">
                <a:solidFill>
                  <a:schemeClr val="accent3"/>
                </a:solidFill>
              </a:rPr>
              <a:t>Processing textile and Laundry </a:t>
            </a:r>
            <a:endParaRPr lang="en-US" dirty="0">
              <a:solidFill>
                <a:schemeClr val="accent3"/>
              </a:solidFill>
            </a:endParaRPr>
          </a:p>
        </p:txBody>
      </p:sp>
      <p:sp>
        <p:nvSpPr>
          <p:cNvPr id="4" name="Content Placeholder 3"/>
          <p:cNvSpPr>
            <a:spLocks noGrp="1"/>
          </p:cNvSpPr>
          <p:nvPr>
            <p:ph sz="half" idx="2"/>
          </p:nvPr>
        </p:nvSpPr>
        <p:spPr/>
        <p:txBody>
          <a:bodyPr/>
          <a:lstStyle/>
          <a:p>
            <a:pPr algn="just"/>
            <a:r>
              <a:rPr lang="en-US" dirty="0"/>
              <a:t>Handle soiled linen to prevent touching of skin or mucous membranes</a:t>
            </a:r>
          </a:p>
          <a:p>
            <a:pPr algn="just"/>
            <a:r>
              <a:rPr lang="en-US" dirty="0"/>
              <a:t>Do not pre-rinse soiled linens in patient care areas</a:t>
            </a:r>
          </a:p>
          <a:p>
            <a:endParaRPr lang="en-US" dirty="0"/>
          </a:p>
        </p:txBody>
      </p:sp>
      <p:pic>
        <p:nvPicPr>
          <p:cNvPr id="5" name="Picture 5" descr="laundry sor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2736" y="4298419"/>
            <a:ext cx="2689664" cy="1568981"/>
          </a:xfrm>
          <a:prstGeom prst="rect">
            <a:avLst/>
          </a:prstGeom>
          <a:ln w="38100"/>
        </p:spPr>
        <p:style>
          <a:lnRef idx="2">
            <a:schemeClr val="accent1"/>
          </a:lnRef>
          <a:fillRef idx="1">
            <a:schemeClr val="lt1"/>
          </a:fillRef>
          <a:effectRef idx="0">
            <a:schemeClr val="accent1"/>
          </a:effectRef>
          <a:fontRef idx="minor">
            <a:schemeClr val="dk1"/>
          </a:fontRef>
        </p:style>
      </p:pic>
      <p:pic>
        <p:nvPicPr>
          <p:cNvPr id="6" name="Picture 4" descr="laund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163" y="2984737"/>
            <a:ext cx="1624533" cy="1282463"/>
          </a:xfrm>
          <a:prstGeom prst="rect">
            <a:avLst/>
          </a:prstGeom>
          <a:noFill/>
          <a:ln w="38100">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07705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Key </a:t>
            </a:r>
            <a:r>
              <a:rPr lang="en-US" b="1" dirty="0"/>
              <a:t>Components of Standard Precautions Cont’d…</a:t>
            </a:r>
            <a:br>
              <a:rPr lang="en-US" b="1" dirty="0"/>
            </a:br>
            <a:endParaRPr lang="en-US" dirty="0"/>
          </a:p>
        </p:txBody>
      </p:sp>
      <p:sp>
        <p:nvSpPr>
          <p:cNvPr id="3" name="Content Placeholder 2"/>
          <p:cNvSpPr>
            <a:spLocks noGrp="1"/>
          </p:cNvSpPr>
          <p:nvPr>
            <p:ph sz="half" idx="1"/>
          </p:nvPr>
        </p:nvSpPr>
        <p:spPr/>
        <p:txBody>
          <a:bodyPr>
            <a:normAutofit fontScale="85000" lnSpcReduction="10000"/>
          </a:bodyPr>
          <a:lstStyle/>
          <a:p>
            <a:r>
              <a:rPr lang="en-US" b="1" dirty="0" smtClean="0">
                <a:solidFill>
                  <a:schemeClr val="accent3"/>
                </a:solidFill>
              </a:rPr>
              <a:t>Healthcare waste Management</a:t>
            </a:r>
            <a:endParaRPr lang="en-US" b="1" dirty="0">
              <a:solidFill>
                <a:schemeClr val="accent3"/>
              </a:solidFill>
            </a:endParaRPr>
          </a:p>
        </p:txBody>
      </p:sp>
      <p:sp>
        <p:nvSpPr>
          <p:cNvPr id="4" name="Content Placeholder 3"/>
          <p:cNvSpPr>
            <a:spLocks noGrp="1"/>
          </p:cNvSpPr>
          <p:nvPr>
            <p:ph sz="half" idx="2"/>
          </p:nvPr>
        </p:nvSpPr>
        <p:spPr/>
        <p:txBody>
          <a:bodyPr>
            <a:normAutofit fontScale="85000" lnSpcReduction="10000"/>
          </a:bodyPr>
          <a:lstStyle/>
          <a:p>
            <a:pPr algn="just"/>
            <a:r>
              <a:rPr lang="en-US" dirty="0">
                <a:cs typeface="Times New Roman" pitchFamily="18" charset="0"/>
              </a:rPr>
              <a:t>Safely dispose of infectious waste materials to protect those who handle them and prevent injury or spread of infection to the community</a:t>
            </a:r>
            <a:r>
              <a:rPr lang="en-US" dirty="0" smtClean="0">
                <a:cs typeface="Times New Roman" pitchFamily="18" charset="0"/>
              </a:rPr>
              <a:t>.</a:t>
            </a:r>
          </a:p>
          <a:p>
            <a:pPr algn="just"/>
            <a:r>
              <a:rPr lang="en-US" dirty="0" smtClean="0"/>
              <a:t>HCWM is </a:t>
            </a:r>
            <a:r>
              <a:rPr lang="en-US" dirty="0"/>
              <a:t>a key issue to control and reduce HAIs in healthcare facilities (HCF) and to ensure that the environment is well protected.</a:t>
            </a:r>
            <a:endParaRPr lang="en-US" dirty="0">
              <a:cs typeface="Times New Roman" pitchFamily="18" charset="0"/>
            </a:endParaRPr>
          </a:p>
          <a:p>
            <a:endParaRPr 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810000"/>
            <a:ext cx="2336800" cy="2106613"/>
          </a:xfrm>
          <a:prstGeom prst="rect">
            <a:avLst/>
          </a:prstGeom>
          <a:ln w="38100"/>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7051471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Key </a:t>
            </a:r>
            <a:r>
              <a:rPr lang="en-US" b="1" dirty="0"/>
              <a:t>Components of Standard Precautions Cont’d…</a:t>
            </a:r>
            <a:br>
              <a:rPr lang="en-US" b="1" dirty="0"/>
            </a:br>
            <a:endParaRPr lang="en-US" dirty="0"/>
          </a:p>
        </p:txBody>
      </p:sp>
      <p:sp>
        <p:nvSpPr>
          <p:cNvPr id="3" name="Content Placeholder 2"/>
          <p:cNvSpPr>
            <a:spLocks noGrp="1"/>
          </p:cNvSpPr>
          <p:nvPr>
            <p:ph sz="half" idx="1"/>
          </p:nvPr>
        </p:nvSpPr>
        <p:spPr/>
        <p:txBody>
          <a:bodyPr>
            <a:normAutofit fontScale="92500"/>
          </a:bodyPr>
          <a:lstStyle/>
          <a:p>
            <a:r>
              <a:rPr lang="en-US" b="1" dirty="0" smtClean="0">
                <a:solidFill>
                  <a:schemeClr val="accent3"/>
                </a:solidFill>
              </a:rPr>
              <a:t>Environmental Cleaning </a:t>
            </a:r>
            <a:endParaRPr lang="en-US" b="1" dirty="0">
              <a:solidFill>
                <a:schemeClr val="accent3"/>
              </a:solidFill>
            </a:endParaRPr>
          </a:p>
        </p:txBody>
      </p:sp>
      <p:sp>
        <p:nvSpPr>
          <p:cNvPr id="4" name="Content Placeholder 3"/>
          <p:cNvSpPr>
            <a:spLocks noGrp="1"/>
          </p:cNvSpPr>
          <p:nvPr>
            <p:ph sz="half" idx="2"/>
          </p:nvPr>
        </p:nvSpPr>
        <p:spPr/>
        <p:txBody>
          <a:bodyPr>
            <a:normAutofit fontScale="92500"/>
          </a:bodyPr>
          <a:lstStyle/>
          <a:p>
            <a:pPr algn="just"/>
            <a:r>
              <a:rPr lang="en-US" dirty="0" smtClean="0"/>
              <a:t>Routinely clean noncritical </a:t>
            </a:r>
            <a:r>
              <a:rPr lang="en-US" dirty="0"/>
              <a:t>care equipment, instruments, devices, and environmental surfaces. </a:t>
            </a:r>
            <a:endParaRPr lang="en-US" dirty="0" smtClean="0"/>
          </a:p>
          <a:p>
            <a:pPr algn="just"/>
            <a:r>
              <a:rPr lang="en-US" dirty="0" smtClean="0"/>
              <a:t>Clean </a:t>
            </a:r>
            <a:r>
              <a:rPr lang="en-US" dirty="0"/>
              <a:t>patient care equipment between each use on patients to prevent cross-contamination between patients.</a:t>
            </a:r>
          </a:p>
        </p:txBody>
      </p:sp>
      <p:pic>
        <p:nvPicPr>
          <p:cNvPr id="5" name="Picture 4" descr="mopp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9800" y="4114800"/>
            <a:ext cx="2286794" cy="1832052"/>
          </a:xfrm>
          <a:prstGeom prst="rect">
            <a:avLst/>
          </a:prstGeom>
          <a:ln w="38100"/>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9056528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Key </a:t>
            </a:r>
            <a:r>
              <a:rPr lang="en-US" b="1" dirty="0"/>
              <a:t>Components of Standard Precautions Cont’d…</a:t>
            </a:r>
            <a:br>
              <a:rPr lang="en-US" b="1" dirty="0"/>
            </a:br>
            <a:endParaRPr lang="en-US" dirty="0"/>
          </a:p>
        </p:txBody>
      </p:sp>
      <p:sp>
        <p:nvSpPr>
          <p:cNvPr id="3" name="Content Placeholder 2"/>
          <p:cNvSpPr>
            <a:spLocks noGrp="1"/>
          </p:cNvSpPr>
          <p:nvPr>
            <p:ph sz="half" idx="1"/>
          </p:nvPr>
        </p:nvSpPr>
        <p:spPr/>
        <p:txBody>
          <a:bodyPr/>
          <a:lstStyle/>
          <a:p>
            <a:r>
              <a:rPr lang="en-US" b="1" dirty="0" smtClean="0">
                <a:solidFill>
                  <a:schemeClr val="accent3"/>
                </a:solidFill>
              </a:rPr>
              <a:t>Safe practice in the OR</a:t>
            </a:r>
            <a:endParaRPr lang="en-US" b="1" dirty="0">
              <a:solidFill>
                <a:schemeClr val="accent3"/>
              </a:solidFill>
            </a:endParaRPr>
          </a:p>
        </p:txBody>
      </p:sp>
      <p:sp>
        <p:nvSpPr>
          <p:cNvPr id="4" name="Content Placeholder 3"/>
          <p:cNvSpPr>
            <a:spLocks noGrp="1"/>
          </p:cNvSpPr>
          <p:nvPr>
            <p:ph sz="half" idx="2"/>
          </p:nvPr>
        </p:nvSpPr>
        <p:spPr/>
        <p:txBody>
          <a:bodyPr/>
          <a:lstStyle/>
          <a:p>
            <a:pPr>
              <a:spcAft>
                <a:spcPts val="0"/>
              </a:spcAft>
              <a:buFont typeface="Arial" pitchFamily="34" charset="0"/>
              <a:buChar char="•"/>
              <a:defRPr/>
            </a:pPr>
            <a:r>
              <a:rPr lang="en-US" dirty="0"/>
              <a:t>Use safe zone  ( hand free techniques to pass and receive sharps in the OR</a:t>
            </a:r>
            <a:r>
              <a:rPr lang="en-US" dirty="0" smtClean="0"/>
              <a:t>)</a:t>
            </a:r>
            <a:endParaRPr lang="en-US" dirty="0"/>
          </a:p>
          <a:p>
            <a:pPr>
              <a:spcAft>
                <a:spcPts val="0"/>
              </a:spcAft>
              <a:buFont typeface="Arial" pitchFamily="34" charset="0"/>
              <a:buChar char="•"/>
              <a:defRPr/>
            </a:pPr>
            <a:r>
              <a:rPr lang="en-US" dirty="0"/>
              <a:t>Use proper handling of sharps </a:t>
            </a:r>
          </a:p>
          <a:p>
            <a:endParaRPr lang="en-US" dirty="0"/>
          </a:p>
        </p:txBody>
      </p:sp>
      <p:pic>
        <p:nvPicPr>
          <p:cNvPr id="5" name="Picture 4" descr="needle safe zone_lt"/>
          <p:cNvPicPr>
            <a:picLocks noChangeAspect="1" noChangeArrowheads="1"/>
          </p:cNvPicPr>
          <p:nvPr/>
        </p:nvPicPr>
        <p:blipFill>
          <a:blip r:embed="rId2">
            <a:extLst>
              <a:ext uri="{28A0092B-C50C-407E-A947-70E740481C1C}">
                <a14:useLocalDpi xmlns:a14="http://schemas.microsoft.com/office/drawing/2010/main" val="0"/>
              </a:ext>
            </a:extLst>
          </a:blip>
          <a:srcRect l="11099" t="2815" r="2200" b="16444"/>
          <a:stretch>
            <a:fillRect/>
          </a:stretch>
        </p:blipFill>
        <p:spPr bwMode="auto">
          <a:xfrm>
            <a:off x="2819400" y="4038600"/>
            <a:ext cx="1676400" cy="1848373"/>
          </a:xfrm>
          <a:prstGeom prst="rect">
            <a:avLst/>
          </a:prstGeom>
          <a:noFill/>
          <a:ln w="40640">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pic>
        <p:nvPicPr>
          <p:cNvPr id="6" name="Picture 3" descr="safezo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150" y="4038600"/>
            <a:ext cx="1613250" cy="1848373"/>
          </a:xfrm>
          <a:prstGeom prst="rect">
            <a:avLst/>
          </a:prstGeom>
          <a:noFill/>
          <a:ln w="40640">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pic>
        <p:nvPicPr>
          <p:cNvPr id="8" name="Picture 7" descr="blunt_need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2971800"/>
            <a:ext cx="2057401" cy="990600"/>
          </a:xfrm>
          <a:prstGeom prst="rect">
            <a:avLst/>
          </a:prstGeom>
          <a:noFill/>
          <a:ln w="38100">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03483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Key </a:t>
            </a:r>
            <a:r>
              <a:rPr lang="en-US" b="1" dirty="0"/>
              <a:t>Components of Standard Precautions Cont’d…</a:t>
            </a:r>
            <a:br>
              <a:rPr lang="en-US" b="1" dirty="0"/>
            </a:br>
            <a:endParaRPr lang="en-US" dirty="0"/>
          </a:p>
        </p:txBody>
      </p:sp>
      <p:sp>
        <p:nvSpPr>
          <p:cNvPr id="3" name="Content Placeholder 2"/>
          <p:cNvSpPr>
            <a:spLocks noGrp="1"/>
          </p:cNvSpPr>
          <p:nvPr>
            <p:ph sz="half" idx="1"/>
          </p:nvPr>
        </p:nvSpPr>
        <p:spPr/>
        <p:txBody>
          <a:bodyPr>
            <a:normAutofit fontScale="85000" lnSpcReduction="10000"/>
          </a:bodyPr>
          <a:lstStyle/>
          <a:p>
            <a:endParaRPr lang="en-US"/>
          </a:p>
        </p:txBody>
      </p:sp>
      <p:sp>
        <p:nvSpPr>
          <p:cNvPr id="4" name="Content Placeholder 3"/>
          <p:cNvSpPr>
            <a:spLocks noGrp="1"/>
          </p:cNvSpPr>
          <p:nvPr>
            <p:ph sz="half" idx="2"/>
          </p:nvPr>
        </p:nvSpPr>
        <p:spPr/>
        <p:txBody>
          <a:bodyPr>
            <a:normAutofit fontScale="85000" lnSpcReduction="10000"/>
          </a:bodyPr>
          <a:lstStyle/>
          <a:p>
            <a:r>
              <a:rPr lang="en-US" b="1" dirty="0" smtClean="0">
                <a:solidFill>
                  <a:schemeClr val="accent3"/>
                </a:solidFill>
              </a:rPr>
              <a:t>Instrument Processing </a:t>
            </a:r>
          </a:p>
          <a:p>
            <a:pPr algn="just"/>
            <a:r>
              <a:rPr lang="en-US" dirty="0"/>
              <a:t>S</a:t>
            </a:r>
            <a:r>
              <a:rPr lang="en-US" dirty="0" smtClean="0"/>
              <a:t>pecial </a:t>
            </a:r>
            <a:r>
              <a:rPr lang="en-US" dirty="0"/>
              <a:t>attention should be given to proper handling of the instruments and other items to minimize the risk of accidental injury or exposure to blood and other body fluids of the sterile processing staff and to attain high quality end result.</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514600"/>
            <a:ext cx="37338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88177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smtClean="0"/>
              <a:t>3.3: Transmission Based Precaution</a:t>
            </a:r>
            <a:endParaRPr lang="en-US" dirty="0"/>
          </a:p>
        </p:txBody>
      </p:sp>
      <p:sp>
        <p:nvSpPr>
          <p:cNvPr id="6" name="Subtitle 5"/>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008883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smtClean="0"/>
              <a:t/>
            </a:r>
            <a:br>
              <a:rPr lang="en-US" dirty="0" smtClean="0"/>
            </a:br>
            <a:r>
              <a:rPr lang="en-US" dirty="0" smtClean="0"/>
              <a:t>Transmission </a:t>
            </a:r>
            <a:r>
              <a:rPr lang="en-US" dirty="0"/>
              <a:t>Based Precaution</a:t>
            </a:r>
            <a:br>
              <a:rPr lang="en-US" dirty="0"/>
            </a:br>
            <a:endParaRPr lang="en-US" dirty="0"/>
          </a:p>
        </p:txBody>
      </p:sp>
      <p:sp>
        <p:nvSpPr>
          <p:cNvPr id="3" name="Content Placeholder 2"/>
          <p:cNvSpPr>
            <a:spLocks noGrp="1"/>
          </p:cNvSpPr>
          <p:nvPr>
            <p:ph idx="1"/>
          </p:nvPr>
        </p:nvSpPr>
        <p:spPr>
          <a:xfrm>
            <a:off x="914400" y="2590800"/>
            <a:ext cx="7061201" cy="3344332"/>
          </a:xfrm>
        </p:spPr>
        <p:txBody>
          <a:bodyPr>
            <a:normAutofit fontScale="77500" lnSpcReduction="20000"/>
          </a:bodyPr>
          <a:lstStyle/>
          <a:p>
            <a:pPr lvl="0" algn="just"/>
            <a:r>
              <a:rPr lang="en-US" dirty="0" smtClean="0"/>
              <a:t>Are guidelines designed </a:t>
            </a:r>
            <a:r>
              <a:rPr lang="en-US" dirty="0"/>
              <a:t>to </a:t>
            </a:r>
            <a:r>
              <a:rPr lang="en-US" b="1" dirty="0"/>
              <a:t>reduce the risk of transmitting infections that are spread wholly or partly by airborne, droplet, or contact routes</a:t>
            </a:r>
            <a:r>
              <a:rPr lang="en-US" dirty="0"/>
              <a:t> between hospitalized patients and health </a:t>
            </a:r>
            <a:r>
              <a:rPr lang="en-US" dirty="0" smtClean="0"/>
              <a:t>providers.</a:t>
            </a:r>
          </a:p>
          <a:p>
            <a:pPr algn="just"/>
            <a:r>
              <a:rPr lang="en-US" dirty="0"/>
              <a:t>Transmission-Based Precautions are for patients who are known or suspected to be infected or colonized with infectious agents including epidemiologically important pathogens which require additional control measures to effectively prevent transmission. </a:t>
            </a:r>
          </a:p>
          <a:p>
            <a:pPr lvl="0" algn="just"/>
            <a:endParaRPr lang="en-US" dirty="0"/>
          </a:p>
          <a:p>
            <a:pPr algn="just"/>
            <a:endParaRPr lang="en-US" dirty="0"/>
          </a:p>
        </p:txBody>
      </p:sp>
    </p:spTree>
    <p:extLst>
      <p:ext uri="{BB962C8B-B14F-4D97-AF65-F5344CB8AC3E}">
        <p14:creationId xmlns:p14="http://schemas.microsoft.com/office/powerpoint/2010/main" val="108019662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t>Transmission </a:t>
            </a:r>
            <a:r>
              <a:rPr lang="en-US" dirty="0"/>
              <a:t>Based </a:t>
            </a:r>
            <a:r>
              <a:rPr lang="en-US" dirty="0" smtClean="0"/>
              <a:t>Precaution cont’d…</a:t>
            </a:r>
            <a:r>
              <a:rPr lang="en-US" dirty="0"/>
              <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pPr lvl="0" algn="just"/>
            <a:r>
              <a:rPr lang="en-US" dirty="0"/>
              <a:t>Since the infective agent is not often known at the time of admission to a healthcare facility, Transmission-Based Precautions are used empirically according to the clinical syndrome and the likely etiologic agents at the time. </a:t>
            </a:r>
          </a:p>
          <a:p>
            <a:pPr lvl="0" algn="just"/>
            <a:r>
              <a:rPr lang="en-US" dirty="0"/>
              <a:t>Later, the course of management should be modified as soon as the pathogen is identified or a transmissible infectious etiology is ruled out.</a:t>
            </a:r>
          </a:p>
          <a:p>
            <a:pPr algn="just"/>
            <a:endParaRPr lang="en-US" dirty="0"/>
          </a:p>
        </p:txBody>
      </p:sp>
    </p:spTree>
    <p:extLst>
      <p:ext uri="{BB962C8B-B14F-4D97-AF65-F5344CB8AC3E}">
        <p14:creationId xmlns:p14="http://schemas.microsoft.com/office/powerpoint/2010/main" val="54057092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030778"/>
            <a:ext cx="7924800" cy="1188426"/>
          </a:xfrm>
        </p:spPr>
        <p:txBody>
          <a:bodyPr/>
          <a:lstStyle/>
          <a:p>
            <a:pPr lvl="1" algn="ctr" defTabSz="457200" rtl="0">
              <a:spcBef>
                <a:spcPct val="0"/>
              </a:spcBef>
            </a:pPr>
            <a:r>
              <a:rPr lang="en-US" sz="4400" b="1" kern="1200" dirty="0" smtClean="0">
                <a:ln w="3175" cmpd="sng">
                  <a:noFill/>
                </a:ln>
                <a:solidFill>
                  <a:schemeClr val="tx1">
                    <a:lumMod val="85000"/>
                    <a:lumOff val="15000"/>
                  </a:schemeClr>
                </a:solidFill>
                <a:latin typeface="+mj-lt"/>
                <a:ea typeface="+mj-ea"/>
                <a:cs typeface="+mj-cs"/>
              </a:rPr>
              <a:t/>
            </a:r>
            <a:br>
              <a:rPr lang="en-US" sz="4400" b="1" kern="1200" dirty="0" smtClean="0">
                <a:ln w="3175" cmpd="sng">
                  <a:noFill/>
                </a:ln>
                <a:solidFill>
                  <a:schemeClr val="tx1">
                    <a:lumMod val="85000"/>
                    <a:lumOff val="15000"/>
                  </a:schemeClr>
                </a:solidFill>
                <a:latin typeface="+mj-lt"/>
                <a:ea typeface="+mj-ea"/>
                <a:cs typeface="+mj-cs"/>
              </a:rPr>
            </a:br>
            <a:r>
              <a:rPr lang="en-US" sz="4400" b="1" kern="1200" dirty="0" smtClean="0">
                <a:ln w="3175" cmpd="sng">
                  <a:noFill/>
                </a:ln>
                <a:solidFill>
                  <a:schemeClr val="tx1">
                    <a:lumMod val="85000"/>
                    <a:lumOff val="15000"/>
                  </a:schemeClr>
                </a:solidFill>
                <a:latin typeface="+mj-lt"/>
                <a:ea typeface="+mj-ea"/>
                <a:cs typeface="+mj-cs"/>
              </a:rPr>
              <a:t>Key </a:t>
            </a:r>
            <a:r>
              <a:rPr lang="en-US" sz="4400" b="1" kern="1200" dirty="0">
                <a:ln w="3175" cmpd="sng">
                  <a:noFill/>
                </a:ln>
                <a:solidFill>
                  <a:schemeClr val="tx1">
                    <a:lumMod val="85000"/>
                    <a:lumOff val="15000"/>
                  </a:schemeClr>
                </a:solidFill>
                <a:latin typeface="+mj-lt"/>
                <a:ea typeface="+mj-ea"/>
                <a:cs typeface="+mj-cs"/>
              </a:rPr>
              <a:t>Components of </a:t>
            </a:r>
            <a:r>
              <a:rPr lang="en-US" sz="4400" b="1" kern="1200" dirty="0" smtClean="0">
                <a:ln w="3175" cmpd="sng">
                  <a:noFill/>
                </a:ln>
                <a:solidFill>
                  <a:schemeClr val="tx1">
                    <a:lumMod val="85000"/>
                    <a:lumOff val="15000"/>
                  </a:schemeClr>
                </a:solidFill>
                <a:latin typeface="+mj-lt"/>
                <a:ea typeface="+mj-ea"/>
                <a:cs typeface="+mj-cs"/>
              </a:rPr>
              <a:t>Transmission-Based </a:t>
            </a:r>
            <a:r>
              <a:rPr lang="en-US" sz="4400" b="1" kern="1200" dirty="0">
                <a:ln w="3175" cmpd="sng">
                  <a:noFill/>
                </a:ln>
                <a:solidFill>
                  <a:schemeClr val="tx1">
                    <a:lumMod val="85000"/>
                    <a:lumOff val="15000"/>
                  </a:schemeClr>
                </a:solidFill>
                <a:latin typeface="+mj-lt"/>
                <a:ea typeface="+mj-ea"/>
                <a:cs typeface="+mj-cs"/>
              </a:rPr>
              <a:t>Precaution</a:t>
            </a:r>
            <a:br>
              <a:rPr lang="en-US" sz="4400" b="1" kern="1200" dirty="0">
                <a:ln w="3175" cmpd="sng">
                  <a:noFill/>
                </a:ln>
                <a:solidFill>
                  <a:schemeClr val="tx1">
                    <a:lumMod val="85000"/>
                    <a:lumOff val="15000"/>
                  </a:schemeClr>
                </a:solidFill>
                <a:latin typeface="+mj-lt"/>
                <a:ea typeface="+mj-ea"/>
                <a:cs typeface="+mj-cs"/>
              </a:rPr>
            </a:br>
            <a:endParaRPr lang="en-US" sz="4400" b="1" kern="1200" dirty="0">
              <a:ln w="3175" cmpd="sng">
                <a:noFill/>
              </a:ln>
              <a:solidFill>
                <a:schemeClr val="tx1">
                  <a:lumMod val="85000"/>
                  <a:lumOff val="15000"/>
                </a:schemeClr>
              </a:solidFill>
              <a:latin typeface="+mj-lt"/>
              <a:ea typeface="+mj-ea"/>
              <a:cs typeface="+mj-cs"/>
            </a:endParaRPr>
          </a:p>
        </p:txBody>
      </p:sp>
      <p:sp>
        <p:nvSpPr>
          <p:cNvPr id="3" name="Content Placeholder 2"/>
          <p:cNvSpPr>
            <a:spLocks noGrp="1"/>
          </p:cNvSpPr>
          <p:nvPr>
            <p:ph idx="1"/>
          </p:nvPr>
        </p:nvSpPr>
        <p:spPr>
          <a:xfrm>
            <a:off x="1176865" y="2490135"/>
            <a:ext cx="6519335" cy="3682065"/>
          </a:xfrm>
        </p:spPr>
        <p:txBody>
          <a:bodyPr>
            <a:normAutofit fontScale="62500" lnSpcReduction="20000"/>
          </a:bodyPr>
          <a:lstStyle/>
          <a:p>
            <a:pPr algn="just"/>
            <a:r>
              <a:rPr lang="en-US" sz="3400" dirty="0" smtClean="0"/>
              <a:t>Key components of transmission based precaution are</a:t>
            </a:r>
          </a:p>
          <a:p>
            <a:pPr lvl="1" algn="just"/>
            <a:r>
              <a:rPr lang="en-US" sz="3400" dirty="0" smtClean="0"/>
              <a:t>Airborne precaution </a:t>
            </a:r>
            <a:endParaRPr lang="en-US" sz="3400" dirty="0"/>
          </a:p>
          <a:p>
            <a:pPr lvl="1" algn="just"/>
            <a:r>
              <a:rPr lang="en-US" sz="3400" dirty="0" smtClean="0"/>
              <a:t>Droplet</a:t>
            </a:r>
            <a:r>
              <a:rPr lang="en-US" sz="3400" dirty="0"/>
              <a:t> precaution</a:t>
            </a:r>
          </a:p>
          <a:p>
            <a:pPr lvl="1" algn="just"/>
            <a:r>
              <a:rPr lang="en-US" sz="3400" dirty="0" smtClean="0"/>
              <a:t>Contact</a:t>
            </a:r>
            <a:r>
              <a:rPr lang="en-US" sz="3400" dirty="0"/>
              <a:t> precaution</a:t>
            </a:r>
            <a:endParaRPr lang="en-US" sz="3400" dirty="0" smtClean="0"/>
          </a:p>
          <a:p>
            <a:pPr algn="just"/>
            <a:r>
              <a:rPr lang="en-US" sz="4000" dirty="0" smtClean="0"/>
              <a:t>Examples</a:t>
            </a:r>
          </a:p>
          <a:p>
            <a:pPr lvl="1" algn="just">
              <a:lnSpc>
                <a:spcPct val="90000"/>
              </a:lnSpc>
            </a:pPr>
            <a:r>
              <a:rPr lang="en-US" sz="3400" dirty="0"/>
              <a:t>Airborne: Chicken pox , measles, and </a:t>
            </a:r>
            <a:r>
              <a:rPr lang="en-US" sz="3400" dirty="0" smtClean="0"/>
              <a:t>tuberculosis </a:t>
            </a:r>
            <a:endParaRPr lang="en-US" sz="3400" dirty="0"/>
          </a:p>
          <a:p>
            <a:pPr lvl="1" algn="just">
              <a:lnSpc>
                <a:spcPct val="90000"/>
              </a:lnSpc>
            </a:pPr>
            <a:r>
              <a:rPr lang="en-US" sz="3400" dirty="0" smtClean="0"/>
              <a:t>Droplet</a:t>
            </a:r>
            <a:r>
              <a:rPr lang="en-US" sz="3400" dirty="0"/>
              <a:t>: Mumps, rubella, and meningitis (N. meningitides) </a:t>
            </a:r>
            <a:endParaRPr lang="en-US" sz="3400" dirty="0" smtClean="0"/>
          </a:p>
          <a:p>
            <a:pPr lvl="1" algn="just">
              <a:lnSpc>
                <a:spcPct val="90000"/>
              </a:lnSpc>
            </a:pPr>
            <a:r>
              <a:rPr lang="en-US" sz="3400" dirty="0" smtClean="0"/>
              <a:t>Contact</a:t>
            </a:r>
            <a:r>
              <a:rPr lang="en-US" sz="3400" dirty="0"/>
              <a:t>: Enteric pathogens (hepatitis A, echo viruses) and herpes </a:t>
            </a:r>
            <a:r>
              <a:rPr lang="en-US" sz="3400" dirty="0" smtClean="0"/>
              <a:t>simplex</a:t>
            </a:r>
            <a:endParaRPr lang="en-US" sz="3400" dirty="0"/>
          </a:p>
          <a:p>
            <a:pPr lvl="1" algn="just"/>
            <a:endParaRPr lang="en-US" sz="3000" dirty="0"/>
          </a:p>
        </p:txBody>
      </p:sp>
    </p:spTree>
    <p:extLst>
      <p:ext uri="{BB962C8B-B14F-4D97-AF65-F5344CB8AC3E}">
        <p14:creationId xmlns:p14="http://schemas.microsoft.com/office/powerpoint/2010/main" val="42443967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030778"/>
            <a:ext cx="7924800" cy="1188426"/>
          </a:xfrm>
        </p:spPr>
        <p:txBody>
          <a:bodyPr/>
          <a:lstStyle/>
          <a:p>
            <a:r>
              <a:rPr lang="en-US" sz="4000" dirty="0"/>
              <a:t>Key Components of Transmission-Based </a:t>
            </a:r>
            <a:r>
              <a:rPr lang="en-US" sz="4000" dirty="0" smtClean="0"/>
              <a:t>Precaution cont’d…</a:t>
            </a:r>
            <a:endParaRPr lang="en-US" sz="4000" dirty="0"/>
          </a:p>
        </p:txBody>
      </p:sp>
      <p:sp>
        <p:nvSpPr>
          <p:cNvPr id="3" name="Content Placeholder 2"/>
          <p:cNvSpPr>
            <a:spLocks noGrp="1"/>
          </p:cNvSpPr>
          <p:nvPr>
            <p:ph idx="1"/>
          </p:nvPr>
        </p:nvSpPr>
        <p:spPr>
          <a:xfrm>
            <a:off x="1066800" y="2490135"/>
            <a:ext cx="6976535" cy="3758265"/>
          </a:xfrm>
        </p:spPr>
        <p:txBody>
          <a:bodyPr>
            <a:normAutofit fontScale="85000" lnSpcReduction="20000"/>
          </a:bodyPr>
          <a:lstStyle/>
          <a:p>
            <a:pPr algn="just"/>
            <a:r>
              <a:rPr lang="en-US" dirty="0"/>
              <a:t>For  some  diseases  that  have  multiple  routes  of  transmission,  more  than  one Transmission-Based Precautions category may be </a:t>
            </a:r>
            <a:r>
              <a:rPr lang="en-US" dirty="0" smtClean="0"/>
              <a:t>used</a:t>
            </a:r>
          </a:p>
          <a:p>
            <a:pPr lvl="0" algn="just"/>
            <a:r>
              <a:rPr lang="en-US" dirty="0" smtClean="0"/>
              <a:t>When </a:t>
            </a:r>
            <a:r>
              <a:rPr lang="en-US" dirty="0"/>
              <a:t>used either individually or in combination, each routes of transmission based precautions are always used in addition to Standard Precautions. </a:t>
            </a:r>
          </a:p>
          <a:p>
            <a:pPr algn="just"/>
            <a:r>
              <a:rPr lang="en-US" dirty="0"/>
              <a:t>When Transmission-Based Precautions are indicated, efforts must be made to counteract possible adverse effects on patients</a:t>
            </a:r>
          </a:p>
        </p:txBody>
      </p:sp>
    </p:spTree>
    <p:extLst>
      <p:ext uri="{BB962C8B-B14F-4D97-AF65-F5344CB8AC3E}">
        <p14:creationId xmlns:p14="http://schemas.microsoft.com/office/powerpoint/2010/main" val="204997272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097574"/>
            <a:ext cx="6798734" cy="1188426"/>
          </a:xfrm>
        </p:spPr>
        <p:txBody>
          <a:bodyPr/>
          <a:lstStyle/>
          <a:p>
            <a:r>
              <a:rPr lang="en-US" dirty="0" smtClean="0"/>
              <a:t>Air Borne Precautions</a:t>
            </a:r>
            <a:endParaRPr lang="en-US" dirty="0"/>
          </a:p>
        </p:txBody>
      </p:sp>
      <p:sp>
        <p:nvSpPr>
          <p:cNvPr id="3" name="Content Placeholder 2"/>
          <p:cNvSpPr>
            <a:spLocks noGrp="1"/>
          </p:cNvSpPr>
          <p:nvPr>
            <p:ph idx="1"/>
          </p:nvPr>
        </p:nvSpPr>
        <p:spPr>
          <a:xfrm>
            <a:off x="1176865" y="2490135"/>
            <a:ext cx="6798736" cy="3072465"/>
          </a:xfrm>
        </p:spPr>
        <p:txBody>
          <a:bodyPr>
            <a:normAutofit fontScale="85000" lnSpcReduction="20000"/>
          </a:bodyPr>
          <a:lstStyle/>
          <a:p>
            <a:pPr algn="just"/>
            <a:r>
              <a:rPr lang="en-US" dirty="0"/>
              <a:t>P</a:t>
            </a:r>
            <a:r>
              <a:rPr lang="en-US" dirty="0" smtClean="0"/>
              <a:t>revent </a:t>
            </a:r>
            <a:r>
              <a:rPr lang="en-US" dirty="0"/>
              <a:t>transmission of infectious agents that remain infectious over long distances (particles which are 5μm or less in size and can remain in the air for several hours and be widely dispersed</a:t>
            </a:r>
            <a:r>
              <a:rPr lang="en-US" dirty="0" smtClean="0"/>
              <a:t>).</a:t>
            </a:r>
          </a:p>
          <a:p>
            <a:pPr algn="just"/>
            <a:r>
              <a:rPr lang="en-US" dirty="0"/>
              <a:t>They are recommended for patients with either known or suspected infections that could be transmitted by airborne route.</a:t>
            </a:r>
          </a:p>
        </p:txBody>
      </p:sp>
    </p:spTree>
    <p:extLst>
      <p:ext uri="{BB962C8B-B14F-4D97-AF65-F5344CB8AC3E}">
        <p14:creationId xmlns:p14="http://schemas.microsoft.com/office/powerpoint/2010/main" val="263234549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Air Borne </a:t>
            </a:r>
            <a:r>
              <a:rPr lang="en-US" dirty="0" smtClean="0"/>
              <a:t>Precautions cont’d…</a:t>
            </a:r>
            <a:endParaRPr lang="en-US" dirty="0"/>
          </a:p>
        </p:txBody>
      </p:sp>
      <p:sp>
        <p:nvSpPr>
          <p:cNvPr id="3" name="Content Placeholder 2"/>
          <p:cNvSpPr>
            <a:spLocks noGrp="1"/>
          </p:cNvSpPr>
          <p:nvPr>
            <p:ph idx="1"/>
          </p:nvPr>
        </p:nvSpPr>
        <p:spPr>
          <a:xfrm>
            <a:off x="838200" y="2490135"/>
            <a:ext cx="7315199" cy="3682065"/>
          </a:xfrm>
        </p:spPr>
        <p:txBody>
          <a:bodyPr>
            <a:normAutofit fontScale="70000" lnSpcReduction="20000"/>
          </a:bodyPr>
          <a:lstStyle/>
          <a:p>
            <a:pPr marL="0" indent="0" algn="just">
              <a:buNone/>
            </a:pPr>
            <a:r>
              <a:rPr lang="en-US" b="1" i="1" dirty="0" smtClean="0">
                <a:solidFill>
                  <a:schemeClr val="accent3"/>
                </a:solidFill>
              </a:rPr>
              <a:t>Characteristics</a:t>
            </a:r>
          </a:p>
          <a:p>
            <a:pPr algn="just"/>
            <a:r>
              <a:rPr lang="en-US" dirty="0"/>
              <a:t>P</a:t>
            </a:r>
            <a:r>
              <a:rPr lang="en-US" dirty="0" smtClean="0"/>
              <a:t>articles </a:t>
            </a:r>
            <a:r>
              <a:rPr lang="en-US" dirty="0"/>
              <a:t>which are 5μm or less in size and can remain in the air for several hours and be widely </a:t>
            </a:r>
            <a:r>
              <a:rPr lang="en-US" dirty="0" smtClean="0"/>
              <a:t>dispersed.</a:t>
            </a:r>
          </a:p>
          <a:p>
            <a:pPr algn="just"/>
            <a:r>
              <a:rPr lang="en-US" dirty="0" smtClean="0"/>
              <a:t>Transmission </a:t>
            </a:r>
            <a:r>
              <a:rPr lang="en-US" dirty="0"/>
              <a:t>can occur either through airborne droplet nuclei or dust particles containing the infectious </a:t>
            </a:r>
            <a:r>
              <a:rPr lang="en-US" dirty="0" smtClean="0"/>
              <a:t>microorganisms.</a:t>
            </a:r>
          </a:p>
          <a:p>
            <a:pPr algn="just"/>
            <a:r>
              <a:rPr lang="en-US" dirty="0"/>
              <a:t>P</a:t>
            </a:r>
            <a:r>
              <a:rPr lang="en-US" dirty="0" smtClean="0"/>
              <a:t>roduced </a:t>
            </a:r>
            <a:r>
              <a:rPr lang="en-US" dirty="0"/>
              <a:t>by coughing, sneezing, talking, or by procedures (e.g., bronchoscopy or suctioning</a:t>
            </a:r>
            <a:r>
              <a:rPr lang="en-US" dirty="0" smtClean="0"/>
              <a:t>).</a:t>
            </a:r>
          </a:p>
          <a:p>
            <a:pPr algn="just"/>
            <a:r>
              <a:rPr lang="en-US" dirty="0"/>
              <a:t>Special air handling and ventilation are needed to ensure prevention of airborne transmission of infectious </a:t>
            </a:r>
            <a:r>
              <a:rPr lang="en-US" dirty="0" smtClean="0"/>
              <a:t>agents.</a:t>
            </a:r>
          </a:p>
          <a:p>
            <a:pPr algn="just"/>
            <a:r>
              <a:rPr lang="en-US" dirty="0"/>
              <a:t>Airborne particles do not land on and contaminate </a:t>
            </a:r>
            <a:r>
              <a:rPr lang="en-US" dirty="0" smtClean="0"/>
              <a:t>surfaces.</a:t>
            </a:r>
            <a:endParaRPr lang="en-US" dirty="0"/>
          </a:p>
          <a:p>
            <a:pPr algn="just"/>
            <a:endParaRPr lang="en-US" dirty="0" smtClean="0"/>
          </a:p>
          <a:p>
            <a:pPr algn="just"/>
            <a:endParaRPr lang="en-US" dirty="0" smtClean="0"/>
          </a:p>
          <a:p>
            <a:pPr algn="just"/>
            <a:endParaRPr lang="en-US" b="1" dirty="0">
              <a:solidFill>
                <a:schemeClr val="accent3"/>
              </a:solidFill>
            </a:endParaRPr>
          </a:p>
        </p:txBody>
      </p:sp>
    </p:spTree>
    <p:extLst>
      <p:ext uri="{BB962C8B-B14F-4D97-AF65-F5344CB8AC3E}">
        <p14:creationId xmlns:p14="http://schemas.microsoft.com/office/powerpoint/2010/main" val="153825266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030778"/>
            <a:ext cx="7162800" cy="1188426"/>
          </a:xfrm>
        </p:spPr>
        <p:txBody>
          <a:bodyPr/>
          <a:lstStyle/>
          <a:p>
            <a:r>
              <a:rPr lang="en-US" dirty="0" smtClean="0"/>
              <a:t>Air borne precautions are:</a:t>
            </a:r>
            <a:endParaRPr lang="en-US" dirty="0"/>
          </a:p>
        </p:txBody>
      </p:sp>
      <p:sp>
        <p:nvSpPr>
          <p:cNvPr id="3" name="Content Placeholder 2"/>
          <p:cNvSpPr>
            <a:spLocks noGrp="1"/>
          </p:cNvSpPr>
          <p:nvPr>
            <p:ph idx="1"/>
          </p:nvPr>
        </p:nvSpPr>
        <p:spPr>
          <a:xfrm>
            <a:off x="762000" y="2438401"/>
            <a:ext cx="7619999" cy="3810000"/>
          </a:xfrm>
        </p:spPr>
        <p:txBody>
          <a:bodyPr>
            <a:normAutofit fontScale="62500" lnSpcReduction="20000"/>
          </a:bodyPr>
          <a:lstStyle/>
          <a:p>
            <a:pPr marL="0" indent="0" algn="just">
              <a:buNone/>
            </a:pPr>
            <a:r>
              <a:rPr lang="en-US" b="1" i="1" dirty="0" smtClean="0">
                <a:solidFill>
                  <a:schemeClr val="accent3"/>
                </a:solidFill>
              </a:rPr>
              <a:t>Patient Placema</a:t>
            </a:r>
            <a:r>
              <a:rPr lang="en-US" b="1" i="1" dirty="0">
                <a:solidFill>
                  <a:schemeClr val="accent3"/>
                </a:solidFill>
              </a:rPr>
              <a:t>t</a:t>
            </a:r>
            <a:endParaRPr lang="en-US" b="1" i="1" dirty="0" smtClean="0">
              <a:solidFill>
                <a:schemeClr val="accent3"/>
              </a:solidFill>
            </a:endParaRPr>
          </a:p>
          <a:p>
            <a:pPr algn="just"/>
            <a:r>
              <a:rPr lang="en-US" dirty="0"/>
              <a:t>Patients should be placed in airborne </a:t>
            </a:r>
            <a:r>
              <a:rPr lang="en-US" dirty="0" smtClean="0"/>
              <a:t>infection </a:t>
            </a:r>
            <a:r>
              <a:rPr lang="en-US" dirty="0"/>
              <a:t>isolation room (AIIR). </a:t>
            </a:r>
            <a:endParaRPr lang="en-US" dirty="0" smtClean="0"/>
          </a:p>
          <a:p>
            <a:pPr algn="just"/>
            <a:r>
              <a:rPr lang="en-US" dirty="0"/>
              <a:t>An AIIR is a single-patient room that is equipped with special air handling and ventilation </a:t>
            </a:r>
            <a:r>
              <a:rPr lang="en-US" dirty="0" smtClean="0"/>
              <a:t>capacity.</a:t>
            </a:r>
          </a:p>
          <a:p>
            <a:pPr lvl="0" algn="just"/>
            <a:r>
              <a:rPr lang="en-US" dirty="0"/>
              <a:t>If private room not available, place patients in a room with patient having active infection with the same disease, but with no other infection (cohorting</a:t>
            </a:r>
            <a:r>
              <a:rPr lang="en-US" dirty="0" smtClean="0"/>
              <a:t>).</a:t>
            </a:r>
          </a:p>
          <a:p>
            <a:pPr lvl="0" algn="just"/>
            <a:r>
              <a:rPr lang="en-US" dirty="0"/>
              <a:t>The staff on duty should check all visitors for susceptibility before allowing them to visit.</a:t>
            </a:r>
          </a:p>
          <a:p>
            <a:pPr lvl="0" algn="just"/>
            <a:r>
              <a:rPr lang="en-US" dirty="0"/>
              <a:t>Limit movements in and out of the room to HCWs caring for the patient</a:t>
            </a:r>
            <a:r>
              <a:rPr lang="en-US" dirty="0" smtClean="0"/>
              <a:t>.</a:t>
            </a:r>
            <a:endParaRPr lang="en-US" dirty="0"/>
          </a:p>
        </p:txBody>
      </p:sp>
    </p:spTree>
    <p:extLst>
      <p:ext uri="{BB962C8B-B14F-4D97-AF65-F5344CB8AC3E}">
        <p14:creationId xmlns:p14="http://schemas.microsoft.com/office/powerpoint/2010/main" val="208032147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Air Borne Precautions cont’d…</a:t>
            </a:r>
          </a:p>
        </p:txBody>
      </p:sp>
      <p:sp>
        <p:nvSpPr>
          <p:cNvPr id="3" name="Content Placeholder 2"/>
          <p:cNvSpPr>
            <a:spLocks noGrp="1"/>
          </p:cNvSpPr>
          <p:nvPr>
            <p:ph idx="1"/>
          </p:nvPr>
        </p:nvSpPr>
        <p:spPr>
          <a:xfrm>
            <a:off x="1176865" y="2490135"/>
            <a:ext cx="6798736" cy="3605865"/>
          </a:xfrm>
        </p:spPr>
        <p:txBody>
          <a:bodyPr>
            <a:normAutofit lnSpcReduction="10000"/>
          </a:bodyPr>
          <a:lstStyle/>
          <a:p>
            <a:pPr marL="0" indent="0" algn="just">
              <a:buNone/>
            </a:pPr>
            <a:r>
              <a:rPr lang="en-US" sz="2000" b="1" i="1" dirty="0">
                <a:solidFill>
                  <a:schemeClr val="accent3"/>
                </a:solidFill>
              </a:rPr>
              <a:t>Respiratory </a:t>
            </a:r>
            <a:r>
              <a:rPr lang="en-US" sz="2000" b="1" i="1" dirty="0" smtClean="0">
                <a:solidFill>
                  <a:schemeClr val="accent3"/>
                </a:solidFill>
              </a:rPr>
              <a:t>Hygiene and </a:t>
            </a:r>
            <a:r>
              <a:rPr lang="en-US" sz="2000" b="1" i="1" dirty="0">
                <a:solidFill>
                  <a:schemeClr val="accent3"/>
                </a:solidFill>
              </a:rPr>
              <a:t>C</a:t>
            </a:r>
            <a:r>
              <a:rPr lang="en-US" sz="2000" b="1" i="1" dirty="0" smtClean="0">
                <a:solidFill>
                  <a:schemeClr val="accent3"/>
                </a:solidFill>
              </a:rPr>
              <a:t>ough Etiquette </a:t>
            </a:r>
          </a:p>
          <a:p>
            <a:pPr lvl="0" algn="just"/>
            <a:r>
              <a:rPr lang="en-US" sz="2000" dirty="0"/>
              <a:t>Cover the mouth and nose when coughing and sneezing and dispose of used tissues in the nearest waste container.</a:t>
            </a:r>
          </a:p>
          <a:p>
            <a:pPr lvl="0" algn="just"/>
            <a:r>
              <a:rPr lang="en-US" sz="2000" dirty="0"/>
              <a:t>Perform hand hygiene after contact with respiratory secretions and contaminated objects. </a:t>
            </a:r>
          </a:p>
          <a:p>
            <a:pPr lvl="0" algn="just"/>
            <a:r>
              <a:rPr lang="en-US" sz="2000" dirty="0"/>
              <a:t>Maintain an appropriate distance from and between symptomatic patients, at least 1 meter (3 feet).</a:t>
            </a:r>
          </a:p>
          <a:p>
            <a:pPr lvl="0" algn="just"/>
            <a:r>
              <a:rPr lang="en-US" sz="2000" dirty="0"/>
              <a:t>Identify persons with symptoms suggestive of acute respiratory illness and teach them to use a surgical mask and practice cough etiquette.</a:t>
            </a:r>
          </a:p>
          <a:p>
            <a:pPr algn="just"/>
            <a:endParaRPr lang="en-US" sz="2000" b="1" i="1" dirty="0">
              <a:solidFill>
                <a:schemeClr val="tx1"/>
              </a:solidFill>
            </a:endParaRPr>
          </a:p>
        </p:txBody>
      </p:sp>
    </p:spTree>
    <p:extLst>
      <p:ext uri="{BB962C8B-B14F-4D97-AF65-F5344CB8AC3E}">
        <p14:creationId xmlns:p14="http://schemas.microsoft.com/office/powerpoint/2010/main" val="20678954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Air Borne Precautions cont’d…</a:t>
            </a:r>
          </a:p>
        </p:txBody>
      </p:sp>
      <p:sp>
        <p:nvSpPr>
          <p:cNvPr id="3" name="Content Placeholder 2"/>
          <p:cNvSpPr>
            <a:spLocks noGrp="1"/>
          </p:cNvSpPr>
          <p:nvPr>
            <p:ph idx="1"/>
          </p:nvPr>
        </p:nvSpPr>
        <p:spPr>
          <a:xfrm>
            <a:off x="838200" y="2490135"/>
            <a:ext cx="7467599" cy="3682065"/>
          </a:xfrm>
        </p:spPr>
        <p:txBody>
          <a:bodyPr>
            <a:normAutofit fontScale="62500" lnSpcReduction="20000"/>
          </a:bodyPr>
          <a:lstStyle/>
          <a:p>
            <a:pPr marL="0" indent="0" algn="just">
              <a:buNone/>
            </a:pPr>
            <a:r>
              <a:rPr lang="en-US" b="1" i="1" dirty="0">
                <a:solidFill>
                  <a:schemeClr val="accent3"/>
                </a:solidFill>
              </a:rPr>
              <a:t>Use of PPE</a:t>
            </a:r>
          </a:p>
          <a:p>
            <a:pPr algn="just"/>
            <a:r>
              <a:rPr lang="en-US" dirty="0"/>
              <a:t>Wear a particulate respirator such as a fit-tested N95, and conduct a seal check before entering the patient’s </a:t>
            </a:r>
            <a:r>
              <a:rPr lang="en-US" dirty="0" smtClean="0"/>
              <a:t>room.</a:t>
            </a:r>
          </a:p>
          <a:p>
            <a:pPr lvl="0" algn="just"/>
            <a:r>
              <a:rPr lang="en-US" dirty="0"/>
              <a:t>In case of chickenpox or measles, no mask is needed for immune persons but susceptible persons should not be allowed to enter the room</a:t>
            </a:r>
            <a:r>
              <a:rPr lang="en-US" dirty="0" smtClean="0"/>
              <a:t>.</a:t>
            </a:r>
          </a:p>
          <a:p>
            <a:pPr algn="just"/>
            <a:r>
              <a:rPr lang="en-US" dirty="0"/>
              <a:t>Remove respirator or surgical mask after leaving the room and place in a plastic bag or waste container with tight-fitting lid.</a:t>
            </a:r>
          </a:p>
          <a:p>
            <a:pPr algn="just"/>
            <a:r>
              <a:rPr lang="en-US" dirty="0"/>
              <a:t>Gown, gloves, and eye protection are not needed for many organisms transmitted exclusively by the airborne route (such as M. tuberculosis, measles) but may be needed when an infectious microorganism is transmitted by multiple routes (e.g., varicella virus).</a:t>
            </a:r>
          </a:p>
          <a:p>
            <a:pPr lvl="0" algn="just"/>
            <a:endParaRPr lang="en-US" dirty="0" smtClean="0"/>
          </a:p>
          <a:p>
            <a:pPr lvl="0" algn="just"/>
            <a:endParaRPr lang="en-US" dirty="0"/>
          </a:p>
          <a:p>
            <a:pPr algn="just"/>
            <a:endParaRPr lang="en-US" dirty="0"/>
          </a:p>
        </p:txBody>
      </p:sp>
    </p:spTree>
    <p:extLst>
      <p:ext uri="{BB962C8B-B14F-4D97-AF65-F5344CB8AC3E}">
        <p14:creationId xmlns:p14="http://schemas.microsoft.com/office/powerpoint/2010/main" val="47011277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Air Borne Precautions cont’d…</a:t>
            </a:r>
          </a:p>
        </p:txBody>
      </p:sp>
      <p:sp>
        <p:nvSpPr>
          <p:cNvPr id="3" name="Content Placeholder 2"/>
          <p:cNvSpPr>
            <a:spLocks noGrp="1"/>
          </p:cNvSpPr>
          <p:nvPr>
            <p:ph idx="1"/>
          </p:nvPr>
        </p:nvSpPr>
        <p:spPr>
          <a:xfrm>
            <a:off x="762000" y="2362201"/>
            <a:ext cx="7543800" cy="3886200"/>
          </a:xfrm>
        </p:spPr>
        <p:txBody>
          <a:bodyPr>
            <a:normAutofit fontScale="55000" lnSpcReduction="20000"/>
          </a:bodyPr>
          <a:lstStyle/>
          <a:p>
            <a:pPr marL="0" indent="0" algn="just">
              <a:buNone/>
            </a:pPr>
            <a:r>
              <a:rPr lang="en-US" sz="3600" b="1" i="1" dirty="0">
                <a:solidFill>
                  <a:schemeClr val="accent3"/>
                </a:solidFill>
              </a:rPr>
              <a:t>Patient Transport</a:t>
            </a:r>
          </a:p>
          <a:p>
            <a:pPr algn="just"/>
            <a:r>
              <a:rPr lang="en-US" sz="3600" dirty="0"/>
              <a:t>Limit transport of patient to essential reasons </a:t>
            </a:r>
            <a:r>
              <a:rPr lang="en-US" sz="3600" dirty="0" smtClean="0"/>
              <a:t>only.</a:t>
            </a:r>
          </a:p>
          <a:p>
            <a:pPr lvl="0" algn="just"/>
            <a:r>
              <a:rPr lang="en-US" sz="3600" dirty="0"/>
              <a:t>Alert the department or facility where the patient is being transported so they can prepare to receive a patient on Transmission-Based Precautions</a:t>
            </a:r>
            <a:r>
              <a:rPr lang="en-US" sz="3600" dirty="0" smtClean="0"/>
              <a:t>.</a:t>
            </a:r>
          </a:p>
          <a:p>
            <a:pPr algn="just"/>
            <a:r>
              <a:rPr lang="en-US" sz="3600" dirty="0"/>
              <a:t>Use PPE </a:t>
            </a:r>
            <a:r>
              <a:rPr lang="en-US" sz="3600" dirty="0" smtClean="0"/>
              <a:t>appropriately</a:t>
            </a:r>
          </a:p>
          <a:p>
            <a:pPr lvl="1" algn="just"/>
            <a:r>
              <a:rPr lang="en-US" sz="3600" dirty="0"/>
              <a:t>Patients wear a surgical mask </a:t>
            </a:r>
          </a:p>
          <a:p>
            <a:pPr lvl="1" algn="just"/>
            <a:r>
              <a:rPr lang="en-US" sz="3600" dirty="0"/>
              <a:t>Cover wounds with appropriate dressings</a:t>
            </a:r>
          </a:p>
          <a:p>
            <a:pPr lvl="1" algn="just"/>
            <a:r>
              <a:rPr lang="en-US" sz="3600" dirty="0"/>
              <a:t>Clean and disinfect the wheelchair or coach after </a:t>
            </a:r>
            <a:r>
              <a:rPr lang="en-US" sz="3600" dirty="0" smtClean="0"/>
              <a:t>transportation.</a:t>
            </a:r>
            <a:endParaRPr lang="en-US" sz="3600" dirty="0"/>
          </a:p>
          <a:p>
            <a:pPr lvl="1" algn="just"/>
            <a:r>
              <a:rPr lang="en-US" sz="3600" dirty="0" smtClean="0"/>
              <a:t>Remove </a:t>
            </a:r>
            <a:r>
              <a:rPr lang="en-US" sz="3600" dirty="0"/>
              <a:t>PPE and perform hand hygiene once the patient has been </a:t>
            </a:r>
          </a:p>
          <a:p>
            <a:pPr algn="just"/>
            <a:endParaRPr lang="en-US" sz="3600" dirty="0"/>
          </a:p>
          <a:p>
            <a:pPr lvl="0" algn="just"/>
            <a:endParaRPr lang="en-US" dirty="0"/>
          </a:p>
          <a:p>
            <a:pPr algn="just"/>
            <a:endParaRPr lang="en-US" dirty="0"/>
          </a:p>
        </p:txBody>
      </p:sp>
    </p:spTree>
    <p:extLst>
      <p:ext uri="{BB962C8B-B14F-4D97-AF65-F5344CB8AC3E}">
        <p14:creationId xmlns:p14="http://schemas.microsoft.com/office/powerpoint/2010/main" val="174000412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Droplet Precautions</a:t>
            </a:r>
            <a:endParaRPr lang="en-US" dirty="0"/>
          </a:p>
        </p:txBody>
      </p:sp>
      <p:sp>
        <p:nvSpPr>
          <p:cNvPr id="3" name="Content Placeholder 2"/>
          <p:cNvSpPr>
            <a:spLocks noGrp="1"/>
          </p:cNvSpPr>
          <p:nvPr>
            <p:ph idx="1"/>
          </p:nvPr>
        </p:nvSpPr>
        <p:spPr>
          <a:xfrm>
            <a:off x="1176865" y="2490135"/>
            <a:ext cx="6798736" cy="2920065"/>
          </a:xfrm>
        </p:spPr>
        <p:txBody>
          <a:bodyPr>
            <a:normAutofit fontScale="85000" lnSpcReduction="10000"/>
          </a:bodyPr>
          <a:lstStyle/>
          <a:p>
            <a:pPr algn="just"/>
            <a:r>
              <a:rPr lang="en-US" dirty="0" smtClean="0"/>
              <a:t>Reduce the </a:t>
            </a:r>
            <a:r>
              <a:rPr lang="en-US" dirty="0"/>
              <a:t>risks of transmission of pathogens spread wholly or partly by droplets larger than 5μm in size (e.g. </a:t>
            </a:r>
            <a:r>
              <a:rPr lang="en-US" i="1" dirty="0" err="1"/>
              <a:t>Bordatella</a:t>
            </a:r>
            <a:r>
              <a:rPr lang="en-US" i="1" dirty="0"/>
              <a:t> pertussis, H. influenza &amp; N. Meningitides, M. pneumonia, flu, mumps, and rubella viruses</a:t>
            </a:r>
            <a:r>
              <a:rPr lang="en-US" dirty="0"/>
              <a:t>). Other conditions include Diphtheria, Pertussis, Pneumonic Plague and S. pharyngitis.</a:t>
            </a:r>
          </a:p>
          <a:p>
            <a:pPr algn="just"/>
            <a:endParaRPr lang="en-US" dirty="0"/>
          </a:p>
        </p:txBody>
      </p:sp>
    </p:spTree>
    <p:extLst>
      <p:ext uri="{BB962C8B-B14F-4D97-AF65-F5344CB8AC3E}">
        <p14:creationId xmlns:p14="http://schemas.microsoft.com/office/powerpoint/2010/main" val="137124274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30778"/>
            <a:ext cx="7848600" cy="1188426"/>
          </a:xfrm>
        </p:spPr>
        <p:txBody>
          <a:bodyPr/>
          <a:lstStyle/>
          <a:p>
            <a:r>
              <a:rPr lang="en-US" dirty="0"/>
              <a:t>Droplet </a:t>
            </a:r>
            <a:r>
              <a:rPr lang="en-US" dirty="0" smtClean="0"/>
              <a:t>Precautions cont’d…</a:t>
            </a:r>
            <a:endParaRPr lang="en-US" dirty="0"/>
          </a:p>
        </p:txBody>
      </p:sp>
      <p:sp>
        <p:nvSpPr>
          <p:cNvPr id="3" name="Content Placeholder 2"/>
          <p:cNvSpPr>
            <a:spLocks noGrp="1"/>
          </p:cNvSpPr>
          <p:nvPr>
            <p:ph idx="1"/>
          </p:nvPr>
        </p:nvSpPr>
        <p:spPr>
          <a:xfrm>
            <a:off x="1176865" y="2490135"/>
            <a:ext cx="6798736" cy="3682065"/>
          </a:xfrm>
        </p:spPr>
        <p:txBody>
          <a:bodyPr>
            <a:normAutofit fontScale="77500" lnSpcReduction="20000"/>
          </a:bodyPr>
          <a:lstStyle/>
          <a:p>
            <a:pPr marL="0" indent="0">
              <a:buNone/>
            </a:pPr>
            <a:r>
              <a:rPr lang="en-US" b="1" i="1" dirty="0" smtClean="0">
                <a:solidFill>
                  <a:schemeClr val="accent3"/>
                </a:solidFill>
              </a:rPr>
              <a:t>Characteristics</a:t>
            </a:r>
          </a:p>
          <a:p>
            <a:r>
              <a:rPr lang="en-US" dirty="0"/>
              <a:t>T</a:t>
            </a:r>
            <a:r>
              <a:rPr lang="en-US" dirty="0" smtClean="0"/>
              <a:t>ransmission </a:t>
            </a:r>
            <a:r>
              <a:rPr lang="en-US" dirty="0"/>
              <a:t>of pathogens spread wholly or partly by droplets larger than 5μm in </a:t>
            </a:r>
            <a:r>
              <a:rPr lang="en-US" dirty="0" smtClean="0"/>
              <a:t>size.</a:t>
            </a:r>
          </a:p>
          <a:p>
            <a:r>
              <a:rPr lang="en-US" dirty="0" smtClean="0"/>
              <a:t>Remain in </a:t>
            </a:r>
            <a:r>
              <a:rPr lang="en-US" dirty="0"/>
              <a:t>the air briefly and can travel about 1 meter (3 feet) or </a:t>
            </a:r>
            <a:r>
              <a:rPr lang="en-US" dirty="0" smtClean="0"/>
              <a:t>less.</a:t>
            </a:r>
          </a:p>
          <a:p>
            <a:r>
              <a:rPr lang="en-US" dirty="0"/>
              <a:t>requires close proximity or contact between the source and the susceptible </a:t>
            </a:r>
            <a:r>
              <a:rPr lang="en-US" dirty="0" smtClean="0"/>
              <a:t>host.</a:t>
            </a:r>
          </a:p>
          <a:p>
            <a:r>
              <a:rPr lang="en-US" dirty="0"/>
              <a:t>Droplets may also land on surfaces and then be transferred by contact transmission.</a:t>
            </a:r>
          </a:p>
          <a:p>
            <a:endParaRPr lang="en-US" dirty="0" smtClean="0"/>
          </a:p>
          <a:p>
            <a:endParaRPr lang="en-US" dirty="0" smtClean="0"/>
          </a:p>
          <a:p>
            <a:endParaRPr lang="en-US" dirty="0"/>
          </a:p>
        </p:txBody>
      </p:sp>
    </p:spTree>
    <p:extLst>
      <p:ext uri="{BB962C8B-B14F-4D97-AF65-F5344CB8AC3E}">
        <p14:creationId xmlns:p14="http://schemas.microsoft.com/office/powerpoint/2010/main" val="367455523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Droplet </a:t>
            </a:r>
            <a:r>
              <a:rPr lang="en-US" dirty="0" smtClean="0"/>
              <a:t>Precautions are:</a:t>
            </a:r>
            <a:endParaRPr lang="en-US" dirty="0"/>
          </a:p>
        </p:txBody>
      </p:sp>
      <p:sp>
        <p:nvSpPr>
          <p:cNvPr id="3" name="Content Placeholder 2"/>
          <p:cNvSpPr>
            <a:spLocks noGrp="1"/>
          </p:cNvSpPr>
          <p:nvPr>
            <p:ph idx="1"/>
          </p:nvPr>
        </p:nvSpPr>
        <p:spPr/>
        <p:txBody>
          <a:bodyPr>
            <a:normAutofit fontScale="70000" lnSpcReduction="20000"/>
          </a:bodyPr>
          <a:lstStyle/>
          <a:p>
            <a:pPr marL="0" indent="0" algn="just">
              <a:buNone/>
            </a:pPr>
            <a:r>
              <a:rPr lang="en-US" b="1" i="1" dirty="0">
                <a:solidFill>
                  <a:schemeClr val="accent3"/>
                </a:solidFill>
              </a:rPr>
              <a:t>Patient P</a:t>
            </a:r>
            <a:r>
              <a:rPr lang="en-US" b="1" i="1" dirty="0" smtClean="0">
                <a:solidFill>
                  <a:schemeClr val="accent3"/>
                </a:solidFill>
              </a:rPr>
              <a:t>lacement</a:t>
            </a:r>
          </a:p>
          <a:p>
            <a:pPr algn="just"/>
            <a:r>
              <a:rPr lang="en-US" dirty="0"/>
              <a:t>Private room, door may be left open</a:t>
            </a:r>
            <a:r>
              <a:rPr lang="en-US" dirty="0" smtClean="0"/>
              <a:t>.</a:t>
            </a:r>
          </a:p>
          <a:p>
            <a:pPr lvl="0" algn="just"/>
            <a:r>
              <a:rPr lang="en-US" dirty="0"/>
              <a:t>Patients should wear a surgical mask in waiting rooms and when outside of the patient room.</a:t>
            </a:r>
          </a:p>
          <a:p>
            <a:pPr lvl="0" algn="just"/>
            <a:r>
              <a:rPr lang="en-US" dirty="0"/>
              <a:t>If private room is not available, place the patient in a room with patient having active infection with the same disease, not with other infection.</a:t>
            </a:r>
          </a:p>
          <a:p>
            <a:pPr algn="just"/>
            <a:r>
              <a:rPr lang="en-US" dirty="0"/>
              <a:t>If neither option is available, maintain over 1 meter (3 feet) spatial separation between patient beds and use of a physical barrier, such as a curtain or </a:t>
            </a:r>
            <a:r>
              <a:rPr lang="en-US" dirty="0" smtClean="0"/>
              <a:t>divider.</a:t>
            </a:r>
          </a:p>
        </p:txBody>
      </p:sp>
    </p:spTree>
    <p:extLst>
      <p:ext uri="{BB962C8B-B14F-4D97-AF65-F5344CB8AC3E}">
        <p14:creationId xmlns:p14="http://schemas.microsoft.com/office/powerpoint/2010/main" val="154546869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Droplet Precautions cont’d…</a:t>
            </a:r>
          </a:p>
        </p:txBody>
      </p:sp>
      <p:sp>
        <p:nvSpPr>
          <p:cNvPr id="3" name="Content Placeholder 2"/>
          <p:cNvSpPr>
            <a:spLocks noGrp="1"/>
          </p:cNvSpPr>
          <p:nvPr>
            <p:ph idx="1"/>
          </p:nvPr>
        </p:nvSpPr>
        <p:spPr>
          <a:xfrm>
            <a:off x="838200" y="2490135"/>
            <a:ext cx="7315200" cy="3758265"/>
          </a:xfrm>
        </p:spPr>
        <p:txBody>
          <a:bodyPr>
            <a:normAutofit fontScale="47500" lnSpcReduction="20000"/>
          </a:bodyPr>
          <a:lstStyle/>
          <a:p>
            <a:pPr marL="0" indent="0" algn="just">
              <a:buNone/>
            </a:pPr>
            <a:r>
              <a:rPr lang="en-US" sz="4200" b="1" i="1" dirty="0">
                <a:solidFill>
                  <a:schemeClr val="accent3"/>
                </a:solidFill>
              </a:rPr>
              <a:t>Patient Transport</a:t>
            </a:r>
          </a:p>
          <a:p>
            <a:pPr algn="just"/>
            <a:r>
              <a:rPr lang="en-US" sz="4200" dirty="0"/>
              <a:t>Limit transport of patient to essential reasons only.</a:t>
            </a:r>
          </a:p>
          <a:p>
            <a:pPr lvl="0" algn="just"/>
            <a:r>
              <a:rPr lang="en-US" sz="4200" dirty="0"/>
              <a:t>Alert the department or facility where the patient is being transported so they can prepare to receive a patient on Transmission-Based Precautions.</a:t>
            </a:r>
          </a:p>
          <a:p>
            <a:pPr algn="just"/>
            <a:r>
              <a:rPr lang="en-US" sz="4200" dirty="0"/>
              <a:t>Use PPE appropriately</a:t>
            </a:r>
          </a:p>
          <a:p>
            <a:pPr lvl="1" algn="just"/>
            <a:r>
              <a:rPr lang="en-US" sz="4200" dirty="0"/>
              <a:t>Patients wear a surgical mask </a:t>
            </a:r>
          </a:p>
          <a:p>
            <a:pPr lvl="1" algn="just"/>
            <a:r>
              <a:rPr lang="en-US" sz="4200" dirty="0"/>
              <a:t>Cover wounds with appropriate dressings</a:t>
            </a:r>
          </a:p>
          <a:p>
            <a:pPr lvl="1" algn="just"/>
            <a:r>
              <a:rPr lang="en-US" sz="4200" dirty="0"/>
              <a:t>Clean and disinfect the wheelchair or coach after transportation.</a:t>
            </a:r>
          </a:p>
          <a:p>
            <a:pPr lvl="1" algn="just"/>
            <a:r>
              <a:rPr lang="en-US" sz="4200" dirty="0"/>
              <a:t>Remove PPE and perform hand hygiene once the patient has been</a:t>
            </a:r>
            <a:endParaRPr lang="en-US" sz="3400" dirty="0"/>
          </a:p>
        </p:txBody>
      </p:sp>
    </p:spTree>
    <p:extLst>
      <p:ext uri="{BB962C8B-B14F-4D97-AF65-F5344CB8AC3E}">
        <p14:creationId xmlns:p14="http://schemas.microsoft.com/office/powerpoint/2010/main" val="86461075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Droplet Precautions cont’d…</a:t>
            </a:r>
          </a:p>
        </p:txBody>
      </p:sp>
      <p:sp>
        <p:nvSpPr>
          <p:cNvPr id="3" name="Content Placeholder 2"/>
          <p:cNvSpPr>
            <a:spLocks noGrp="1"/>
          </p:cNvSpPr>
          <p:nvPr>
            <p:ph idx="1"/>
          </p:nvPr>
        </p:nvSpPr>
        <p:spPr/>
        <p:txBody>
          <a:bodyPr>
            <a:normAutofit fontScale="70000" lnSpcReduction="20000"/>
          </a:bodyPr>
          <a:lstStyle/>
          <a:p>
            <a:pPr marL="0" indent="0" algn="just">
              <a:buNone/>
            </a:pPr>
            <a:r>
              <a:rPr lang="en-US" b="1" i="1" dirty="0">
                <a:solidFill>
                  <a:schemeClr val="accent3"/>
                </a:solidFill>
              </a:rPr>
              <a:t>Respiratory </a:t>
            </a:r>
            <a:r>
              <a:rPr lang="en-US" b="1" i="1" dirty="0" smtClean="0">
                <a:solidFill>
                  <a:schemeClr val="accent3"/>
                </a:solidFill>
              </a:rPr>
              <a:t>Hygiene </a:t>
            </a:r>
            <a:r>
              <a:rPr lang="en-US" b="1" i="1" dirty="0">
                <a:solidFill>
                  <a:schemeClr val="accent3"/>
                </a:solidFill>
              </a:rPr>
              <a:t>and </a:t>
            </a:r>
            <a:r>
              <a:rPr lang="en-US" b="1" i="1" dirty="0" smtClean="0">
                <a:solidFill>
                  <a:schemeClr val="accent3"/>
                </a:solidFill>
              </a:rPr>
              <a:t>Cough </a:t>
            </a:r>
            <a:r>
              <a:rPr lang="en-US" b="1" i="1" dirty="0">
                <a:solidFill>
                  <a:schemeClr val="accent3"/>
                </a:solidFill>
              </a:rPr>
              <a:t>E</a:t>
            </a:r>
            <a:r>
              <a:rPr lang="en-US" b="1" i="1" dirty="0" smtClean="0">
                <a:solidFill>
                  <a:schemeClr val="accent3"/>
                </a:solidFill>
              </a:rPr>
              <a:t>tiquette </a:t>
            </a:r>
            <a:endParaRPr lang="en-US" dirty="0">
              <a:solidFill>
                <a:schemeClr val="accent3"/>
              </a:solidFill>
            </a:endParaRPr>
          </a:p>
          <a:p>
            <a:pPr lvl="0" algn="just"/>
            <a:r>
              <a:rPr lang="en-US" dirty="0"/>
              <a:t>Cover the mouth and nose when coughing and sneezing and dispose of used tissues in the nearest waste container.</a:t>
            </a:r>
          </a:p>
          <a:p>
            <a:pPr lvl="0" algn="just"/>
            <a:r>
              <a:rPr lang="en-US" dirty="0"/>
              <a:t>Perform hand hygiene after contact with respiratory secretions and contaminated objects. </a:t>
            </a:r>
          </a:p>
          <a:p>
            <a:pPr lvl="0" algn="just"/>
            <a:r>
              <a:rPr lang="en-US" dirty="0"/>
              <a:t>Maintain an appropriate distance from and between symptomatic patients, at least 1 meter (3 feet).</a:t>
            </a:r>
          </a:p>
          <a:p>
            <a:pPr lvl="0" algn="just"/>
            <a:r>
              <a:rPr lang="en-US" dirty="0"/>
              <a:t>Identify persons with symptoms suggestive of acute respiratory illness and teach them to use a surgical mask and practice cough etiquette.</a:t>
            </a:r>
          </a:p>
          <a:p>
            <a:pPr algn="just"/>
            <a:endParaRPr lang="en-US" dirty="0"/>
          </a:p>
        </p:txBody>
      </p:sp>
    </p:spTree>
    <p:extLst>
      <p:ext uri="{BB962C8B-B14F-4D97-AF65-F5344CB8AC3E}">
        <p14:creationId xmlns:p14="http://schemas.microsoft.com/office/powerpoint/2010/main" val="341357858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Droplet Precautions cont’d…</a:t>
            </a:r>
          </a:p>
        </p:txBody>
      </p:sp>
      <p:sp>
        <p:nvSpPr>
          <p:cNvPr id="3" name="Content Placeholder 2"/>
          <p:cNvSpPr>
            <a:spLocks noGrp="1"/>
          </p:cNvSpPr>
          <p:nvPr>
            <p:ph idx="1"/>
          </p:nvPr>
        </p:nvSpPr>
        <p:spPr/>
        <p:txBody>
          <a:bodyPr>
            <a:normAutofit fontScale="70000" lnSpcReduction="20000"/>
          </a:bodyPr>
          <a:lstStyle/>
          <a:p>
            <a:pPr marL="0" indent="0" algn="just">
              <a:buNone/>
            </a:pPr>
            <a:r>
              <a:rPr lang="en-US" b="1" i="1" dirty="0" smtClean="0">
                <a:solidFill>
                  <a:schemeClr val="accent3"/>
                </a:solidFill>
              </a:rPr>
              <a:t>Use </a:t>
            </a:r>
            <a:r>
              <a:rPr lang="en-US" b="1" i="1" dirty="0">
                <a:solidFill>
                  <a:schemeClr val="accent3"/>
                </a:solidFill>
              </a:rPr>
              <a:t>of PPE </a:t>
            </a:r>
            <a:endParaRPr lang="en-US" dirty="0">
              <a:solidFill>
                <a:schemeClr val="accent3"/>
              </a:solidFill>
            </a:endParaRPr>
          </a:p>
          <a:p>
            <a:pPr lvl="0" algn="just"/>
            <a:r>
              <a:rPr lang="en-US" dirty="0" smtClean="0"/>
              <a:t>Wear </a:t>
            </a:r>
            <a:r>
              <a:rPr lang="en-US" dirty="0"/>
              <a:t>eye protection and a face mask or face shield, which cover eyes, nose, and mouth completely, before entry into the patient care area</a:t>
            </a:r>
          </a:p>
          <a:p>
            <a:pPr lvl="0" algn="just"/>
            <a:r>
              <a:rPr lang="en-US" dirty="0"/>
              <a:t>Remove PPE after leaving the patient care area. </a:t>
            </a:r>
            <a:endParaRPr lang="en-US" dirty="0" smtClean="0"/>
          </a:p>
          <a:p>
            <a:pPr lvl="0" algn="just"/>
            <a:r>
              <a:rPr lang="en-US" dirty="0" smtClean="0"/>
              <a:t>If </a:t>
            </a:r>
            <a:r>
              <a:rPr lang="en-US" dirty="0"/>
              <a:t>PPE is to be re-used, it must be cleaned and disinfected before each reuse.</a:t>
            </a:r>
          </a:p>
          <a:p>
            <a:pPr lvl="0" algn="just"/>
            <a:r>
              <a:rPr lang="en-US" dirty="0"/>
              <a:t>Always perform hand hygiene before and immediately after patient care.</a:t>
            </a:r>
          </a:p>
          <a:p>
            <a:pPr algn="just"/>
            <a:endParaRPr lang="en-US" dirty="0"/>
          </a:p>
        </p:txBody>
      </p:sp>
    </p:spTree>
    <p:extLst>
      <p:ext uri="{BB962C8B-B14F-4D97-AF65-F5344CB8AC3E}">
        <p14:creationId xmlns:p14="http://schemas.microsoft.com/office/powerpoint/2010/main" val="362786116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Droplet Precautions cont’d…</a:t>
            </a:r>
            <a:endParaRPr lang="en-US" dirty="0"/>
          </a:p>
        </p:txBody>
      </p:sp>
      <p:sp>
        <p:nvSpPr>
          <p:cNvPr id="3" name="Content Placeholder 2"/>
          <p:cNvSpPr>
            <a:spLocks noGrp="1"/>
          </p:cNvSpPr>
          <p:nvPr>
            <p:ph idx="1"/>
          </p:nvPr>
        </p:nvSpPr>
        <p:spPr/>
        <p:txBody>
          <a:bodyPr>
            <a:normAutofit fontScale="70000" lnSpcReduction="20000"/>
          </a:bodyPr>
          <a:lstStyle/>
          <a:p>
            <a:pPr marL="0" indent="0" algn="just">
              <a:buNone/>
            </a:pPr>
            <a:r>
              <a:rPr lang="en-US" b="1" i="1" dirty="0">
                <a:solidFill>
                  <a:schemeClr val="accent3"/>
                </a:solidFill>
              </a:rPr>
              <a:t>Cleaning</a:t>
            </a:r>
            <a:endParaRPr lang="en-US" dirty="0">
              <a:solidFill>
                <a:schemeClr val="accent3"/>
              </a:solidFill>
            </a:endParaRPr>
          </a:p>
          <a:p>
            <a:pPr lvl="0" algn="just"/>
            <a:r>
              <a:rPr lang="en-US" dirty="0"/>
              <a:t>Ensure that rooms of patients on Droplet Precautions are frequently cleaned and </a:t>
            </a:r>
          </a:p>
          <a:p>
            <a:pPr lvl="0" algn="just"/>
            <a:r>
              <a:rPr lang="en-US" dirty="0"/>
              <a:t>Disinfected (at least daily and prior to use by another patient). Focus cleaning on  surfaces, frequently touched items, and equipment in the immediate patient area</a:t>
            </a:r>
          </a:p>
          <a:p>
            <a:pPr lvl="0" algn="just"/>
            <a:r>
              <a:rPr lang="en-US" dirty="0"/>
              <a:t>Use gloves, gown and face/eye protection when cleaning patient care equipment and the environment of a patient who has been on Contact Precautions.</a:t>
            </a:r>
          </a:p>
          <a:p>
            <a:pPr algn="just"/>
            <a:endParaRPr lang="en-US" dirty="0"/>
          </a:p>
        </p:txBody>
      </p:sp>
    </p:spTree>
    <p:extLst>
      <p:ext uri="{BB962C8B-B14F-4D97-AF65-F5344CB8AC3E}">
        <p14:creationId xmlns:p14="http://schemas.microsoft.com/office/powerpoint/2010/main" val="254721655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Contact Precautions</a:t>
            </a:r>
            <a:endParaRPr lang="en-US" dirty="0"/>
          </a:p>
        </p:txBody>
      </p:sp>
      <p:sp>
        <p:nvSpPr>
          <p:cNvPr id="3" name="Content Placeholder 2"/>
          <p:cNvSpPr>
            <a:spLocks noGrp="1"/>
          </p:cNvSpPr>
          <p:nvPr>
            <p:ph idx="1"/>
          </p:nvPr>
        </p:nvSpPr>
        <p:spPr>
          <a:xfrm>
            <a:off x="762000" y="2438400"/>
            <a:ext cx="7620000" cy="3809999"/>
          </a:xfrm>
        </p:spPr>
        <p:txBody>
          <a:bodyPr>
            <a:normAutofit fontScale="55000" lnSpcReduction="20000"/>
          </a:bodyPr>
          <a:lstStyle/>
          <a:p>
            <a:pPr algn="just"/>
            <a:r>
              <a:rPr lang="en-US" sz="4400" dirty="0"/>
              <a:t>Patients are placed on Contact Precautions when they have </a:t>
            </a:r>
            <a:r>
              <a:rPr lang="en-US" sz="4400" b="1" dirty="0"/>
              <a:t>suspected or known infections</a:t>
            </a:r>
            <a:r>
              <a:rPr lang="en-US" sz="4400" dirty="0"/>
              <a:t> that are </a:t>
            </a:r>
            <a:r>
              <a:rPr lang="en-US" sz="4400" b="1" dirty="0"/>
              <a:t>spread directly or indirectly</a:t>
            </a:r>
            <a:r>
              <a:rPr lang="en-US" sz="4400" dirty="0"/>
              <a:t> from an infected or colonized individual </a:t>
            </a:r>
            <a:r>
              <a:rPr lang="en-US" sz="4400" b="1" dirty="0"/>
              <a:t>by touch or contact </a:t>
            </a:r>
            <a:r>
              <a:rPr lang="en-US" sz="4400" dirty="0"/>
              <a:t>with the patient or the patient’s environment (surfaces and equipment). </a:t>
            </a:r>
            <a:endParaRPr lang="en-US" sz="4400" dirty="0" smtClean="0"/>
          </a:p>
          <a:p>
            <a:pPr algn="just"/>
            <a:r>
              <a:rPr lang="en-US" dirty="0"/>
              <a:t>Organisms that require Contact Precautions include cholera, varicella-zoster (shingles); neonatal or </a:t>
            </a:r>
            <a:r>
              <a:rPr lang="en-US" dirty="0" err="1"/>
              <a:t>mucocutaneous</a:t>
            </a:r>
            <a:r>
              <a:rPr lang="en-US" dirty="0"/>
              <a:t> herpes simplex virus; </a:t>
            </a:r>
            <a:r>
              <a:rPr lang="en-US" dirty="0" err="1"/>
              <a:t>enterovirus</a:t>
            </a:r>
            <a:r>
              <a:rPr lang="en-US" dirty="0"/>
              <a:t> meningitis; patients infected or colonized with enteric pathogens, hemorrhagic fever viruses, multidrug-resistant organisms such as and </a:t>
            </a:r>
            <a:r>
              <a:rPr lang="en-US" dirty="0" err="1"/>
              <a:t>carbapenem</a:t>
            </a:r>
            <a:r>
              <a:rPr lang="en-US" dirty="0"/>
              <a:t>-resistant </a:t>
            </a:r>
            <a:r>
              <a:rPr lang="en-US" dirty="0" err="1"/>
              <a:t>Enterobacteriaceae</a:t>
            </a:r>
            <a:r>
              <a:rPr lang="en-US" dirty="0"/>
              <a:t> (CRE); and C. </a:t>
            </a:r>
            <a:r>
              <a:rPr lang="en-US" dirty="0" err="1"/>
              <a:t>difficile</a:t>
            </a:r>
            <a:r>
              <a:rPr lang="en-US" dirty="0"/>
              <a:t>. </a:t>
            </a:r>
            <a:endParaRPr lang="en-US" dirty="0" smtClean="0"/>
          </a:p>
          <a:p>
            <a:pPr algn="just"/>
            <a:r>
              <a:rPr lang="en-US" dirty="0" smtClean="0"/>
              <a:t>Chicken </a:t>
            </a:r>
            <a:r>
              <a:rPr lang="en-US" dirty="0"/>
              <a:t>pox is spread both by the airborne and contact routes at different stages of illness. Contact precautions should be implemented for patient with wet or draining infection that may be contagious (e.g. draining abscesses, herpes zoster, impetigo, conjunctivitis, scabies, lice and wound infection).</a:t>
            </a:r>
          </a:p>
        </p:txBody>
      </p:sp>
    </p:spTree>
    <p:extLst>
      <p:ext uri="{BB962C8B-B14F-4D97-AF65-F5344CB8AC3E}">
        <p14:creationId xmlns:p14="http://schemas.microsoft.com/office/powerpoint/2010/main" val="420568813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Contact </a:t>
            </a:r>
            <a:r>
              <a:rPr lang="en-US" dirty="0" smtClean="0"/>
              <a:t>Precautions cont’d…</a:t>
            </a:r>
            <a:endParaRPr lang="en-US" dirty="0"/>
          </a:p>
        </p:txBody>
      </p:sp>
      <p:sp>
        <p:nvSpPr>
          <p:cNvPr id="3" name="Content Placeholder 2"/>
          <p:cNvSpPr>
            <a:spLocks noGrp="1"/>
          </p:cNvSpPr>
          <p:nvPr>
            <p:ph idx="1"/>
          </p:nvPr>
        </p:nvSpPr>
        <p:spPr/>
        <p:txBody>
          <a:bodyPr>
            <a:normAutofit fontScale="70000" lnSpcReduction="20000"/>
          </a:bodyPr>
          <a:lstStyle/>
          <a:p>
            <a:pPr marL="0" indent="0" algn="just">
              <a:buNone/>
            </a:pPr>
            <a:r>
              <a:rPr lang="en-US" b="1" i="1" dirty="0" smtClean="0">
                <a:solidFill>
                  <a:schemeClr val="accent3"/>
                </a:solidFill>
              </a:rPr>
              <a:t>Characteristics</a:t>
            </a:r>
          </a:p>
          <a:p>
            <a:pPr algn="just"/>
            <a:r>
              <a:rPr lang="en-US" dirty="0"/>
              <a:t>Infectious agent transmitted directly from one infected or colonized person to a susceptible </a:t>
            </a:r>
            <a:r>
              <a:rPr lang="en-US" dirty="0" smtClean="0"/>
              <a:t>person.</a:t>
            </a:r>
          </a:p>
          <a:p>
            <a:pPr algn="just"/>
            <a:r>
              <a:rPr lang="en-US" dirty="0" smtClean="0"/>
              <a:t>Contact </a:t>
            </a:r>
            <a:r>
              <a:rPr lang="en-US" dirty="0"/>
              <a:t>is a common way that germs spread in health care </a:t>
            </a:r>
            <a:r>
              <a:rPr lang="en-US" dirty="0" smtClean="0"/>
              <a:t>facilities.</a:t>
            </a:r>
          </a:p>
          <a:p>
            <a:pPr algn="just">
              <a:spcAft>
                <a:spcPct val="20000"/>
              </a:spcAft>
            </a:pPr>
            <a:r>
              <a:rPr lang="en-US" dirty="0"/>
              <a:t>Infectious agent transmitted indirectly from contaminated inanimate object (e.g., toilet seat, door hand or soiled (feces) bed </a:t>
            </a:r>
            <a:r>
              <a:rPr lang="en-US" dirty="0" smtClean="0"/>
              <a:t>linen.</a:t>
            </a:r>
          </a:p>
          <a:p>
            <a:pPr algn="just">
              <a:spcAft>
                <a:spcPct val="20000"/>
              </a:spcAft>
            </a:pPr>
            <a:r>
              <a:rPr lang="en-US" dirty="0" smtClean="0"/>
              <a:t>Transfer </a:t>
            </a:r>
            <a:r>
              <a:rPr lang="en-US" dirty="0"/>
              <a:t>often from hands of health worker (cross-contamination</a:t>
            </a:r>
            <a:r>
              <a:rPr lang="en-US" dirty="0" smtClean="0"/>
              <a:t>)</a:t>
            </a:r>
            <a:endParaRPr lang="en-US" dirty="0"/>
          </a:p>
        </p:txBody>
      </p:sp>
    </p:spTree>
    <p:extLst>
      <p:ext uri="{BB962C8B-B14F-4D97-AF65-F5344CB8AC3E}">
        <p14:creationId xmlns:p14="http://schemas.microsoft.com/office/powerpoint/2010/main" val="249029989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Contact </a:t>
            </a:r>
            <a:r>
              <a:rPr lang="en-US" dirty="0" smtClean="0"/>
              <a:t>Precautions are</a:t>
            </a:r>
            <a:endParaRPr lang="en-US" dirty="0"/>
          </a:p>
        </p:txBody>
      </p:sp>
      <p:sp>
        <p:nvSpPr>
          <p:cNvPr id="3" name="Content Placeholder 2"/>
          <p:cNvSpPr>
            <a:spLocks noGrp="1"/>
          </p:cNvSpPr>
          <p:nvPr>
            <p:ph idx="1"/>
          </p:nvPr>
        </p:nvSpPr>
        <p:spPr/>
        <p:txBody>
          <a:bodyPr>
            <a:normAutofit fontScale="62500" lnSpcReduction="20000"/>
          </a:bodyPr>
          <a:lstStyle/>
          <a:p>
            <a:pPr marL="0" indent="0" algn="just">
              <a:buNone/>
            </a:pPr>
            <a:r>
              <a:rPr lang="en-US" b="1" i="1" dirty="0">
                <a:solidFill>
                  <a:schemeClr val="accent3"/>
                </a:solidFill>
              </a:rPr>
              <a:t>Patient Placement</a:t>
            </a:r>
            <a:endParaRPr lang="en-US" b="1" dirty="0">
              <a:solidFill>
                <a:schemeClr val="accent3"/>
              </a:solidFill>
            </a:endParaRPr>
          </a:p>
          <a:p>
            <a:pPr lvl="0" algn="just"/>
            <a:r>
              <a:rPr lang="en-US" dirty="0"/>
              <a:t>Isolate patients who require Contact Precautions in a single room, if possible. </a:t>
            </a:r>
          </a:p>
          <a:p>
            <a:pPr lvl="0" algn="just"/>
            <a:r>
              <a:rPr lang="en-US" dirty="0"/>
              <a:t>The door may be left open in this case. </a:t>
            </a:r>
          </a:p>
          <a:p>
            <a:pPr lvl="0" algn="just"/>
            <a:r>
              <a:rPr lang="en-US" dirty="0"/>
              <a:t>If private room is not available, place the patient in a room with patient having active infection with the same microorganism, not with other infections (cohorting). </a:t>
            </a:r>
          </a:p>
          <a:p>
            <a:pPr lvl="0" algn="just"/>
            <a:r>
              <a:rPr lang="en-US" dirty="0"/>
              <a:t>In multi-patient rooms, more than one meter (3 feet) spatial separation between patient beds is advised to reduce the opportunities for inadvertent sharing of items between the infected/colonized patient and other patients.</a:t>
            </a:r>
          </a:p>
          <a:p>
            <a:pPr algn="just"/>
            <a:endParaRPr lang="en-US" dirty="0"/>
          </a:p>
        </p:txBody>
      </p:sp>
    </p:spTree>
    <p:extLst>
      <p:ext uri="{BB962C8B-B14F-4D97-AF65-F5344CB8AC3E}">
        <p14:creationId xmlns:p14="http://schemas.microsoft.com/office/powerpoint/2010/main" val="46826740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Contact </a:t>
            </a:r>
            <a:r>
              <a:rPr lang="en-US" dirty="0"/>
              <a:t>Precautions cont’d…</a:t>
            </a:r>
          </a:p>
        </p:txBody>
      </p:sp>
      <p:sp>
        <p:nvSpPr>
          <p:cNvPr id="3" name="Content Placeholder 2"/>
          <p:cNvSpPr>
            <a:spLocks noGrp="1"/>
          </p:cNvSpPr>
          <p:nvPr>
            <p:ph idx="1"/>
          </p:nvPr>
        </p:nvSpPr>
        <p:spPr>
          <a:xfrm>
            <a:off x="1176865" y="2490135"/>
            <a:ext cx="6798736" cy="3453465"/>
          </a:xfrm>
        </p:spPr>
        <p:txBody>
          <a:bodyPr>
            <a:normAutofit fontScale="62500" lnSpcReduction="20000"/>
          </a:bodyPr>
          <a:lstStyle/>
          <a:p>
            <a:pPr marL="0" indent="0">
              <a:buNone/>
            </a:pPr>
            <a:r>
              <a:rPr lang="en-US" b="1" i="1" dirty="0">
                <a:solidFill>
                  <a:schemeClr val="accent3"/>
                </a:solidFill>
              </a:rPr>
              <a:t>Use of PPE</a:t>
            </a:r>
            <a:endParaRPr lang="en-US" b="1" dirty="0">
              <a:solidFill>
                <a:schemeClr val="accent3"/>
              </a:solidFill>
            </a:endParaRPr>
          </a:p>
          <a:p>
            <a:pPr lvl="0"/>
            <a:r>
              <a:rPr lang="en-US" dirty="0"/>
              <a:t>Put on a clean, non-sterile gown and gloves upon entering the patient care area; remove and properly discard before exiting the patient room.</a:t>
            </a:r>
          </a:p>
          <a:p>
            <a:pPr lvl="0"/>
            <a:r>
              <a:rPr lang="en-US" dirty="0"/>
              <a:t>Perform hand hygiene immediately after removing PPE</a:t>
            </a:r>
          </a:p>
          <a:p>
            <a:pPr lvl="0"/>
            <a:r>
              <a:rPr lang="en-US" dirty="0"/>
              <a:t>For semi-private or multi-patient rooms, do not use the same PPE between patients.</a:t>
            </a:r>
          </a:p>
          <a:p>
            <a:pPr lvl="0"/>
            <a:r>
              <a:rPr lang="en-US" dirty="0"/>
              <a:t>Remove PPE, perform hand hygiene, and put on new PPE before coming in contact with another patient or patient environment (e.g., bed, patient locker, over-bed table, IV stand </a:t>
            </a:r>
            <a:r>
              <a:rPr lang="en-US" dirty="0" err="1"/>
              <a:t>etc</a:t>
            </a:r>
            <a:r>
              <a:rPr lang="en-US" dirty="0"/>
              <a:t>).</a:t>
            </a:r>
          </a:p>
          <a:p>
            <a:endParaRPr lang="en-US" dirty="0"/>
          </a:p>
        </p:txBody>
      </p:sp>
    </p:spTree>
    <p:extLst>
      <p:ext uri="{BB962C8B-B14F-4D97-AF65-F5344CB8AC3E}">
        <p14:creationId xmlns:p14="http://schemas.microsoft.com/office/powerpoint/2010/main" val="340313562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Contact Precautions </a:t>
            </a:r>
            <a:r>
              <a:rPr lang="en-US" dirty="0" smtClean="0"/>
              <a:t>cont’d…</a:t>
            </a:r>
            <a:endParaRPr lang="en-US" dirty="0"/>
          </a:p>
        </p:txBody>
      </p:sp>
      <p:sp>
        <p:nvSpPr>
          <p:cNvPr id="3" name="Content Placeholder 2"/>
          <p:cNvSpPr>
            <a:spLocks noGrp="1"/>
          </p:cNvSpPr>
          <p:nvPr>
            <p:ph idx="1"/>
          </p:nvPr>
        </p:nvSpPr>
        <p:spPr/>
        <p:txBody>
          <a:bodyPr>
            <a:normAutofit fontScale="70000" lnSpcReduction="20000"/>
          </a:bodyPr>
          <a:lstStyle/>
          <a:p>
            <a:pPr marL="0" indent="0" algn="just">
              <a:buNone/>
            </a:pPr>
            <a:r>
              <a:rPr lang="en-US" b="1" i="1" dirty="0">
                <a:solidFill>
                  <a:schemeClr val="accent3"/>
                </a:solidFill>
              </a:rPr>
              <a:t>Hand washing</a:t>
            </a:r>
            <a:endParaRPr lang="en-US" dirty="0">
              <a:solidFill>
                <a:schemeClr val="accent3"/>
              </a:solidFill>
            </a:endParaRPr>
          </a:p>
          <a:p>
            <a:pPr lvl="0" algn="just"/>
            <a:r>
              <a:rPr lang="en-US" dirty="0"/>
              <a:t>Involves HCWs cleaning their hands before, after, and at specific moments during patient care and when performing health care tasks.</a:t>
            </a:r>
          </a:p>
          <a:p>
            <a:pPr lvl="0" algn="just"/>
            <a:r>
              <a:rPr lang="en-US" dirty="0"/>
              <a:t>Wash hands with antimicrobial agent, or use alcohol hand rub before entering room and after removing gloves (if patient has </a:t>
            </a:r>
            <a:r>
              <a:rPr lang="en-US" i="1" dirty="0"/>
              <a:t>C. </a:t>
            </a:r>
            <a:r>
              <a:rPr lang="en-US" i="1" dirty="0" err="1"/>
              <a:t>difficile</a:t>
            </a:r>
            <a:r>
              <a:rPr lang="en-US" i="1" dirty="0"/>
              <a:t> </a:t>
            </a:r>
            <a:r>
              <a:rPr lang="en-US" dirty="0"/>
              <a:t>diarrhea, need to wash hands with soap and water after removing gloves).</a:t>
            </a:r>
          </a:p>
          <a:p>
            <a:pPr lvl="0" algn="just"/>
            <a:r>
              <a:rPr lang="en-US" dirty="0"/>
              <a:t>Do not touch potentially contaminated surfaces or items before leaving the room.</a:t>
            </a:r>
          </a:p>
          <a:p>
            <a:pPr algn="just"/>
            <a:endParaRPr lang="en-US" dirty="0"/>
          </a:p>
        </p:txBody>
      </p:sp>
    </p:spTree>
    <p:extLst>
      <p:ext uri="{BB962C8B-B14F-4D97-AF65-F5344CB8AC3E}">
        <p14:creationId xmlns:p14="http://schemas.microsoft.com/office/powerpoint/2010/main" val="109681276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Contact Precautions cont’d…</a:t>
            </a:r>
          </a:p>
        </p:txBody>
      </p:sp>
      <p:sp>
        <p:nvSpPr>
          <p:cNvPr id="3" name="Content Placeholder 2"/>
          <p:cNvSpPr>
            <a:spLocks noGrp="1"/>
          </p:cNvSpPr>
          <p:nvPr>
            <p:ph idx="1"/>
          </p:nvPr>
        </p:nvSpPr>
        <p:spPr>
          <a:xfrm>
            <a:off x="1176865" y="2490135"/>
            <a:ext cx="6798736" cy="3758265"/>
          </a:xfrm>
        </p:spPr>
        <p:txBody>
          <a:bodyPr>
            <a:normAutofit fontScale="70000" lnSpcReduction="20000"/>
          </a:bodyPr>
          <a:lstStyle/>
          <a:p>
            <a:pPr marL="0" indent="0">
              <a:buNone/>
            </a:pPr>
            <a:r>
              <a:rPr lang="en-US" b="1" i="1" dirty="0">
                <a:solidFill>
                  <a:schemeClr val="accent3"/>
                </a:solidFill>
              </a:rPr>
              <a:t>Patient Transport</a:t>
            </a:r>
            <a:endParaRPr lang="en-US" dirty="0">
              <a:solidFill>
                <a:schemeClr val="accent3"/>
              </a:solidFill>
            </a:endParaRPr>
          </a:p>
          <a:p>
            <a:pPr lvl="0"/>
            <a:r>
              <a:rPr lang="en-US" dirty="0"/>
              <a:t>Limit transport of patients to essential purposes only.</a:t>
            </a:r>
          </a:p>
          <a:p>
            <a:pPr lvl="0"/>
            <a:r>
              <a:rPr lang="en-US" dirty="0"/>
              <a:t>During transport, ensure precautions that are maintained to minimize risk of transmission of organisms (i.e. cover patient with clean linen not what was used on patients’ bed</a:t>
            </a:r>
            <a:r>
              <a:rPr lang="en-US" dirty="0" smtClean="0"/>
              <a:t>).</a:t>
            </a:r>
          </a:p>
          <a:p>
            <a:pPr marL="0" indent="0" algn="just">
              <a:buNone/>
            </a:pPr>
            <a:r>
              <a:rPr lang="en-US" b="1" i="1" dirty="0">
                <a:solidFill>
                  <a:schemeClr val="accent3"/>
                </a:solidFill>
              </a:rPr>
              <a:t>Patient care equipment</a:t>
            </a:r>
            <a:endParaRPr lang="en-US" dirty="0">
              <a:solidFill>
                <a:schemeClr val="accent3"/>
              </a:solidFill>
            </a:endParaRPr>
          </a:p>
          <a:p>
            <a:pPr lvl="0" algn="just"/>
            <a:r>
              <a:rPr lang="en-US" dirty="0"/>
              <a:t>Use disposable or dedicated patient care equipment (e.g., blood pressure cuffs) and clean and disinfect equipment before reuse on other patients. </a:t>
            </a:r>
          </a:p>
          <a:p>
            <a:pPr lvl="0"/>
            <a:endParaRPr lang="en-US" dirty="0"/>
          </a:p>
          <a:p>
            <a:endParaRPr lang="en-US" dirty="0"/>
          </a:p>
        </p:txBody>
      </p:sp>
    </p:spTree>
    <p:extLst>
      <p:ext uri="{BB962C8B-B14F-4D97-AF65-F5344CB8AC3E}">
        <p14:creationId xmlns:p14="http://schemas.microsoft.com/office/powerpoint/2010/main" val="104736403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Contact Precautions cont’d…</a:t>
            </a:r>
          </a:p>
        </p:txBody>
      </p:sp>
      <p:sp>
        <p:nvSpPr>
          <p:cNvPr id="3" name="Content Placeholder 2"/>
          <p:cNvSpPr>
            <a:spLocks noGrp="1"/>
          </p:cNvSpPr>
          <p:nvPr>
            <p:ph idx="1"/>
          </p:nvPr>
        </p:nvSpPr>
        <p:spPr>
          <a:xfrm>
            <a:off x="914400" y="2490135"/>
            <a:ext cx="7238999" cy="3453465"/>
          </a:xfrm>
        </p:spPr>
        <p:txBody>
          <a:bodyPr>
            <a:normAutofit fontScale="62500" lnSpcReduction="20000"/>
          </a:bodyPr>
          <a:lstStyle/>
          <a:p>
            <a:pPr marL="0" indent="0" algn="just">
              <a:buNone/>
            </a:pPr>
            <a:r>
              <a:rPr lang="en-US" b="1" i="1" dirty="0" smtClean="0">
                <a:solidFill>
                  <a:schemeClr val="accent3"/>
                </a:solidFill>
              </a:rPr>
              <a:t>Cleaning</a:t>
            </a:r>
            <a:endParaRPr lang="en-US" dirty="0">
              <a:solidFill>
                <a:schemeClr val="accent3"/>
              </a:solidFill>
            </a:endParaRPr>
          </a:p>
          <a:p>
            <a:pPr lvl="0" algn="just"/>
            <a:r>
              <a:rPr lang="en-US" dirty="0"/>
              <a:t>Ensure that rooms of patients on Contact Precautions are frequently cleaned and disinfected (at least daily and prior to use by another patient). Focus cleaning on toilets, frequently touched surfaces, and equipment in the immediate patient area.</a:t>
            </a:r>
          </a:p>
          <a:p>
            <a:pPr lvl="0" algn="just"/>
            <a:r>
              <a:rPr lang="en-US" dirty="0"/>
              <a:t>Use gloves and gown when cleaning patient care equipment and the environment of a patient who has been on Contact Precautions.</a:t>
            </a:r>
          </a:p>
          <a:p>
            <a:pPr lvl="0" algn="just"/>
            <a:r>
              <a:rPr lang="en-US" dirty="0"/>
              <a:t>Organisms that form spores (such as </a:t>
            </a:r>
            <a:r>
              <a:rPr lang="en-US" dirty="0" err="1"/>
              <a:t>norovirus</a:t>
            </a:r>
            <a:r>
              <a:rPr lang="en-US" dirty="0"/>
              <a:t> and C. </a:t>
            </a:r>
            <a:r>
              <a:rPr lang="en-US" dirty="0" err="1"/>
              <a:t>difficile</a:t>
            </a:r>
            <a:r>
              <a:rPr lang="en-US" dirty="0"/>
              <a:t>) require cleaning products, such as bleach, that inactivate spores, which are more difficult to destroy than vegetative microorganisms.</a:t>
            </a:r>
          </a:p>
          <a:p>
            <a:pPr algn="just"/>
            <a:endParaRPr lang="en-US" dirty="0"/>
          </a:p>
        </p:txBody>
      </p:sp>
    </p:spTree>
    <p:extLst>
      <p:ext uri="{BB962C8B-B14F-4D97-AF65-F5344CB8AC3E}">
        <p14:creationId xmlns:p14="http://schemas.microsoft.com/office/powerpoint/2010/main" val="69272872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3.4: Empiric Use of Transmission Based Precaution</a:t>
            </a:r>
            <a:endParaRPr lang="en-US" dirty="0"/>
          </a:p>
        </p:txBody>
      </p:sp>
      <p:sp>
        <p:nvSpPr>
          <p:cNvPr id="5" name="Subtitle 4"/>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56995680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defTabSz="457200" rtl="0">
              <a:spcBef>
                <a:spcPct val="0"/>
              </a:spcBef>
            </a:pPr>
            <a:r>
              <a:rPr lang="en-US" sz="3600" b="1" kern="1200" dirty="0">
                <a:ln w="3175" cmpd="sng">
                  <a:noFill/>
                </a:ln>
                <a:solidFill>
                  <a:schemeClr val="tx1">
                    <a:lumMod val="85000"/>
                    <a:lumOff val="15000"/>
                  </a:schemeClr>
                </a:solidFill>
                <a:latin typeface="+mj-lt"/>
                <a:ea typeface="+mj-ea"/>
                <a:cs typeface="+mj-cs"/>
              </a:rPr>
              <a:t/>
            </a:r>
            <a:br>
              <a:rPr lang="en-US" sz="3600" b="1" kern="1200" dirty="0">
                <a:ln w="3175" cmpd="sng">
                  <a:noFill/>
                </a:ln>
                <a:solidFill>
                  <a:schemeClr val="tx1">
                    <a:lumMod val="85000"/>
                    <a:lumOff val="15000"/>
                  </a:schemeClr>
                </a:solidFill>
                <a:latin typeface="+mj-lt"/>
                <a:ea typeface="+mj-ea"/>
                <a:cs typeface="+mj-cs"/>
              </a:rPr>
            </a:br>
            <a:r>
              <a:rPr lang="en-US" sz="3600" b="1" kern="1200" dirty="0" smtClean="0">
                <a:ln w="3175" cmpd="sng">
                  <a:noFill/>
                </a:ln>
                <a:solidFill>
                  <a:schemeClr val="tx1">
                    <a:lumMod val="85000"/>
                    <a:lumOff val="15000"/>
                  </a:schemeClr>
                </a:solidFill>
                <a:latin typeface="+mj-lt"/>
                <a:ea typeface="+mj-ea"/>
                <a:cs typeface="+mj-cs"/>
              </a:rPr>
              <a:t>Empiric</a:t>
            </a:r>
            <a:r>
              <a:rPr lang="en-US" sz="3600" b="1" kern="1200" dirty="0">
                <a:ln w="3175" cmpd="sng">
                  <a:noFill/>
                </a:ln>
                <a:solidFill>
                  <a:schemeClr val="tx1">
                    <a:lumMod val="85000"/>
                    <a:lumOff val="15000"/>
                  </a:schemeClr>
                </a:solidFill>
                <a:latin typeface="+mj-lt"/>
                <a:ea typeface="+mj-ea"/>
                <a:cs typeface="+mj-cs"/>
              </a:rPr>
              <a:t>/ </a:t>
            </a:r>
            <a:r>
              <a:rPr lang="en-US" sz="3600" b="1" kern="1200" dirty="0" err="1">
                <a:ln w="3175" cmpd="sng">
                  <a:noFill/>
                </a:ln>
                <a:solidFill>
                  <a:schemeClr val="tx1">
                    <a:lumMod val="85000"/>
                    <a:lumOff val="15000"/>
                  </a:schemeClr>
                </a:solidFill>
                <a:latin typeface="+mj-lt"/>
                <a:ea typeface="+mj-ea"/>
                <a:cs typeface="+mj-cs"/>
              </a:rPr>
              <a:t>Syndromic</a:t>
            </a:r>
            <a:r>
              <a:rPr lang="en-US" sz="3600" b="1" kern="1200" dirty="0">
                <a:ln w="3175" cmpd="sng">
                  <a:noFill/>
                </a:ln>
                <a:solidFill>
                  <a:schemeClr val="tx1">
                    <a:lumMod val="85000"/>
                    <a:lumOff val="15000"/>
                  </a:schemeClr>
                </a:solidFill>
                <a:latin typeface="+mj-lt"/>
                <a:ea typeface="+mj-ea"/>
                <a:cs typeface="+mj-cs"/>
              </a:rPr>
              <a:t> Use of Transmission Based Precaution </a:t>
            </a:r>
            <a:r>
              <a:rPr lang="en-US" sz="1200" dirty="0"/>
              <a:t/>
            </a:r>
            <a:br>
              <a:rPr lang="en-US" sz="1200" dirty="0"/>
            </a:br>
            <a:endParaRPr lang="en-US" dirty="0"/>
          </a:p>
        </p:txBody>
      </p:sp>
      <p:sp>
        <p:nvSpPr>
          <p:cNvPr id="3" name="Content Placeholder 2"/>
          <p:cNvSpPr>
            <a:spLocks noGrp="1"/>
          </p:cNvSpPr>
          <p:nvPr>
            <p:ph idx="1"/>
          </p:nvPr>
        </p:nvSpPr>
        <p:spPr/>
        <p:txBody>
          <a:bodyPr>
            <a:normAutofit fontScale="70000" lnSpcReduction="20000"/>
          </a:bodyPr>
          <a:lstStyle/>
          <a:p>
            <a:pPr algn="just"/>
            <a:r>
              <a:rPr lang="en-US" dirty="0"/>
              <a:t>Every effort should be made to diagnose the microorganism responsible for infection; however, laboratory diagnosis is not immediately available and not always available</a:t>
            </a:r>
            <a:r>
              <a:rPr lang="en-US" dirty="0" smtClean="0"/>
              <a:t>.</a:t>
            </a:r>
          </a:p>
          <a:p>
            <a:pPr algn="just"/>
            <a:r>
              <a:rPr lang="en-US" dirty="0"/>
              <a:t>In these circumstances, precautions must be based on empiric/</a:t>
            </a:r>
            <a:r>
              <a:rPr lang="en-US" dirty="0" err="1"/>
              <a:t>syndromic</a:t>
            </a:r>
            <a:r>
              <a:rPr lang="en-US" dirty="0"/>
              <a:t> findings</a:t>
            </a:r>
            <a:r>
              <a:rPr lang="en-US" dirty="0" smtClean="0"/>
              <a:t>.</a:t>
            </a:r>
          </a:p>
          <a:p>
            <a:pPr algn="just"/>
            <a:r>
              <a:rPr lang="en-US" dirty="0"/>
              <a:t>If there is any question about whether a patient without a known diagnosis has a specific infection, implement Transmission-Based Precautions based on the patient’s signs and symptoms until a definitive diagnosis (i.e., laboratory test results) can be made. </a:t>
            </a:r>
          </a:p>
          <a:p>
            <a:pPr algn="just"/>
            <a:endParaRPr lang="en-US" dirty="0"/>
          </a:p>
        </p:txBody>
      </p:sp>
    </p:spTree>
    <p:extLst>
      <p:ext uri="{BB962C8B-B14F-4D97-AF65-F5344CB8AC3E}">
        <p14:creationId xmlns:p14="http://schemas.microsoft.com/office/powerpoint/2010/main" val="53255686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sz="2800" b="1" dirty="0" smtClean="0"/>
              <a:t/>
            </a:r>
            <a:br>
              <a:rPr lang="en-US" sz="2800" b="1" dirty="0" smtClean="0"/>
            </a:br>
            <a:r>
              <a:rPr lang="en-US" sz="2800" b="1" dirty="0" smtClean="0"/>
              <a:t>Empiric</a:t>
            </a:r>
            <a:r>
              <a:rPr lang="en-US" sz="2800" b="1" dirty="0"/>
              <a:t>/ </a:t>
            </a:r>
            <a:r>
              <a:rPr lang="en-US" sz="2800" b="1" dirty="0" err="1"/>
              <a:t>Syndromic</a:t>
            </a:r>
            <a:r>
              <a:rPr lang="en-US" sz="2800" b="1" dirty="0"/>
              <a:t> Use of Transmission Based </a:t>
            </a:r>
            <a:r>
              <a:rPr lang="en-US" sz="2800" b="1" dirty="0" smtClean="0"/>
              <a:t>Precaution cont’d… </a:t>
            </a:r>
            <a:r>
              <a:rPr lang="en-US" sz="1100" dirty="0"/>
              <a:t/>
            </a:r>
            <a:br>
              <a:rPr lang="en-US" sz="1100" dirty="0"/>
            </a:br>
            <a:endParaRPr lang="en-US" sz="2800" dirty="0"/>
          </a:p>
        </p:txBody>
      </p:sp>
      <p:sp>
        <p:nvSpPr>
          <p:cNvPr id="5" name="Content Placeholder 4"/>
          <p:cNvSpPr>
            <a:spLocks noGrp="1"/>
          </p:cNvSpPr>
          <p:nvPr>
            <p:ph sz="half" idx="1"/>
          </p:nvPr>
        </p:nvSpPr>
        <p:spPr>
          <a:xfrm>
            <a:off x="762000" y="2606693"/>
            <a:ext cx="2286000" cy="3336908"/>
          </a:xfrm>
        </p:spPr>
        <p:txBody>
          <a:bodyPr>
            <a:normAutofit fontScale="40000" lnSpcReduction="20000"/>
          </a:bodyPr>
          <a:lstStyle/>
          <a:p>
            <a:pPr marL="0" indent="0">
              <a:spcBef>
                <a:spcPct val="50000"/>
              </a:spcBef>
              <a:buNone/>
            </a:pPr>
            <a:r>
              <a:rPr lang="en-US" sz="4400" b="1" dirty="0"/>
              <a:t>Airborne</a:t>
            </a:r>
          </a:p>
          <a:p>
            <a:pPr>
              <a:lnSpc>
                <a:spcPct val="90000"/>
              </a:lnSpc>
              <a:buFont typeface="Arial" pitchFamily="34" charset="0"/>
              <a:buChar char="•"/>
            </a:pPr>
            <a:r>
              <a:rPr lang="en-US" sz="3800" dirty="0">
                <a:cs typeface="Times New Roman" pitchFamily="18" charset="0"/>
              </a:rPr>
              <a:t>Cough, fever, and upper lobe chest findings (dullness </a:t>
            </a:r>
            <a:r>
              <a:rPr lang="en-US" sz="3800" dirty="0" smtClean="0">
                <a:cs typeface="Times New Roman" pitchFamily="18" charset="0"/>
              </a:rPr>
              <a:t> and </a:t>
            </a:r>
            <a:r>
              <a:rPr lang="en-US" sz="3800" dirty="0">
                <a:cs typeface="Times New Roman" pitchFamily="18" charset="0"/>
              </a:rPr>
              <a:t>decreased </a:t>
            </a:r>
            <a:br>
              <a:rPr lang="en-US" sz="3800" dirty="0">
                <a:cs typeface="Times New Roman" pitchFamily="18" charset="0"/>
              </a:rPr>
            </a:br>
            <a:r>
              <a:rPr lang="en-US" sz="3800" dirty="0">
                <a:cs typeface="Times New Roman" pitchFamily="18" charset="0"/>
              </a:rPr>
              <a:t>breath sounds</a:t>
            </a:r>
            <a:r>
              <a:rPr lang="en-US" sz="3800" dirty="0" smtClean="0">
                <a:cs typeface="Times New Roman" pitchFamily="18" charset="0"/>
              </a:rPr>
              <a:t>)</a:t>
            </a:r>
            <a:endParaRPr lang="en-US" sz="3800" dirty="0">
              <a:cs typeface="Times New Roman" pitchFamily="18" charset="0"/>
            </a:endParaRPr>
          </a:p>
          <a:p>
            <a:pPr>
              <a:lnSpc>
                <a:spcPct val="90000"/>
              </a:lnSpc>
              <a:buFont typeface="Arial" pitchFamily="34" charset="0"/>
              <a:buChar char="•"/>
            </a:pPr>
            <a:r>
              <a:rPr lang="en-US" sz="3800" dirty="0">
                <a:cs typeface="Times New Roman" pitchFamily="18" charset="0"/>
              </a:rPr>
              <a:t>Cough, fever, and chest findings in </a:t>
            </a:r>
            <a:r>
              <a:rPr lang="en-US" sz="3800" dirty="0" smtClean="0">
                <a:cs typeface="Times New Roman" pitchFamily="18" charset="0"/>
              </a:rPr>
              <a:t>an</a:t>
            </a:r>
            <a:r>
              <a:rPr lang="en-US" sz="3800" dirty="0">
                <a:cs typeface="Times New Roman" pitchFamily="18" charset="0"/>
              </a:rPr>
              <a:t> </a:t>
            </a:r>
            <a:r>
              <a:rPr lang="en-US" sz="3800" dirty="0" smtClean="0">
                <a:cs typeface="Times New Roman" pitchFamily="18" charset="0"/>
              </a:rPr>
              <a:t>HIV infected person </a:t>
            </a:r>
            <a:r>
              <a:rPr lang="en-US" sz="3800" dirty="0">
                <a:cs typeface="Times New Roman" pitchFamily="18" charset="0"/>
              </a:rPr>
              <a:t> </a:t>
            </a:r>
            <a:r>
              <a:rPr lang="en-US" sz="3800" dirty="0" smtClean="0">
                <a:cs typeface="Times New Roman" pitchFamily="18" charset="0"/>
              </a:rPr>
              <a:t>or </a:t>
            </a:r>
            <a:r>
              <a:rPr lang="en-US" sz="3800" dirty="0">
                <a:cs typeface="Times New Roman" pitchFamily="18" charset="0"/>
              </a:rPr>
              <a:t>person at high-risk for </a:t>
            </a:r>
            <a:r>
              <a:rPr lang="en-US" sz="3800" dirty="0" smtClean="0">
                <a:cs typeface="Times New Roman" pitchFamily="18" charset="0"/>
              </a:rPr>
              <a:t>HIV</a:t>
            </a:r>
          </a:p>
          <a:p>
            <a:pPr lvl="0">
              <a:lnSpc>
                <a:spcPct val="90000"/>
              </a:lnSpc>
              <a:buFont typeface="Arial" pitchFamily="34" charset="0"/>
              <a:buChar char="•"/>
            </a:pPr>
            <a:r>
              <a:rPr lang="en-US" sz="3800" dirty="0">
                <a:cs typeface="Times New Roman" pitchFamily="18" charset="0"/>
              </a:rPr>
              <a:t>Rashes (vesicles or pustules) suggestive varicella</a:t>
            </a:r>
          </a:p>
          <a:p>
            <a:pPr lvl="0">
              <a:lnSpc>
                <a:spcPct val="90000"/>
              </a:lnSpc>
              <a:buFont typeface="Arial" pitchFamily="34" charset="0"/>
              <a:buChar char="•"/>
            </a:pPr>
            <a:r>
              <a:rPr lang="en-US" sz="3800" dirty="0">
                <a:cs typeface="Times New Roman" pitchFamily="18" charset="0"/>
              </a:rPr>
              <a:t>Acute respiratory distress syndrome</a:t>
            </a:r>
          </a:p>
          <a:p>
            <a:pPr>
              <a:lnSpc>
                <a:spcPct val="90000"/>
              </a:lnSpc>
              <a:buFont typeface="Arial" pitchFamily="34" charset="0"/>
              <a:buChar char="•"/>
            </a:pPr>
            <a:endParaRPr lang="en-US" sz="4200" dirty="0">
              <a:cs typeface="Times New Roman" pitchFamily="18" charset="0"/>
            </a:endParaRPr>
          </a:p>
          <a:p>
            <a:endParaRPr lang="en-US" dirty="0"/>
          </a:p>
        </p:txBody>
      </p:sp>
      <p:sp>
        <p:nvSpPr>
          <p:cNvPr id="6" name="Content Placeholder 5"/>
          <p:cNvSpPr>
            <a:spLocks noGrp="1"/>
          </p:cNvSpPr>
          <p:nvPr>
            <p:ph sz="half" idx="2"/>
          </p:nvPr>
        </p:nvSpPr>
        <p:spPr>
          <a:xfrm>
            <a:off x="5638800" y="2438400"/>
            <a:ext cx="2819400" cy="3657600"/>
          </a:xfrm>
        </p:spPr>
        <p:txBody>
          <a:bodyPr>
            <a:noAutofit/>
          </a:bodyPr>
          <a:lstStyle/>
          <a:p>
            <a:pPr marL="0" indent="0">
              <a:spcBef>
                <a:spcPct val="50000"/>
              </a:spcBef>
              <a:buNone/>
            </a:pPr>
            <a:r>
              <a:rPr lang="en-US" sz="2000" b="1" dirty="0"/>
              <a:t>Contact</a:t>
            </a:r>
          </a:p>
          <a:p>
            <a:pPr>
              <a:spcBef>
                <a:spcPct val="10000"/>
              </a:spcBef>
              <a:spcAft>
                <a:spcPct val="40000"/>
              </a:spcAft>
              <a:buSzPct val="100000"/>
            </a:pPr>
            <a:r>
              <a:rPr lang="en-US" sz="1500" dirty="0">
                <a:cs typeface="Times New Roman" pitchFamily="18" charset="0"/>
              </a:rPr>
              <a:t>Acute diarrhea in </a:t>
            </a:r>
            <a:br>
              <a:rPr lang="en-US" sz="1500" dirty="0">
                <a:cs typeface="Times New Roman" pitchFamily="18" charset="0"/>
              </a:rPr>
            </a:br>
            <a:r>
              <a:rPr lang="en-US" sz="1500" dirty="0">
                <a:cs typeface="Times New Roman" pitchFamily="18" charset="0"/>
              </a:rPr>
              <a:t>an incontinent or diapered </a:t>
            </a:r>
            <a:r>
              <a:rPr lang="en-US" sz="1500" dirty="0" smtClean="0">
                <a:cs typeface="Times New Roman" pitchFamily="18" charset="0"/>
              </a:rPr>
              <a:t>patient</a:t>
            </a:r>
          </a:p>
          <a:p>
            <a:pPr>
              <a:spcBef>
                <a:spcPct val="10000"/>
              </a:spcBef>
              <a:spcAft>
                <a:spcPct val="40000"/>
              </a:spcAft>
              <a:buSzPct val="100000"/>
            </a:pPr>
            <a:r>
              <a:rPr lang="en-US" sz="1500" dirty="0" smtClean="0">
                <a:cs typeface="Times New Roman" pitchFamily="18" charset="0"/>
              </a:rPr>
              <a:t>Diarrhea </a:t>
            </a:r>
            <a:r>
              <a:rPr lang="en-US" sz="1500" dirty="0">
                <a:cs typeface="Times New Roman" pitchFamily="18" charset="0"/>
              </a:rPr>
              <a:t>in adult with recent antibiotic </a:t>
            </a:r>
            <a:r>
              <a:rPr lang="en-US" sz="1500" dirty="0" smtClean="0">
                <a:cs typeface="Times New Roman" pitchFamily="18" charset="0"/>
              </a:rPr>
              <a:t>use</a:t>
            </a:r>
          </a:p>
          <a:p>
            <a:pPr>
              <a:spcBef>
                <a:spcPct val="10000"/>
              </a:spcBef>
              <a:spcAft>
                <a:spcPct val="40000"/>
              </a:spcAft>
              <a:buSzPct val="100000"/>
            </a:pPr>
            <a:r>
              <a:rPr lang="en-US" sz="1500" dirty="0" smtClean="0">
                <a:cs typeface="Times New Roman" pitchFamily="18" charset="0"/>
              </a:rPr>
              <a:t>Bronchitis </a:t>
            </a:r>
            <a:r>
              <a:rPr lang="en-US" sz="1500" dirty="0">
                <a:cs typeface="Times New Roman" pitchFamily="18" charset="0"/>
              </a:rPr>
              <a:t>or croup </a:t>
            </a:r>
            <a:br>
              <a:rPr lang="en-US" sz="1500" dirty="0">
                <a:cs typeface="Times New Roman" pitchFamily="18" charset="0"/>
              </a:rPr>
            </a:br>
            <a:r>
              <a:rPr lang="en-US" sz="1500" dirty="0">
                <a:cs typeface="Times New Roman" pitchFamily="18" charset="0"/>
              </a:rPr>
              <a:t>in infants and young </a:t>
            </a:r>
            <a:r>
              <a:rPr lang="en-US" sz="1500" dirty="0" smtClean="0">
                <a:cs typeface="Times New Roman" pitchFamily="18" charset="0"/>
              </a:rPr>
              <a:t>children</a:t>
            </a:r>
          </a:p>
          <a:p>
            <a:pPr>
              <a:spcBef>
                <a:spcPct val="10000"/>
              </a:spcBef>
              <a:spcAft>
                <a:spcPct val="40000"/>
              </a:spcAft>
              <a:buSzPct val="100000"/>
            </a:pPr>
            <a:r>
              <a:rPr lang="en-US" sz="1500" dirty="0" smtClean="0">
                <a:cs typeface="Times New Roman" pitchFamily="18" charset="0"/>
              </a:rPr>
              <a:t>History </a:t>
            </a:r>
            <a:r>
              <a:rPr lang="en-US" sz="1500" dirty="0">
                <a:cs typeface="Times New Roman" pitchFamily="18" charset="0"/>
              </a:rPr>
              <a:t>of infection with multi drug resistant organisms  </a:t>
            </a:r>
            <a:r>
              <a:rPr lang="en-US" sz="1500" dirty="0" smtClean="0">
                <a:cs typeface="Times New Roman" pitchFamily="18" charset="0"/>
              </a:rPr>
              <a:t>?</a:t>
            </a:r>
          </a:p>
          <a:p>
            <a:pPr>
              <a:spcBef>
                <a:spcPct val="10000"/>
              </a:spcBef>
              <a:spcAft>
                <a:spcPct val="40000"/>
              </a:spcAft>
              <a:buSzPct val="100000"/>
            </a:pPr>
            <a:r>
              <a:rPr lang="en-US" sz="1500" dirty="0" smtClean="0">
                <a:cs typeface="Times New Roman" pitchFamily="18" charset="0"/>
              </a:rPr>
              <a:t>Abscess </a:t>
            </a:r>
            <a:r>
              <a:rPr lang="en-US" sz="1500" dirty="0">
                <a:cs typeface="Times New Roman" pitchFamily="18" charset="0"/>
              </a:rPr>
              <a:t>or draining wound that cannot be </a:t>
            </a:r>
            <a:r>
              <a:rPr lang="en-US" sz="1500" dirty="0" smtClean="0">
                <a:cs typeface="Times New Roman" pitchFamily="18" charset="0"/>
              </a:rPr>
              <a:t>covered</a:t>
            </a:r>
            <a:endParaRPr lang="en-US" sz="1500" dirty="0"/>
          </a:p>
        </p:txBody>
      </p:sp>
      <p:sp>
        <p:nvSpPr>
          <p:cNvPr id="7" name="Content Placeholder 4"/>
          <p:cNvSpPr txBox="1">
            <a:spLocks/>
          </p:cNvSpPr>
          <p:nvPr/>
        </p:nvSpPr>
        <p:spPr>
          <a:xfrm>
            <a:off x="3200400" y="2514600"/>
            <a:ext cx="2362200" cy="3429000"/>
          </a:xfrm>
          <a:prstGeom prst="rect">
            <a:avLst/>
          </a:prstGeom>
        </p:spPr>
        <p:txBody>
          <a:bodyPr vert="horz" lIns="91440" tIns="45720" rIns="91440" bIns="45720" rtlCol="0" anchor="t">
            <a:normAutofit fontScale="475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spcBef>
                <a:spcPct val="50000"/>
              </a:spcBef>
              <a:buNone/>
            </a:pPr>
            <a:r>
              <a:rPr lang="en-US" sz="3600" b="1" dirty="0" smtClean="0"/>
              <a:t>Droplet</a:t>
            </a:r>
          </a:p>
          <a:p>
            <a:pPr>
              <a:spcBef>
                <a:spcPct val="10000"/>
              </a:spcBef>
              <a:spcAft>
                <a:spcPct val="40000"/>
              </a:spcAft>
              <a:buSzPct val="100000"/>
            </a:pPr>
            <a:r>
              <a:rPr lang="en-US" sz="3200" dirty="0">
                <a:cs typeface="Times New Roman" pitchFamily="18" charset="0"/>
              </a:rPr>
              <a:t>Severe, persistent cough during periods when pertussis </a:t>
            </a:r>
            <a:r>
              <a:rPr lang="en-US" sz="3200" dirty="0" smtClean="0">
                <a:cs typeface="Times New Roman" pitchFamily="18" charset="0"/>
              </a:rPr>
              <a:t>is present </a:t>
            </a:r>
            <a:r>
              <a:rPr lang="en-US" sz="3200" dirty="0">
                <a:cs typeface="Times New Roman" pitchFamily="18" charset="0"/>
              </a:rPr>
              <a:t>in the </a:t>
            </a:r>
            <a:r>
              <a:rPr lang="en-US" sz="3200" dirty="0" smtClean="0">
                <a:cs typeface="Times New Roman" pitchFamily="18" charset="0"/>
              </a:rPr>
              <a:t>community</a:t>
            </a:r>
          </a:p>
          <a:p>
            <a:pPr>
              <a:spcBef>
                <a:spcPct val="10000"/>
              </a:spcBef>
              <a:spcAft>
                <a:spcPct val="40000"/>
              </a:spcAft>
              <a:buSzPct val="100000"/>
            </a:pPr>
            <a:r>
              <a:rPr lang="en-US" sz="3200" dirty="0" smtClean="0">
                <a:cs typeface="Times New Roman" pitchFamily="18" charset="0"/>
              </a:rPr>
              <a:t>Meningitis  (fever, vomiting</a:t>
            </a:r>
            <a:r>
              <a:rPr lang="en-US" sz="3200" dirty="0">
                <a:cs typeface="Times New Roman" pitchFamily="18" charset="0"/>
              </a:rPr>
              <a:t>, and </a:t>
            </a:r>
            <a:r>
              <a:rPr lang="en-US" sz="3200" dirty="0" smtClean="0">
                <a:cs typeface="Times New Roman" pitchFamily="18" charset="0"/>
              </a:rPr>
              <a:t> stiff neck)</a:t>
            </a:r>
          </a:p>
          <a:p>
            <a:pPr>
              <a:spcBef>
                <a:spcPct val="10000"/>
              </a:spcBef>
              <a:spcAft>
                <a:spcPct val="40000"/>
              </a:spcAft>
              <a:buSzPct val="100000"/>
            </a:pPr>
            <a:r>
              <a:rPr lang="en-US" sz="3200" dirty="0" smtClean="0">
                <a:cs typeface="Times New Roman" pitchFamily="18" charset="0"/>
              </a:rPr>
              <a:t>Hemorrhagic </a:t>
            </a:r>
            <a:r>
              <a:rPr lang="en-US" sz="3200" dirty="0">
                <a:cs typeface="Times New Roman" pitchFamily="18" charset="0"/>
              </a:rPr>
              <a:t>rash </a:t>
            </a:r>
            <a:br>
              <a:rPr lang="en-US" sz="3200" dirty="0">
                <a:cs typeface="Times New Roman" pitchFamily="18" charset="0"/>
              </a:rPr>
            </a:br>
            <a:r>
              <a:rPr lang="en-US" sz="3200" dirty="0">
                <a:cs typeface="Times New Roman" pitchFamily="18" charset="0"/>
              </a:rPr>
              <a:t>with </a:t>
            </a:r>
            <a:r>
              <a:rPr lang="en-US" sz="3200" dirty="0" smtClean="0">
                <a:cs typeface="Times New Roman" pitchFamily="18" charset="0"/>
              </a:rPr>
              <a:t>fever</a:t>
            </a:r>
          </a:p>
          <a:p>
            <a:pPr>
              <a:spcBef>
                <a:spcPct val="10000"/>
              </a:spcBef>
              <a:spcAft>
                <a:spcPct val="40000"/>
              </a:spcAft>
              <a:buSzPct val="100000"/>
            </a:pPr>
            <a:r>
              <a:rPr lang="en-US" sz="3200" dirty="0" smtClean="0">
                <a:cs typeface="Times New Roman" pitchFamily="18" charset="0"/>
              </a:rPr>
              <a:t>Generalized </a:t>
            </a:r>
            <a:r>
              <a:rPr lang="en-US" sz="3200" dirty="0">
                <a:cs typeface="Times New Roman" pitchFamily="18" charset="0"/>
              </a:rPr>
              <a:t>rash of unknown cause</a:t>
            </a:r>
          </a:p>
          <a:p>
            <a:endParaRPr lang="en-US" sz="3200" dirty="0">
              <a:cs typeface="Times New Roman" pitchFamily="18" charset="0"/>
            </a:endParaRPr>
          </a:p>
        </p:txBody>
      </p:sp>
      <p:sp>
        <p:nvSpPr>
          <p:cNvPr id="8" name="Content Placeholder 4"/>
          <p:cNvSpPr txBox="1">
            <a:spLocks/>
          </p:cNvSpPr>
          <p:nvPr/>
        </p:nvSpPr>
        <p:spPr>
          <a:xfrm>
            <a:off x="803564" y="5867400"/>
            <a:ext cx="4835236" cy="533400"/>
          </a:xfrm>
          <a:prstGeom prst="rect">
            <a:avLst/>
          </a:prstGeom>
        </p:spPr>
        <p:txBody>
          <a:bodyPr vert="horz" lIns="91440" tIns="45720" rIns="91440" bIns="45720" rtlCol="0" anchor="t">
            <a:normAutofit fontScale="475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lgn="just">
              <a:buNone/>
            </a:pPr>
            <a:r>
              <a:rPr lang="en-US" sz="3200" b="1" i="1" dirty="0"/>
              <a:t>In all situations, Transmission-Based Precautions must be used in conjunction with Standard Precautions. </a:t>
            </a:r>
            <a:endParaRPr lang="en-US" sz="3200" b="1" i="1" dirty="0">
              <a:cs typeface="Times New Roman" pitchFamily="18" charset="0"/>
            </a:endParaRPr>
          </a:p>
        </p:txBody>
      </p:sp>
    </p:spTree>
    <p:extLst>
      <p:ext uri="{BB962C8B-B14F-4D97-AF65-F5344CB8AC3E}">
        <p14:creationId xmlns:p14="http://schemas.microsoft.com/office/powerpoint/2010/main" val="195662773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Summery</a:t>
            </a:r>
            <a:endParaRPr lang="en-US" dirty="0"/>
          </a:p>
        </p:txBody>
      </p:sp>
      <p:sp>
        <p:nvSpPr>
          <p:cNvPr id="6" name="Content Placeholder 5"/>
          <p:cNvSpPr>
            <a:spLocks noGrp="1"/>
          </p:cNvSpPr>
          <p:nvPr>
            <p:ph idx="1"/>
          </p:nvPr>
        </p:nvSpPr>
        <p:spPr>
          <a:xfrm>
            <a:off x="762000" y="2362201"/>
            <a:ext cx="7696199" cy="3886200"/>
          </a:xfrm>
        </p:spPr>
        <p:txBody>
          <a:bodyPr>
            <a:normAutofit fontScale="70000" lnSpcReduction="20000"/>
          </a:bodyPr>
          <a:lstStyle/>
          <a:p>
            <a:pPr lvl="0"/>
            <a:r>
              <a:rPr lang="en-US" dirty="0"/>
              <a:t>To protect HCWs, patients, and visitors from acquiring infections during health care facility visits, ensure compliance with:</a:t>
            </a:r>
            <a:endParaRPr lang="en-US" sz="2000" dirty="0"/>
          </a:p>
          <a:p>
            <a:pPr lvl="1"/>
            <a:r>
              <a:rPr lang="en-US" dirty="0" smtClean="0"/>
              <a:t>Standard </a:t>
            </a:r>
            <a:r>
              <a:rPr lang="en-US" dirty="0"/>
              <a:t>Precautions for all patients at all times and apply </a:t>
            </a:r>
            <a:endParaRPr lang="en-US" sz="1800" dirty="0"/>
          </a:p>
          <a:p>
            <a:pPr lvl="1"/>
            <a:r>
              <a:rPr lang="en-US" dirty="0"/>
              <a:t>Transmission-Based Precautions to all patients with potential or confirmed infections that are transmitted via contact, droplet, and airborne routes.</a:t>
            </a:r>
            <a:endParaRPr lang="en-US" sz="1800" dirty="0"/>
          </a:p>
          <a:p>
            <a:pPr lvl="0"/>
            <a:r>
              <a:rPr lang="en-US" dirty="0"/>
              <a:t>Standard Precautions, including hand hygiene, are the cornerstone of IPC. They provide the first line of defense in the prevention </a:t>
            </a:r>
            <a:endParaRPr lang="en-US" dirty="0" smtClean="0"/>
          </a:p>
          <a:p>
            <a:pPr lvl="0"/>
            <a:r>
              <a:rPr lang="en-US" dirty="0" smtClean="0"/>
              <a:t>Transmission-Based </a:t>
            </a:r>
            <a:r>
              <a:rPr lang="en-US" dirty="0"/>
              <a:t>Precautions, including their empiric use, are designed to provide additional protection and reduce the risk of transmissions via airborne, droplet, and contact routes among hospitalized patients and HCWs.</a:t>
            </a:r>
          </a:p>
        </p:txBody>
      </p:sp>
    </p:spTree>
    <p:extLst>
      <p:ext uri="{BB962C8B-B14F-4D97-AF65-F5344CB8AC3E}">
        <p14:creationId xmlns:p14="http://schemas.microsoft.com/office/powerpoint/2010/main" val="321054829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7">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Presentation1" id="{FF8D033B-E2B8-2549-8206-D2592AE46FED}" vid="{E3C3ECE2-B6B8-A844-8217-32346E25080D}"/>
    </a:ext>
  </a:extLst>
</a:theme>
</file>

<file path=docProps/app.xml><?xml version="1.0" encoding="utf-8"?>
<Properties xmlns="http://schemas.openxmlformats.org/officeDocument/2006/extended-properties" xmlns:vt="http://schemas.openxmlformats.org/officeDocument/2006/docPropsVTypes">
  <Template>Theme7</Template>
  <TotalTime>1535</TotalTime>
  <Words>2959</Words>
  <Application>Microsoft Office PowerPoint</Application>
  <PresentationFormat>On-screen Show (4:3)</PresentationFormat>
  <Paragraphs>253</Paragraphs>
  <Slides>50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Arial</vt:lpstr>
      <vt:lpstr>Britannic Bold</vt:lpstr>
      <vt:lpstr>Calibri</vt:lpstr>
      <vt:lpstr>Garamond</vt:lpstr>
      <vt:lpstr>GillSans</vt:lpstr>
      <vt:lpstr>Times New Roman</vt:lpstr>
      <vt:lpstr>Wingdings</vt:lpstr>
      <vt:lpstr>Theme7</vt:lpstr>
      <vt:lpstr>Volume 1_Section 1  Chapter 3: Standard and Transmission Based Precaution</vt:lpstr>
      <vt:lpstr>Chapter Outline</vt:lpstr>
      <vt:lpstr>Chapter Objectives</vt:lpstr>
      <vt:lpstr>3.1: Overview</vt:lpstr>
      <vt:lpstr>Overview</vt:lpstr>
      <vt:lpstr>Overview cont’d…</vt:lpstr>
      <vt:lpstr>3.2: Standard Precaution</vt:lpstr>
      <vt:lpstr> Standard Precaution  </vt:lpstr>
      <vt:lpstr>Standard Precaution cont’d…</vt:lpstr>
      <vt:lpstr>Key Principles of Standard Precaution</vt:lpstr>
      <vt:lpstr> Key Components of Standard Precautions </vt:lpstr>
      <vt:lpstr> Key Components of Standard Precautions Cont’d… </vt:lpstr>
      <vt:lpstr> Key Components of Standard Precautions Cont’d… </vt:lpstr>
      <vt:lpstr> Key Components of Standard Precautions Cont’d… </vt:lpstr>
      <vt:lpstr> Key Components of Standard Precautions Cont’d… </vt:lpstr>
      <vt:lpstr> Key Components of Standard Precautions Cont’d… </vt:lpstr>
      <vt:lpstr> Key Components of Standard Precautions Cont’d… </vt:lpstr>
      <vt:lpstr> Key Components of Standard Precautions Cont’d… </vt:lpstr>
      <vt:lpstr> Key Components of Standard Precautions Cont’d… </vt:lpstr>
      <vt:lpstr> Key Components of Standard Precautions Cont’d… </vt:lpstr>
      <vt:lpstr> Key Components of Standard Precautions Cont’d… </vt:lpstr>
      <vt:lpstr>3.3: Transmission Based Precaution</vt:lpstr>
      <vt:lpstr> Transmission Based Precaution </vt:lpstr>
      <vt:lpstr> Transmission Based Precaution cont’d… </vt:lpstr>
      <vt:lpstr> Key Components of Transmission-Based Precaution </vt:lpstr>
      <vt:lpstr>Key Components of Transmission-Based Precaution cont’d…</vt:lpstr>
      <vt:lpstr>Air Borne Precautions</vt:lpstr>
      <vt:lpstr>Air Borne Precautions cont’d…</vt:lpstr>
      <vt:lpstr>Air borne precautions are:</vt:lpstr>
      <vt:lpstr>Air Borne Precautions cont’d…</vt:lpstr>
      <vt:lpstr>Air Borne Precautions cont’d…</vt:lpstr>
      <vt:lpstr>Air Borne Precautions cont’d…</vt:lpstr>
      <vt:lpstr>Droplet Precautions</vt:lpstr>
      <vt:lpstr>Droplet Precautions cont’d…</vt:lpstr>
      <vt:lpstr>Droplet Precautions are:</vt:lpstr>
      <vt:lpstr>Droplet Precautions cont’d…</vt:lpstr>
      <vt:lpstr>Droplet Precautions cont’d…</vt:lpstr>
      <vt:lpstr>Droplet Precautions cont’d…</vt:lpstr>
      <vt:lpstr>Droplet Precautions cont’d…</vt:lpstr>
      <vt:lpstr>Contact Precautions</vt:lpstr>
      <vt:lpstr>Contact Precautions cont’d…</vt:lpstr>
      <vt:lpstr>Contact Precautions are</vt:lpstr>
      <vt:lpstr>Contact Precautions cont’d…</vt:lpstr>
      <vt:lpstr>Contact Precautions cont’d…</vt:lpstr>
      <vt:lpstr>Contact Precautions cont’d…</vt:lpstr>
      <vt:lpstr>Contact Precautions cont’d…</vt:lpstr>
      <vt:lpstr>3.4: Empiric Use of Transmission Based Precaution</vt:lpstr>
      <vt:lpstr> Empiric/ Syndromic Use of Transmission Based Precaution  </vt:lpstr>
      <vt:lpstr> Empiric/ Syndromic Use of Transmission Based Precaution cont’d…  </vt:lpstr>
      <vt:lpstr>Summery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Volume 1_Section 1  Chapter 3: Standard and Transmission Based Precaution</dc:title>
  <dc:creator>user</dc:creator>
  <cp:lastModifiedBy>BEMINET</cp:lastModifiedBy>
  <cp:revision>50</cp:revision>
  <dcterms:created xsi:type="dcterms:W3CDTF">2018-12-18T12:01:14Z</dcterms:created>
  <dcterms:modified xsi:type="dcterms:W3CDTF">2020-12-15T06:07:31Z</dcterms:modified>
</cp:coreProperties>
</file>