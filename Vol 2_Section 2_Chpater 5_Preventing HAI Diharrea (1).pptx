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9" r:id="rId3"/>
    <p:sldId id="280" r:id="rId4"/>
    <p:sldId id="257" r:id="rId5"/>
    <p:sldId id="259" r:id="rId6"/>
    <p:sldId id="260"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486" y="66"/>
      </p:cViewPr>
      <p:guideLst>
        <p:guide orient="horz" pos="2160"/>
        <p:guide pos="38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3557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3419" y="1879926"/>
            <a:ext cx="7741314"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02509" y="3597481"/>
            <a:ext cx="5956820"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42948" y="4972192"/>
            <a:ext cx="1293001" cy="361810"/>
          </a:xfrm>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a:xfrm>
            <a:off x="2556239" y="4972194"/>
            <a:ext cx="4986707" cy="361809"/>
          </a:xfrm>
        </p:spPr>
        <p:txBody>
          <a:bodyPr/>
          <a:lstStyle/>
          <a:p>
            <a:endParaRPr lang="en-US"/>
          </a:p>
        </p:txBody>
      </p:sp>
      <p:sp>
        <p:nvSpPr>
          <p:cNvPr id="6" name="Slide Number Placeholder 5"/>
          <p:cNvSpPr>
            <a:spLocks noGrp="1"/>
          </p:cNvSpPr>
          <p:nvPr>
            <p:ph type="sldNum" sz="quarter" idx="12"/>
          </p:nvPr>
        </p:nvSpPr>
        <p:spPr>
          <a:xfrm>
            <a:off x="9059329" y="4972193"/>
            <a:ext cx="965806" cy="361809"/>
          </a:xfrm>
        </p:spPr>
        <p:txBody>
          <a:bodyPr/>
          <a:lstStyle/>
          <a:p>
            <a:fld id="{521EF2F5-DE9C-4CEB-8D70-6E50A6ED4279}" type="slidenum">
              <a:rPr lang="en-US" smtClean="0"/>
              <a:pPr/>
              <a:t>‹#›</a:t>
            </a:fld>
            <a:endParaRPr lang="en-US"/>
          </a:p>
        </p:txBody>
      </p:sp>
      <p:cxnSp>
        <p:nvCxnSpPr>
          <p:cNvPr id="15" name="Straight Connector 14"/>
          <p:cNvCxnSpPr/>
          <p:nvPr/>
        </p:nvCxnSpPr>
        <p:spPr>
          <a:xfrm>
            <a:off x="2686438" y="3471329"/>
            <a:ext cx="6800578"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63090" y="76751"/>
            <a:ext cx="4028810"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3" y="1030778"/>
            <a:ext cx="9042553"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54593" y="5960533"/>
            <a:ext cx="1130796" cy="279400"/>
          </a:xfrm>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85389" y="5960533"/>
            <a:ext cx="963150" cy="279400"/>
          </a:xfrm>
        </p:spPr>
        <p:txBody>
          <a:bodyPr/>
          <a:lstStyle/>
          <a:p>
            <a:fld id="{521EF2F5-DE9C-4CEB-8D70-6E50A6ED4279}" type="slidenum">
              <a:rPr lang="en-US" smtClean="0"/>
              <a:pPr/>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0403" y="1641413"/>
            <a:ext cx="8772290"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0403" y="3734860"/>
            <a:ext cx="8772290"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081785" y="5960533"/>
            <a:ext cx="1151331" cy="279400"/>
          </a:xfrm>
        </p:spPr>
        <p:txBody>
          <a:bodyPr/>
          <a:lstStyle/>
          <a:p>
            <a:fld id="{521EF2F5-DE9C-4CEB-8D70-6E50A6ED4279}" type="slidenum">
              <a:rPr lang="en-US" smtClean="0"/>
              <a:pPr/>
              <a:t>‹#›</a:t>
            </a:fld>
            <a:endParaRPr lang="en-US"/>
          </a:p>
        </p:txBody>
      </p:sp>
      <p:cxnSp>
        <p:nvCxnSpPr>
          <p:cNvPr id="31" name="Straight Connector 30"/>
          <p:cNvCxnSpPr/>
          <p:nvPr/>
        </p:nvCxnSpPr>
        <p:spPr>
          <a:xfrm>
            <a:off x="1700405" y="3599392"/>
            <a:ext cx="877228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1" y="1052394"/>
            <a:ext cx="9042553"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5273"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8214"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FF32CDF-A4D7-4E44-8C67-C1DAC4208DE7}"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081784" y="5934457"/>
            <a:ext cx="1018658" cy="305477"/>
          </a:xfrm>
        </p:spPr>
        <p:txBody>
          <a:bodyPr/>
          <a:lstStyle/>
          <a:p>
            <a:fld id="{521EF2F5-DE9C-4CEB-8D70-6E50A6ED4279}" type="slidenum">
              <a:rPr lang="en-US" smtClean="0"/>
              <a:pPr/>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5275"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5275"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3798"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3798"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FF32CDF-A4D7-4E44-8C67-C1DAC4208DE7}" type="datetimeFigureOut">
              <a:rPr lang="en-US" smtClean="0"/>
              <a:pPr/>
              <a:t>9/26/2019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1EF2F5-DE9C-4CEB-8D70-6E50A6ED4279}" type="slidenum">
              <a:rPr lang="en-US" smtClean="0"/>
              <a:pPr/>
              <a:t>‹#›</a:t>
            </a:fld>
            <a:endParaRPr lang="en-US"/>
          </a:p>
        </p:txBody>
      </p:sp>
      <p:cxnSp>
        <p:nvCxnSpPr>
          <p:cNvPr id="41" name="Straight Connector 40"/>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2" y="915338"/>
            <a:ext cx="9042554"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FF32CDF-A4D7-4E44-8C67-C1DAC4208DE7}" type="datetimeFigureOut">
              <a:rPr lang="en-US" smtClean="0"/>
              <a:pPr/>
              <a:t>9/26/2019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1EF2F5-DE9C-4CEB-8D70-6E50A6ED4279}" type="slidenum">
              <a:rPr lang="en-US" smtClean="0"/>
              <a:pPr/>
              <a:t>‹#›</a:t>
            </a:fld>
            <a:endParaRPr lang="en-US"/>
          </a:p>
        </p:txBody>
      </p:sp>
      <p:cxnSp>
        <p:nvCxnSpPr>
          <p:cNvPr id="14" name="Straight Connector 13"/>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F32CDF-A4D7-4E44-8C67-C1DAC4208DE7}" type="datetimeFigureOut">
              <a:rPr lang="en-US" smtClean="0"/>
              <a:pPr/>
              <a:t>9/26/2019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1EF2F5-DE9C-4CEB-8D70-6E50A6ED4279}" type="slidenum">
              <a:rPr lang="en-US" smtClean="0"/>
              <a:pPr/>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388534"/>
            <a:ext cx="3374030"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79826" y="982133"/>
            <a:ext cx="5128001"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5271" y="3031065"/>
            <a:ext cx="3374030"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F32CDF-A4D7-4E44-8C67-C1DAC4208DE7}"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1EF2F5-DE9C-4CEB-8D70-6E50A6ED4279}" type="slidenum">
              <a:rPr lang="en-US" smtClean="0"/>
              <a:pPr/>
              <a:t>‹#›</a:t>
            </a:fld>
            <a:endParaRPr lang="en-US"/>
          </a:p>
        </p:txBody>
      </p:sp>
      <p:cxnSp>
        <p:nvCxnSpPr>
          <p:cNvPr id="16" name="Straight Connector 15"/>
          <p:cNvCxnSpPr/>
          <p:nvPr/>
        </p:nvCxnSpPr>
        <p:spPr>
          <a:xfrm>
            <a:off x="1700404" y="2912533"/>
            <a:ext cx="31037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883832"/>
            <a:ext cx="4830955"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893663" y="1032933"/>
            <a:ext cx="3896288"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2" y="3255432"/>
            <a:ext cx="4830954"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F32CDF-A4D7-4E44-8C67-C1DAC4208DE7}"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1EF2F5-DE9C-4CEB-8D70-6E50A6ED4279}" type="slidenum">
              <a:rPr lang="en-US" smtClean="0"/>
              <a:pPr/>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4815415"/>
            <a:ext cx="9042553"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4961" y="1032934"/>
            <a:ext cx="9431918"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3" y="5382153"/>
            <a:ext cx="9042553"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F32CDF-A4D7-4E44-8C67-C1DAC4208DE7}"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1EF2F5-DE9C-4CEB-8D70-6E50A6ED4279}" type="slidenum">
              <a:rPr lang="en-US" smtClean="0"/>
              <a:pPr/>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906873"/>
            <a:ext cx="9042553"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2" y="4275666"/>
            <a:ext cx="9042555"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cxnSp>
        <p:nvCxnSpPr>
          <p:cNvPr id="15" name="Straight Connector 14"/>
          <p:cNvCxnSpPr/>
          <p:nvPr/>
        </p:nvCxnSpPr>
        <p:spPr>
          <a:xfrm>
            <a:off x="1700404" y="4140199"/>
            <a:ext cx="878677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709" y="982132"/>
            <a:ext cx="8512555"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28322" y="3352800"/>
            <a:ext cx="7837626"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5269" y="4343401"/>
            <a:ext cx="904255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sp>
        <p:nvSpPr>
          <p:cNvPr id="14" name="TextBox 13"/>
          <p:cNvSpPr txBox="1"/>
          <p:nvPr/>
        </p:nvSpPr>
        <p:spPr>
          <a:xfrm>
            <a:off x="1130489" y="905362"/>
            <a:ext cx="608250"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52825" y="2827870"/>
            <a:ext cx="608250"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0404" y="4140199"/>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7" y="3308581"/>
            <a:ext cx="904254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6" y="4777381"/>
            <a:ext cx="9042547"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4573" y="982132"/>
            <a:ext cx="8412693"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5276" y="3639312"/>
            <a:ext cx="9042547"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2" y="4529667"/>
            <a:ext cx="9042555"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sp>
        <p:nvSpPr>
          <p:cNvPr id="12" name="TextBox 11"/>
          <p:cNvSpPr txBox="1"/>
          <p:nvPr/>
        </p:nvSpPr>
        <p:spPr>
          <a:xfrm>
            <a:off x="1167851" y="896895"/>
            <a:ext cx="60825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74495" y="2607728"/>
            <a:ext cx="60825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0404" y="342900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982132"/>
            <a:ext cx="9042553"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5276" y="3566160"/>
            <a:ext cx="9042547"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3" y="4470401"/>
            <a:ext cx="9042553"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cxnSp>
        <p:nvCxnSpPr>
          <p:cNvPr id="15" name="Straight Connector 14"/>
          <p:cNvCxnSpPr/>
          <p:nvPr/>
        </p:nvCxnSpPr>
        <p:spPr>
          <a:xfrm>
            <a:off x="1700409" y="3429000"/>
            <a:ext cx="87867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2" y="2490136"/>
            <a:ext cx="9042555"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cxnSp>
        <p:nvCxnSpPr>
          <p:cNvPr id="14" name="Straight Connector 13"/>
          <p:cNvCxnSpPr/>
          <p:nvPr/>
        </p:nvCxnSpPr>
        <p:spPr>
          <a:xfrm>
            <a:off x="1700404" y="2354670"/>
            <a:ext cx="87867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4588" y="906874"/>
            <a:ext cx="215323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5" y="906874"/>
            <a:ext cx="6537798"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F32CDF-A4D7-4E44-8C67-C1DAC4208DE7}"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EF2F5-DE9C-4CEB-8D70-6E50A6ED4279}" type="slidenum">
              <a:rPr lang="en-US" smtClean="0"/>
              <a:pPr/>
              <a:t>‹#›</a:t>
            </a:fld>
            <a:endParaRPr lang="en-US"/>
          </a:p>
        </p:txBody>
      </p:sp>
      <p:cxnSp>
        <p:nvCxnSpPr>
          <p:cNvPr id="14" name="Straight Connector 13"/>
          <p:cNvCxnSpPr/>
          <p:nvPr/>
        </p:nvCxnSpPr>
        <p:spPr>
          <a:xfrm>
            <a:off x="8306748"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17309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5273" y="915338"/>
            <a:ext cx="9042553"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5272" y="2490136"/>
            <a:ext cx="9042555"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54593" y="5935133"/>
            <a:ext cx="895226"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FF32CDF-A4D7-4E44-8C67-C1DAC4208DE7}" type="datetimeFigureOut">
              <a:rPr lang="en-US" smtClean="0"/>
              <a:pPr/>
              <a:t>9/26/2019</a:t>
            </a:fld>
            <a:endParaRPr lang="en-US"/>
          </a:p>
        </p:txBody>
      </p:sp>
      <p:sp>
        <p:nvSpPr>
          <p:cNvPr id="5" name="Footer Placeholder 4"/>
          <p:cNvSpPr>
            <a:spLocks noGrp="1"/>
          </p:cNvSpPr>
          <p:nvPr>
            <p:ph type="ftr" sz="quarter" idx="3"/>
          </p:nvPr>
        </p:nvSpPr>
        <p:spPr>
          <a:xfrm>
            <a:off x="1565272" y="5960533"/>
            <a:ext cx="6789385"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9349819" y="5960533"/>
            <a:ext cx="125800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21EF2F5-DE9C-4CEB-8D70-6E50A6ED4279}" type="slidenum">
              <a:rPr lang="en-US" smtClean="0"/>
              <a:pPr/>
              <a:t>‹#›</a:t>
            </a:fld>
            <a:endParaRPr lang="en-US"/>
          </a:p>
        </p:txBody>
      </p:sp>
      <p:grpSp>
        <p:nvGrpSpPr>
          <p:cNvPr id="12" name="Group 11"/>
          <p:cNvGrpSpPr/>
          <p:nvPr/>
        </p:nvGrpSpPr>
        <p:grpSpPr>
          <a:xfrm>
            <a:off x="4485653" y="4072"/>
            <a:ext cx="3201790"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3419" y="1524000"/>
            <a:ext cx="7741314" cy="1884254"/>
          </a:xfrm>
        </p:spPr>
        <p:txBody>
          <a:bodyPr/>
          <a:lstStyle/>
          <a:p>
            <a:pPr>
              <a:lnSpc>
                <a:spcPct val="150000"/>
              </a:lnSpc>
            </a:pP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sz="2800">
                <a:latin typeface="Times New Roman" pitchFamily="18" charset="0"/>
                <a:cs typeface="Times New Roman" pitchFamily="18" charset="0"/>
              </a:rPr>
              <a:t/>
            </a:r>
            <a:br>
              <a:rPr sz="2800">
                <a:latin typeface="Times New Roman" pitchFamily="18" charset="0"/>
                <a:cs typeface="Times New Roman" pitchFamily="18" charset="0"/>
              </a:rPr>
            </a:br>
            <a:r>
              <a:rPr lang="en-US" sz="2800" dirty="0" smtClean="0">
                <a:latin typeface="Times New Roman" pitchFamily="18" charset="0"/>
                <a:cs typeface="Times New Roman" pitchFamily="18" charset="0"/>
              </a:rPr>
              <a:t>Volume 2_Section 4</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Chapter 24:</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Preventing HAI Diarrhea</a:t>
            </a:r>
            <a:endParaRPr lang="en-US" sz="2800" dirty="0">
              <a:latin typeface="Times New Roman" pitchFamily="18" charset="0"/>
              <a:cs typeface="Times New Roman" pitchFamily="18" charset="0"/>
            </a:endParaRPr>
          </a:p>
        </p:txBody>
      </p:sp>
      <p:sp>
        <p:nvSpPr>
          <p:cNvPr id="3" name="Subtitle 2"/>
          <p:cNvSpPr>
            <a:spLocks noGrp="1"/>
          </p:cNvSpPr>
          <p:nvPr>
            <p:ph type="subTitle" idx="1"/>
          </p:nvPr>
        </p:nvSpPr>
        <p:spPr/>
        <p:txBody>
          <a:bodyPr>
            <a:normAutofit/>
          </a:bodyPr>
          <a:lstStyle/>
          <a:p>
            <a:pPr>
              <a:lnSpc>
                <a:spcPct val="150000"/>
              </a:lnSpc>
            </a:pPr>
            <a:r>
              <a:rPr lang="en-US" sz="2800" b="1" dirty="0">
                <a:ln w="3175" cmpd="sng">
                  <a:noFill/>
                </a:ln>
                <a:solidFill>
                  <a:schemeClr val="tx1">
                    <a:lumMod val="85000"/>
                    <a:lumOff val="15000"/>
                  </a:schemeClr>
                </a:solidFill>
                <a:latin typeface="Times New Roman" pitchFamily="18" charset="0"/>
                <a:ea typeface="+mj-ea"/>
                <a:cs typeface="Times New Roman" pitchFamily="18" charset="0"/>
              </a:rPr>
              <a:t>Healthcare Associated Infection</a:t>
            </a:r>
          </a:p>
        </p:txBody>
      </p:sp>
    </p:spTree>
    <p:extLst>
      <p:ext uri="{BB962C8B-B14F-4D97-AF65-F5344CB8AC3E}">
        <p14:creationId xmlns:p14="http://schemas.microsoft.com/office/powerpoint/2010/main" val="17592776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789" y="1295400"/>
            <a:ext cx="10438911" cy="990600"/>
          </a:xfrm>
        </p:spPr>
        <p:txBody>
          <a:bodyPr/>
          <a:lstStyle/>
          <a:p>
            <a:r>
              <a:rPr lang="en-US" b="1" dirty="0" smtClean="0"/>
              <a:t>Chapter Outline</a:t>
            </a:r>
            <a:endParaRPr lang="en-US" b="1" dirty="0"/>
          </a:p>
        </p:txBody>
      </p:sp>
      <p:sp>
        <p:nvSpPr>
          <p:cNvPr id="3" name="Content Placeholder 2"/>
          <p:cNvSpPr>
            <a:spLocks noGrp="1"/>
          </p:cNvSpPr>
          <p:nvPr>
            <p:ph idx="1"/>
          </p:nvPr>
        </p:nvSpPr>
        <p:spPr>
          <a:xfrm>
            <a:off x="1114835" y="2438400"/>
            <a:ext cx="9932168" cy="3810000"/>
          </a:xfrm>
        </p:spPr>
        <p:txBody>
          <a:bodyPr>
            <a:normAutofit fontScale="85000" lnSpcReduction="10000"/>
          </a:bodyPr>
          <a:lstStyle/>
          <a:p>
            <a:pPr algn="just">
              <a:lnSpc>
                <a:spcPct val="160000"/>
              </a:lnSpc>
            </a:pPr>
            <a:r>
              <a:rPr lang="en-US" dirty="0" smtClean="0"/>
              <a:t>Chapter  Contents </a:t>
            </a:r>
          </a:p>
          <a:p>
            <a:pPr>
              <a:lnSpc>
                <a:spcPct val="160000"/>
              </a:lnSpc>
            </a:pPr>
            <a:r>
              <a:rPr lang="en-US" dirty="0" smtClean="0"/>
              <a:t>PPP 1.1:Common risk factors and causes of health care-associated infectious diarrhea </a:t>
            </a:r>
          </a:p>
          <a:p>
            <a:pPr>
              <a:lnSpc>
                <a:spcPct val="160000"/>
              </a:lnSpc>
            </a:pPr>
            <a:r>
              <a:rPr lang="en-US" dirty="0" smtClean="0"/>
              <a:t>PPP 1.2:Preventing transmission of health care-associated diarrhea </a:t>
            </a:r>
          </a:p>
          <a:p>
            <a:pPr>
              <a:lnSpc>
                <a:spcPct val="160000"/>
              </a:lnSpc>
            </a:pPr>
            <a:r>
              <a:rPr lang="en-US" dirty="0" smtClean="0"/>
              <a:t>PPP 1.3:Introduction to management of outbreaks of diarrheal illness</a:t>
            </a:r>
          </a:p>
          <a:p>
            <a:pPr>
              <a:lnSpc>
                <a:spcPct val="160000"/>
              </a:lnSpc>
            </a:pPr>
            <a:endParaRPr lang="en-US" dirty="0" smtClean="0"/>
          </a:p>
        </p:txBody>
      </p:sp>
    </p:spTree>
    <p:extLst>
      <p:ext uri="{BB962C8B-B14F-4D97-AF65-F5344CB8AC3E}">
        <p14:creationId xmlns:p14="http://schemas.microsoft.com/office/powerpoint/2010/main" val="19251976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GB" sz="4000" dirty="0" smtClean="0">
                <a:latin typeface="Times New Roman" pitchFamily="18" charset="0"/>
                <a:cs typeface="Times New Roman" pitchFamily="18" charset="0"/>
              </a:rPr>
              <a:t/>
            </a:r>
            <a:br>
              <a:rPr lang="en-GB" sz="4000" dirty="0" smtClean="0">
                <a:latin typeface="Times New Roman" pitchFamily="18" charset="0"/>
                <a:cs typeface="Times New Roman" pitchFamily="18" charset="0"/>
              </a:rPr>
            </a:br>
            <a:r>
              <a:rPr lang="en-GB" sz="4000" dirty="0" smtClean="0">
                <a:latin typeface="Times New Roman" pitchFamily="18" charset="0"/>
                <a:cs typeface="Times New Roman" pitchFamily="18" charset="0"/>
              </a:rPr>
              <a:t>Chapter Content</a:t>
            </a:r>
            <a:r>
              <a:rPr lang="en-US" dirty="0" smtClean="0"/>
              <a:t/>
            </a:r>
            <a:br>
              <a:rPr lang="en-US" dirty="0" smtClean="0"/>
            </a:br>
            <a:endParaRPr lang="en-US" dirty="0"/>
          </a:p>
        </p:txBody>
      </p:sp>
      <p:sp>
        <p:nvSpPr>
          <p:cNvPr id="3" name="Content Placeholder 2"/>
          <p:cNvSpPr>
            <a:spLocks noGrp="1"/>
          </p:cNvSpPr>
          <p:nvPr>
            <p:ph idx="1"/>
          </p:nvPr>
        </p:nvSpPr>
        <p:spPr/>
        <p:txBody>
          <a:bodyPr>
            <a:noAutofit/>
          </a:bodyPr>
          <a:lstStyle/>
          <a:p>
            <a:pPr lvl="0">
              <a:lnSpc>
                <a:spcPct val="170000"/>
              </a:lnSpc>
            </a:pPr>
            <a:r>
              <a:rPr lang="en-US" sz="2000" dirty="0" smtClean="0">
                <a:latin typeface="Times New Roman" pitchFamily="18" charset="0"/>
                <a:cs typeface="Times New Roman" pitchFamily="18" charset="0"/>
              </a:rPr>
              <a:t>Overview</a:t>
            </a:r>
          </a:p>
          <a:p>
            <a:pPr lvl="0">
              <a:lnSpc>
                <a:spcPct val="170000"/>
              </a:lnSpc>
            </a:pPr>
            <a:r>
              <a:rPr lang="en-US" sz="2000" dirty="0" smtClean="0">
                <a:latin typeface="Times New Roman" pitchFamily="18" charset="0"/>
                <a:cs typeface="Times New Roman" pitchFamily="18" charset="0"/>
              </a:rPr>
              <a:t>Common risk factors and causes of health care-associated infectious diarrhea </a:t>
            </a:r>
          </a:p>
          <a:p>
            <a:pPr lvl="0">
              <a:lnSpc>
                <a:spcPct val="170000"/>
              </a:lnSpc>
            </a:pPr>
            <a:r>
              <a:rPr lang="en-US" sz="2000" dirty="0" smtClean="0">
                <a:latin typeface="Times New Roman" pitchFamily="18" charset="0"/>
                <a:cs typeface="Times New Roman" pitchFamily="18" charset="0"/>
              </a:rPr>
              <a:t>Preventing transmission of health care-associated diarrhea </a:t>
            </a:r>
          </a:p>
          <a:p>
            <a:pPr lvl="0">
              <a:lnSpc>
                <a:spcPct val="170000"/>
              </a:lnSpc>
            </a:pPr>
            <a:r>
              <a:rPr lang="en-US" sz="2000" dirty="0" smtClean="0">
                <a:latin typeface="Times New Roman" pitchFamily="18" charset="0"/>
                <a:cs typeface="Times New Roman" pitchFamily="18" charset="0"/>
              </a:rPr>
              <a:t>Introduction to management of outbreaks of diarrheal illness</a:t>
            </a:r>
          </a:p>
          <a:p>
            <a:pPr>
              <a:lnSpc>
                <a:spcPct val="170000"/>
              </a:lnSpc>
            </a:pPr>
            <a:r>
              <a:rPr lang="en-GB" sz="2000" dirty="0" smtClean="0">
                <a:latin typeface="Times New Roman" pitchFamily="18" charset="0"/>
                <a:cs typeface="Times New Roman" pitchFamily="18" charset="0"/>
              </a:rPr>
              <a:t>Summary</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Learning Objection</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lnSpc>
                <a:spcPct val="160000"/>
              </a:lnSpc>
            </a:pPr>
            <a:r>
              <a:rPr lang="en-US" sz="2400" dirty="0">
                <a:latin typeface="Times New Roman" pitchFamily="18" charset="0"/>
                <a:cs typeface="Times New Roman" pitchFamily="18" charset="0"/>
              </a:rPr>
              <a:t>Understand the  epidemiology, common risk factors </a:t>
            </a:r>
            <a:r>
              <a:rPr lang="en-US" sz="2400" dirty="0" smtClean="0">
                <a:latin typeface="Times New Roman" pitchFamily="18" charset="0"/>
                <a:cs typeface="Times New Roman" pitchFamily="18" charset="0"/>
              </a:rPr>
              <a:t>and causes </a:t>
            </a:r>
            <a:r>
              <a:rPr lang="en-US" sz="2400" dirty="0">
                <a:latin typeface="Times New Roman" pitchFamily="18" charset="0"/>
                <a:cs typeface="Times New Roman" pitchFamily="18" charset="0"/>
              </a:rPr>
              <a:t>of health care-associated infectious diarrhea </a:t>
            </a:r>
          </a:p>
          <a:p>
            <a:pPr algn="just">
              <a:lnSpc>
                <a:spcPct val="160000"/>
              </a:lnSpc>
            </a:pPr>
            <a:r>
              <a:rPr lang="en-US" sz="2400" dirty="0">
                <a:latin typeface="Times New Roman" pitchFamily="18" charset="0"/>
                <a:cs typeface="Times New Roman" pitchFamily="18" charset="0"/>
              </a:rPr>
              <a:t>Understand the role of appropriate IPC practices </a:t>
            </a:r>
            <a:r>
              <a:rPr lang="en-US" sz="2400" dirty="0" smtClean="0">
                <a:latin typeface="Times New Roman" pitchFamily="18" charset="0"/>
                <a:cs typeface="Times New Roman" pitchFamily="18" charset="0"/>
              </a:rPr>
              <a:t>in preventing </a:t>
            </a:r>
            <a:r>
              <a:rPr lang="en-US" sz="2400" dirty="0">
                <a:latin typeface="Times New Roman" pitchFamily="18" charset="0"/>
                <a:cs typeface="Times New Roman" pitchFamily="18" charset="0"/>
              </a:rPr>
              <a:t>transmission of health care-associated diarrhea and </a:t>
            </a:r>
          </a:p>
          <a:p>
            <a:pPr algn="just">
              <a:lnSpc>
                <a:spcPct val="160000"/>
              </a:lnSpc>
            </a:pPr>
            <a:r>
              <a:rPr lang="en-US" sz="2400" dirty="0">
                <a:latin typeface="Times New Roman" pitchFamily="18" charset="0"/>
                <a:cs typeface="Times New Roman" pitchFamily="18" charset="0"/>
              </a:rPr>
              <a:t>Relate the above to the basic management of </a:t>
            </a:r>
            <a:r>
              <a:rPr lang="en-US" sz="2400" dirty="0" smtClean="0">
                <a:latin typeface="Times New Roman" pitchFamily="18" charset="0"/>
                <a:cs typeface="Times New Roman" pitchFamily="18" charset="0"/>
              </a:rPr>
              <a:t>outbreaks of </a:t>
            </a:r>
            <a:r>
              <a:rPr lang="en-US" sz="2400" dirty="0">
                <a:latin typeface="Times New Roman" pitchFamily="18" charset="0"/>
                <a:cs typeface="Times New Roman" pitchFamily="18" charset="0"/>
              </a:rPr>
              <a:t>diarrheal illness</a:t>
            </a:r>
          </a:p>
        </p:txBody>
      </p:sp>
    </p:spTree>
    <p:extLst>
      <p:ext uri="{BB962C8B-B14F-4D97-AF65-F5344CB8AC3E}">
        <p14:creationId xmlns:p14="http://schemas.microsoft.com/office/powerpoint/2010/main" val="16209069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latin typeface="Times New Roman" pitchFamily="18" charset="0"/>
                <a:cs typeface="Times New Roman" pitchFamily="18" charset="0"/>
              </a:rPr>
              <a:t>Overview</a:t>
            </a:r>
            <a:endParaRPr lang="en-US" sz="44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986864"/>
          </a:xfrm>
        </p:spPr>
        <p:txBody>
          <a:bodyPr>
            <a:normAutofit fontScale="55000" lnSpcReduction="20000"/>
          </a:bodyPr>
          <a:lstStyle/>
          <a:p>
            <a:pPr algn="just">
              <a:lnSpc>
                <a:spcPct val="170000"/>
              </a:lnSpc>
            </a:pPr>
            <a:r>
              <a:rPr lang="en-US" dirty="0">
                <a:latin typeface="Times New Roman" pitchFamily="18" charset="0"/>
                <a:cs typeface="Times New Roman" pitchFamily="18" charset="0"/>
              </a:rPr>
              <a:t>Diarrhea is a common symptom of gastrointestinal (GI) tract </a:t>
            </a:r>
            <a:r>
              <a:rPr lang="en-US" dirty="0" smtClean="0">
                <a:latin typeface="Times New Roman" pitchFamily="18" charset="0"/>
                <a:cs typeface="Times New Roman" pitchFamily="18" charset="0"/>
              </a:rPr>
              <a:t>infection.</a:t>
            </a:r>
          </a:p>
          <a:p>
            <a:pPr algn="just">
              <a:lnSpc>
                <a:spcPct val="170000"/>
              </a:lnSpc>
            </a:pPr>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nd </a:t>
            </a:r>
            <a:r>
              <a:rPr lang="en-US" dirty="0">
                <a:latin typeface="Times New Roman" pitchFamily="18" charset="0"/>
                <a:cs typeface="Times New Roman" pitchFamily="18" charset="0"/>
              </a:rPr>
              <a:t>is generally defined as the passage of three or more loose or liquid stools per day.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GI </a:t>
            </a:r>
            <a:r>
              <a:rPr lang="en-US" dirty="0">
                <a:latin typeface="Times New Roman" pitchFamily="18" charset="0"/>
                <a:cs typeface="Times New Roman" pitchFamily="18" charset="0"/>
              </a:rPr>
              <a:t>infections can be caused by bacteria, viruses, or parasites and are spread through contaminated food or water or from person to person due to poor hygiene practices.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Health care-associated infectious diarrhea is defined as diarrhea with an infectious origin that begins on or after the third calendar day of hospitalization (the day of hospital admission is calendar Day 1). </a:t>
            </a:r>
          </a:p>
          <a:p>
            <a:pPr algn="just">
              <a:lnSpc>
                <a:spcPct val="170000"/>
              </a:lnSpc>
            </a:pPr>
            <a:endParaRPr lang="en-US" dirty="0" smtClean="0">
              <a:latin typeface="Times New Roman" pitchFamily="18" charset="0"/>
              <a:cs typeface="Times New Roman" pitchFamily="18" charset="0"/>
            </a:endParaRPr>
          </a:p>
          <a:p>
            <a:pPr algn="just">
              <a:lnSpc>
                <a:spcPct val="170000"/>
              </a:lnSpc>
            </a:pPr>
            <a:endParaRPr lang="en-US" dirty="0" smtClean="0"/>
          </a:p>
        </p:txBody>
      </p:sp>
    </p:spTree>
    <p:extLst>
      <p:ext uri="{BB962C8B-B14F-4D97-AF65-F5344CB8AC3E}">
        <p14:creationId xmlns:p14="http://schemas.microsoft.com/office/powerpoint/2010/main" val="26087072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latin typeface="Times New Roman" pitchFamily="18" charset="0"/>
                <a:cs typeface="Times New Roman" pitchFamily="18" charset="0"/>
              </a:rPr>
              <a:t>Overview cont’d…</a:t>
            </a:r>
            <a:endParaRPr lang="en-US" sz="44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910664"/>
          </a:xfrm>
        </p:spPr>
        <p:txBody>
          <a:bodyPr>
            <a:noAutofit/>
          </a:bodyPr>
          <a:lstStyle/>
          <a:p>
            <a:pPr algn="just">
              <a:lnSpc>
                <a:spcPct val="150000"/>
              </a:lnSpc>
            </a:pPr>
            <a:r>
              <a:rPr lang="en-US" sz="1600" dirty="0" smtClean="0">
                <a:latin typeface="Times New Roman" pitchFamily="18" charset="0"/>
                <a:cs typeface="Times New Roman" pitchFamily="18" charset="0"/>
              </a:rPr>
              <a:t>Diarrhea </a:t>
            </a:r>
            <a:r>
              <a:rPr lang="en-US" sz="1600" dirty="0">
                <a:latin typeface="Times New Roman" pitchFamily="18" charset="0"/>
                <a:cs typeface="Times New Roman" pitchFamily="18" charset="0"/>
              </a:rPr>
              <a:t>in hospitalized patients can often have non-infectious causes including: </a:t>
            </a:r>
          </a:p>
          <a:p>
            <a:pPr lvl="1" algn="just">
              <a:lnSpc>
                <a:spcPct val="150000"/>
              </a:lnSpc>
            </a:pPr>
            <a:r>
              <a:rPr lang="en-US" sz="1400" dirty="0">
                <a:latin typeface="Times New Roman" pitchFamily="18" charset="0"/>
                <a:cs typeface="Times New Roman" pitchFamily="18" charset="0"/>
              </a:rPr>
              <a:t>Medications such as antibiotics</a:t>
            </a:r>
          </a:p>
          <a:p>
            <a:pPr lvl="1" algn="just">
              <a:lnSpc>
                <a:spcPct val="150000"/>
              </a:lnSpc>
            </a:pPr>
            <a:r>
              <a:rPr lang="en-US" sz="1400" dirty="0">
                <a:latin typeface="Times New Roman" pitchFamily="18" charset="0"/>
                <a:cs typeface="Times New Roman" pitchFamily="18" charset="0"/>
              </a:rPr>
              <a:t>Procedures such as endoscopy, nasogastric feeding, x-ray studies using barium, enemas </a:t>
            </a:r>
          </a:p>
          <a:p>
            <a:pPr lvl="1" algn="just">
              <a:lnSpc>
                <a:spcPct val="150000"/>
              </a:lnSpc>
            </a:pPr>
            <a:r>
              <a:rPr lang="en-US" sz="1400" dirty="0">
                <a:latin typeface="Times New Roman" pitchFamily="18" charset="0"/>
                <a:cs typeface="Times New Roman" pitchFamily="18" charset="0"/>
              </a:rPr>
              <a:t>Disease processes such as HIV</a:t>
            </a:r>
          </a:p>
          <a:p>
            <a:pPr lvl="1" algn="just">
              <a:lnSpc>
                <a:spcPct val="150000"/>
              </a:lnSpc>
            </a:pPr>
            <a:r>
              <a:rPr lang="en-US" sz="1400" dirty="0">
                <a:latin typeface="Times New Roman" pitchFamily="18" charset="0"/>
                <a:cs typeface="Times New Roman" pitchFamily="18" charset="0"/>
              </a:rPr>
              <a:t>Psychological stress </a:t>
            </a:r>
          </a:p>
          <a:p>
            <a:pPr algn="just">
              <a:lnSpc>
                <a:spcPct val="150000"/>
              </a:lnSpc>
            </a:pPr>
            <a:r>
              <a:rPr lang="en-US" sz="1600" dirty="0">
                <a:latin typeface="Times New Roman" pitchFamily="18" charset="0"/>
                <a:cs typeface="Times New Roman" pitchFamily="18" charset="0"/>
              </a:rPr>
              <a:t>While non-infectious diarrhea is a common complication of hospitalization, it does not require treatment with antimicrobials. </a:t>
            </a:r>
          </a:p>
          <a:p>
            <a:pPr algn="just">
              <a:lnSpc>
                <a:spcPct val="150000"/>
              </a:lnSpc>
            </a:pP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1896904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119" y="1030778"/>
            <a:ext cx="10515600" cy="874222"/>
          </a:xfrm>
        </p:spPr>
        <p:txBody>
          <a:bodyPr/>
          <a:lstStyle/>
          <a:p>
            <a:pPr>
              <a:lnSpc>
                <a:spcPct val="150000"/>
              </a:lnSpc>
            </a:pPr>
            <a:r>
              <a:rPr lang="en-US" sz="2400" dirty="0">
                <a:latin typeface="Times New Roman" pitchFamily="18" charset="0"/>
                <a:cs typeface="Times New Roman" pitchFamily="18" charset="0"/>
              </a:rPr>
              <a:t>Situations that favor the spread of </a:t>
            </a:r>
            <a:r>
              <a:rPr lang="en-US" sz="2400" dirty="0" smtClean="0">
                <a:latin typeface="Times New Roman" pitchFamily="18" charset="0"/>
                <a:cs typeface="Times New Roman" pitchFamily="18" charset="0"/>
              </a:rPr>
              <a:t>infection</a:t>
            </a:r>
            <a:endParaRPr lang="en-US" sz="3200" dirty="0"/>
          </a:p>
        </p:txBody>
      </p:sp>
      <p:sp>
        <p:nvSpPr>
          <p:cNvPr id="3" name="Content Placeholder 2"/>
          <p:cNvSpPr>
            <a:spLocks noGrp="1"/>
          </p:cNvSpPr>
          <p:nvPr>
            <p:ph idx="1"/>
          </p:nvPr>
        </p:nvSpPr>
        <p:spPr>
          <a:xfrm>
            <a:off x="1280319" y="1981200"/>
            <a:ext cx="9327509" cy="4267200"/>
          </a:xfrm>
        </p:spPr>
        <p:txBody>
          <a:bodyPr>
            <a:noAutofit/>
          </a:bodyPr>
          <a:lstStyle/>
          <a:p>
            <a:pPr lvl="0" algn="just">
              <a:lnSpc>
                <a:spcPct val="150000"/>
              </a:lnSpc>
            </a:pPr>
            <a:r>
              <a:rPr lang="en-US" sz="1600" dirty="0" smtClean="0">
                <a:solidFill>
                  <a:schemeClr val="tx1"/>
                </a:solidFill>
                <a:latin typeface="Times New Roman" pitchFamily="18" charset="0"/>
                <a:cs typeface="Times New Roman" pitchFamily="18" charset="0"/>
              </a:rPr>
              <a:t>Person-to-person </a:t>
            </a:r>
            <a:r>
              <a:rPr lang="en-US" sz="1600" dirty="0">
                <a:solidFill>
                  <a:schemeClr val="tx1"/>
                </a:solidFill>
                <a:latin typeface="Times New Roman" pitchFamily="18" charset="0"/>
                <a:cs typeface="Times New Roman" pitchFamily="18" charset="0"/>
              </a:rPr>
              <a:t>contact by health care workers (HCWs</a:t>
            </a:r>
            <a:r>
              <a:rPr lang="en-US" sz="1600" dirty="0" smtClean="0">
                <a:solidFill>
                  <a:schemeClr val="tx1"/>
                </a:solidFill>
                <a:latin typeface="Times New Roman" pitchFamily="18" charset="0"/>
                <a:cs typeface="Times New Roman" pitchFamily="18" charset="0"/>
              </a:rPr>
              <a:t>)</a:t>
            </a:r>
            <a:endParaRPr lang="en-US" sz="1600" dirty="0">
              <a:solidFill>
                <a:schemeClr val="tx1"/>
              </a:solidFill>
              <a:latin typeface="Times New Roman" pitchFamily="18" charset="0"/>
              <a:cs typeface="Times New Roman" pitchFamily="18" charset="0"/>
            </a:endParaRPr>
          </a:p>
          <a:p>
            <a:pPr lvl="0" algn="just">
              <a:lnSpc>
                <a:spcPct val="150000"/>
              </a:lnSpc>
            </a:pPr>
            <a:r>
              <a:rPr lang="en-US" sz="1600" dirty="0">
                <a:solidFill>
                  <a:schemeClr val="tx1"/>
                </a:solidFill>
                <a:latin typeface="Times New Roman" pitchFamily="18" charset="0"/>
                <a:cs typeface="Times New Roman" pitchFamily="18" charset="0"/>
              </a:rPr>
              <a:t>Inadequately cleaned patient care equipment and environments where surfaces such as </a:t>
            </a:r>
            <a:r>
              <a:rPr lang="en-US" sz="1600" b="1" dirty="0">
                <a:solidFill>
                  <a:schemeClr val="tx1"/>
                </a:solidFill>
                <a:latin typeface="Times New Roman" pitchFamily="18" charset="0"/>
                <a:cs typeface="Times New Roman" pitchFamily="18" charset="0"/>
              </a:rPr>
              <a:t>toilets</a:t>
            </a:r>
            <a:r>
              <a:rPr lang="en-US" sz="1600" dirty="0">
                <a:solidFill>
                  <a:schemeClr val="tx1"/>
                </a:solidFill>
                <a:latin typeface="Times New Roman" pitchFamily="18" charset="0"/>
                <a:cs typeface="Times New Roman" pitchFamily="18" charset="0"/>
              </a:rPr>
              <a:t>, </a:t>
            </a:r>
            <a:r>
              <a:rPr lang="en-US" sz="1600" b="1" dirty="0">
                <a:solidFill>
                  <a:schemeClr val="tx1"/>
                </a:solidFill>
                <a:latin typeface="Times New Roman" pitchFamily="18" charset="0"/>
                <a:cs typeface="Times New Roman" pitchFamily="18" charset="0"/>
              </a:rPr>
              <a:t>bedrails</a:t>
            </a:r>
            <a:r>
              <a:rPr lang="en-US" sz="1600" dirty="0">
                <a:solidFill>
                  <a:schemeClr val="tx1"/>
                </a:solidFill>
                <a:latin typeface="Times New Roman" pitchFamily="18" charset="0"/>
                <a:cs typeface="Times New Roman" pitchFamily="18" charset="0"/>
              </a:rPr>
              <a:t>, and toy</a:t>
            </a:r>
            <a:r>
              <a:rPr lang="en-US" sz="1600" b="1" dirty="0">
                <a:solidFill>
                  <a:schemeClr val="tx1"/>
                </a:solidFill>
                <a:latin typeface="Times New Roman" pitchFamily="18" charset="0"/>
                <a:cs typeface="Times New Roman" pitchFamily="18" charset="0"/>
              </a:rPr>
              <a:t>s</a:t>
            </a:r>
            <a:r>
              <a:rPr lang="en-US" sz="1600" dirty="0">
                <a:solidFill>
                  <a:schemeClr val="tx1"/>
                </a:solidFill>
                <a:latin typeface="Times New Roman" pitchFamily="18" charset="0"/>
                <a:cs typeface="Times New Roman" pitchFamily="18" charset="0"/>
              </a:rPr>
              <a:t> remain contaminated</a:t>
            </a:r>
          </a:p>
          <a:p>
            <a:pPr lvl="0" algn="just">
              <a:lnSpc>
                <a:spcPct val="150000"/>
              </a:lnSpc>
            </a:pPr>
            <a:r>
              <a:rPr lang="en-US" sz="1600" dirty="0">
                <a:solidFill>
                  <a:schemeClr val="tx1"/>
                </a:solidFill>
                <a:latin typeface="Times New Roman" pitchFamily="18" charset="0"/>
                <a:cs typeface="Times New Roman" pitchFamily="18" charset="0"/>
              </a:rPr>
              <a:t>Contaminated food prepared in the hospital kitchen or brought from home</a:t>
            </a:r>
          </a:p>
          <a:p>
            <a:pPr lvl="0" algn="just">
              <a:lnSpc>
                <a:spcPct val="150000"/>
              </a:lnSpc>
            </a:pPr>
            <a:r>
              <a:rPr lang="en-US" sz="1600" dirty="0">
                <a:solidFill>
                  <a:schemeClr val="tx1"/>
                </a:solidFill>
                <a:latin typeface="Times New Roman" pitchFamily="18" charset="0"/>
                <a:cs typeface="Times New Roman" pitchFamily="18" charset="0"/>
              </a:rPr>
              <a:t>Contaminated fluids such as drinking water, infant formula, or tube </a:t>
            </a:r>
            <a:r>
              <a:rPr lang="en-US" sz="1600" dirty="0" smtClean="0">
                <a:solidFill>
                  <a:schemeClr val="tx1"/>
                </a:solidFill>
                <a:latin typeface="Times New Roman" pitchFamily="18" charset="0"/>
                <a:cs typeface="Times New Roman" pitchFamily="18" charset="0"/>
              </a:rPr>
              <a:t>feeds</a:t>
            </a:r>
            <a:r>
              <a:rPr lang="en-US" sz="1600" b="1" dirty="0" smtClean="0">
                <a:solidFill>
                  <a:schemeClr val="tx1"/>
                </a:solidFill>
                <a:latin typeface="Times New Roman" pitchFamily="18" charset="0"/>
                <a:cs typeface="Times New Roman" pitchFamily="18" charset="0"/>
              </a:rPr>
              <a:t>.</a:t>
            </a:r>
            <a:endParaRPr lang="en-US" sz="1600" b="1" dirty="0">
              <a:solidFill>
                <a:schemeClr val="tx1"/>
              </a:solidFill>
              <a:latin typeface="Times New Roman" pitchFamily="18" charset="0"/>
              <a:cs typeface="Times New Roman" pitchFamily="18" charset="0"/>
            </a:endParaRPr>
          </a:p>
          <a:p>
            <a:pPr lvl="0" algn="just">
              <a:lnSpc>
                <a:spcPct val="150000"/>
              </a:lnSpc>
            </a:pPr>
            <a:r>
              <a:rPr lang="en-US" sz="1600" dirty="0">
                <a:solidFill>
                  <a:schemeClr val="tx1"/>
                </a:solidFill>
                <a:latin typeface="Times New Roman" pitchFamily="18" charset="0"/>
                <a:cs typeface="Times New Roman" pitchFamily="18" charset="0"/>
              </a:rPr>
              <a:t>Person-to-person contact by </a:t>
            </a:r>
            <a:r>
              <a:rPr lang="en-US" sz="1600" dirty="0" smtClean="0">
                <a:solidFill>
                  <a:schemeClr val="tx1"/>
                </a:solidFill>
                <a:latin typeface="Times New Roman" pitchFamily="18" charset="0"/>
                <a:cs typeface="Times New Roman" pitchFamily="18" charset="0"/>
              </a:rPr>
              <a:t>patients.</a:t>
            </a:r>
            <a:endParaRPr lang="en-US" sz="1600" dirty="0">
              <a:solidFill>
                <a:schemeClr val="tx1"/>
              </a:solidFill>
              <a:latin typeface="Times New Roman" pitchFamily="18" charset="0"/>
              <a:cs typeface="Times New Roman" pitchFamily="18" charset="0"/>
            </a:endParaRPr>
          </a:p>
          <a:p>
            <a:pPr lvl="0" algn="just">
              <a:lnSpc>
                <a:spcPct val="150000"/>
              </a:lnSpc>
            </a:pPr>
            <a:r>
              <a:rPr lang="en-US" sz="1600" dirty="0">
                <a:solidFill>
                  <a:schemeClr val="tx1"/>
                </a:solidFill>
                <a:latin typeface="Times New Roman" pitchFamily="18" charset="0"/>
                <a:cs typeface="Times New Roman" pitchFamily="18" charset="0"/>
              </a:rPr>
              <a:t>Inadequately high-level disinfected or sterilized medical instruments that enter the GI tract (e.g., endoscopes</a:t>
            </a:r>
            <a:r>
              <a:rPr lang="en-US" sz="2000" dirty="0">
                <a:solidFill>
                  <a:schemeClr val="tx1"/>
                </a:solidFill>
                <a:latin typeface="Times New Roman" pitchFamily="18" charset="0"/>
                <a:cs typeface="Times New Roman" pitchFamily="18" charset="0"/>
              </a:rPr>
              <a:t>)</a:t>
            </a:r>
          </a:p>
        </p:txBody>
      </p:sp>
    </p:spTree>
    <p:extLst>
      <p:ext uri="{BB962C8B-B14F-4D97-AF65-F5344CB8AC3E}">
        <p14:creationId xmlns:p14="http://schemas.microsoft.com/office/powerpoint/2010/main" val="729127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Microbiology</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758264"/>
          </a:xfrm>
        </p:spPr>
        <p:txBody>
          <a:bodyPr>
            <a:normAutofit lnSpcReduction="10000"/>
          </a:bodyPr>
          <a:lstStyle/>
          <a:p>
            <a:pPr algn="just">
              <a:lnSpc>
                <a:spcPct val="170000"/>
              </a:lnSpc>
            </a:pPr>
            <a:r>
              <a:rPr lang="en-US" sz="2800" dirty="0" smtClean="0">
                <a:latin typeface="Times New Roman" pitchFamily="18" charset="0"/>
                <a:cs typeface="Times New Roman" pitchFamily="18" charset="0"/>
              </a:rPr>
              <a:t>Data </a:t>
            </a:r>
            <a:r>
              <a:rPr lang="en-US" sz="2800" dirty="0">
                <a:latin typeface="Times New Roman" pitchFamily="18" charset="0"/>
                <a:cs typeface="Times New Roman" pitchFamily="18" charset="0"/>
              </a:rPr>
              <a:t>on causative agents are limited due to limited laboratory facilities</a:t>
            </a:r>
            <a:r>
              <a:rPr lang="en-US" sz="2800" dirty="0" smtClean="0">
                <a:latin typeface="Times New Roman" pitchFamily="18" charset="0"/>
                <a:cs typeface="Times New Roman" pitchFamily="18" charset="0"/>
              </a:rPr>
              <a:t>.</a:t>
            </a:r>
          </a:p>
          <a:p>
            <a:pPr algn="just">
              <a:lnSpc>
                <a:spcPct val="170000"/>
              </a:lnSpc>
            </a:pPr>
            <a:r>
              <a:rPr lang="en-US" sz="2800" dirty="0">
                <a:latin typeface="Times New Roman" pitchFamily="18" charset="0"/>
                <a:cs typeface="Times New Roman" pitchFamily="18" charset="0"/>
              </a:rPr>
              <a:t>Common pathogens implicated include </a:t>
            </a:r>
            <a:r>
              <a:rPr lang="en-US" sz="2800" dirty="0" err="1">
                <a:latin typeface="Times New Roman" pitchFamily="18" charset="0"/>
                <a:cs typeface="Times New Roman" pitchFamily="18" charset="0"/>
              </a:rPr>
              <a:t>Shigella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sp</a:t>
            </a:r>
            <a:r>
              <a:rPr lang="en-US" sz="2800" dirty="0">
                <a:latin typeface="Times New Roman" pitchFamily="18" charset="0"/>
                <a:cs typeface="Times New Roman" pitchFamily="18" charset="0"/>
              </a:rPr>
              <a:t>, Salmonella </a:t>
            </a:r>
            <a:r>
              <a:rPr lang="en-US" sz="2800" dirty="0" err="1">
                <a:latin typeface="Times New Roman" pitchFamily="18" charset="0"/>
                <a:cs typeface="Times New Roman" pitchFamily="18" charset="0"/>
              </a:rPr>
              <a:t>spp</a:t>
            </a:r>
            <a:r>
              <a:rPr lang="en-US" sz="2800" dirty="0">
                <a:latin typeface="Times New Roman" pitchFamily="18" charset="0"/>
                <a:cs typeface="Times New Roman" pitchFamily="18" charset="0"/>
              </a:rPr>
              <a:t>, E. coli, </a:t>
            </a:r>
            <a:r>
              <a:rPr lang="en-US" sz="2800" dirty="0" err="1">
                <a:latin typeface="Times New Roman" pitchFamily="18" charset="0"/>
                <a:cs typeface="Times New Roman" pitchFamily="18" charset="0"/>
              </a:rPr>
              <a:t>rota</a:t>
            </a:r>
            <a:r>
              <a:rPr lang="en-US" sz="2800" dirty="0">
                <a:latin typeface="Times New Roman" pitchFamily="18" charset="0"/>
                <a:cs typeface="Times New Roman" pitchFamily="18" charset="0"/>
              </a:rPr>
              <a:t> virus as well as toxigenic Staph </a:t>
            </a:r>
            <a:r>
              <a:rPr lang="en-US" sz="2800" dirty="0" err="1">
                <a:latin typeface="Times New Roman" pitchFamily="18" charset="0"/>
                <a:cs typeface="Times New Roman" pitchFamily="18" charset="0"/>
              </a:rPr>
              <a:t>aureus</a:t>
            </a:r>
            <a:r>
              <a:rPr lang="en-US" sz="2800" dirty="0">
                <a:latin typeface="Times New Roman" pitchFamily="18" charset="0"/>
                <a:cs typeface="Times New Roman" pitchFamily="18" charset="0"/>
              </a:rPr>
              <a:t>.  </a:t>
            </a:r>
            <a:r>
              <a:rPr lang="en-US" sz="2800" i="1" dirty="0">
                <a:latin typeface="Times New Roman" pitchFamily="18" charset="0"/>
                <a:cs typeface="Times New Roman" pitchFamily="18" charset="0"/>
              </a:rPr>
              <a:t>Staphylococcus </a:t>
            </a:r>
            <a:r>
              <a:rPr lang="en-US" sz="2800" i="1" dirty="0" err="1">
                <a:latin typeface="Times New Roman" pitchFamily="18" charset="0"/>
                <a:cs typeface="Times New Roman" pitchFamily="18" charset="0"/>
              </a:rPr>
              <a:t>aureus</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norovirus</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2491482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a:latin typeface="Times New Roman" pitchFamily="18" charset="0"/>
                <a:cs typeface="Times New Roman" pitchFamily="18" charset="0"/>
              </a:rPr>
              <a:t>Bacterial </a:t>
            </a:r>
            <a:r>
              <a:rPr lang="en-US" sz="4000" dirty="0" smtClean="0">
                <a:latin typeface="Times New Roman" pitchFamily="18" charset="0"/>
                <a:cs typeface="Times New Roman" pitchFamily="18" charset="0"/>
              </a:rPr>
              <a:t>Gastroenteritis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910664"/>
          </a:xfrm>
        </p:spPr>
        <p:txBody>
          <a:bodyPr>
            <a:normAutofit fontScale="85000" lnSpcReduction="20000"/>
          </a:bodyPr>
          <a:lstStyle/>
          <a:p>
            <a:pPr>
              <a:lnSpc>
                <a:spcPct val="170000"/>
              </a:lnSpc>
            </a:pPr>
            <a:r>
              <a:rPr lang="en-US" sz="2800" dirty="0">
                <a:latin typeface="Times New Roman" pitchFamily="18" charset="0"/>
                <a:cs typeface="Times New Roman" pitchFamily="18" charset="0"/>
              </a:rPr>
              <a:t>Outbreaks occur via fecal contamination of hands, from food that is not cooked properly, or from contaminated water. </a:t>
            </a:r>
            <a:endParaRPr lang="en-US" sz="2800" dirty="0" smtClean="0">
              <a:latin typeface="Times New Roman" pitchFamily="18" charset="0"/>
              <a:cs typeface="Times New Roman" pitchFamily="18" charset="0"/>
            </a:endParaRPr>
          </a:p>
          <a:p>
            <a:pPr>
              <a:lnSpc>
                <a:spcPct val="170000"/>
              </a:lnSpc>
            </a:pPr>
            <a:r>
              <a:rPr lang="en-US" sz="2800" dirty="0" smtClean="0">
                <a:latin typeface="Times New Roman" pitchFamily="18" charset="0"/>
                <a:cs typeface="Times New Roman" pitchFamily="18" charset="0"/>
              </a:rPr>
              <a:t>If </a:t>
            </a:r>
            <a:r>
              <a:rPr lang="en-US" sz="2800" dirty="0">
                <a:latin typeface="Times New Roman" pitchFamily="18" charset="0"/>
                <a:cs typeface="Times New Roman" pitchFamily="18" charset="0"/>
              </a:rPr>
              <a:t>the health care facility kitchen </a:t>
            </a:r>
            <a:r>
              <a:rPr lang="en-US" sz="2800" dirty="0" smtClean="0">
                <a:latin typeface="Times New Roman" pitchFamily="18" charset="0"/>
                <a:cs typeface="Times New Roman" pitchFamily="18" charset="0"/>
              </a:rPr>
              <a:t>staff do </a:t>
            </a:r>
            <a:r>
              <a:rPr lang="en-US" sz="2800" dirty="0">
                <a:latin typeface="Times New Roman" pitchFamily="18" charset="0"/>
                <a:cs typeface="Times New Roman" pitchFamily="18" charset="0"/>
              </a:rPr>
              <a:t>not follow prevention </a:t>
            </a:r>
            <a:r>
              <a:rPr lang="en-US" sz="2800" dirty="0" smtClean="0">
                <a:latin typeface="Times New Roman" pitchFamily="18" charset="0"/>
                <a:cs typeface="Times New Roman" pitchFamily="18" charset="0"/>
              </a:rPr>
              <a:t>measures, outbreaks can </a:t>
            </a:r>
            <a:r>
              <a:rPr lang="en-US" sz="2800" dirty="0">
                <a:latin typeface="Times New Roman" pitchFamily="18" charset="0"/>
                <a:cs typeface="Times New Roman" pitchFamily="18" charset="0"/>
              </a:rPr>
              <a:t>easily occur. </a:t>
            </a:r>
            <a:endParaRPr lang="en-US" sz="2800" dirty="0" smtClean="0">
              <a:latin typeface="Times New Roman" pitchFamily="18" charset="0"/>
              <a:cs typeface="Times New Roman" pitchFamily="18" charset="0"/>
            </a:endParaRPr>
          </a:p>
          <a:p>
            <a:pPr>
              <a:lnSpc>
                <a:spcPct val="170000"/>
              </a:lnSpc>
            </a:pPr>
            <a:r>
              <a:rPr lang="en-US" sz="2800" dirty="0" smtClean="0">
                <a:latin typeface="Times New Roman" pitchFamily="18" charset="0"/>
                <a:cs typeface="Times New Roman" pitchFamily="18" charset="0"/>
              </a:rPr>
              <a:t>Similarly</a:t>
            </a:r>
            <a:r>
              <a:rPr lang="en-US" sz="2800" dirty="0">
                <a:latin typeface="Times New Roman" pitchFamily="18" charset="0"/>
                <a:cs typeface="Times New Roman" pitchFamily="18" charset="0"/>
              </a:rPr>
              <a:t>, hand hygiene among HCWs and patients helps prevent outbreaks of GI infection.</a:t>
            </a:r>
          </a:p>
          <a:p>
            <a:endParaRPr lang="en-US" dirty="0"/>
          </a:p>
        </p:txBody>
      </p:sp>
    </p:spTree>
    <p:extLst>
      <p:ext uri="{BB962C8B-B14F-4D97-AF65-F5344CB8AC3E}">
        <p14:creationId xmlns:p14="http://schemas.microsoft.com/office/powerpoint/2010/main" val="17805869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a:latin typeface="Times New Roman" pitchFamily="18" charset="0"/>
                <a:cs typeface="Times New Roman" pitchFamily="18" charset="0"/>
              </a:rPr>
              <a:t>Rotavirus </a:t>
            </a:r>
          </a:p>
        </p:txBody>
      </p:sp>
      <p:sp>
        <p:nvSpPr>
          <p:cNvPr id="3" name="Content Placeholder 2"/>
          <p:cNvSpPr>
            <a:spLocks noGrp="1"/>
          </p:cNvSpPr>
          <p:nvPr>
            <p:ph idx="1"/>
          </p:nvPr>
        </p:nvSpPr>
        <p:spPr>
          <a:xfrm>
            <a:off x="1565272" y="2490136"/>
            <a:ext cx="9087647" cy="3910664"/>
          </a:xfrm>
        </p:spPr>
        <p:txBody>
          <a:bodyPr>
            <a:normAutofit fontScale="70000" lnSpcReduction="20000"/>
          </a:bodyPr>
          <a:lstStyle/>
          <a:p>
            <a:pPr>
              <a:lnSpc>
                <a:spcPct val="170000"/>
              </a:lnSpc>
            </a:pPr>
            <a:r>
              <a:rPr lang="en-US" dirty="0">
                <a:latin typeface="Times New Roman" pitchFamily="18" charset="0"/>
                <a:cs typeface="Times New Roman" pitchFamily="18" charset="0"/>
              </a:rPr>
              <a:t>Rotaviruses are the most common community causes of diarrhea in children under </a:t>
            </a:r>
            <a:r>
              <a:rPr lang="en-US" dirty="0" smtClean="0">
                <a:latin typeface="Times New Roman" pitchFamily="18" charset="0"/>
                <a:cs typeface="Times New Roman" pitchFamily="18" charset="0"/>
              </a:rPr>
              <a:t>5.</a:t>
            </a:r>
          </a:p>
          <a:p>
            <a:pPr>
              <a:lnSpc>
                <a:spcPct val="170000"/>
              </a:lnSpc>
            </a:pPr>
            <a:r>
              <a:rPr lang="en-US" dirty="0">
                <a:latin typeface="Times New Roman" pitchFamily="18" charset="0"/>
                <a:cs typeface="Times New Roman" pitchFamily="18" charset="0"/>
              </a:rPr>
              <a:t>The virus can survive on inanimate surfaces, is easily spread, and may become endemic in health care facilities</a:t>
            </a:r>
            <a:r>
              <a:rPr lang="en-US" dirty="0" smtClean="0">
                <a:latin typeface="Times New Roman" pitchFamily="18" charset="0"/>
                <a:cs typeface="Times New Roman" pitchFamily="18" charset="0"/>
              </a:rPr>
              <a:t>.</a:t>
            </a:r>
          </a:p>
          <a:p>
            <a:pPr>
              <a:lnSpc>
                <a:spcPct val="170000"/>
              </a:lnSpc>
            </a:pPr>
            <a:r>
              <a:rPr lang="en-US" dirty="0">
                <a:latin typeface="Times New Roman" pitchFamily="18" charset="0"/>
                <a:cs typeface="Times New Roman" pitchFamily="18" charset="0"/>
              </a:rPr>
              <a:t>Prolonged shedding of the virus in stool may occur in both </a:t>
            </a:r>
            <a:r>
              <a:rPr lang="en-US" dirty="0" err="1">
                <a:latin typeface="Times New Roman" pitchFamily="18" charset="0"/>
                <a:cs typeface="Times New Roman" pitchFamily="18" charset="0"/>
              </a:rPr>
              <a:t>immunocompetent</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immunocompromised</a:t>
            </a:r>
            <a:r>
              <a:rPr lang="en-US" dirty="0">
                <a:latin typeface="Times New Roman" pitchFamily="18" charset="0"/>
                <a:cs typeface="Times New Roman" pitchFamily="18" charset="0"/>
              </a:rPr>
              <a:t> children and the elderly.</a:t>
            </a:r>
          </a:p>
        </p:txBody>
      </p:sp>
    </p:spTree>
    <p:extLst>
      <p:ext uri="{BB962C8B-B14F-4D97-AF65-F5344CB8AC3E}">
        <p14:creationId xmlns:p14="http://schemas.microsoft.com/office/powerpoint/2010/main" val="21492578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600" dirty="0" err="1">
                <a:latin typeface="Times New Roman" pitchFamily="18" charset="0"/>
                <a:cs typeface="Times New Roman" pitchFamily="18" charset="0"/>
              </a:rPr>
              <a:t>Noroviruses</a:t>
            </a:r>
            <a:r>
              <a:rPr lang="en-US" sz="3600" dirty="0">
                <a:latin typeface="Times New Roman" pitchFamily="18" charset="0"/>
                <a:cs typeface="Times New Roman" pitchFamily="18" charset="0"/>
              </a:rPr>
              <a:t> (Norwalk and </a:t>
            </a:r>
            <a:r>
              <a:rPr lang="en-US" sz="3600" dirty="0" err="1">
                <a:latin typeface="Times New Roman" pitchFamily="18" charset="0"/>
                <a:cs typeface="Times New Roman" pitchFamily="18" charset="0"/>
              </a:rPr>
              <a:t>Caliciviruses</a:t>
            </a:r>
            <a:r>
              <a:rPr lang="en-US" dirty="0">
                <a:latin typeface="Times New Roman" pitchFamily="18" charset="0"/>
                <a:cs typeface="Times New Roman" pitchFamily="18" charset="0"/>
              </a:rPr>
              <a:t>)</a:t>
            </a:r>
          </a:p>
        </p:txBody>
      </p:sp>
      <p:sp>
        <p:nvSpPr>
          <p:cNvPr id="3" name="Content Placeholder 2"/>
          <p:cNvSpPr>
            <a:spLocks noGrp="1"/>
          </p:cNvSpPr>
          <p:nvPr>
            <p:ph idx="1"/>
          </p:nvPr>
        </p:nvSpPr>
        <p:spPr>
          <a:xfrm>
            <a:off x="1565272" y="2362200"/>
            <a:ext cx="9042555" cy="4191000"/>
          </a:xfrm>
        </p:spPr>
        <p:txBody>
          <a:bodyPr>
            <a:normAutofit fontScale="55000" lnSpcReduction="20000"/>
          </a:bodyPr>
          <a:lstStyle/>
          <a:p>
            <a:pPr>
              <a:lnSpc>
                <a:spcPct val="170000"/>
              </a:lnSpc>
            </a:pPr>
            <a:r>
              <a:rPr lang="en-US" dirty="0">
                <a:latin typeface="Times New Roman" pitchFamily="18" charset="0"/>
                <a:cs typeface="Times New Roman" pitchFamily="18" charset="0"/>
              </a:rPr>
              <a:t>Rapid identification and immediate implementation of interventions are important in preventing serious outbreaks of </a:t>
            </a:r>
            <a:r>
              <a:rPr lang="en-US" dirty="0" err="1">
                <a:latin typeface="Times New Roman" pitchFamily="18" charset="0"/>
                <a:cs typeface="Times New Roman" pitchFamily="18" charset="0"/>
              </a:rPr>
              <a:t>norovirus</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nSpc>
                <a:spcPct val="170000"/>
              </a:lnSpc>
            </a:pPr>
            <a:r>
              <a:rPr lang="en-US" dirty="0" smtClean="0">
                <a:latin typeface="Times New Roman" pitchFamily="18" charset="0"/>
                <a:cs typeface="Times New Roman" pitchFamily="18" charset="0"/>
              </a:rPr>
              <a:t>If </a:t>
            </a:r>
            <a:r>
              <a:rPr lang="en-US" dirty="0">
                <a:latin typeface="Times New Roman" pitchFamily="18" charset="0"/>
                <a:cs typeface="Times New Roman" pitchFamily="18" charset="0"/>
              </a:rPr>
              <a:t>clinical laboratory tests are not available, Kaplan’s clinical and epidemiologic criteria can be used to determine if an outbreak might be caused by </a:t>
            </a:r>
            <a:r>
              <a:rPr lang="en-US" dirty="0" err="1" smtClean="0">
                <a:latin typeface="Times New Roman" pitchFamily="18" charset="0"/>
                <a:cs typeface="Times New Roman" pitchFamily="18" charset="0"/>
              </a:rPr>
              <a:t>norovirus</a:t>
            </a:r>
            <a:r>
              <a:rPr lang="en-US" dirty="0" smtClean="0">
                <a:latin typeface="Times New Roman" pitchFamily="18" charset="0"/>
                <a:cs typeface="Times New Roman" pitchFamily="18" charset="0"/>
              </a:rPr>
              <a:t>, that includes: </a:t>
            </a:r>
            <a:endParaRPr lang="en-US" dirty="0">
              <a:latin typeface="Times New Roman" pitchFamily="18" charset="0"/>
              <a:cs typeface="Times New Roman" pitchFamily="18" charset="0"/>
            </a:endParaRPr>
          </a:p>
          <a:p>
            <a:pPr lvl="1">
              <a:lnSpc>
                <a:spcPct val="170000"/>
              </a:lnSpc>
            </a:pPr>
            <a:r>
              <a:rPr lang="en-US" dirty="0">
                <a:latin typeface="Times New Roman" pitchFamily="18" charset="0"/>
                <a:cs typeface="Times New Roman" pitchFamily="18" charset="0"/>
              </a:rPr>
              <a:t>Vomiting in more than half of symptomatic cases </a:t>
            </a:r>
          </a:p>
          <a:p>
            <a:pPr lvl="1">
              <a:lnSpc>
                <a:spcPct val="170000"/>
              </a:lnSpc>
            </a:pPr>
            <a:r>
              <a:rPr lang="en-US" dirty="0">
                <a:latin typeface="Times New Roman" pitchFamily="18" charset="0"/>
                <a:cs typeface="Times New Roman" pitchFamily="18" charset="0"/>
              </a:rPr>
              <a:t>Mean (or median) incubation period of 24 to 48 hours </a:t>
            </a:r>
          </a:p>
          <a:p>
            <a:pPr lvl="1">
              <a:lnSpc>
                <a:spcPct val="170000"/>
              </a:lnSpc>
            </a:pPr>
            <a:r>
              <a:rPr lang="en-US" dirty="0">
                <a:latin typeface="Times New Roman" pitchFamily="18" charset="0"/>
                <a:cs typeface="Times New Roman" pitchFamily="18" charset="0"/>
              </a:rPr>
              <a:t>Mean (or median) duration of illness of 12 to 60 hours </a:t>
            </a:r>
          </a:p>
          <a:p>
            <a:pPr lvl="1">
              <a:lnSpc>
                <a:spcPct val="170000"/>
              </a:lnSpc>
            </a:pPr>
            <a:r>
              <a:rPr lang="en-US" dirty="0">
                <a:latin typeface="Times New Roman" pitchFamily="18" charset="0"/>
                <a:cs typeface="Times New Roman" pitchFamily="18" charset="0"/>
              </a:rPr>
              <a:t>No bacterial pathogen isolated in stool culture </a:t>
            </a:r>
          </a:p>
          <a:p>
            <a:endParaRPr lang="en-US" dirty="0"/>
          </a:p>
        </p:txBody>
      </p:sp>
    </p:spTree>
    <p:extLst>
      <p:ext uri="{BB962C8B-B14F-4D97-AF65-F5344CB8AC3E}">
        <p14:creationId xmlns:p14="http://schemas.microsoft.com/office/powerpoint/2010/main" val="23375237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200" dirty="0" err="1">
                <a:latin typeface="Times New Roman" pitchFamily="18" charset="0"/>
                <a:cs typeface="Times New Roman" pitchFamily="18" charset="0"/>
              </a:rPr>
              <a:t>Noroviruses</a:t>
            </a:r>
            <a:r>
              <a:rPr lang="en-US" sz="3200" dirty="0">
                <a:latin typeface="Times New Roman" pitchFamily="18" charset="0"/>
                <a:cs typeface="Times New Roman" pitchFamily="18" charset="0"/>
              </a:rPr>
              <a:t> (Norwalk and </a:t>
            </a:r>
            <a:r>
              <a:rPr lang="en-US" sz="3200" dirty="0" err="1">
                <a:latin typeface="Times New Roman" pitchFamily="18" charset="0"/>
                <a:cs typeface="Times New Roman" pitchFamily="18" charset="0"/>
              </a:rPr>
              <a:t>Caliciviruses</a:t>
            </a:r>
            <a:r>
              <a:rPr lang="en-US" sz="3200" dirty="0" smtClean="0">
                <a:latin typeface="Times New Roman" pitchFamily="18" charset="0"/>
                <a:cs typeface="Times New Roman" pitchFamily="18" charset="0"/>
              </a:rPr>
              <a:t>) cont’d…</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758264"/>
          </a:xfrm>
        </p:spPr>
        <p:txBody>
          <a:bodyPr>
            <a:normAutofit/>
          </a:bodyPr>
          <a:lstStyle/>
          <a:p>
            <a:pPr>
              <a:lnSpc>
                <a:spcPct val="160000"/>
              </a:lnSpc>
            </a:pPr>
            <a:r>
              <a:rPr lang="en-US" sz="2400" dirty="0" err="1">
                <a:latin typeface="Times New Roman" pitchFamily="18" charset="0"/>
                <a:cs typeface="Times New Roman" pitchFamily="18" charset="0"/>
              </a:rPr>
              <a:t>Noroviruses</a:t>
            </a:r>
            <a:r>
              <a:rPr lang="en-US" sz="2400" dirty="0">
                <a:latin typeface="Times New Roman" pitchFamily="18" charset="0"/>
                <a:cs typeface="Times New Roman" pitchFamily="18" charset="0"/>
              </a:rPr>
              <a:t> may be easily aerosolized and may be inhaled from areas heavily contaminated with feces or vomit. </a:t>
            </a:r>
            <a:r>
              <a:rPr lang="en-US" sz="2400" dirty="0" err="1">
                <a:latin typeface="Times New Roman" pitchFamily="18" charset="0"/>
                <a:cs typeface="Times New Roman" pitchFamily="18" charset="0"/>
              </a:rPr>
              <a:t>Cohorting</a:t>
            </a:r>
            <a:r>
              <a:rPr lang="en-US" sz="2400" dirty="0">
                <a:latin typeface="Times New Roman" pitchFamily="18" charset="0"/>
                <a:cs typeface="Times New Roman" pitchFamily="18" charset="0"/>
              </a:rPr>
              <a:t> of affected patients to separate airspaces and toilet facilities may help interrupt transmission during outbreaks</a:t>
            </a:r>
            <a:r>
              <a:rPr lang="en-US" dirty="0" smtClean="0"/>
              <a:t>..</a:t>
            </a:r>
            <a:endParaRPr lang="en-US" dirty="0"/>
          </a:p>
          <a:p>
            <a:endParaRPr lang="en-US" dirty="0"/>
          </a:p>
        </p:txBody>
      </p:sp>
    </p:spTree>
    <p:extLst>
      <p:ext uri="{BB962C8B-B14F-4D97-AF65-F5344CB8AC3E}">
        <p14:creationId xmlns:p14="http://schemas.microsoft.com/office/powerpoint/2010/main" val="23473677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i="1" dirty="0">
                <a:latin typeface="Times New Roman" pitchFamily="18" charset="0"/>
                <a:cs typeface="Times New Roman" pitchFamily="18" charset="0"/>
              </a:rPr>
              <a:t>Clostridium </a:t>
            </a:r>
            <a:r>
              <a:rPr lang="en-US" sz="4000" i="1" dirty="0" err="1" smtClean="0">
                <a:latin typeface="Times New Roman" pitchFamily="18" charset="0"/>
                <a:cs typeface="Times New Roman" pitchFamily="18" charset="0"/>
              </a:rPr>
              <a:t>difficile</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910664"/>
          </a:xfrm>
        </p:spPr>
        <p:txBody>
          <a:bodyPr>
            <a:normAutofit fontScale="25000" lnSpcReduction="20000"/>
          </a:bodyPr>
          <a:lstStyle/>
          <a:p>
            <a:pPr>
              <a:lnSpc>
                <a:spcPct val="170000"/>
              </a:lnSpc>
            </a:pPr>
            <a:r>
              <a:rPr lang="en-US" sz="7200" dirty="0">
                <a:latin typeface="Times New Roman" pitchFamily="18" charset="0"/>
                <a:cs typeface="Times New Roman" pitchFamily="18" charset="0"/>
              </a:rPr>
              <a:t>The use of antibiotics is associated with some types of health care-associated diarrhea, especially </a:t>
            </a:r>
            <a:r>
              <a:rPr lang="en-US" sz="7200" i="1" dirty="0">
                <a:latin typeface="Times New Roman" pitchFamily="18" charset="0"/>
                <a:cs typeface="Times New Roman" pitchFamily="18" charset="0"/>
              </a:rPr>
              <a:t>C. </a:t>
            </a:r>
            <a:r>
              <a:rPr lang="en-US" sz="7200" i="1" dirty="0" err="1" smtClean="0">
                <a:latin typeface="Times New Roman" pitchFamily="18" charset="0"/>
                <a:cs typeface="Times New Roman" pitchFamily="18" charset="0"/>
              </a:rPr>
              <a:t>difficile</a:t>
            </a:r>
            <a:r>
              <a:rPr lang="en-US" sz="7200" i="1" dirty="0" smtClean="0">
                <a:latin typeface="Times New Roman" pitchFamily="18" charset="0"/>
                <a:cs typeface="Times New Roman" pitchFamily="18" charset="0"/>
              </a:rPr>
              <a:t>. </a:t>
            </a:r>
            <a:endParaRPr lang="en-US" sz="7200" dirty="0">
              <a:latin typeface="Times New Roman" pitchFamily="18" charset="0"/>
              <a:cs typeface="Times New Roman" pitchFamily="18" charset="0"/>
            </a:endParaRPr>
          </a:p>
          <a:p>
            <a:pPr>
              <a:lnSpc>
                <a:spcPct val="170000"/>
              </a:lnSpc>
            </a:pPr>
            <a:r>
              <a:rPr lang="en-US" sz="7200" dirty="0">
                <a:latin typeface="Times New Roman" pitchFamily="18" charset="0"/>
                <a:cs typeface="Times New Roman" pitchFamily="18" charset="0"/>
              </a:rPr>
              <a:t>In high-income countries, </a:t>
            </a:r>
            <a:r>
              <a:rPr lang="en-US" sz="7200" i="1" dirty="0">
                <a:latin typeface="Times New Roman" pitchFamily="18" charset="0"/>
                <a:cs typeface="Times New Roman" pitchFamily="18" charset="0"/>
              </a:rPr>
              <a:t>C. </a:t>
            </a:r>
            <a:r>
              <a:rPr lang="en-US" sz="7200" i="1" dirty="0" err="1">
                <a:latin typeface="Times New Roman" pitchFamily="18" charset="0"/>
                <a:cs typeface="Times New Roman" pitchFamily="18" charset="0"/>
              </a:rPr>
              <a:t>difficile</a:t>
            </a:r>
            <a:r>
              <a:rPr lang="en-US" sz="7200" dirty="0">
                <a:latin typeface="Times New Roman" pitchFamily="18" charset="0"/>
                <a:cs typeface="Times New Roman" pitchFamily="18" charset="0"/>
              </a:rPr>
              <a:t> is the most common cause of health care-associated infectious diarrhea </a:t>
            </a:r>
          </a:p>
          <a:p>
            <a:pPr>
              <a:lnSpc>
                <a:spcPct val="170000"/>
              </a:lnSpc>
            </a:pPr>
            <a:r>
              <a:rPr lang="en-US" sz="7200" i="1" dirty="0" smtClean="0">
                <a:latin typeface="Times New Roman" pitchFamily="18" charset="0"/>
                <a:cs typeface="Times New Roman" pitchFamily="18" charset="0"/>
              </a:rPr>
              <a:t>C</a:t>
            </a:r>
            <a:r>
              <a:rPr lang="en-US" sz="7200" i="1" dirty="0">
                <a:latin typeface="Times New Roman" pitchFamily="18" charset="0"/>
                <a:cs typeface="Times New Roman" pitchFamily="18" charset="0"/>
              </a:rPr>
              <a:t>. </a:t>
            </a:r>
            <a:r>
              <a:rPr lang="en-US" sz="7200" i="1" dirty="0" err="1">
                <a:latin typeface="Times New Roman" pitchFamily="18" charset="0"/>
                <a:cs typeface="Times New Roman" pitchFamily="18" charset="0"/>
              </a:rPr>
              <a:t>difficile</a:t>
            </a:r>
            <a:r>
              <a:rPr lang="en-US" sz="7200" dirty="0">
                <a:latin typeface="Times New Roman" pitchFamily="18" charset="0"/>
                <a:cs typeface="Times New Roman" pitchFamily="18" charset="0"/>
              </a:rPr>
              <a:t> is a spore-forming, toxin-producing bacterium. </a:t>
            </a:r>
            <a:endParaRPr lang="en-US" sz="7200" dirty="0" smtClean="0">
              <a:latin typeface="Times New Roman" pitchFamily="18" charset="0"/>
              <a:cs typeface="Times New Roman" pitchFamily="18" charset="0"/>
            </a:endParaRPr>
          </a:p>
          <a:p>
            <a:pPr>
              <a:lnSpc>
                <a:spcPct val="170000"/>
              </a:lnSpc>
            </a:pPr>
            <a:r>
              <a:rPr lang="en-US" sz="7200" dirty="0" smtClean="0">
                <a:latin typeface="Times New Roman" pitchFamily="18" charset="0"/>
                <a:cs typeface="Times New Roman" pitchFamily="18" charset="0"/>
              </a:rPr>
              <a:t>The </a:t>
            </a:r>
            <a:r>
              <a:rPr lang="en-US" sz="7200" dirty="0">
                <a:latin typeface="Times New Roman" pitchFamily="18" charset="0"/>
                <a:cs typeface="Times New Roman" pitchFamily="18" charset="0"/>
              </a:rPr>
              <a:t>illness was previously known as “antibiotic-resistant diarrhea” or “pseudomembranous colitis.” </a:t>
            </a:r>
            <a:endParaRPr lang="en-US" sz="7200" dirty="0" smtClean="0">
              <a:latin typeface="Times New Roman" pitchFamily="18" charset="0"/>
              <a:cs typeface="Times New Roman" pitchFamily="18" charset="0"/>
            </a:endParaRPr>
          </a:p>
          <a:p>
            <a:pPr>
              <a:lnSpc>
                <a:spcPct val="170000"/>
              </a:lnSpc>
            </a:pPr>
            <a:r>
              <a:rPr lang="en-US" sz="7200" dirty="0" smtClean="0">
                <a:latin typeface="Times New Roman" pitchFamily="18" charset="0"/>
                <a:cs typeface="Times New Roman" pitchFamily="18" charset="0"/>
              </a:rPr>
              <a:t>It </a:t>
            </a:r>
            <a:r>
              <a:rPr lang="en-US" sz="7200" dirty="0">
                <a:latin typeface="Times New Roman" pitchFamily="18" charset="0"/>
                <a:cs typeface="Times New Roman" pitchFamily="18" charset="0"/>
              </a:rPr>
              <a:t>is now being increasingly reported in LMIC. </a:t>
            </a:r>
          </a:p>
          <a:p>
            <a:endParaRPr lang="en-US" dirty="0"/>
          </a:p>
        </p:txBody>
      </p:sp>
    </p:spTree>
    <p:extLst>
      <p:ext uri="{BB962C8B-B14F-4D97-AF65-F5344CB8AC3E}">
        <p14:creationId xmlns:p14="http://schemas.microsoft.com/office/powerpoint/2010/main" val="33333306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119" y="1447800"/>
            <a:ext cx="60198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29875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a:latin typeface="Times New Roman" pitchFamily="18" charset="0"/>
                <a:cs typeface="Times New Roman" pitchFamily="18" charset="0"/>
              </a:rPr>
              <a:t>Risk </a:t>
            </a:r>
            <a:r>
              <a:rPr lang="en-US" sz="4000" dirty="0" smtClean="0">
                <a:latin typeface="Times New Roman" pitchFamily="18" charset="0"/>
                <a:cs typeface="Times New Roman" pitchFamily="18" charset="0"/>
              </a:rPr>
              <a:t>Factors for Diarrhea</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38400"/>
            <a:ext cx="9042555" cy="3910664"/>
          </a:xfrm>
        </p:spPr>
        <p:txBody>
          <a:bodyPr>
            <a:normAutofit fontScale="55000" lnSpcReduction="20000"/>
          </a:bodyPr>
          <a:lstStyle/>
          <a:p>
            <a:pPr algn="just">
              <a:lnSpc>
                <a:spcPct val="170000"/>
              </a:lnSpc>
            </a:pPr>
            <a:r>
              <a:rPr lang="en-US" dirty="0">
                <a:latin typeface="Times New Roman" pitchFamily="18" charset="0"/>
                <a:cs typeface="Times New Roman" pitchFamily="18" charset="0"/>
              </a:rPr>
              <a:t>E</a:t>
            </a:r>
            <a:r>
              <a:rPr lang="en-US" dirty="0" smtClean="0">
                <a:latin typeface="Times New Roman" pitchFamily="18" charset="0"/>
                <a:cs typeface="Times New Roman" pitchFamily="18" charset="0"/>
              </a:rPr>
              <a:t>xtremes </a:t>
            </a:r>
            <a:r>
              <a:rPr lang="en-US" dirty="0">
                <a:latin typeface="Times New Roman" pitchFamily="18" charset="0"/>
                <a:cs typeface="Times New Roman" pitchFamily="18" charset="0"/>
              </a:rPr>
              <a:t>of age (newborns and the elderly);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Poor </a:t>
            </a:r>
            <a:r>
              <a:rPr lang="en-US" dirty="0">
                <a:latin typeface="Times New Roman" pitchFamily="18" charset="0"/>
                <a:cs typeface="Times New Roman" pitchFamily="18" charset="0"/>
              </a:rPr>
              <a:t>nutrition;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Impaired </a:t>
            </a:r>
            <a:r>
              <a:rPr lang="en-US" dirty="0">
                <a:latin typeface="Times New Roman" pitchFamily="18" charset="0"/>
                <a:cs typeface="Times New Roman" pitchFamily="18" charset="0"/>
              </a:rPr>
              <a:t>immunity;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Decreased </a:t>
            </a:r>
            <a:r>
              <a:rPr lang="en-US" dirty="0">
                <a:latin typeface="Times New Roman" pitchFamily="18" charset="0"/>
                <a:cs typeface="Times New Roman" pitchFamily="18" charset="0"/>
              </a:rPr>
              <a:t>gastric acidity;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Disruption </a:t>
            </a:r>
            <a:r>
              <a:rPr lang="en-US" dirty="0">
                <a:latin typeface="Times New Roman" pitchFamily="18" charset="0"/>
                <a:cs typeface="Times New Roman" pitchFamily="18" charset="0"/>
              </a:rPr>
              <a:t>of normal GI function from medical or surgical conditions; and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Altered</a:t>
            </a:r>
            <a:r>
              <a:rPr lang="en-US" dirty="0">
                <a:latin typeface="Times New Roman" pitchFamily="18" charset="0"/>
                <a:cs typeface="Times New Roman" pitchFamily="18" charset="0"/>
              </a:rPr>
              <a:t>, protective microorganisms in the gut, which occur from antibiotic treatment. </a:t>
            </a:r>
          </a:p>
        </p:txBody>
      </p:sp>
    </p:spTree>
    <p:extLst>
      <p:ext uri="{BB962C8B-B14F-4D97-AF65-F5344CB8AC3E}">
        <p14:creationId xmlns:p14="http://schemas.microsoft.com/office/powerpoint/2010/main" val="21238336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119" y="1030778"/>
            <a:ext cx="10591800" cy="1188426"/>
          </a:xfrm>
        </p:spPr>
        <p:txBody>
          <a:bodyPr/>
          <a:lstStyle/>
          <a:p>
            <a:pPr>
              <a:lnSpc>
                <a:spcPct val="150000"/>
              </a:lnSpc>
            </a:pPr>
            <a:r>
              <a:rPr lang="en-US" sz="2800" dirty="0">
                <a:latin typeface="Times New Roman" pitchFamily="18" charset="0"/>
                <a:cs typeface="Times New Roman" pitchFamily="18" charset="0"/>
              </a:rPr>
              <a:t>Preventing Transmission of Health Care-Associated Diarrhea from Patients </a:t>
            </a:r>
          </a:p>
        </p:txBody>
      </p:sp>
      <p:sp>
        <p:nvSpPr>
          <p:cNvPr id="3" name="Content Placeholder 2"/>
          <p:cNvSpPr>
            <a:spLocks noGrp="1"/>
          </p:cNvSpPr>
          <p:nvPr>
            <p:ph idx="1"/>
          </p:nvPr>
        </p:nvSpPr>
        <p:spPr>
          <a:xfrm>
            <a:off x="1565272" y="2490136"/>
            <a:ext cx="9042555" cy="3758264"/>
          </a:xfrm>
        </p:spPr>
        <p:txBody>
          <a:bodyPr>
            <a:normAutofit/>
          </a:bodyPr>
          <a:lstStyle/>
          <a:p>
            <a:pPr algn="just">
              <a:lnSpc>
                <a:spcPct val="150000"/>
              </a:lnSpc>
            </a:pPr>
            <a:r>
              <a:rPr lang="en-US" sz="2800" dirty="0">
                <a:latin typeface="Times New Roman" pitchFamily="18" charset="0"/>
                <a:cs typeface="Times New Roman" pitchFamily="18" charset="0"/>
              </a:rPr>
              <a:t>Prevention and control of health care-associated diarrhea includes </a:t>
            </a:r>
            <a:endParaRPr lang="en-US" sz="2800" dirty="0" smtClean="0">
              <a:latin typeface="Times New Roman" pitchFamily="18" charset="0"/>
              <a:cs typeface="Times New Roman" pitchFamily="18" charset="0"/>
            </a:endParaRPr>
          </a:p>
          <a:p>
            <a:pPr lvl="1" algn="just">
              <a:lnSpc>
                <a:spcPct val="150000"/>
              </a:lnSpc>
            </a:pPr>
            <a:r>
              <a:rPr lang="en-US" dirty="0">
                <a:latin typeface="Times New Roman" pitchFamily="18" charset="0"/>
                <a:cs typeface="Times New Roman" pitchFamily="18" charset="0"/>
              </a:rPr>
              <a:t>Breaking the disease transmission cycle typical for GI infections (fecal-oral route).</a:t>
            </a:r>
          </a:p>
          <a:p>
            <a:pPr lvl="1" algn="just">
              <a:lnSpc>
                <a:spcPct val="150000"/>
              </a:lnSpc>
            </a:pPr>
            <a:r>
              <a:rPr lang="en-US" dirty="0" smtClean="0">
                <a:latin typeface="Times New Roman" pitchFamily="18" charset="0"/>
                <a:cs typeface="Times New Roman" pitchFamily="18" charset="0"/>
              </a:rPr>
              <a:t>Use </a:t>
            </a:r>
            <a:r>
              <a:rPr lang="en-US" dirty="0">
                <a:latin typeface="Times New Roman" pitchFamily="18" charset="0"/>
                <a:cs typeface="Times New Roman" pitchFamily="18" charset="0"/>
              </a:rPr>
              <a:t>of standard and transmission based precaution </a:t>
            </a:r>
          </a:p>
        </p:txBody>
      </p:sp>
    </p:spTree>
    <p:extLst>
      <p:ext uri="{BB962C8B-B14F-4D97-AF65-F5344CB8AC3E}">
        <p14:creationId xmlns:p14="http://schemas.microsoft.com/office/powerpoint/2010/main" val="7160214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i="1" dirty="0">
                <a:latin typeface="Times New Roman" pitchFamily="18" charset="0"/>
                <a:cs typeface="Times New Roman" pitchFamily="18" charset="0"/>
              </a:rPr>
              <a:t>These include</a:t>
            </a:r>
            <a:r>
              <a:rPr lang="en-US" i="1" dirty="0"/>
              <a:t>:</a:t>
            </a:r>
          </a:p>
        </p:txBody>
      </p:sp>
      <p:sp>
        <p:nvSpPr>
          <p:cNvPr id="3" name="Content Placeholder 2"/>
          <p:cNvSpPr>
            <a:spLocks noGrp="1"/>
          </p:cNvSpPr>
          <p:nvPr>
            <p:ph idx="1"/>
          </p:nvPr>
        </p:nvSpPr>
        <p:spPr>
          <a:xfrm>
            <a:off x="1565272" y="2438400"/>
            <a:ext cx="9087647" cy="3910664"/>
          </a:xfrm>
        </p:spPr>
        <p:txBody>
          <a:bodyPr>
            <a:normAutofit fontScale="55000" lnSpcReduction="20000"/>
          </a:bodyPr>
          <a:lstStyle/>
          <a:p>
            <a:pPr algn="just">
              <a:lnSpc>
                <a:spcPct val="170000"/>
              </a:lnSpc>
            </a:pPr>
            <a:r>
              <a:rPr lang="en-US" dirty="0">
                <a:latin typeface="Times New Roman" pitchFamily="18" charset="0"/>
                <a:cs typeface="Times New Roman" pitchFamily="18" charset="0"/>
              </a:rPr>
              <a:t>Performing hand hygiene </a:t>
            </a:r>
            <a:r>
              <a:rPr lang="en-US" dirty="0" smtClean="0">
                <a:latin typeface="Times New Roman" pitchFamily="18" charset="0"/>
                <a:cs typeface="Times New Roman" pitchFamily="18" charset="0"/>
              </a:rPr>
              <a:t>“5 Moments” ( For </a:t>
            </a:r>
            <a:r>
              <a:rPr lang="en-US" i="1" dirty="0" smtClean="0">
                <a:latin typeface="Times New Roman" pitchFamily="18" charset="0"/>
                <a:cs typeface="Times New Roman" pitchFamily="18" charset="0"/>
              </a:rPr>
              <a:t>C</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difficile</a:t>
            </a:r>
            <a:r>
              <a:rPr lang="en-US" dirty="0">
                <a:latin typeface="Times New Roman" pitchFamily="18" charset="0"/>
                <a:cs typeface="Times New Roman" pitchFamily="18" charset="0"/>
              </a:rPr>
              <a:t> and </a:t>
            </a:r>
            <a:r>
              <a:rPr lang="en-US" dirty="0" err="1" smtClean="0">
                <a:latin typeface="Times New Roman" pitchFamily="18" charset="0"/>
                <a:cs typeface="Times New Roman" pitchFamily="18" charset="0"/>
              </a:rPr>
              <a:t>norovirus</a:t>
            </a:r>
            <a:r>
              <a:rPr lang="en-US" dirty="0" err="1">
                <a:latin typeface="Times New Roman" pitchFamily="18" charset="0"/>
                <a:cs typeface="Times New Roman" pitchFamily="18" charset="0"/>
              </a:rPr>
              <a:t>use</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use of </a:t>
            </a:r>
            <a:r>
              <a:rPr lang="en-US" dirty="0">
                <a:latin typeface="Times New Roman" pitchFamily="18" charset="0"/>
                <a:cs typeface="Times New Roman" pitchFamily="18" charset="0"/>
              </a:rPr>
              <a:t>soap and water for hand hygiene is more </a:t>
            </a:r>
            <a:r>
              <a:rPr lang="en-US" dirty="0" smtClean="0">
                <a:latin typeface="Times New Roman" pitchFamily="18" charset="0"/>
                <a:cs typeface="Times New Roman" pitchFamily="18" charset="0"/>
              </a:rPr>
              <a:t>effective).</a:t>
            </a:r>
          </a:p>
          <a:p>
            <a:pPr algn="just">
              <a:lnSpc>
                <a:spcPct val="170000"/>
              </a:lnSpc>
            </a:pPr>
            <a:r>
              <a:rPr lang="en-US" dirty="0">
                <a:latin typeface="Times New Roman" pitchFamily="18" charset="0"/>
                <a:cs typeface="Times New Roman" pitchFamily="18" charset="0"/>
              </a:rPr>
              <a:t>Educating patients and family members about hand hygiene </a:t>
            </a:r>
            <a:endParaRPr lang="en-US" dirty="0" smtClean="0">
              <a:latin typeface="Times New Roman" pitchFamily="18" charset="0"/>
              <a:cs typeface="Times New Roman" pitchFamily="18" charset="0"/>
            </a:endParaRPr>
          </a:p>
          <a:p>
            <a:pPr algn="just">
              <a:lnSpc>
                <a:spcPct val="170000"/>
              </a:lnSpc>
            </a:pPr>
            <a:r>
              <a:rPr lang="en-US" dirty="0">
                <a:latin typeface="Times New Roman" pitchFamily="18" charset="0"/>
                <a:cs typeface="Times New Roman" pitchFamily="18" charset="0"/>
              </a:rPr>
              <a:t>P</a:t>
            </a:r>
            <a:r>
              <a:rPr lang="en-US" dirty="0" smtClean="0">
                <a:latin typeface="Times New Roman" pitchFamily="18" charset="0"/>
                <a:cs typeface="Times New Roman" pitchFamily="18" charset="0"/>
              </a:rPr>
              <a:t>ersonal </a:t>
            </a:r>
            <a:r>
              <a:rPr lang="en-US" dirty="0">
                <a:latin typeface="Times New Roman" pitchFamily="18" charset="0"/>
                <a:cs typeface="Times New Roman" pitchFamily="18" charset="0"/>
              </a:rPr>
              <a:t>protective equipment </a:t>
            </a:r>
            <a:r>
              <a:rPr lang="en-US" dirty="0" smtClean="0">
                <a:latin typeface="Times New Roman" pitchFamily="18" charset="0"/>
                <a:cs typeface="Times New Roman" pitchFamily="18" charset="0"/>
              </a:rPr>
              <a:t> (Based on Risk Assessment).</a:t>
            </a:r>
          </a:p>
          <a:p>
            <a:pPr algn="just">
              <a:lnSpc>
                <a:spcPct val="170000"/>
              </a:lnSpc>
            </a:pPr>
            <a:r>
              <a:rPr lang="en-US" dirty="0" smtClean="0">
                <a:latin typeface="Times New Roman" pitchFamily="18" charset="0"/>
                <a:cs typeface="Times New Roman" pitchFamily="18" charset="0"/>
              </a:rPr>
              <a:t>Environmental Cleanliness </a:t>
            </a:r>
          </a:p>
          <a:p>
            <a:pPr algn="just">
              <a:lnSpc>
                <a:spcPct val="170000"/>
              </a:lnSpc>
            </a:pPr>
            <a:r>
              <a:rPr lang="en-US" dirty="0">
                <a:latin typeface="Times New Roman" pitchFamily="18" charset="0"/>
                <a:cs typeface="Times New Roman" pitchFamily="18" charset="0"/>
              </a:rPr>
              <a:t>L</a:t>
            </a:r>
            <a:r>
              <a:rPr lang="en-US" dirty="0" smtClean="0">
                <a:latin typeface="Times New Roman" pitchFamily="18" charset="0"/>
                <a:cs typeface="Times New Roman" pitchFamily="18" charset="0"/>
              </a:rPr>
              <a:t>aundering </a:t>
            </a:r>
            <a:r>
              <a:rPr lang="en-US" dirty="0">
                <a:latin typeface="Times New Roman" pitchFamily="18" charset="0"/>
                <a:cs typeface="Times New Roman" pitchFamily="18" charset="0"/>
              </a:rPr>
              <a:t>health care </a:t>
            </a:r>
            <a:r>
              <a:rPr lang="en-US" dirty="0" smtClean="0">
                <a:latin typeface="Times New Roman" pitchFamily="18" charset="0"/>
                <a:cs typeface="Times New Roman" pitchFamily="18" charset="0"/>
              </a:rPr>
              <a:t>textiles</a:t>
            </a:r>
          </a:p>
          <a:p>
            <a:pPr algn="just">
              <a:lnSpc>
                <a:spcPct val="170000"/>
              </a:lnSpc>
            </a:pPr>
            <a:r>
              <a:rPr lang="en-US" dirty="0">
                <a:latin typeface="Times New Roman" pitchFamily="18" charset="0"/>
                <a:cs typeface="Times New Roman" pitchFamily="18" charset="0"/>
              </a:rPr>
              <a:t>waste management practices</a:t>
            </a:r>
          </a:p>
        </p:txBody>
      </p:sp>
    </p:spTree>
    <p:extLst>
      <p:ext uri="{BB962C8B-B14F-4D97-AF65-F5344CB8AC3E}">
        <p14:creationId xmlns:p14="http://schemas.microsoft.com/office/powerpoint/2010/main" val="26519509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919" y="1030778"/>
            <a:ext cx="10668000" cy="1188426"/>
          </a:xfrm>
        </p:spPr>
        <p:txBody>
          <a:bodyPr/>
          <a:lstStyle/>
          <a:p>
            <a:pPr>
              <a:lnSpc>
                <a:spcPct val="150000"/>
              </a:lnSpc>
            </a:pPr>
            <a:r>
              <a:rPr lang="en-US" sz="2800" dirty="0">
                <a:latin typeface="Times New Roman" pitchFamily="18" charset="0"/>
                <a:cs typeface="Times New Roman" pitchFamily="18" charset="0"/>
              </a:rPr>
              <a:t>Preventing Transmission of Health Care-Associated Diarrhea from Health Care Facility Staff</a:t>
            </a:r>
          </a:p>
        </p:txBody>
      </p:sp>
      <p:sp>
        <p:nvSpPr>
          <p:cNvPr id="3" name="Content Placeholder 2"/>
          <p:cNvSpPr>
            <a:spLocks noGrp="1"/>
          </p:cNvSpPr>
          <p:nvPr>
            <p:ph idx="1"/>
          </p:nvPr>
        </p:nvSpPr>
        <p:spPr>
          <a:xfrm>
            <a:off x="1565272" y="2362200"/>
            <a:ext cx="9042555" cy="4114800"/>
          </a:xfrm>
        </p:spPr>
        <p:txBody>
          <a:bodyPr>
            <a:normAutofit fontScale="55000" lnSpcReduction="20000"/>
          </a:bodyPr>
          <a:lstStyle/>
          <a:p>
            <a:pPr marL="0" indent="0" algn="just">
              <a:lnSpc>
                <a:spcPct val="170000"/>
              </a:lnSpc>
              <a:buNone/>
            </a:pPr>
            <a:r>
              <a:rPr lang="en-US" b="1" dirty="0">
                <a:latin typeface="Times New Roman" pitchFamily="18" charset="0"/>
                <a:cs typeface="Times New Roman" pitchFamily="18" charset="0"/>
              </a:rPr>
              <a:t>Clinical </a:t>
            </a:r>
            <a:r>
              <a:rPr lang="en-US" b="1" dirty="0" smtClean="0">
                <a:latin typeface="Times New Roman" pitchFamily="18" charset="0"/>
                <a:cs typeface="Times New Roman" pitchFamily="18" charset="0"/>
              </a:rPr>
              <a:t>Staff </a:t>
            </a:r>
            <a:endParaRPr lang="en-US" b="1" dirty="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With </a:t>
            </a:r>
            <a:r>
              <a:rPr lang="en-US" dirty="0">
                <a:latin typeface="Times New Roman" pitchFamily="18" charset="0"/>
                <a:cs typeface="Times New Roman" pitchFamily="18" charset="0"/>
              </a:rPr>
              <a:t>symptoms of diarrhea, with or without fever, nausea, vomiting, abdominal pain, and, should be excluded from all patient care duties for the duration of their illness.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They </a:t>
            </a:r>
            <a:r>
              <a:rPr lang="en-US" dirty="0">
                <a:latin typeface="Times New Roman" pitchFamily="18" charset="0"/>
                <a:cs typeface="Times New Roman" pitchFamily="18" charset="0"/>
              </a:rPr>
              <a:t>are more infectious during active disease.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They </a:t>
            </a:r>
            <a:r>
              <a:rPr lang="en-US" dirty="0">
                <a:latin typeface="Times New Roman" pitchFamily="18" charset="0"/>
                <a:cs typeface="Times New Roman" pitchFamily="18" charset="0"/>
              </a:rPr>
              <a:t>should return to duties only after they have fully recovered from the symptoms</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If </a:t>
            </a:r>
            <a:r>
              <a:rPr lang="en-US" dirty="0">
                <a:latin typeface="Times New Roman" pitchFamily="18" charset="0"/>
                <a:cs typeface="Times New Roman" pitchFamily="18" charset="0"/>
              </a:rPr>
              <a:t>laboratory services are available, clinical staff should return to duty caring for patients at high risk or with severe </a:t>
            </a:r>
            <a:r>
              <a:rPr lang="en-US" dirty="0" smtClean="0">
                <a:latin typeface="Times New Roman" pitchFamily="18" charset="0"/>
                <a:cs typeface="Times New Roman" pitchFamily="18" charset="0"/>
              </a:rPr>
              <a:t>diseases only </a:t>
            </a:r>
            <a:r>
              <a:rPr lang="en-US" dirty="0">
                <a:latin typeface="Times New Roman" pitchFamily="18" charset="0"/>
                <a:cs typeface="Times New Roman" pitchFamily="18" charset="0"/>
              </a:rPr>
              <a:t>after appropriate microbiological testing and </a:t>
            </a:r>
            <a:r>
              <a:rPr lang="en-US" dirty="0" smtClean="0">
                <a:latin typeface="Times New Roman" pitchFamily="18" charset="0"/>
                <a:cs typeface="Times New Roman" pitchFamily="18" charset="0"/>
              </a:rPr>
              <a:t>clearance.</a:t>
            </a:r>
            <a:endParaRPr lang="en-US" dirty="0">
              <a:latin typeface="Times New Roman" pitchFamily="18" charset="0"/>
              <a:cs typeface="Times New Roman" pitchFamily="18" charset="0"/>
            </a:endParaRPr>
          </a:p>
          <a:p>
            <a:pPr algn="just"/>
            <a:endParaRPr lang="en-US" dirty="0"/>
          </a:p>
        </p:txBody>
      </p:sp>
    </p:spTree>
    <p:extLst>
      <p:ext uri="{BB962C8B-B14F-4D97-AF65-F5344CB8AC3E}">
        <p14:creationId xmlns:p14="http://schemas.microsoft.com/office/powerpoint/2010/main" val="21694588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119" y="1030778"/>
            <a:ext cx="10515600" cy="1188426"/>
          </a:xfrm>
        </p:spPr>
        <p:txBody>
          <a:bodyPr/>
          <a:lstStyle/>
          <a:p>
            <a:pPr>
              <a:lnSpc>
                <a:spcPct val="150000"/>
              </a:lnSpc>
            </a:pPr>
            <a:r>
              <a:rPr lang="en-US" sz="2400" dirty="0">
                <a:latin typeface="Times New Roman" pitchFamily="18" charset="0"/>
                <a:cs typeface="Times New Roman" pitchFamily="18" charset="0"/>
              </a:rPr>
              <a:t>Preventing Transmission of Health Care-Associated Diarrhea from Health Care Facility </a:t>
            </a:r>
            <a:r>
              <a:rPr lang="en-US" sz="2400" dirty="0" smtClean="0">
                <a:latin typeface="Times New Roman" pitchFamily="18" charset="0"/>
                <a:cs typeface="Times New Roman" pitchFamily="18" charset="0"/>
              </a:rPr>
              <a:t>Staff cont’d</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4139264"/>
          </a:xfrm>
        </p:spPr>
        <p:txBody>
          <a:bodyPr>
            <a:normAutofit fontScale="55000" lnSpcReduction="20000"/>
          </a:bodyPr>
          <a:lstStyle/>
          <a:p>
            <a:pPr marL="0" indent="0" algn="just">
              <a:lnSpc>
                <a:spcPct val="170000"/>
              </a:lnSpc>
              <a:buNone/>
            </a:pPr>
            <a:r>
              <a:rPr lang="en-US" b="1" dirty="0">
                <a:latin typeface="Times New Roman" pitchFamily="18" charset="0"/>
                <a:cs typeface="Times New Roman" pitchFamily="18" charset="0"/>
              </a:rPr>
              <a:t>Foodservice Personnel</a:t>
            </a:r>
            <a:endParaRPr lang="en-US" dirty="0">
              <a:latin typeface="Times New Roman" pitchFamily="18" charset="0"/>
              <a:cs typeface="Times New Roman" pitchFamily="18" charset="0"/>
            </a:endParaRPr>
          </a:p>
          <a:p>
            <a:pPr algn="just">
              <a:lnSpc>
                <a:spcPct val="170000"/>
              </a:lnSpc>
            </a:pPr>
            <a:r>
              <a:rPr lang="en-US" dirty="0">
                <a:latin typeface="Times New Roman" pitchFamily="18" charset="0"/>
                <a:cs typeface="Times New Roman" pitchFamily="18" charset="0"/>
              </a:rPr>
              <a:t>Foodservice staff with diarrhea symptoms of, with and without fever, nausea, vomiting, abdominal pain, should be excluded from all kitchen duties for the duration of their illness. </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They </a:t>
            </a:r>
            <a:r>
              <a:rPr lang="en-US" dirty="0">
                <a:latin typeface="Times New Roman" pitchFamily="18" charset="0"/>
                <a:cs typeface="Times New Roman" pitchFamily="18" charset="0"/>
              </a:rPr>
              <a:t>should receive medical care and return to work only when cleared by the occupational health department or designated medical staff in consultation with the IPC team in accordance with local laws and regulations</a:t>
            </a:r>
          </a:p>
          <a:p>
            <a:pPr algn="just">
              <a:lnSpc>
                <a:spcPct val="170000"/>
              </a:lnSpc>
            </a:pPr>
            <a:r>
              <a:rPr lang="en-US" dirty="0">
                <a:latin typeface="Times New Roman" pitchFamily="18" charset="0"/>
                <a:cs typeface="Times New Roman" pitchFamily="18" charset="0"/>
              </a:rPr>
              <a:t>Systems for identifying symptomatic foodservice personnel should be in place to prevent ill persons from working in the foodservices area.</a:t>
            </a:r>
          </a:p>
          <a:p>
            <a:pPr algn="just"/>
            <a:endParaRPr lang="en-US" dirty="0"/>
          </a:p>
        </p:txBody>
      </p:sp>
    </p:spTree>
    <p:extLst>
      <p:ext uri="{BB962C8B-B14F-4D97-AF65-F5344CB8AC3E}">
        <p14:creationId xmlns:p14="http://schemas.microsoft.com/office/powerpoint/2010/main" val="1753408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6519" y="1030778"/>
            <a:ext cx="9296400" cy="1188426"/>
          </a:xfrm>
        </p:spPr>
        <p:txBody>
          <a:bodyPr/>
          <a:lstStyle/>
          <a:p>
            <a:pPr>
              <a:lnSpc>
                <a:spcPct val="150000"/>
              </a:lnSpc>
            </a:pPr>
            <a:r>
              <a:rPr lang="en-US" sz="3600" dirty="0">
                <a:latin typeface="Times New Roman" pitchFamily="18" charset="0"/>
                <a:cs typeface="Times New Roman" pitchFamily="18" charset="0"/>
              </a:rPr>
              <a:t>Managing Outbreaks of </a:t>
            </a:r>
            <a:r>
              <a:rPr lang="en-US" sz="3600" dirty="0" smtClean="0">
                <a:latin typeface="Times New Roman" pitchFamily="18" charset="0"/>
                <a:cs typeface="Times New Roman" pitchFamily="18" charset="0"/>
              </a:rPr>
              <a:t>Diarrheal Illness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286000"/>
            <a:ext cx="9042555" cy="4191000"/>
          </a:xfrm>
        </p:spPr>
        <p:txBody>
          <a:bodyPr>
            <a:normAutofit fontScale="62500" lnSpcReduction="20000"/>
          </a:bodyPr>
          <a:lstStyle/>
          <a:p>
            <a:pPr algn="just">
              <a:lnSpc>
                <a:spcPct val="170000"/>
              </a:lnSpc>
              <a:buNone/>
            </a:pPr>
            <a:r>
              <a:rPr lang="en-US" dirty="0">
                <a:latin typeface="Times New Roman" pitchFamily="18" charset="0"/>
                <a:cs typeface="Times New Roman" pitchFamily="18" charset="0"/>
              </a:rPr>
              <a:t>Determine if there is an outbreak:</a:t>
            </a:r>
          </a:p>
          <a:p>
            <a:pPr algn="just">
              <a:lnSpc>
                <a:spcPct val="170000"/>
              </a:lnSpc>
            </a:pPr>
            <a:r>
              <a:rPr lang="en-US" dirty="0" smtClean="0">
                <a:latin typeface="Times New Roman" pitchFamily="18" charset="0"/>
                <a:cs typeface="Times New Roman" pitchFamily="18" charset="0"/>
              </a:rPr>
              <a:t>Identify </a:t>
            </a:r>
            <a:r>
              <a:rPr lang="en-US" dirty="0">
                <a:latin typeface="Times New Roman" pitchFamily="18" charset="0"/>
                <a:cs typeface="Times New Roman" pitchFamily="18" charset="0"/>
              </a:rPr>
              <a:t>factors common to all or most </a:t>
            </a:r>
            <a:r>
              <a:rPr lang="en-US" dirty="0" smtClean="0">
                <a:latin typeface="Times New Roman" pitchFamily="18" charset="0"/>
                <a:cs typeface="Times New Roman" pitchFamily="18" charset="0"/>
              </a:rPr>
              <a:t>cases</a:t>
            </a:r>
          </a:p>
          <a:p>
            <a:pPr algn="just">
              <a:lnSpc>
                <a:spcPct val="170000"/>
              </a:lnSpc>
            </a:pPr>
            <a:r>
              <a:rPr lang="en-US" dirty="0">
                <a:latin typeface="Times New Roman" pitchFamily="18" charset="0"/>
                <a:cs typeface="Times New Roman" pitchFamily="18" charset="0"/>
              </a:rPr>
              <a:t>Conduct interviews with initial cases </a:t>
            </a:r>
            <a:endParaRPr lang="en-US" dirty="0" smtClean="0">
              <a:latin typeface="Times New Roman" pitchFamily="18" charset="0"/>
              <a:cs typeface="Times New Roman" pitchFamily="18" charset="0"/>
            </a:endParaRPr>
          </a:p>
          <a:p>
            <a:pPr lvl="0" algn="just">
              <a:lnSpc>
                <a:spcPct val="170000"/>
              </a:lnSpc>
            </a:pPr>
            <a:r>
              <a:rPr lang="en-US" dirty="0">
                <a:latin typeface="Times New Roman" pitchFamily="18" charset="0"/>
                <a:cs typeface="Times New Roman" pitchFamily="18" charset="0"/>
              </a:rPr>
              <a:t>Conduct an observation of practices and infrastructure on site</a:t>
            </a:r>
            <a:r>
              <a:rPr lang="en-US" dirty="0" smtClean="0">
                <a:latin typeface="Times New Roman" pitchFamily="18" charset="0"/>
                <a:cs typeface="Times New Roman" pitchFamily="18" charset="0"/>
              </a:rPr>
              <a:t>: (hand hygiene, PPE, Environmental clearing, decontamination, staff screening, food and water handling)</a:t>
            </a:r>
          </a:p>
          <a:p>
            <a:pPr lvl="0" algn="just">
              <a:lnSpc>
                <a:spcPct val="170000"/>
              </a:lnSpc>
            </a:pPr>
            <a:r>
              <a:rPr lang="en-US" dirty="0" smtClean="0">
                <a:latin typeface="Times New Roman" pitchFamily="18" charset="0"/>
                <a:cs typeface="Times New Roman" pitchFamily="18" charset="0"/>
              </a:rPr>
              <a:t>Additional Action  (Transmission based precaution,  sharing of equipment,  separate space for staff,  Patient discharge and admission)</a:t>
            </a:r>
            <a:endParaRPr lang="en-US" dirty="0">
              <a:latin typeface="Times New Roman" pitchFamily="18" charset="0"/>
              <a:cs typeface="Times New Roman" pitchFamily="18" charset="0"/>
            </a:endParaRPr>
          </a:p>
          <a:p>
            <a:pPr algn="just">
              <a:lnSpc>
                <a:spcPct val="170000"/>
              </a:lnSpc>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50039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Summary</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490136"/>
            <a:ext cx="9042555" cy="3834464"/>
          </a:xfrm>
        </p:spPr>
        <p:txBody>
          <a:bodyPr>
            <a:normAutofit fontScale="77500" lnSpcReduction="20000"/>
          </a:bodyPr>
          <a:lstStyle/>
          <a:p>
            <a:pPr algn="just">
              <a:lnSpc>
                <a:spcPct val="170000"/>
              </a:lnSpc>
            </a:pPr>
            <a:r>
              <a:rPr lang="en-US" sz="3000" dirty="0">
                <a:latin typeface="Times New Roman" pitchFamily="18" charset="0"/>
                <a:cs typeface="Times New Roman" pitchFamily="18" charset="0"/>
              </a:rPr>
              <a:t>Health care-associated diarrhea is a commonly experienced health care-associated infection in all health care settings.</a:t>
            </a:r>
          </a:p>
          <a:p>
            <a:pPr algn="just">
              <a:lnSpc>
                <a:spcPct val="170000"/>
              </a:lnSpc>
            </a:pPr>
            <a:r>
              <a:rPr lang="en-US" sz="3000" dirty="0">
                <a:latin typeface="Times New Roman" pitchFamily="18" charset="0"/>
                <a:cs typeface="Times New Roman" pitchFamily="18" charset="0"/>
              </a:rPr>
              <a:t>However, simple IPC interventions, such as hand hygiene, environmental cleaning, food and water safety, and appropriate patient education activities, can have a great impact on reducing harm to patients from acquiring infectious diarrhea from their hospital stay.</a:t>
            </a:r>
          </a:p>
          <a:p>
            <a:pPr algn="just"/>
            <a:endParaRPr lang="en-US" dirty="0"/>
          </a:p>
        </p:txBody>
      </p:sp>
    </p:spTree>
    <p:extLst>
      <p:ext uri="{BB962C8B-B14F-4D97-AF65-F5344CB8AC3E}">
        <p14:creationId xmlns:p14="http://schemas.microsoft.com/office/powerpoint/2010/main" val="33518257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Presentation1" id="{FF8D033B-E2B8-2549-8206-D2592AE46FED}" vid="{E3C3ECE2-B6B8-A844-8217-32346E25080D}"/>
    </a:ext>
  </a:extLst>
</a:theme>
</file>

<file path=docProps/app.xml><?xml version="1.0" encoding="utf-8"?>
<Properties xmlns="http://schemas.openxmlformats.org/officeDocument/2006/extended-properties" xmlns:vt="http://schemas.openxmlformats.org/officeDocument/2006/docPropsVTypes">
  <Template>Theme5</Template>
  <TotalTime>693</TotalTime>
  <Words>1176</Words>
  <Application>Microsoft Office PowerPoint</Application>
  <PresentationFormat>Custom</PresentationFormat>
  <Paragraphs>100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Theme5</vt:lpstr>
      <vt:lpstr>  Volume 2_Section 4 Chapter 24: Preventing HAI Diarrhea</vt:lpstr>
      <vt:lpstr>Chapter Outline</vt:lpstr>
      <vt:lpstr> Chapter Content </vt:lpstr>
      <vt:lpstr>Learning Objection</vt:lpstr>
      <vt:lpstr>Overview</vt:lpstr>
      <vt:lpstr>Overview cont’d…</vt:lpstr>
      <vt:lpstr>Situations that favor the spread of infection</vt:lpstr>
      <vt:lpstr>Microbiology</vt:lpstr>
      <vt:lpstr>Bacterial Gastroenteritis</vt:lpstr>
      <vt:lpstr>Rotavirus </vt:lpstr>
      <vt:lpstr>Noroviruses (Norwalk and Caliciviruses)</vt:lpstr>
      <vt:lpstr>Noroviruses (Norwalk and Caliciviruses) cont’d…</vt:lpstr>
      <vt:lpstr>Clostridium difficile</vt:lpstr>
      <vt:lpstr>PowerPoint Presentation</vt:lpstr>
      <vt:lpstr>Risk Factors for Diarrhea</vt:lpstr>
      <vt:lpstr>Preventing Transmission of Health Care-Associated Diarrhea from Patients </vt:lpstr>
      <vt:lpstr>These include:</vt:lpstr>
      <vt:lpstr>Preventing Transmission of Health Care-Associated Diarrhea from Health Care Facility Staff</vt:lpstr>
      <vt:lpstr>Preventing Transmission of Health Care-Associated Diarrhea from Health Care Facility Staff cont’d…</vt:lpstr>
      <vt:lpstr>Managing Outbreaks of Diarrheal Illness</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2_Section 4  Chapter 24: Preventing HAI Diarrhea</dc:title>
  <dc:creator>user</dc:creator>
  <cp:lastModifiedBy>moh</cp:lastModifiedBy>
  <cp:revision>48</cp:revision>
  <dcterms:created xsi:type="dcterms:W3CDTF">2019-01-01T09:15:58Z</dcterms:created>
  <dcterms:modified xsi:type="dcterms:W3CDTF">2019-09-27T06:39:31Z</dcterms:modified>
</cp:coreProperties>
</file>