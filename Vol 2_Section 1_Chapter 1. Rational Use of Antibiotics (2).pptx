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notesMasterIdLst>
    <p:notesMasterId r:id="rId16"/>
  </p:notesMasterIdLst>
  <p:sldIdLst>
    <p:sldId id="304" r:id="rId2"/>
    <p:sldId id="317" r:id="rId3"/>
    <p:sldId id="306" r:id="rId4"/>
    <p:sldId id="318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</p:sldIdLst>
  <p:sldSz cx="121618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486" y="18"/>
      </p:cViewPr>
      <p:guideLst>
        <p:guide orient="horz" pos="2160"/>
        <p:guide pos="38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4FD2E-C0D3-40B5-8DD1-9D796D061956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3C637-F117-4624-A596-DF844667A7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3098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109831"/>
            <a:ext cx="12335579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3419" y="1879926"/>
            <a:ext cx="7741314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 smtClean="0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509" y="3597481"/>
            <a:ext cx="5956820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42948" y="4972192"/>
            <a:ext cx="1293001" cy="361810"/>
          </a:xfrm>
        </p:spPr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56239" y="4972194"/>
            <a:ext cx="4986707" cy="36180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9329" y="4972193"/>
            <a:ext cx="965806" cy="361809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86438" y="3471329"/>
            <a:ext cx="680057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963090" y="76751"/>
            <a:ext cx="4028810" cy="1229383"/>
            <a:chOff x="2823850" y="0"/>
            <a:chExt cx="3344655" cy="1558429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52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700403" y="235626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1030778"/>
            <a:ext cx="9042553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54593" y="5960533"/>
            <a:ext cx="1130796" cy="279400"/>
          </a:xfrm>
        </p:spPr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85389" y="5960533"/>
            <a:ext cx="963150" cy="279400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0403" y="1641413"/>
            <a:ext cx="8772290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0403" y="3734860"/>
            <a:ext cx="8772290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81785" y="5960533"/>
            <a:ext cx="1151331" cy="279400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0405" y="3599392"/>
            <a:ext cx="877228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00403" y="235626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052394"/>
            <a:ext cx="9042553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5273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8214" y="2487168"/>
            <a:ext cx="4439071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81784" y="5934457"/>
            <a:ext cx="1018658" cy="305477"/>
          </a:xfrm>
        </p:spPr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5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5275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798" y="2658533"/>
            <a:ext cx="443907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798" y="3243263"/>
            <a:ext cx="4439071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700404" y="235467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2" y="915338"/>
            <a:ext cx="904255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0404" y="235467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388534"/>
            <a:ext cx="3374030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826" y="982133"/>
            <a:ext cx="5128001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1" y="3031065"/>
            <a:ext cx="3374030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700404" y="2912533"/>
            <a:ext cx="310376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1883832"/>
            <a:ext cx="48309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93663" y="1032933"/>
            <a:ext cx="3896288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2" y="3255432"/>
            <a:ext cx="4830954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4815415"/>
            <a:ext cx="9042553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4961" y="1032934"/>
            <a:ext cx="9431918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5273" y="5382153"/>
            <a:ext cx="9042553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3" y="906873"/>
            <a:ext cx="9042553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275666"/>
            <a:ext cx="9042555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0404" y="4140199"/>
            <a:ext cx="878677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709" y="982132"/>
            <a:ext cx="8512555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28322" y="3352800"/>
            <a:ext cx="7837626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69" y="4343401"/>
            <a:ext cx="904255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30489" y="905362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2825" y="2827870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700404" y="4140199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7" y="3308581"/>
            <a:ext cx="904254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6" y="4777381"/>
            <a:ext cx="9042547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4573" y="982132"/>
            <a:ext cx="8412693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639312"/>
            <a:ext cx="9042547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4529667"/>
            <a:ext cx="904255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167851" y="896895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74495" y="2607728"/>
            <a:ext cx="60825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700404" y="3429000"/>
            <a:ext cx="877229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5271" y="982132"/>
            <a:ext cx="9042553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65276" y="3566160"/>
            <a:ext cx="9042547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3" y="4470401"/>
            <a:ext cx="9042553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00409" y="3429000"/>
            <a:ext cx="878677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2" y="2490136"/>
            <a:ext cx="9042555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700404" y="2354670"/>
            <a:ext cx="87867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54588" y="906874"/>
            <a:ext cx="2153233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65275" y="906874"/>
            <a:ext cx="6537798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306748" y="906874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" y="0"/>
            <a:ext cx="12173099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65273" y="915338"/>
            <a:ext cx="9042553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5272" y="2490136"/>
            <a:ext cx="9042555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54593" y="5935133"/>
            <a:ext cx="895226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2EA2C9-3E80-4651-AEDB-66CBFBE914A4}" type="datetimeFigureOut">
              <a:rPr lang="en-US" smtClean="0"/>
              <a:pPr/>
              <a:t>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5272" y="5960533"/>
            <a:ext cx="6789385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9819" y="5960533"/>
            <a:ext cx="1258008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5D56BD6-1C83-49ED-A825-919C1466034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485653" y="4072"/>
            <a:ext cx="3201790" cy="981605"/>
            <a:chOff x="2823850" y="0"/>
            <a:chExt cx="3344655" cy="1466289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2823850" y="1037575"/>
              <a:ext cx="3344655" cy="428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57" y="372706"/>
            <a:ext cx="10995454" cy="452672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smtClean="0"/>
              <a:t>      </a:t>
            </a:r>
            <a:br>
              <a:rPr lang="en-US" b="1" dirty="0" smtClean="0"/>
            </a:br>
            <a:r>
              <a:rPr lang="en-US" b="1" dirty="0" smtClean="0"/>
              <a:t>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Volume 2: section1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Chapter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Rational Use of Antibiotics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4230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789" y="1295400"/>
            <a:ext cx="10438911" cy="990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Chapter Outline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835" y="2438400"/>
            <a:ext cx="9932168" cy="38100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Chapter Objective </a:t>
            </a:r>
          </a:p>
          <a:p>
            <a:pPr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PPP 1.1:Chapter contents</a:t>
            </a:r>
          </a:p>
          <a:p>
            <a:pPr marL="285750" lvl="1"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PPP 1.2:</a:t>
            </a:r>
            <a:r>
              <a:rPr lang="en-US" sz="2793" dirty="0" smtClean="0">
                <a:latin typeface="Times New Roman" pitchFamily="18" charset="0"/>
                <a:cs typeface="Times New Roman" pitchFamily="18" charset="0"/>
              </a:rPr>
              <a:t>Consequences and magnitude of antibiotic resistance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1"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PPP 1.3:</a:t>
            </a:r>
            <a:r>
              <a:rPr lang="en-US" sz="2793" dirty="0" smtClean="0">
                <a:latin typeface="Times New Roman" pitchFamily="18" charset="0"/>
                <a:cs typeface="Times New Roman" pitchFamily="18" charset="0"/>
              </a:rPr>
              <a:t>Causes of antibiotic resistance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1"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PPP 1.4:</a:t>
            </a:r>
            <a:r>
              <a:rPr lang="en-US" sz="2793" dirty="0" smtClean="0">
                <a:latin typeface="Times New Roman" pitchFamily="18" charset="0"/>
                <a:cs typeface="Times New Roman" pitchFamily="18" charset="0"/>
              </a:rPr>
              <a:t>Rational use of antibiotics </a:t>
            </a:r>
          </a:p>
          <a:p>
            <a:pPr marL="285750" lvl="1">
              <a:lnSpc>
                <a:spcPct val="160000"/>
              </a:lnSpc>
            </a:pPr>
            <a:endParaRPr lang="en-US" sz="2793" dirty="0" smtClean="0"/>
          </a:p>
          <a:p>
            <a:pPr>
              <a:lnSpc>
                <a:spcPct val="160000"/>
              </a:lnSpc>
            </a:pPr>
            <a:endParaRPr lang="en-US" dirty="0" smtClean="0"/>
          </a:p>
          <a:p>
            <a:pPr>
              <a:lnSpc>
                <a:spcPct val="160000"/>
              </a:lnSpc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92519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Chapter Content</a:t>
            </a:r>
            <a:r>
              <a:rPr lang="en-US" sz="3990" dirty="0"/>
              <a:t/>
            </a:r>
            <a:br>
              <a:rPr lang="en-US" sz="399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127" y="2776350"/>
            <a:ext cx="10489585" cy="3393815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Consequences and magnitude of antibiotic resistance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Causes of antibiotic resistance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Rational use of antibiotics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Promotion of rational use of antibiotics</a:t>
            </a:r>
          </a:p>
        </p:txBody>
      </p:sp>
    </p:spTree>
    <p:extLst>
      <p:ext uri="{BB962C8B-B14F-4D97-AF65-F5344CB8AC3E}">
        <p14:creationId xmlns:p14="http://schemas.microsoft.com/office/powerpoint/2010/main" xmlns="" val="3174265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chapter participants will be able to:</a:t>
            </a:r>
          </a:p>
          <a:p>
            <a:pPr marL="342043" indent="-342043">
              <a:lnSpc>
                <a:spcPct val="17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Explain Consequences and magnitude of antibiotic resistance </a:t>
            </a:r>
          </a:p>
          <a:p>
            <a:pPr marL="342043" indent="-342043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Identify the Causes of antibiotic resistance</a:t>
            </a:r>
          </a:p>
          <a:p>
            <a:pPr marL="342043" indent="-342043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Describe Rational use of antibiotics</a:t>
            </a:r>
          </a:p>
          <a:p>
            <a:pPr marL="342043" indent="-342043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Explain promotion of rational use of antibiotics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Overview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4500" dirty="0" smtClean="0">
                <a:latin typeface="Times New Roman" pitchFamily="18" charset="0"/>
                <a:cs typeface="Times New Roman" pitchFamily="18" charset="0"/>
              </a:rPr>
              <a:t>Antimicrobials </a:t>
            </a:r>
            <a:r>
              <a:rPr lang="en-US" sz="4500" dirty="0">
                <a:latin typeface="Times New Roman" pitchFamily="18" charset="0"/>
                <a:cs typeface="Times New Roman" pitchFamily="18" charset="0"/>
              </a:rPr>
              <a:t>have saved millions of lives and their use has contributed significantly to the control of infectious diseases, some of which were once the leading causes of morbidity and mortality worldwide </a:t>
            </a:r>
            <a:endParaRPr lang="en-US" sz="4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4500" dirty="0">
                <a:latin typeface="Times New Roman" pitchFamily="18" charset="0"/>
                <a:cs typeface="Times New Roman" pitchFamily="18" charset="0"/>
              </a:rPr>
              <a:t>However, the use and misuse of antimicrobials have led to persistent expansion of antimicrobial resistance, thereby lowering the effectiveness of some of these drugs (e.g., </a:t>
            </a:r>
            <a:r>
              <a:rPr lang="en-US" sz="4500" dirty="0" err="1">
                <a:latin typeface="Times New Roman" pitchFamily="18" charset="0"/>
                <a:cs typeface="Times New Roman" pitchFamily="18" charset="0"/>
              </a:rPr>
              <a:t>chloroquine</a:t>
            </a:r>
            <a:r>
              <a:rPr lang="en-US" sz="4500" dirty="0">
                <a:latin typeface="Times New Roman" pitchFamily="18" charset="0"/>
                <a:cs typeface="Times New Roman" pitchFamily="18" charset="0"/>
              </a:rPr>
              <a:t> and penicillin</a:t>
            </a:r>
            <a:r>
              <a:rPr lang="en-US" sz="45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170000"/>
              </a:lnSpc>
            </a:pPr>
            <a:r>
              <a:rPr lang="en-US" sz="4500" dirty="0" smtClean="0">
                <a:latin typeface="Times New Roman" pitchFamily="18" charset="0"/>
                <a:cs typeface="Times New Roman" pitchFamily="18" charset="0"/>
              </a:rPr>
              <a:t>Therefore</a:t>
            </a:r>
            <a:r>
              <a:rPr lang="en-US" sz="4500" dirty="0">
                <a:latin typeface="Times New Roman" pitchFamily="18" charset="0"/>
                <a:cs typeface="Times New Roman" pitchFamily="18" charset="0"/>
              </a:rPr>
              <a:t>, improvements in the thoughtful use of antimicrobials must be a global priority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472397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2705"/>
            <a:ext cx="12161838" cy="132228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Consequences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and magnitude of Antibiotic Resistance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127" y="2556178"/>
            <a:ext cx="10489585" cy="36139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Antibiotic resistance makes it harder to treat infections were effectively treated a few decades ago.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Leads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increased medical costs, extended hospital stays, increased toxicity, adverse effects, and mortality. </a:t>
            </a:r>
          </a:p>
        </p:txBody>
      </p:sp>
    </p:spTree>
    <p:extLst>
      <p:ext uri="{BB962C8B-B14F-4D97-AF65-F5344CB8AC3E}">
        <p14:creationId xmlns:p14="http://schemas.microsoft.com/office/powerpoint/2010/main" xmlns="" val="321392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Magnitude of Antibiotic Resistance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3119" y="2286000"/>
            <a:ext cx="10502592" cy="388416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 smtClean="0"/>
              <a:t> 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WHO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has classified priority pathogens into three categories for which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new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antibiotics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should be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developed.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Priority 1: Critical </a:t>
            </a:r>
          </a:p>
          <a:p>
            <a:pPr>
              <a:lnSpc>
                <a:spcPct val="17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Priority 2: High</a:t>
            </a:r>
          </a:p>
          <a:p>
            <a:pPr>
              <a:lnSpc>
                <a:spcPct val="17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Priority 3. Medium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6836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Causes of Antibiotic Resistance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Natural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causes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Selective Pressure: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bacteria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are resistant to the antibiotic, the bacteria will survive and continue to grow.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Societal Contributions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Some antibiotic use practices by HCWs and communities create pressure that allows resistant organisms to survive and grow</a:t>
            </a:r>
          </a:p>
        </p:txBody>
      </p:sp>
    </p:spTree>
    <p:extLst>
      <p:ext uri="{BB962C8B-B14F-4D97-AF65-F5344CB8AC3E}">
        <p14:creationId xmlns:p14="http://schemas.microsoft.com/office/powerpoint/2010/main" xmlns="" val="2291959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Rational Use of Antibiotics 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Medications are used rationally when they are: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Clinically appropriate for the patient 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Prescribed in doses that meet the patient’s requirements 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Taken for the recommended time period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Taken at the recommended frequency 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lowest cost option for the patient and the community</a:t>
            </a:r>
          </a:p>
          <a:p>
            <a:pPr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93101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Determinants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of Irrational Use of Antibiotics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Lack of provider knowledge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Prescriber habits 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Non-availability of standard treatment guidelines 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Excessive promotion and incentives for prescribing </a:t>
            </a:r>
          </a:p>
          <a:p>
            <a:pPr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14472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Determinants …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127" y="2508999"/>
            <a:ext cx="10489585" cy="366116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Short consultations </a:t>
            </a:r>
          </a:p>
          <a:p>
            <a:pPr>
              <a:lnSpc>
                <a:spcPct val="170000"/>
              </a:lnSpc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Following practices of senior practitioners</a:t>
            </a:r>
          </a:p>
          <a:p>
            <a:pPr lvl="0">
              <a:lnSpc>
                <a:spcPct val="170000"/>
              </a:lnSpc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Perceived patient demand.</a:t>
            </a:r>
          </a:p>
          <a:p>
            <a:pPr>
              <a:lnSpc>
                <a:spcPct val="170000"/>
              </a:lnSpc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Lack of diagnostic and laboratory support</a:t>
            </a:r>
          </a:p>
          <a:p>
            <a:pPr>
              <a:lnSpc>
                <a:spcPct val="170000"/>
              </a:lnSpc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Inappropriate procurement of antibiotics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46710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Promoting Rational Use of Antibiotics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319" y="2209800"/>
            <a:ext cx="10489585" cy="4070055"/>
          </a:xfrm>
        </p:spPr>
        <p:txBody>
          <a:bodyPr>
            <a:normAutofit fontScale="25000" lnSpcReduction="20000"/>
          </a:bodyPr>
          <a:lstStyle/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A mandated multidisciplinary national body to coordinate the development of medicine use policies</a:t>
            </a:r>
          </a:p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Up-to-date standard treatment guidelines for prescribing antibiotics</a:t>
            </a:r>
          </a:p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An essential medicines list based on treatments of choice, consistent with standard treatment </a:t>
            </a:r>
            <a:r>
              <a:rPr lang="en-US" sz="7200" dirty="0" smtClean="0">
                <a:latin typeface="Times New Roman" pitchFamily="18" charset="0"/>
                <a:cs typeface="Times New Roman" pitchFamily="18" charset="0"/>
              </a:rPr>
              <a:t>guidelines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Drugs and therapeutics committees to oversee antibiotic use in districts and health care facilities</a:t>
            </a:r>
          </a:p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Strengthening of pre-service curricula to include problem based pharmacotherapy</a:t>
            </a:r>
          </a:p>
          <a:p>
            <a:pPr lvl="0">
              <a:lnSpc>
                <a:spcPct val="170000"/>
              </a:lnSpc>
            </a:pPr>
            <a:r>
              <a:rPr lang="en-US" sz="7200" dirty="0">
                <a:latin typeface="Times New Roman" pitchFamily="18" charset="0"/>
                <a:cs typeface="Times New Roman" pitchFamily="18" charset="0"/>
              </a:rPr>
              <a:t>Continuing in-service medical education as a regulatory requirement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76801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Promoting 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Rational …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>
              <a:lnSpc>
                <a:spcPct val="17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Supervision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audits, and feedback on antibiotic use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Independent information on medicines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Avoidance of any financial incentives in order to prevent over-prescribing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Public education about rational use of medicines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Appropriate and enforced regulation</a:t>
            </a:r>
          </a:p>
          <a:p>
            <a:pPr lvl="0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Sufficient government expenditure to ensure availability of medicines and trained staff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39097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Summary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> 	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Antibiotics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have become major components of healthcare interventions. The use and misuse of antibiotics have led to the emergence of multi-resistant strains.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IPC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staff can help prevent the irrational use of antibiotics and encourage the implementation of strategies that reduce the development of antibiotic resistance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483597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6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F8D033B-E2B8-2549-8206-D2592AE46FED}" vid="{E3C3ECE2-B6B8-A844-8217-32346E2508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Theme6</Template>
  <TotalTime>632</TotalTime>
  <Words>533</Words>
  <Application>Microsoft Office PowerPoint</Application>
  <PresentationFormat>Custom</PresentationFormat>
  <Paragraphs>70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Theme6</vt:lpstr>
      <vt:lpstr>        Volume 2: section1 Chapter 1. Rational Use of Antibiotics</vt:lpstr>
      <vt:lpstr>Chapter Outline</vt:lpstr>
      <vt:lpstr> Chapter Content </vt:lpstr>
      <vt:lpstr>Learning Objective</vt:lpstr>
      <vt:lpstr> Overview  </vt:lpstr>
      <vt:lpstr> Consequences and magnitude of Antibiotic Resistance</vt:lpstr>
      <vt:lpstr> Magnitude of Antibiotic Resistance </vt:lpstr>
      <vt:lpstr>Causes of Antibiotic Resistance</vt:lpstr>
      <vt:lpstr>Rational Use of Antibiotics </vt:lpstr>
      <vt:lpstr> Determinants of Irrational Use of Antibiotics </vt:lpstr>
      <vt:lpstr>Determinants …</vt:lpstr>
      <vt:lpstr>Promoting Rational Use of Antibiotics</vt:lpstr>
      <vt:lpstr>Promoting Rational …</vt:lpstr>
      <vt:lpstr>  Summary  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Infection Prevention and Patient Safety</dc:title>
  <dc:creator>user</dc:creator>
  <cp:lastModifiedBy>N</cp:lastModifiedBy>
  <cp:revision>69</cp:revision>
  <dcterms:created xsi:type="dcterms:W3CDTF">2018-12-17T08:49:22Z</dcterms:created>
  <dcterms:modified xsi:type="dcterms:W3CDTF">2020-01-01T16:54:58Z</dcterms:modified>
</cp:coreProperties>
</file>