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28"/>
  </p:notesMasterIdLst>
  <p:sldIdLst>
    <p:sldId id="256" r:id="rId2"/>
    <p:sldId id="321" r:id="rId3"/>
    <p:sldId id="305" r:id="rId4"/>
    <p:sldId id="306" r:id="rId5"/>
    <p:sldId id="322" r:id="rId6"/>
    <p:sldId id="323" r:id="rId7"/>
    <p:sldId id="307" r:id="rId8"/>
    <p:sldId id="324" r:id="rId9"/>
    <p:sldId id="308" r:id="rId10"/>
    <p:sldId id="309" r:id="rId11"/>
    <p:sldId id="310" r:id="rId12"/>
    <p:sldId id="311" r:id="rId13"/>
    <p:sldId id="312" r:id="rId14"/>
    <p:sldId id="313" r:id="rId15"/>
    <p:sldId id="314" r:id="rId16"/>
    <p:sldId id="315" r:id="rId17"/>
    <p:sldId id="316" r:id="rId18"/>
    <p:sldId id="325" r:id="rId19"/>
    <p:sldId id="317" r:id="rId20"/>
    <p:sldId id="318" r:id="rId21"/>
    <p:sldId id="326" r:id="rId22"/>
    <p:sldId id="327" r:id="rId23"/>
    <p:sldId id="319" r:id="rId24"/>
    <p:sldId id="320" r:id="rId25"/>
    <p:sldId id="328" r:id="rId26"/>
    <p:sldId id="329" r:id="rId27"/>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3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486" y="66"/>
      </p:cViewPr>
      <p:guideLst>
        <p:guide orient="horz" pos="2160"/>
        <p:guide pos="383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0A4FD2E-C0D3-40B5-8DD1-9D796D061956}" type="datetimeFigureOut">
              <a:rPr lang="en-US" smtClean="0"/>
              <a:pPr/>
              <a:t>9/26/2019</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93C637-F117-4624-A596-DF844667A77C}" type="slidenum">
              <a:rPr lang="en-US" smtClean="0"/>
              <a:pPr/>
              <a:t>‹#›</a:t>
            </a:fld>
            <a:endParaRPr lang="en-US"/>
          </a:p>
        </p:txBody>
      </p:sp>
    </p:spTree>
    <p:extLst>
      <p:ext uri="{BB962C8B-B14F-4D97-AF65-F5344CB8AC3E}">
        <p14:creationId xmlns:p14="http://schemas.microsoft.com/office/powerpoint/2010/main" val="53098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1" y="109831"/>
            <a:ext cx="12335579"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2203419" y="1879926"/>
            <a:ext cx="7741314"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3102509" y="3597481"/>
            <a:ext cx="5956820"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42948" y="4972192"/>
            <a:ext cx="1293001" cy="361810"/>
          </a:xfrm>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a:xfrm>
            <a:off x="2556239" y="4972194"/>
            <a:ext cx="4986707" cy="361809"/>
          </a:xfrm>
        </p:spPr>
        <p:txBody>
          <a:bodyPr/>
          <a:lstStyle/>
          <a:p>
            <a:endParaRPr lang="en-US"/>
          </a:p>
        </p:txBody>
      </p:sp>
      <p:sp>
        <p:nvSpPr>
          <p:cNvPr id="6" name="Slide Number Placeholder 5"/>
          <p:cNvSpPr>
            <a:spLocks noGrp="1"/>
          </p:cNvSpPr>
          <p:nvPr>
            <p:ph type="sldNum" sz="quarter" idx="12"/>
          </p:nvPr>
        </p:nvSpPr>
        <p:spPr>
          <a:xfrm>
            <a:off x="9059329" y="4972193"/>
            <a:ext cx="965806" cy="361809"/>
          </a:xfrm>
        </p:spPr>
        <p:txBody>
          <a:bodyPr/>
          <a:lstStyle/>
          <a:p>
            <a:fld id="{45D56BD6-1C83-49ED-A825-919C14660340}" type="slidenum">
              <a:rPr lang="en-US" smtClean="0"/>
              <a:pPr/>
              <a:t>‹#›</a:t>
            </a:fld>
            <a:endParaRPr lang="en-US"/>
          </a:p>
        </p:txBody>
      </p:sp>
      <p:cxnSp>
        <p:nvCxnSpPr>
          <p:cNvPr id="15" name="Straight Connector 14"/>
          <p:cNvCxnSpPr/>
          <p:nvPr/>
        </p:nvCxnSpPr>
        <p:spPr>
          <a:xfrm>
            <a:off x="2686438" y="3471329"/>
            <a:ext cx="6800578"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3963090" y="76751"/>
            <a:ext cx="4028810" cy="1229383"/>
            <a:chOff x="2823850" y="0"/>
            <a:chExt cx="3344655" cy="1558429"/>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520855"/>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700403" y="235626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5273" y="1030778"/>
            <a:ext cx="9042553"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454593" y="5960533"/>
            <a:ext cx="1130796" cy="279400"/>
          </a:xfrm>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85389" y="5960533"/>
            <a:ext cx="963150" cy="279400"/>
          </a:xfrm>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00403" y="1641413"/>
            <a:ext cx="8772290"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00403" y="3734860"/>
            <a:ext cx="8772290"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081785" y="5960533"/>
            <a:ext cx="1151331" cy="279400"/>
          </a:xfrm>
        </p:spPr>
        <p:txBody>
          <a:bodyPr/>
          <a:lstStyle/>
          <a:p>
            <a:fld id="{45D56BD6-1C83-49ED-A825-919C14660340}" type="slidenum">
              <a:rPr lang="en-US" smtClean="0"/>
              <a:pPr/>
              <a:t>‹#›</a:t>
            </a:fld>
            <a:endParaRPr lang="en-US"/>
          </a:p>
        </p:txBody>
      </p:sp>
      <p:cxnSp>
        <p:nvCxnSpPr>
          <p:cNvPr id="31" name="Straight Connector 30"/>
          <p:cNvCxnSpPr/>
          <p:nvPr/>
        </p:nvCxnSpPr>
        <p:spPr>
          <a:xfrm>
            <a:off x="1700405" y="3599392"/>
            <a:ext cx="877228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700403" y="235626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5271" y="1052394"/>
            <a:ext cx="9042553"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65273" y="2487168"/>
            <a:ext cx="4439071"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8214" y="2487168"/>
            <a:ext cx="4439071"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E2EA2C9-3E80-4651-AEDB-66CBFBE914A4}"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081784" y="5934457"/>
            <a:ext cx="1018658" cy="305477"/>
          </a:xfrm>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5275" y="2658533"/>
            <a:ext cx="443907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5275" y="3243263"/>
            <a:ext cx="4439071"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3798" y="2658533"/>
            <a:ext cx="443907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3798" y="3243263"/>
            <a:ext cx="4439071"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E2EA2C9-3E80-4651-AEDB-66CBFBE914A4}" type="datetimeFigureOut">
              <a:rPr lang="en-US" smtClean="0"/>
              <a:pPr/>
              <a:t>9/26/2019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D56BD6-1C83-49ED-A825-919C14660340}" type="slidenum">
              <a:rPr lang="en-US" smtClean="0"/>
              <a:pPr/>
              <a:t>‹#›</a:t>
            </a:fld>
            <a:endParaRPr lang="en-US"/>
          </a:p>
        </p:txBody>
      </p:sp>
      <p:cxnSp>
        <p:nvCxnSpPr>
          <p:cNvPr id="41" name="Straight Connector 40"/>
          <p:cNvCxnSpPr/>
          <p:nvPr/>
        </p:nvCxnSpPr>
        <p:spPr>
          <a:xfrm>
            <a:off x="1700404" y="235467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2" y="915338"/>
            <a:ext cx="9042554"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E2EA2C9-3E80-4651-AEDB-66CBFBE914A4}" type="datetimeFigureOut">
              <a:rPr lang="en-US" smtClean="0"/>
              <a:pPr/>
              <a:t>9/26/2019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1700404" y="235467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2EA2C9-3E80-4651-AEDB-66CBFBE914A4}" type="datetimeFigureOut">
              <a:rPr lang="en-US" smtClean="0"/>
              <a:pPr/>
              <a:t>9/26/2019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1388534"/>
            <a:ext cx="3374030"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79826" y="982133"/>
            <a:ext cx="5128001"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5271" y="3031065"/>
            <a:ext cx="3374030"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cxnSp>
        <p:nvCxnSpPr>
          <p:cNvPr id="16" name="Straight Connector 15"/>
          <p:cNvCxnSpPr/>
          <p:nvPr/>
        </p:nvCxnSpPr>
        <p:spPr>
          <a:xfrm>
            <a:off x="1700404" y="2912533"/>
            <a:ext cx="31037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1883832"/>
            <a:ext cx="4830955"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893663" y="1032933"/>
            <a:ext cx="3896288"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5272" y="3255432"/>
            <a:ext cx="4830954"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3" y="4815415"/>
            <a:ext cx="9042553"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64961" y="1032934"/>
            <a:ext cx="9431918"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5273" y="5382153"/>
            <a:ext cx="9042553"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2EA2C9-3E80-4651-AEDB-66CBFBE914A4}" type="datetimeFigureOut">
              <a:rPr lang="en-US" smtClean="0"/>
              <a:pPr/>
              <a:t>9/26/2019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3" y="906873"/>
            <a:ext cx="9042553"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5272" y="4275666"/>
            <a:ext cx="9042555"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5" name="Straight Connector 14"/>
          <p:cNvCxnSpPr/>
          <p:nvPr/>
        </p:nvCxnSpPr>
        <p:spPr>
          <a:xfrm>
            <a:off x="1700404" y="4140199"/>
            <a:ext cx="878677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4709" y="982132"/>
            <a:ext cx="8512555"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128322" y="3352800"/>
            <a:ext cx="7837626"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565269" y="4343401"/>
            <a:ext cx="904255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
        <p:nvSpPr>
          <p:cNvPr id="14" name="TextBox 13"/>
          <p:cNvSpPr txBox="1"/>
          <p:nvPr/>
        </p:nvSpPr>
        <p:spPr>
          <a:xfrm>
            <a:off x="1130489" y="905362"/>
            <a:ext cx="608250"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52825" y="2827870"/>
            <a:ext cx="608250"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0404" y="4140199"/>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7" y="3308581"/>
            <a:ext cx="904254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5276" y="4777381"/>
            <a:ext cx="9042547"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74573" y="982132"/>
            <a:ext cx="8412693"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565276" y="3639312"/>
            <a:ext cx="9042547"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5272" y="4529667"/>
            <a:ext cx="9042555"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sp>
        <p:nvSpPr>
          <p:cNvPr id="12" name="TextBox 11"/>
          <p:cNvSpPr txBox="1"/>
          <p:nvPr/>
        </p:nvSpPr>
        <p:spPr>
          <a:xfrm>
            <a:off x="1167851" y="896895"/>
            <a:ext cx="60825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74495" y="2607728"/>
            <a:ext cx="60825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0404" y="3429000"/>
            <a:ext cx="877229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5271" y="982132"/>
            <a:ext cx="9042553"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565276" y="3566160"/>
            <a:ext cx="9042547"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5273" y="4470401"/>
            <a:ext cx="9042553"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5" name="Straight Connector 14"/>
          <p:cNvCxnSpPr/>
          <p:nvPr/>
        </p:nvCxnSpPr>
        <p:spPr>
          <a:xfrm>
            <a:off x="1700409" y="3429000"/>
            <a:ext cx="878677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5272" y="2490136"/>
            <a:ext cx="9042555"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1700404" y="2354670"/>
            <a:ext cx="87867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54588" y="906874"/>
            <a:ext cx="2153233"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5275" y="906874"/>
            <a:ext cx="6537798"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E2EA2C9-3E80-4651-AEDB-66CBFBE914A4}" type="datetimeFigureOut">
              <a:rPr lang="en-US" smtClean="0"/>
              <a:pPr/>
              <a:t>9/26/2019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D56BD6-1C83-49ED-A825-919C14660340}" type="slidenum">
              <a:rPr lang="en-US" smtClean="0"/>
              <a:pPr/>
              <a:t>‹#›</a:t>
            </a:fld>
            <a:endParaRPr lang="en-US"/>
          </a:p>
        </p:txBody>
      </p:sp>
      <p:cxnSp>
        <p:nvCxnSpPr>
          <p:cNvPr id="14" name="Straight Connector 13"/>
          <p:cNvCxnSpPr/>
          <p:nvPr/>
        </p:nvCxnSpPr>
        <p:spPr>
          <a:xfrm>
            <a:off x="8306748"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1" y="0"/>
            <a:ext cx="12173099"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5273" y="915338"/>
            <a:ext cx="9042553"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5272" y="2490136"/>
            <a:ext cx="9042555"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454593" y="5935133"/>
            <a:ext cx="895226"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E2EA2C9-3E80-4651-AEDB-66CBFBE914A4}" type="datetimeFigureOut">
              <a:rPr lang="en-US" smtClean="0"/>
              <a:pPr/>
              <a:t>9/26/2019</a:t>
            </a:fld>
            <a:endParaRPr lang="en-US"/>
          </a:p>
        </p:txBody>
      </p:sp>
      <p:sp>
        <p:nvSpPr>
          <p:cNvPr id="5" name="Footer Placeholder 4"/>
          <p:cNvSpPr>
            <a:spLocks noGrp="1"/>
          </p:cNvSpPr>
          <p:nvPr>
            <p:ph type="ftr" sz="quarter" idx="3"/>
          </p:nvPr>
        </p:nvSpPr>
        <p:spPr>
          <a:xfrm>
            <a:off x="1565272" y="5960533"/>
            <a:ext cx="6789385"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9349819" y="5960533"/>
            <a:ext cx="1258008"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5D56BD6-1C83-49ED-A825-919C14660340}" type="slidenum">
              <a:rPr lang="en-US" smtClean="0"/>
              <a:pPr/>
              <a:t>‹#›</a:t>
            </a:fld>
            <a:endParaRPr lang="en-US"/>
          </a:p>
        </p:txBody>
      </p:sp>
      <p:grpSp>
        <p:nvGrpSpPr>
          <p:cNvPr id="12" name="Group 11"/>
          <p:cNvGrpSpPr/>
          <p:nvPr/>
        </p:nvGrpSpPr>
        <p:grpSpPr>
          <a:xfrm>
            <a:off x="4485653" y="4072"/>
            <a:ext cx="3201790" cy="981605"/>
            <a:chOff x="2823850" y="0"/>
            <a:chExt cx="3344655" cy="1466289"/>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5"/>
              <a:ext cx="3344655" cy="428714"/>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1019" y="1676401"/>
            <a:ext cx="7499800" cy="2514599"/>
          </a:xfrm>
        </p:spPr>
        <p:txBody>
          <a:bodyPr>
            <a:noAutofit/>
          </a:bodyPr>
          <a:lstStyle/>
          <a:p>
            <a:pPr>
              <a:lnSpc>
                <a:spcPct val="150000"/>
              </a:lnSpc>
            </a:pPr>
            <a:r>
              <a:rPr lang="en-US" sz="2800" dirty="0" smtClean="0">
                <a:latin typeface="Times New Roman" pitchFamily="18" charset="0"/>
                <a:cs typeface="Times New Roman" pitchFamily="18" charset="0"/>
              </a:rPr>
              <a:t>Volume 2</a:t>
            </a:r>
            <a:br>
              <a:rPr lang="en-US" sz="2800"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Chapter </a:t>
            </a:r>
            <a:r>
              <a:rPr lang="en-US" sz="2800" dirty="0">
                <a:latin typeface="Times New Roman" pitchFamily="18" charset="0"/>
                <a:cs typeface="Times New Roman" pitchFamily="18" charset="0"/>
              </a:rPr>
              <a:t>3: Preventing Intravascular Catheter-Associated</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Bloodstream Infections </a:t>
            </a:r>
            <a:endParaRPr lang="en-US" sz="2800" b="1" dirty="0">
              <a:latin typeface="Times New Roman" pitchFamily="18" charset="0"/>
              <a:cs typeface="Times New Roman" pitchFamily="18" charset="0"/>
            </a:endParaRPr>
          </a:p>
        </p:txBody>
      </p:sp>
      <p:sp>
        <p:nvSpPr>
          <p:cNvPr id="3" name="Subtitle 2"/>
          <p:cNvSpPr>
            <a:spLocks noGrp="1"/>
          </p:cNvSpPr>
          <p:nvPr>
            <p:ph type="subTitle" idx="1"/>
          </p:nvPr>
        </p:nvSpPr>
        <p:spPr>
          <a:xfrm>
            <a:off x="3102509" y="3886200"/>
            <a:ext cx="5956820" cy="724182"/>
          </a:xfrm>
        </p:spPr>
        <p:txBody>
          <a:bodyPr>
            <a:normAutofit/>
          </a:bodyPr>
          <a:lstStyle/>
          <a:p>
            <a:r>
              <a:rPr lang="en-US" b="1" dirty="0" smtClean="0">
                <a:ln w="3175" cmpd="sng">
                  <a:noFill/>
                </a:ln>
                <a:solidFill>
                  <a:schemeClr val="tx1">
                    <a:lumMod val="85000"/>
                    <a:lumOff val="15000"/>
                  </a:schemeClr>
                </a:solidFill>
                <a:latin typeface="+mj-lt"/>
                <a:ea typeface="+mj-ea"/>
                <a:cs typeface="+mj-cs"/>
              </a:rPr>
              <a:t>.</a:t>
            </a:r>
            <a:endParaRPr lang="en-US" b="1" dirty="0">
              <a:ln w="3175" cmpd="sng">
                <a:noFill/>
              </a:ln>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19690514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789" y="1295400"/>
            <a:ext cx="10438911" cy="990600"/>
          </a:xfrm>
        </p:spPr>
        <p:txBody>
          <a:bodyPr/>
          <a:lstStyle/>
          <a:p>
            <a:r>
              <a:rPr lang="en-US" b="1" dirty="0" smtClean="0"/>
              <a:t>Chapter Outline</a:t>
            </a:r>
            <a:endParaRPr lang="en-US" b="1" dirty="0"/>
          </a:p>
        </p:txBody>
      </p:sp>
      <p:sp>
        <p:nvSpPr>
          <p:cNvPr id="3" name="Content Placeholder 2"/>
          <p:cNvSpPr>
            <a:spLocks noGrp="1"/>
          </p:cNvSpPr>
          <p:nvPr>
            <p:ph idx="1"/>
          </p:nvPr>
        </p:nvSpPr>
        <p:spPr>
          <a:xfrm>
            <a:off x="1051719" y="2286000"/>
            <a:ext cx="9995284" cy="3962400"/>
          </a:xfrm>
        </p:spPr>
        <p:txBody>
          <a:bodyPr>
            <a:normAutofit fontScale="25000" lnSpcReduction="20000"/>
          </a:bodyPr>
          <a:lstStyle/>
          <a:p>
            <a:pPr algn="just">
              <a:lnSpc>
                <a:spcPct val="170000"/>
              </a:lnSpc>
            </a:pPr>
            <a:r>
              <a:rPr lang="en-US" sz="7200" dirty="0" smtClean="0">
                <a:latin typeface="Times New Roman" pitchFamily="18" charset="0"/>
                <a:cs typeface="Times New Roman" pitchFamily="18" charset="0"/>
              </a:rPr>
              <a:t>Chapter  Contents </a:t>
            </a:r>
          </a:p>
          <a:p>
            <a:pPr>
              <a:lnSpc>
                <a:spcPct val="170000"/>
              </a:lnSpc>
            </a:pPr>
            <a:r>
              <a:rPr lang="en-US" sz="7200" dirty="0" smtClean="0">
                <a:latin typeface="Times New Roman" pitchFamily="18" charset="0"/>
                <a:cs typeface="Times New Roman" pitchFamily="18" charset="0"/>
              </a:rPr>
              <a:t>PPP 1.1: Overview</a:t>
            </a:r>
          </a:p>
          <a:p>
            <a:pPr lvl="0">
              <a:lnSpc>
                <a:spcPct val="170000"/>
              </a:lnSpc>
            </a:pPr>
            <a:r>
              <a:rPr lang="en-US" sz="7200" dirty="0" smtClean="0">
                <a:latin typeface="Times New Roman" pitchFamily="18" charset="0"/>
                <a:cs typeface="Times New Roman" pitchFamily="18" charset="0"/>
              </a:rPr>
              <a:t>PPP 1.2: Intravascular catheter-related bloodstream infection risk factors</a:t>
            </a:r>
          </a:p>
          <a:p>
            <a:pPr lvl="0">
              <a:lnSpc>
                <a:spcPct val="170000"/>
              </a:lnSpc>
            </a:pPr>
            <a:r>
              <a:rPr lang="en-US" sz="7200" dirty="0" smtClean="0">
                <a:latin typeface="Times New Roman" pitchFamily="18" charset="0"/>
                <a:cs typeface="Times New Roman" pitchFamily="18" charset="0"/>
              </a:rPr>
              <a:t>PPP 1.3: Prevention  the risk of bloodstream infection related to intravascular catheters</a:t>
            </a:r>
          </a:p>
          <a:p>
            <a:pPr lvl="0">
              <a:lnSpc>
                <a:spcPct val="170000"/>
              </a:lnSpc>
            </a:pPr>
            <a:r>
              <a:rPr lang="en-US" sz="7200" dirty="0" smtClean="0">
                <a:latin typeface="Times New Roman" pitchFamily="18" charset="0"/>
                <a:cs typeface="Times New Roman" pitchFamily="18" charset="0"/>
              </a:rPr>
              <a:t>PPP 1.4: Monitoring and  surveillance of central line-associated bloodstream infections (CLABSI).</a:t>
            </a:r>
          </a:p>
          <a:p>
            <a:pPr lvl="0">
              <a:lnSpc>
                <a:spcPct val="170000"/>
              </a:lnSpc>
            </a:pPr>
            <a:r>
              <a:rPr lang="en-US" sz="7200" dirty="0" smtClean="0">
                <a:latin typeface="Times New Roman" pitchFamily="18" charset="0"/>
                <a:cs typeface="Times New Roman" pitchFamily="18" charset="0"/>
              </a:rPr>
              <a:t>PPP 1.5: Quality improvement for prevention of  CLABSI</a:t>
            </a:r>
          </a:p>
          <a:p>
            <a:pPr lvl="0">
              <a:lnSpc>
                <a:spcPct val="170000"/>
              </a:lnSpc>
            </a:pPr>
            <a:r>
              <a:rPr lang="en-US" sz="7200" dirty="0" smtClean="0">
                <a:latin typeface="Times New Roman" pitchFamily="18" charset="0"/>
                <a:cs typeface="Times New Roman" pitchFamily="18" charset="0"/>
              </a:rPr>
              <a:t>PPP 1.6: Summary</a:t>
            </a:r>
          </a:p>
          <a:p>
            <a:pPr>
              <a:lnSpc>
                <a:spcPct val="160000"/>
              </a:lnSpc>
            </a:pPr>
            <a:endParaRPr lang="en-US" dirty="0" smtClean="0"/>
          </a:p>
          <a:p>
            <a:pPr>
              <a:lnSpc>
                <a:spcPct val="160000"/>
              </a:lnSpc>
            </a:pPr>
            <a:endParaRPr lang="en-US" dirty="0" smtClean="0"/>
          </a:p>
        </p:txBody>
      </p:sp>
    </p:spTree>
    <p:extLst>
      <p:ext uri="{BB962C8B-B14F-4D97-AF65-F5344CB8AC3E}">
        <p14:creationId xmlns:p14="http://schemas.microsoft.com/office/powerpoint/2010/main" val="19251976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0"/>
            <a:ext cx="8229600" cy="914400"/>
          </a:xfrm>
        </p:spPr>
        <p:txBody>
          <a:bodyPr/>
          <a:lstStyle/>
          <a:p>
            <a:r>
              <a:rPr lang="en-US" dirty="0" smtClean="0"/>
              <a:t/>
            </a:r>
            <a:br>
              <a:rPr lang="en-US" dirty="0" smtClean="0"/>
            </a:br>
            <a:r>
              <a:rPr lang="en-US" dirty="0" smtClean="0"/>
              <a:t/>
            </a:r>
            <a:br>
              <a:rPr lang="en-US" dirty="0" smtClean="0"/>
            </a:br>
            <a:r>
              <a:rPr lang="en-US" dirty="0" smtClean="0"/>
              <a:t/>
            </a:r>
            <a:br>
              <a:rPr lang="en-US" dirty="0" smtClean="0"/>
            </a:br>
            <a:r>
              <a:rPr lang="en-US" sz="4000" dirty="0" smtClean="0">
                <a:latin typeface="Times New Roman" pitchFamily="18" charset="0"/>
                <a:cs typeface="Times New Roman" pitchFamily="18" charset="0"/>
              </a:rPr>
              <a:t>Chapter Contents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204119" y="1752600"/>
            <a:ext cx="9144000" cy="4724400"/>
          </a:xfrm>
        </p:spPr>
        <p:txBody>
          <a:bodyPr>
            <a:noAutofit/>
          </a:bodyPr>
          <a:lstStyle/>
          <a:p>
            <a:pPr lvl="0">
              <a:buNone/>
            </a:pPr>
            <a:endParaRPr lang="en-US" sz="2000" dirty="0" smtClean="0"/>
          </a:p>
          <a:p>
            <a:pPr lvl="0">
              <a:lnSpc>
                <a:spcPct val="150000"/>
              </a:lnSpc>
            </a:pPr>
            <a:r>
              <a:rPr lang="en-US" sz="2000" dirty="0" smtClean="0">
                <a:latin typeface="Times New Roman" pitchFamily="18" charset="0"/>
                <a:cs typeface="Times New Roman" pitchFamily="18" charset="0"/>
              </a:rPr>
              <a:t>Overview</a:t>
            </a:r>
          </a:p>
          <a:p>
            <a:pPr lvl="0">
              <a:lnSpc>
                <a:spcPct val="150000"/>
              </a:lnSpc>
            </a:pPr>
            <a:r>
              <a:rPr lang="en-US" sz="2000" dirty="0" smtClean="0">
                <a:latin typeface="Times New Roman" pitchFamily="18" charset="0"/>
                <a:cs typeface="Times New Roman" pitchFamily="18" charset="0"/>
              </a:rPr>
              <a:t>Intravascular catheter-related bloodstream infection risk factors</a:t>
            </a:r>
          </a:p>
          <a:p>
            <a:pPr lvl="0">
              <a:lnSpc>
                <a:spcPct val="150000"/>
              </a:lnSpc>
            </a:pPr>
            <a:r>
              <a:rPr lang="en-US" sz="2000" dirty="0" smtClean="0">
                <a:latin typeface="Times New Roman" pitchFamily="18" charset="0"/>
                <a:cs typeface="Times New Roman" pitchFamily="18" charset="0"/>
              </a:rPr>
              <a:t>Prevention  the risk of bloodstream infection related to intravascular catheters</a:t>
            </a:r>
          </a:p>
          <a:p>
            <a:pPr lvl="0">
              <a:lnSpc>
                <a:spcPct val="150000"/>
              </a:lnSpc>
            </a:pPr>
            <a:r>
              <a:rPr lang="en-US" sz="2000" dirty="0" smtClean="0">
                <a:latin typeface="Times New Roman" pitchFamily="18" charset="0"/>
                <a:cs typeface="Times New Roman" pitchFamily="18" charset="0"/>
              </a:rPr>
              <a:t>Monitoring and  surveillance of central line-associated bloodstream infections (CLABSI) other intravascular catheter-associated bloodstream infections</a:t>
            </a:r>
          </a:p>
          <a:p>
            <a:pPr lvl="0">
              <a:lnSpc>
                <a:spcPct val="150000"/>
              </a:lnSpc>
            </a:pPr>
            <a:r>
              <a:rPr lang="en-US" sz="2000" dirty="0" smtClean="0">
                <a:latin typeface="Times New Roman" pitchFamily="18" charset="0"/>
                <a:cs typeface="Times New Roman" pitchFamily="18" charset="0"/>
              </a:rPr>
              <a:t>Quality improvement for prevention of intravascular catheter-associated bloodstream infections</a:t>
            </a:r>
          </a:p>
          <a:p>
            <a:pPr>
              <a:lnSpc>
                <a:spcPct val="150000"/>
              </a:lnSpc>
            </a:pPr>
            <a:r>
              <a:rPr lang="en-GB" sz="2000" dirty="0" smtClean="0">
                <a:latin typeface="Times New Roman" pitchFamily="18" charset="0"/>
                <a:cs typeface="Times New Roman" pitchFamily="18" charset="0"/>
              </a:rPr>
              <a:t>Summary </a:t>
            </a:r>
            <a:r>
              <a:rPr lang="en-US" sz="2000" dirty="0">
                <a:latin typeface="Times New Roman" pitchFamily="18" charset="0"/>
                <a:cs typeface="Times New Roman" pitchFamily="18" charset="0"/>
              </a:rPr>
              <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623042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274638"/>
            <a:ext cx="8229600" cy="411162"/>
          </a:xfrm>
        </p:spPr>
        <p:txBody>
          <a:bodyPr>
            <a:normAutofit fontScale="90000"/>
          </a:bodyPr>
          <a:lstStyle/>
          <a:p>
            <a:r>
              <a:rPr lang="en-US" dirty="0" smtClean="0">
                <a:ln>
                  <a:noFill/>
                </a:ln>
              </a:rPr>
              <a:t/>
            </a:r>
            <a:br>
              <a:rPr lang="en-US" dirty="0" smtClean="0">
                <a:ln>
                  <a:noFill/>
                </a:ln>
              </a:rPr>
            </a:br>
            <a:r>
              <a:rPr lang="en-US" dirty="0" smtClean="0">
                <a:ln>
                  <a:noFill/>
                </a:ln>
              </a:rPr>
              <a:t/>
            </a:r>
            <a:br>
              <a:rPr lang="en-US" dirty="0" smtClean="0">
                <a:ln>
                  <a:noFill/>
                </a:ln>
              </a:rPr>
            </a:br>
            <a:r>
              <a:rPr lang="en-US" dirty="0" smtClean="0">
                <a:ln>
                  <a:noFill/>
                </a:ln>
              </a:rPr>
              <a:t/>
            </a:r>
            <a:br>
              <a:rPr lang="en-US" dirty="0" smtClean="0">
                <a:ln>
                  <a:noFill/>
                </a:ln>
              </a:rPr>
            </a:br>
            <a:r>
              <a:rPr lang="en-US" sz="4400" dirty="0" smtClean="0">
                <a:ln>
                  <a:noFill/>
                </a:ln>
                <a:latin typeface="Times New Roman" pitchFamily="18" charset="0"/>
                <a:cs typeface="Times New Roman" pitchFamily="18" charset="0"/>
              </a:rPr>
              <a:t>Learning Objective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508919" y="1905000"/>
            <a:ext cx="8686800" cy="4221164"/>
          </a:xfrm>
        </p:spPr>
        <p:txBody>
          <a:bodyPr>
            <a:noAutofit/>
          </a:bodyPr>
          <a:lstStyle/>
          <a:p>
            <a:pPr>
              <a:buNone/>
            </a:pPr>
            <a:endParaRPr lang="en-GB" sz="2000" dirty="0" smtClean="0"/>
          </a:p>
          <a:p>
            <a:pPr>
              <a:lnSpc>
                <a:spcPct val="150000"/>
              </a:lnSpc>
              <a:buNone/>
            </a:pPr>
            <a:r>
              <a:rPr lang="en-GB" sz="1600" dirty="0" smtClean="0">
                <a:latin typeface="Times New Roman" pitchFamily="18" charset="0"/>
                <a:cs typeface="Times New Roman" pitchFamily="18" charset="0"/>
              </a:rPr>
              <a:t>By the end of this module, participants will be able to:</a:t>
            </a:r>
            <a:endParaRPr lang="en-US" sz="1600" dirty="0" smtClean="0">
              <a:latin typeface="Times New Roman" pitchFamily="18" charset="0"/>
              <a:cs typeface="Times New Roman" pitchFamily="18" charset="0"/>
            </a:endParaRPr>
          </a:p>
          <a:p>
            <a:pPr lvl="0">
              <a:lnSpc>
                <a:spcPct val="150000"/>
              </a:lnSpc>
            </a:pPr>
            <a:r>
              <a:rPr lang="en-US" sz="1600" dirty="0" smtClean="0">
                <a:latin typeface="Times New Roman" pitchFamily="18" charset="0"/>
                <a:cs typeface="Times New Roman" pitchFamily="18" charset="0"/>
              </a:rPr>
              <a:t>Understand Epidemiology and microbiology of intravascular catheter-associated bloodstream infection</a:t>
            </a:r>
          </a:p>
          <a:p>
            <a:pPr lvl="0">
              <a:lnSpc>
                <a:spcPct val="150000"/>
              </a:lnSpc>
            </a:pPr>
            <a:r>
              <a:rPr lang="en-US" sz="1600" dirty="0" smtClean="0">
                <a:latin typeface="Times New Roman" pitchFamily="18" charset="0"/>
                <a:cs typeface="Times New Roman" pitchFamily="18" charset="0"/>
              </a:rPr>
              <a:t>Identify Commonly used intravascular catheters and their potential side effects</a:t>
            </a:r>
          </a:p>
          <a:p>
            <a:pPr lvl="0">
              <a:lnSpc>
                <a:spcPct val="150000"/>
              </a:lnSpc>
            </a:pPr>
            <a:r>
              <a:rPr lang="en-US" sz="1600" dirty="0" smtClean="0">
                <a:latin typeface="Times New Roman" pitchFamily="18" charset="0"/>
                <a:cs typeface="Times New Roman" pitchFamily="18" charset="0"/>
              </a:rPr>
              <a:t>Identify Intravascular catheter-related bloodstream infection risk factors</a:t>
            </a:r>
          </a:p>
          <a:p>
            <a:pPr lvl="0">
              <a:lnSpc>
                <a:spcPct val="150000"/>
              </a:lnSpc>
            </a:pPr>
            <a:r>
              <a:rPr lang="en-US" sz="1600" dirty="0" smtClean="0">
                <a:latin typeface="Times New Roman" pitchFamily="18" charset="0"/>
                <a:cs typeface="Times New Roman" pitchFamily="18" charset="0"/>
              </a:rPr>
              <a:t>Understand  how </a:t>
            </a:r>
            <a:r>
              <a:rPr lang="en-US" sz="1600" dirty="0" err="1" smtClean="0">
                <a:latin typeface="Times New Roman" pitchFamily="18" charset="0"/>
                <a:cs typeface="Times New Roman" pitchFamily="18" charset="0"/>
              </a:rPr>
              <a:t>toPrevent</a:t>
            </a:r>
            <a:r>
              <a:rPr lang="en-US" sz="1600" dirty="0" smtClean="0">
                <a:latin typeface="Times New Roman" pitchFamily="18" charset="0"/>
                <a:cs typeface="Times New Roman" pitchFamily="18" charset="0"/>
              </a:rPr>
              <a:t> the risk of bloodstream infection related to intravascular catheters</a:t>
            </a:r>
          </a:p>
          <a:p>
            <a:pPr lvl="0">
              <a:lnSpc>
                <a:spcPct val="150000"/>
              </a:lnSpc>
            </a:pPr>
            <a:r>
              <a:rPr lang="en-US" sz="1600" dirty="0" smtClean="0">
                <a:latin typeface="Times New Roman" pitchFamily="18" charset="0"/>
                <a:cs typeface="Times New Roman" pitchFamily="18" charset="0"/>
              </a:rPr>
              <a:t>Understand how to monitor and  conduct surveillance of central line-associated bloodstream infections (CLABSI) other intravascular catheter-associated bloodstream infections</a:t>
            </a:r>
          </a:p>
          <a:p>
            <a:pPr>
              <a:lnSpc>
                <a:spcPct val="150000"/>
              </a:lnSpc>
              <a:buNone/>
            </a:pPr>
            <a:r>
              <a:rPr lang="en-US" sz="2000" dirty="0"/>
              <a:t/>
            </a:r>
            <a:br>
              <a:rPr lang="en-US" sz="2000" dirty="0"/>
            </a:br>
            <a:endParaRPr lang="en-US" sz="2000" dirty="0"/>
          </a:p>
        </p:txBody>
      </p:sp>
    </p:spTree>
    <p:extLst>
      <p:ext uri="{BB962C8B-B14F-4D97-AF65-F5344CB8AC3E}">
        <p14:creationId xmlns:p14="http://schemas.microsoft.com/office/powerpoint/2010/main" val="3992871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a:t>
            </a:r>
            <a:endParaRPr lang="en-US" dirty="0"/>
          </a:p>
        </p:txBody>
      </p:sp>
      <p:sp>
        <p:nvSpPr>
          <p:cNvPr id="3" name="Content Placeholder 2"/>
          <p:cNvSpPr>
            <a:spLocks noGrp="1"/>
          </p:cNvSpPr>
          <p:nvPr>
            <p:ph idx="1"/>
          </p:nvPr>
        </p:nvSpPr>
        <p:spPr/>
        <p:txBody>
          <a:bodyPr>
            <a:normAutofit fontScale="70000" lnSpcReduction="20000"/>
          </a:bodyPr>
          <a:lstStyle/>
          <a:p>
            <a:pPr>
              <a:lnSpc>
                <a:spcPct val="160000"/>
              </a:lnSpc>
            </a:pPr>
            <a:r>
              <a:rPr lang="en-GB" dirty="0" smtClean="0">
                <a:latin typeface="Times New Roman" pitchFamily="18" charset="0"/>
                <a:cs typeface="Times New Roman" pitchFamily="18" charset="0"/>
              </a:rPr>
              <a:t>Intravascular catheters are often necessary for administering fluids, medications, and nutritional products to patients.</a:t>
            </a:r>
          </a:p>
          <a:p>
            <a:pPr>
              <a:lnSpc>
                <a:spcPct val="160000"/>
              </a:lnSpc>
            </a:pPr>
            <a:r>
              <a:rPr lang="en-GB" dirty="0" smtClean="0">
                <a:latin typeface="Times New Roman" pitchFamily="18" charset="0"/>
                <a:cs typeface="Times New Roman" pitchFamily="18" charset="0"/>
              </a:rPr>
              <a:t>They  can put patients at risk for infection by interrupting the protective barrier that intact skin provides. </a:t>
            </a:r>
          </a:p>
          <a:p>
            <a:pPr>
              <a:lnSpc>
                <a:spcPct val="160000"/>
              </a:lnSpc>
            </a:pPr>
            <a:r>
              <a:rPr lang="en-GB" dirty="0" smtClean="0">
                <a:latin typeface="Times New Roman" pitchFamily="18" charset="0"/>
                <a:cs typeface="Times New Roman" pitchFamily="18" charset="0"/>
              </a:rPr>
              <a:t>Provide a direct route of entry for microorganisms into the bloodstream and can easily become contaminated during use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Contn</a:t>
            </a:r>
            <a:r>
              <a:rPr lang="en-US" dirty="0" smtClean="0"/>
              <a:t>..</a:t>
            </a:r>
            <a:endParaRPr lang="en-US" dirty="0"/>
          </a:p>
        </p:txBody>
      </p:sp>
      <p:sp>
        <p:nvSpPr>
          <p:cNvPr id="3" name="Content Placeholder 2"/>
          <p:cNvSpPr>
            <a:spLocks noGrp="1"/>
          </p:cNvSpPr>
          <p:nvPr>
            <p:ph idx="1"/>
          </p:nvPr>
        </p:nvSpPr>
        <p:spPr/>
        <p:txBody>
          <a:bodyPr>
            <a:normAutofit/>
          </a:bodyPr>
          <a:lstStyle/>
          <a:p>
            <a:r>
              <a:rPr lang="en-GB" sz="2400" dirty="0" smtClean="0">
                <a:latin typeface="Times New Roman" pitchFamily="18" charset="0"/>
                <a:cs typeface="Times New Roman" pitchFamily="18" charset="0"/>
              </a:rPr>
              <a:t>Studies have found that up to 90% of health care-associated bloodstream infections are caused by some form of vascular access.</a:t>
            </a:r>
          </a:p>
          <a:p>
            <a:r>
              <a:rPr lang="en-GB" sz="2400" dirty="0" smtClean="0">
                <a:latin typeface="Times New Roman" pitchFamily="18" charset="0"/>
                <a:cs typeface="Times New Roman" pitchFamily="18" charset="0"/>
              </a:rPr>
              <a:t>Bloodstream infections represent about 19% of all reported HAIs in low- and middle-income countries.</a:t>
            </a:r>
          </a:p>
          <a:p>
            <a:r>
              <a:rPr lang="en-GB" sz="2400" dirty="0" smtClean="0">
                <a:latin typeface="Times New Roman" pitchFamily="18" charset="0"/>
                <a:cs typeface="Times New Roman" pitchFamily="18" charset="0"/>
              </a:rPr>
              <a:t>In low-income settings, health care-associated bloodstream infections result in a 24% mortality rate.</a:t>
            </a:r>
            <a:endParaRPr lang="en-US" sz="24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1319" y="0"/>
            <a:ext cx="8991600" cy="1295400"/>
          </a:xfrm>
        </p:spPr>
        <p:txBody>
          <a:bodyPr>
            <a:normAutofit fontScale="90000"/>
          </a:bodyPr>
          <a:lstStyle/>
          <a:p>
            <a:r>
              <a:rPr lang="en-US" sz="2700" dirty="0" smtClean="0"/>
              <a:t/>
            </a:r>
            <a:br>
              <a:rPr lang="en-US" sz="2700" dirty="0" smtClean="0"/>
            </a:br>
            <a:r>
              <a:rPr lang="en-US" sz="2700" dirty="0" smtClean="0"/>
              <a:t/>
            </a:r>
            <a:br>
              <a:rPr lang="en-US" sz="2700" dirty="0" smtClean="0"/>
            </a:br>
            <a:r>
              <a:rPr lang="en-US" sz="2700" dirty="0" smtClean="0"/>
              <a:t/>
            </a:r>
            <a:br>
              <a:rPr lang="en-US" sz="2700" dirty="0" smtClean="0"/>
            </a:br>
            <a:r>
              <a:rPr lang="en-US" sz="2700" dirty="0" smtClean="0"/>
              <a:t/>
            </a:r>
            <a:br>
              <a:rPr lang="en-US" sz="2700" dirty="0" smtClean="0"/>
            </a:br>
            <a:r>
              <a:rPr lang="en-US" sz="2700" dirty="0" smtClean="0"/>
              <a:t/>
            </a:r>
            <a:br>
              <a:rPr lang="en-US" sz="2700" dirty="0" smtClean="0"/>
            </a:br>
            <a:r>
              <a:rPr lang="en-US" sz="2700" dirty="0" smtClean="0"/>
              <a:t>Common </a:t>
            </a:r>
            <a:r>
              <a:rPr lang="en-US" sz="2700" dirty="0"/>
              <a:t>Types of Intravascular Catheters </a:t>
            </a:r>
            <a:r>
              <a:rPr lang="en-US" dirty="0" smtClean="0"/>
              <a:t/>
            </a:r>
            <a:br>
              <a:rPr lang="en-US" dirty="0" smtClean="0"/>
            </a:br>
            <a:endParaRPr lang="en-US" dirty="0"/>
          </a:p>
        </p:txBody>
      </p:sp>
      <p:sp>
        <p:nvSpPr>
          <p:cNvPr id="3" name="Content Placeholder 2"/>
          <p:cNvSpPr>
            <a:spLocks noGrp="1"/>
          </p:cNvSpPr>
          <p:nvPr>
            <p:ph idx="1"/>
          </p:nvPr>
        </p:nvSpPr>
        <p:spPr>
          <a:xfrm>
            <a:off x="1508919" y="1828800"/>
            <a:ext cx="9144000" cy="5029200"/>
          </a:xfrm>
        </p:spPr>
        <p:txBody>
          <a:bodyPr>
            <a:noAutofit/>
          </a:bodyPr>
          <a:lstStyle/>
          <a:p>
            <a:pPr algn="ctr">
              <a:lnSpc>
                <a:spcPct val="150000"/>
              </a:lnSpc>
              <a:buNone/>
            </a:pPr>
            <a:endParaRPr lang="en-US" sz="2000" b="1" dirty="0" smtClean="0"/>
          </a:p>
          <a:p>
            <a:pPr algn="ctr">
              <a:lnSpc>
                <a:spcPct val="150000"/>
              </a:lnSpc>
              <a:buNone/>
            </a:pPr>
            <a:r>
              <a:rPr lang="en-US" sz="2000" b="1" dirty="0" smtClean="0"/>
              <a:t>Peripheral </a:t>
            </a:r>
            <a:r>
              <a:rPr lang="en-US" sz="2000" b="1" dirty="0"/>
              <a:t>venous catheter (IV line)</a:t>
            </a:r>
          </a:p>
          <a:p>
            <a:pPr>
              <a:lnSpc>
                <a:spcPct val="150000"/>
              </a:lnSpc>
            </a:pPr>
            <a:r>
              <a:rPr lang="en-US" sz="1800" b="1" dirty="0">
                <a:latin typeface="Times New Roman" pitchFamily="18" charset="0"/>
                <a:cs typeface="Times New Roman" pitchFamily="18" charset="0"/>
              </a:rPr>
              <a:t>Entry Site :</a:t>
            </a:r>
            <a:r>
              <a:rPr lang="en-US" sz="1800" dirty="0">
                <a:latin typeface="Times New Roman" pitchFamily="18" charset="0"/>
                <a:cs typeface="Times New Roman" pitchFamily="18" charset="0"/>
              </a:rPr>
              <a:t> Usually inserted in veins of forearm or hand</a:t>
            </a:r>
            <a:endParaRPr lang="en-US" sz="1800" b="1" dirty="0">
              <a:latin typeface="Times New Roman" pitchFamily="18" charset="0"/>
              <a:cs typeface="Times New Roman" pitchFamily="18" charset="0"/>
            </a:endParaRPr>
          </a:p>
          <a:p>
            <a:pPr>
              <a:lnSpc>
                <a:spcPct val="150000"/>
              </a:lnSpc>
            </a:pPr>
            <a:r>
              <a:rPr lang="en-US" sz="1800" b="1" dirty="0">
                <a:latin typeface="Times New Roman" pitchFamily="18" charset="0"/>
                <a:cs typeface="Times New Roman" pitchFamily="18" charset="0"/>
              </a:rPr>
              <a:t>Length:</a:t>
            </a:r>
            <a:r>
              <a:rPr lang="en-US" sz="1800" dirty="0">
                <a:latin typeface="Times New Roman" pitchFamily="18" charset="0"/>
                <a:cs typeface="Times New Roman" pitchFamily="18" charset="0"/>
              </a:rPr>
              <a:t> &lt; 8 cm (3 in.) </a:t>
            </a:r>
            <a:endParaRPr lang="en-US" sz="1800" b="1" dirty="0">
              <a:latin typeface="Times New Roman" pitchFamily="18" charset="0"/>
              <a:cs typeface="Times New Roman" pitchFamily="18" charset="0"/>
            </a:endParaRPr>
          </a:p>
          <a:p>
            <a:pPr>
              <a:lnSpc>
                <a:spcPct val="150000"/>
              </a:lnSpc>
            </a:pPr>
            <a:r>
              <a:rPr lang="en-US" sz="1800" b="1" dirty="0">
                <a:latin typeface="Times New Roman" pitchFamily="18" charset="0"/>
                <a:cs typeface="Times New Roman" pitchFamily="18" charset="0"/>
              </a:rPr>
              <a:t>Potential Side Effects:</a:t>
            </a:r>
            <a:r>
              <a:rPr lang="en-US" sz="1800" dirty="0">
                <a:latin typeface="Times New Roman" pitchFamily="18" charset="0"/>
                <a:cs typeface="Times New Roman" pitchFamily="18" charset="0"/>
              </a:rPr>
              <a:t> Phlebitis with prolonged use, rarely associated with bloodstream </a:t>
            </a:r>
            <a:r>
              <a:rPr lang="en-US" sz="1800" dirty="0" smtClean="0">
                <a:latin typeface="Times New Roman" pitchFamily="18" charset="0"/>
                <a:cs typeface="Times New Roman" pitchFamily="18" charset="0"/>
              </a:rPr>
              <a:t>infection</a:t>
            </a:r>
          </a:p>
          <a:p>
            <a:pPr>
              <a:lnSpc>
                <a:spcPct val="150000"/>
              </a:lnSpc>
              <a:buNone/>
            </a:pPr>
            <a:r>
              <a:rPr lang="en-US" sz="2000" dirty="0"/>
              <a:t/>
            </a:r>
            <a:br>
              <a:rPr lang="en-US" sz="2000" dirty="0"/>
            </a:br>
            <a:r>
              <a:rPr lang="en-US" sz="2000" dirty="0"/>
              <a:t> </a:t>
            </a:r>
            <a:br>
              <a:rPr lang="en-US" sz="2000" dirty="0"/>
            </a:br>
            <a:r>
              <a:rPr lang="en-US" sz="2000" dirty="0"/>
              <a:t/>
            </a:r>
            <a:br>
              <a:rPr lang="en-US" sz="2000" dirty="0"/>
            </a:br>
            <a:r>
              <a:rPr lang="en-US" sz="2000" dirty="0"/>
              <a:t/>
            </a:r>
            <a:br>
              <a:rPr lang="en-US" sz="2000" dirty="0"/>
            </a:br>
            <a:endParaRPr lang="en-US" sz="2000" dirty="0"/>
          </a:p>
        </p:txBody>
      </p:sp>
    </p:spTree>
    <p:extLst>
      <p:ext uri="{BB962C8B-B14F-4D97-AF65-F5344CB8AC3E}">
        <p14:creationId xmlns:p14="http://schemas.microsoft.com/office/powerpoint/2010/main" val="3331629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62500" lnSpcReduction="20000"/>
          </a:bodyPr>
          <a:lstStyle/>
          <a:p>
            <a:pPr>
              <a:lnSpc>
                <a:spcPct val="170000"/>
              </a:lnSpc>
              <a:buNone/>
            </a:pPr>
            <a:r>
              <a:rPr lang="en-US" b="1" dirty="0" smtClean="0">
                <a:latin typeface="Times New Roman" pitchFamily="18" charset="0"/>
                <a:cs typeface="Times New Roman" pitchFamily="18" charset="0"/>
              </a:rPr>
              <a:t>Peripheral arterial catheter </a:t>
            </a:r>
          </a:p>
          <a:p>
            <a:pPr>
              <a:lnSpc>
                <a:spcPct val="170000"/>
              </a:lnSpc>
            </a:pPr>
            <a:r>
              <a:rPr lang="en-US" b="1" dirty="0" smtClean="0">
                <a:latin typeface="Times New Roman" pitchFamily="18" charset="0"/>
                <a:cs typeface="Times New Roman" pitchFamily="18" charset="0"/>
              </a:rPr>
              <a:t>Entry Site :</a:t>
            </a:r>
            <a:r>
              <a:rPr lang="en-US" dirty="0" smtClean="0">
                <a:latin typeface="Times New Roman" pitchFamily="18" charset="0"/>
                <a:cs typeface="Times New Roman" pitchFamily="18" charset="0"/>
              </a:rPr>
              <a:t> Usually inserted in radial artery but also in femoral, </a:t>
            </a:r>
            <a:r>
              <a:rPr lang="en-US" dirty="0" err="1" smtClean="0">
                <a:latin typeface="Times New Roman" pitchFamily="18" charset="0"/>
                <a:cs typeface="Times New Roman" pitchFamily="18" charset="0"/>
              </a:rPr>
              <a:t>axillary</a:t>
            </a:r>
            <a:r>
              <a:rPr lang="en-US" dirty="0" smtClean="0">
                <a:latin typeface="Times New Roman" pitchFamily="18" charset="0"/>
                <a:cs typeface="Times New Roman" pitchFamily="18" charset="0"/>
              </a:rPr>
              <a:t>, brachial arteries</a:t>
            </a:r>
          </a:p>
          <a:p>
            <a:pPr>
              <a:lnSpc>
                <a:spcPct val="170000"/>
              </a:lnSpc>
            </a:pPr>
            <a:r>
              <a:rPr lang="en-US" b="1" dirty="0" smtClean="0">
                <a:latin typeface="Times New Roman" pitchFamily="18" charset="0"/>
                <a:cs typeface="Times New Roman" pitchFamily="18" charset="0"/>
              </a:rPr>
              <a:t>Length:</a:t>
            </a:r>
            <a:r>
              <a:rPr lang="en-US" dirty="0" smtClean="0">
                <a:latin typeface="Times New Roman" pitchFamily="18" charset="0"/>
                <a:cs typeface="Times New Roman" pitchFamily="18" charset="0"/>
              </a:rPr>
              <a:t> 8 cm (3 in.)</a:t>
            </a:r>
          </a:p>
          <a:p>
            <a:pPr>
              <a:lnSpc>
                <a:spcPct val="170000"/>
              </a:lnSpc>
            </a:pPr>
            <a:r>
              <a:rPr lang="en-US" sz="3600" b="1" dirty="0" smtClean="0">
                <a:latin typeface="Times New Roman" pitchFamily="18" charset="0"/>
                <a:cs typeface="Times New Roman" pitchFamily="18" charset="0"/>
              </a:rPr>
              <a:t>Potential Side Effects:</a:t>
            </a:r>
            <a:r>
              <a:rPr lang="en-US" sz="3600" dirty="0" smtClean="0">
                <a:latin typeface="Times New Roman" pitchFamily="18" charset="0"/>
                <a:cs typeface="Times New Roman" pitchFamily="18" charset="0"/>
              </a:rPr>
              <a:t> Low infection risk; rarely associated with bloodstream infections</a:t>
            </a:r>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2319" y="274638"/>
            <a:ext cx="8153400" cy="1096962"/>
          </a:xfrm>
        </p:spPr>
        <p:txBody>
          <a:bodyPr>
            <a:normAutofit fontScale="90000"/>
          </a:bodyPr>
          <a:lstStyle/>
          <a:p>
            <a:r>
              <a:rPr lang="en-US" dirty="0" smtClean="0"/>
              <a:t/>
            </a:r>
            <a:br>
              <a:rPr lang="en-US" dirty="0" smtClean="0"/>
            </a:br>
            <a:r>
              <a:rPr lang="en-US" dirty="0" smtClean="0"/>
              <a:t/>
            </a:r>
            <a:br>
              <a:rPr lang="en-US" dirty="0" smtClean="0"/>
            </a:br>
            <a:r>
              <a:rPr lang="en-US" sz="3600" dirty="0" smtClean="0"/>
              <a:t>Midline catheter (a type of IV line)</a:t>
            </a:r>
            <a:r>
              <a:rPr lang="en-US" dirty="0" smtClean="0"/>
              <a:t/>
            </a:r>
            <a:br>
              <a:rPr lang="en-US" dirty="0" smtClean="0"/>
            </a:br>
            <a:endParaRPr lang="en-US" dirty="0"/>
          </a:p>
        </p:txBody>
      </p:sp>
      <p:sp>
        <p:nvSpPr>
          <p:cNvPr id="3" name="Content Placeholder 2"/>
          <p:cNvSpPr>
            <a:spLocks noGrp="1"/>
          </p:cNvSpPr>
          <p:nvPr>
            <p:ph idx="1"/>
          </p:nvPr>
        </p:nvSpPr>
        <p:spPr>
          <a:xfrm>
            <a:off x="1508919" y="1447800"/>
            <a:ext cx="9144000" cy="4678364"/>
          </a:xfrm>
        </p:spPr>
        <p:txBody>
          <a:bodyPr>
            <a:normAutofit fontScale="25000" lnSpcReduction="20000"/>
          </a:bodyPr>
          <a:lstStyle/>
          <a:p>
            <a:pPr>
              <a:lnSpc>
                <a:spcPct val="170000"/>
              </a:lnSpc>
            </a:pPr>
            <a:r>
              <a:rPr lang="en-US" sz="6400" b="1" dirty="0" smtClean="0">
                <a:latin typeface="Times New Roman" pitchFamily="18" charset="0"/>
                <a:cs typeface="Times New Roman" pitchFamily="18" charset="0"/>
              </a:rPr>
              <a:t>Entry Site :</a:t>
            </a:r>
            <a:r>
              <a:rPr lang="en-US" sz="6400" dirty="0" smtClean="0">
                <a:latin typeface="Times New Roman" pitchFamily="18" charset="0"/>
                <a:cs typeface="Times New Roman" pitchFamily="18" charset="0"/>
              </a:rPr>
              <a:t> Inserted via </a:t>
            </a:r>
            <a:r>
              <a:rPr lang="en-US" sz="6400" dirty="0" err="1" smtClean="0">
                <a:latin typeface="Times New Roman" pitchFamily="18" charset="0"/>
                <a:cs typeface="Times New Roman" pitchFamily="18" charset="0"/>
              </a:rPr>
              <a:t>antecubital</a:t>
            </a:r>
            <a:r>
              <a:rPr lang="en-US" sz="6400" dirty="0" smtClean="0">
                <a:latin typeface="Times New Roman" pitchFamily="18" charset="0"/>
                <a:cs typeface="Times New Roman" pitchFamily="18" charset="0"/>
              </a:rPr>
              <a:t> </a:t>
            </a:r>
            <a:r>
              <a:rPr lang="en-US" sz="6400" dirty="0" err="1" smtClean="0">
                <a:latin typeface="Times New Roman" pitchFamily="18" charset="0"/>
                <a:cs typeface="Times New Roman" pitchFamily="18" charset="0"/>
              </a:rPr>
              <a:t>fossa</a:t>
            </a:r>
            <a:r>
              <a:rPr lang="en-US" sz="6400" dirty="0" smtClean="0">
                <a:latin typeface="Times New Roman" pitchFamily="18" charset="0"/>
                <a:cs typeface="Times New Roman" pitchFamily="18" charset="0"/>
              </a:rPr>
              <a:t> (forearm) into the proximal </a:t>
            </a:r>
            <a:r>
              <a:rPr lang="en-US" sz="6400" dirty="0" err="1" smtClean="0">
                <a:latin typeface="Times New Roman" pitchFamily="18" charset="0"/>
                <a:cs typeface="Times New Roman" pitchFamily="18" charset="0"/>
              </a:rPr>
              <a:t>basilic</a:t>
            </a:r>
            <a:r>
              <a:rPr lang="en-US" sz="6400" dirty="0" smtClean="0">
                <a:latin typeface="Times New Roman" pitchFamily="18" charset="0"/>
                <a:cs typeface="Times New Roman" pitchFamily="18" charset="0"/>
              </a:rPr>
              <a:t> or cephalic veins; does not enter central veins</a:t>
            </a:r>
            <a:endParaRPr lang="en-US" sz="6400" b="1" dirty="0" smtClean="0">
              <a:latin typeface="Times New Roman" pitchFamily="18" charset="0"/>
              <a:cs typeface="Times New Roman" pitchFamily="18" charset="0"/>
            </a:endParaRPr>
          </a:p>
          <a:p>
            <a:pPr>
              <a:lnSpc>
                <a:spcPct val="170000"/>
              </a:lnSpc>
            </a:pPr>
            <a:r>
              <a:rPr lang="en-US" sz="6400" b="1" dirty="0" smtClean="0">
                <a:latin typeface="Times New Roman" pitchFamily="18" charset="0"/>
                <a:cs typeface="Times New Roman" pitchFamily="18" charset="0"/>
              </a:rPr>
              <a:t>Length:</a:t>
            </a:r>
            <a:r>
              <a:rPr lang="en-US" sz="6400" dirty="0" smtClean="0">
                <a:latin typeface="Times New Roman" pitchFamily="18" charset="0"/>
                <a:cs typeface="Times New Roman" pitchFamily="18" charset="0"/>
              </a:rPr>
              <a:t> 8 to 20 cm (3 to 8 in.)</a:t>
            </a:r>
            <a:endParaRPr lang="en-US" sz="6400" b="1" dirty="0" smtClean="0">
              <a:latin typeface="Times New Roman" pitchFamily="18" charset="0"/>
              <a:cs typeface="Times New Roman" pitchFamily="18" charset="0"/>
            </a:endParaRPr>
          </a:p>
          <a:p>
            <a:pPr>
              <a:lnSpc>
                <a:spcPct val="170000"/>
              </a:lnSpc>
            </a:pPr>
            <a:r>
              <a:rPr lang="en-US" sz="6400" b="1" dirty="0" smtClean="0">
                <a:latin typeface="Times New Roman" pitchFamily="18" charset="0"/>
                <a:cs typeface="Times New Roman" pitchFamily="18" charset="0"/>
              </a:rPr>
              <a:t>Potential Side Effects:</a:t>
            </a:r>
            <a:r>
              <a:rPr lang="en-US" sz="6400" dirty="0" smtClean="0">
                <a:latin typeface="Times New Roman" pitchFamily="18" charset="0"/>
                <a:cs typeface="Times New Roman" pitchFamily="18" charset="0"/>
              </a:rPr>
              <a:t> Severe allergic reactions in some patients; lower rates of phlebitis than short peripheral catheters. </a:t>
            </a:r>
          </a:p>
          <a:p>
            <a:pPr>
              <a:lnSpc>
                <a:spcPct val="170000"/>
              </a:lnSpc>
              <a:buNone/>
            </a:pPr>
            <a:r>
              <a:rPr lang="en-US" sz="6400" b="1" dirty="0" smtClean="0">
                <a:latin typeface="Times New Roman" pitchFamily="18" charset="0"/>
                <a:cs typeface="Times New Roman" pitchFamily="18" charset="0"/>
              </a:rPr>
              <a:t>Non-tunneled central venous catheter</a:t>
            </a:r>
          </a:p>
          <a:p>
            <a:pPr>
              <a:lnSpc>
                <a:spcPct val="170000"/>
              </a:lnSpc>
            </a:pPr>
            <a:r>
              <a:rPr lang="en-US" sz="6400" b="1" dirty="0" smtClean="0">
                <a:latin typeface="Times New Roman" pitchFamily="18" charset="0"/>
                <a:cs typeface="Times New Roman" pitchFamily="18" charset="0"/>
              </a:rPr>
              <a:t>Entry Site :</a:t>
            </a:r>
            <a:r>
              <a:rPr lang="en-US" sz="6400" dirty="0" smtClean="0">
                <a:latin typeface="Times New Roman" pitchFamily="18" charset="0"/>
                <a:cs typeface="Times New Roman" pitchFamily="18" charset="0"/>
              </a:rPr>
              <a:t> Inserted via skin into central veins (</a:t>
            </a:r>
            <a:r>
              <a:rPr lang="en-US" sz="6400" dirty="0" err="1" smtClean="0">
                <a:latin typeface="Times New Roman" pitchFamily="18" charset="0"/>
                <a:cs typeface="Times New Roman" pitchFamily="18" charset="0"/>
              </a:rPr>
              <a:t>subclavian</a:t>
            </a:r>
            <a:r>
              <a:rPr lang="en-US" sz="6400" dirty="0" smtClean="0">
                <a:latin typeface="Times New Roman" pitchFamily="18" charset="0"/>
                <a:cs typeface="Times New Roman" pitchFamily="18" charset="0"/>
              </a:rPr>
              <a:t>, internal jugular, or femoral)</a:t>
            </a:r>
            <a:endParaRPr lang="en-US" sz="6400" b="1" dirty="0" smtClean="0">
              <a:latin typeface="Times New Roman" pitchFamily="18" charset="0"/>
              <a:cs typeface="Times New Roman" pitchFamily="18" charset="0"/>
            </a:endParaRPr>
          </a:p>
          <a:p>
            <a:pPr>
              <a:lnSpc>
                <a:spcPct val="170000"/>
              </a:lnSpc>
            </a:pPr>
            <a:r>
              <a:rPr lang="en-US" sz="6400" b="1" dirty="0" smtClean="0">
                <a:latin typeface="Times New Roman" pitchFamily="18" charset="0"/>
                <a:cs typeface="Times New Roman" pitchFamily="18" charset="0"/>
              </a:rPr>
              <a:t>Length:</a:t>
            </a:r>
            <a:r>
              <a:rPr lang="en-US" sz="6400" dirty="0" smtClean="0">
                <a:latin typeface="Times New Roman" pitchFamily="18" charset="0"/>
                <a:cs typeface="Times New Roman" pitchFamily="18" charset="0"/>
              </a:rPr>
              <a:t> ≥ 8 cm (3 in.) depending on patient size</a:t>
            </a:r>
            <a:endParaRPr lang="en-US" sz="6400" b="1" dirty="0" smtClean="0">
              <a:latin typeface="Times New Roman" pitchFamily="18" charset="0"/>
              <a:cs typeface="Times New Roman" pitchFamily="18" charset="0"/>
            </a:endParaRPr>
          </a:p>
          <a:p>
            <a:pPr>
              <a:lnSpc>
                <a:spcPct val="170000"/>
              </a:lnSpc>
            </a:pPr>
            <a:r>
              <a:rPr lang="en-US" sz="6400" b="1" dirty="0" smtClean="0">
                <a:latin typeface="Times New Roman" pitchFamily="18" charset="0"/>
                <a:cs typeface="Times New Roman" pitchFamily="18" charset="0"/>
              </a:rPr>
              <a:t>Potential Side Effects:</a:t>
            </a:r>
            <a:r>
              <a:rPr lang="en-US" sz="6400" dirty="0" smtClean="0">
                <a:latin typeface="Times New Roman" pitchFamily="18" charset="0"/>
                <a:cs typeface="Times New Roman" pitchFamily="18" charset="0"/>
              </a:rPr>
              <a:t> Accounts for majority of central line-related bloodstream infections. Femoral insertion site has the highest risk of infection. </a:t>
            </a:r>
          </a:p>
          <a:p>
            <a:pPr>
              <a:lnSpc>
                <a:spcPct val="160000"/>
              </a:lnSpc>
            </a:pPr>
            <a:endParaRPr lang="en-US" sz="7200" dirty="0"/>
          </a:p>
        </p:txBody>
      </p:sp>
    </p:spTree>
    <p:extLst>
      <p:ext uri="{BB962C8B-B14F-4D97-AF65-F5344CB8AC3E}">
        <p14:creationId xmlns:p14="http://schemas.microsoft.com/office/powerpoint/2010/main" val="1167837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274638"/>
            <a:ext cx="8229600" cy="1554162"/>
          </a:xfrm>
        </p:spPr>
        <p:txBody>
          <a:bodyPr>
            <a:normAutofit fontScale="90000"/>
          </a:bodyPr>
          <a:lstStyle/>
          <a:p>
            <a:r>
              <a:rPr lang="en-US" dirty="0" smtClean="0"/>
              <a:t/>
            </a:r>
            <a:br>
              <a:rPr lang="en-US" dirty="0" smtClean="0"/>
            </a:br>
            <a:r>
              <a:rPr lang="en-US" dirty="0" smtClean="0"/>
              <a:t/>
            </a:r>
            <a:br>
              <a:rPr lang="en-US" dirty="0" smtClean="0"/>
            </a:br>
            <a:r>
              <a:rPr lang="en-US" sz="3600" dirty="0" smtClean="0"/>
              <a:t>Peripherally inserted central catheter (PICC</a:t>
            </a:r>
            <a:r>
              <a:rPr lang="en-US" sz="2000" dirty="0" smtClean="0"/>
              <a:t>)</a:t>
            </a:r>
            <a:r>
              <a:rPr lang="en-US" sz="2800" dirty="0" smtClean="0"/>
              <a:t/>
            </a:r>
            <a:br>
              <a:rPr lang="en-US" sz="2800" dirty="0" smtClean="0"/>
            </a:br>
            <a:endParaRPr lang="en-US" dirty="0"/>
          </a:p>
        </p:txBody>
      </p:sp>
      <p:sp>
        <p:nvSpPr>
          <p:cNvPr id="3" name="Content Placeholder 2"/>
          <p:cNvSpPr>
            <a:spLocks noGrp="1"/>
          </p:cNvSpPr>
          <p:nvPr>
            <p:ph idx="1"/>
          </p:nvPr>
        </p:nvSpPr>
        <p:spPr>
          <a:xfrm>
            <a:off x="1508919" y="1905000"/>
            <a:ext cx="9144000" cy="5181600"/>
          </a:xfrm>
        </p:spPr>
        <p:txBody>
          <a:bodyPr>
            <a:noAutofit/>
          </a:bodyPr>
          <a:lstStyle/>
          <a:p>
            <a:pPr>
              <a:lnSpc>
                <a:spcPct val="150000"/>
              </a:lnSpc>
            </a:pPr>
            <a:r>
              <a:rPr lang="en-US" sz="1600" b="1" dirty="0" smtClean="0">
                <a:latin typeface="Times New Roman" pitchFamily="18" charset="0"/>
                <a:cs typeface="Times New Roman" pitchFamily="18" charset="0"/>
              </a:rPr>
              <a:t>Entry </a:t>
            </a:r>
            <a:r>
              <a:rPr lang="en-US" sz="1600" b="1" dirty="0">
                <a:latin typeface="Times New Roman" pitchFamily="18" charset="0"/>
                <a:cs typeface="Times New Roman" pitchFamily="18" charset="0"/>
              </a:rPr>
              <a:t>Site :</a:t>
            </a:r>
            <a:r>
              <a:rPr lang="en-US" sz="1600" dirty="0">
                <a:latin typeface="Times New Roman" pitchFamily="18" charset="0"/>
                <a:cs typeface="Times New Roman" pitchFamily="18" charset="0"/>
              </a:rPr>
              <a:t> Inserted into basilica, cephalic, or </a:t>
            </a:r>
            <a:r>
              <a:rPr lang="en-US" sz="1600" dirty="0" err="1" smtClean="0">
                <a:latin typeface="Times New Roman" pitchFamily="18" charset="0"/>
                <a:cs typeface="Times New Roman" pitchFamily="18" charset="0"/>
              </a:rPr>
              <a:t>bracial</a:t>
            </a:r>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veins and enters the superior vena cava</a:t>
            </a:r>
            <a:endParaRPr lang="en-US" sz="1600" b="1" dirty="0">
              <a:latin typeface="Times New Roman" pitchFamily="18" charset="0"/>
              <a:cs typeface="Times New Roman" pitchFamily="18" charset="0"/>
            </a:endParaRPr>
          </a:p>
          <a:p>
            <a:pPr>
              <a:lnSpc>
                <a:spcPct val="150000"/>
              </a:lnSpc>
            </a:pPr>
            <a:r>
              <a:rPr lang="en-US" sz="1600" b="1" dirty="0">
                <a:latin typeface="Times New Roman" pitchFamily="18" charset="0"/>
                <a:cs typeface="Times New Roman" pitchFamily="18" charset="0"/>
              </a:rPr>
              <a:t>Length:</a:t>
            </a:r>
            <a:r>
              <a:rPr lang="en-US" sz="1600" dirty="0">
                <a:latin typeface="Times New Roman" pitchFamily="18" charset="0"/>
                <a:cs typeface="Times New Roman" pitchFamily="18" charset="0"/>
              </a:rPr>
              <a:t> ≥ 20 cm (8 in.) depending on patient size</a:t>
            </a:r>
            <a:endParaRPr lang="en-US" sz="1600" b="1" dirty="0">
              <a:latin typeface="Times New Roman" pitchFamily="18" charset="0"/>
              <a:cs typeface="Times New Roman" pitchFamily="18" charset="0"/>
            </a:endParaRPr>
          </a:p>
          <a:p>
            <a:pPr>
              <a:lnSpc>
                <a:spcPct val="150000"/>
              </a:lnSpc>
            </a:pPr>
            <a:r>
              <a:rPr lang="en-US" sz="1600" b="1" dirty="0">
                <a:latin typeface="Times New Roman" pitchFamily="18" charset="0"/>
                <a:cs typeface="Times New Roman" pitchFamily="18" charset="0"/>
              </a:rPr>
              <a:t>Potential Side Effects:</a:t>
            </a:r>
            <a:r>
              <a:rPr lang="en-US" sz="1600" dirty="0">
                <a:latin typeface="Times New Roman" pitchFamily="18" charset="0"/>
                <a:cs typeface="Times New Roman" pitchFamily="18" charset="0"/>
              </a:rPr>
              <a:t> The risk of infection is similar to that of non tunneled central venous catheters </a:t>
            </a:r>
            <a:endParaRPr lang="en-US" sz="1600" dirty="0" smtClean="0">
              <a:latin typeface="Times New Roman" pitchFamily="18" charset="0"/>
              <a:cs typeface="Times New Roman" pitchFamily="18" charset="0"/>
            </a:endParaRPr>
          </a:p>
          <a:p>
            <a:pPr>
              <a:lnSpc>
                <a:spcPct val="150000"/>
              </a:lnSpc>
            </a:pPr>
            <a:r>
              <a:rPr lang="en-US" sz="1600" b="1" dirty="0" smtClean="0">
                <a:latin typeface="Times New Roman" pitchFamily="18" charset="0"/>
                <a:cs typeface="Times New Roman" pitchFamily="18" charset="0"/>
              </a:rPr>
              <a:t>Tunneled </a:t>
            </a:r>
            <a:r>
              <a:rPr lang="en-US" sz="1600" b="1" dirty="0">
                <a:latin typeface="Times New Roman" pitchFamily="18" charset="0"/>
                <a:cs typeface="Times New Roman" pitchFamily="18" charset="0"/>
              </a:rPr>
              <a:t>central venous catheter </a:t>
            </a:r>
          </a:p>
          <a:p>
            <a:pPr>
              <a:lnSpc>
                <a:spcPct val="150000"/>
              </a:lnSpc>
            </a:pPr>
            <a:r>
              <a:rPr lang="en-US" sz="1600" b="1" dirty="0">
                <a:latin typeface="Times New Roman" pitchFamily="18" charset="0"/>
                <a:cs typeface="Times New Roman" pitchFamily="18" charset="0"/>
              </a:rPr>
              <a:t>Entry Site :</a:t>
            </a:r>
            <a:r>
              <a:rPr lang="en-US" sz="1600" dirty="0">
                <a:latin typeface="Times New Roman" pitchFamily="18" charset="0"/>
                <a:cs typeface="Times New Roman" pitchFamily="18" charset="0"/>
              </a:rPr>
              <a:t> Implanted into sub </a:t>
            </a:r>
            <a:r>
              <a:rPr lang="en-US" sz="1600" dirty="0" err="1">
                <a:latin typeface="Times New Roman" pitchFamily="18" charset="0"/>
                <a:cs typeface="Times New Roman" pitchFamily="18" charset="0"/>
              </a:rPr>
              <a:t>clavian</a:t>
            </a:r>
            <a:r>
              <a:rPr lang="en-US" sz="1600" dirty="0">
                <a:latin typeface="Times New Roman" pitchFamily="18" charset="0"/>
                <a:cs typeface="Times New Roman" pitchFamily="18" charset="0"/>
              </a:rPr>
              <a:t>, internal jugular, or femoral veins</a:t>
            </a:r>
            <a:endParaRPr lang="en-US" sz="1600" b="1" dirty="0">
              <a:latin typeface="Times New Roman" pitchFamily="18" charset="0"/>
              <a:cs typeface="Times New Roman" pitchFamily="18" charset="0"/>
            </a:endParaRPr>
          </a:p>
          <a:p>
            <a:pPr>
              <a:lnSpc>
                <a:spcPct val="150000"/>
              </a:lnSpc>
            </a:pPr>
            <a:r>
              <a:rPr lang="en-US" sz="1600" b="1" dirty="0">
                <a:latin typeface="Times New Roman" pitchFamily="18" charset="0"/>
                <a:cs typeface="Times New Roman" pitchFamily="18" charset="0"/>
              </a:rPr>
              <a:t>Length:</a:t>
            </a:r>
            <a:r>
              <a:rPr lang="en-US" sz="1600" dirty="0">
                <a:latin typeface="Times New Roman" pitchFamily="18" charset="0"/>
                <a:cs typeface="Times New Roman" pitchFamily="18" charset="0"/>
              </a:rPr>
              <a:t> ≥ 8 cm (3 in.) depending on patient size</a:t>
            </a:r>
            <a:endParaRPr lang="en-US" sz="1600" b="1" dirty="0">
              <a:latin typeface="Times New Roman" pitchFamily="18" charset="0"/>
              <a:cs typeface="Times New Roman" pitchFamily="18" charset="0"/>
            </a:endParaRPr>
          </a:p>
          <a:p>
            <a:pPr>
              <a:lnSpc>
                <a:spcPct val="150000"/>
              </a:lnSpc>
            </a:pPr>
            <a:r>
              <a:rPr lang="en-US" sz="1600" b="1" dirty="0">
                <a:latin typeface="Times New Roman" pitchFamily="18" charset="0"/>
                <a:cs typeface="Times New Roman" pitchFamily="18" charset="0"/>
              </a:rPr>
              <a:t>Potential Side Effects:</a:t>
            </a:r>
            <a:r>
              <a:rPr lang="en-US" sz="1600" dirty="0">
                <a:latin typeface="Times New Roman" pitchFamily="18" charset="0"/>
                <a:cs typeface="Times New Roman" pitchFamily="18" charset="0"/>
              </a:rPr>
              <a:t> Cuff inhibits migration of organisms into catheter tract; lower risk of infection than non tunneled central venous catheter </a:t>
            </a:r>
          </a:p>
          <a:p>
            <a:pPr>
              <a:lnSpc>
                <a:spcPct val="170000"/>
              </a:lnSpc>
            </a:pPr>
            <a:endParaRPr lang="en-US" sz="2000" dirty="0"/>
          </a:p>
        </p:txBody>
      </p:sp>
    </p:spTree>
    <p:extLst>
      <p:ext uri="{BB962C8B-B14F-4D97-AF65-F5344CB8AC3E}">
        <p14:creationId xmlns:p14="http://schemas.microsoft.com/office/powerpoint/2010/main" val="1634129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3719" y="274638"/>
            <a:ext cx="8382000" cy="1782762"/>
          </a:xfrm>
        </p:spPr>
        <p:txBody>
          <a:bodyPr>
            <a:normAutofit/>
          </a:bodyPr>
          <a:lstStyle/>
          <a:p>
            <a:r>
              <a:rPr lang="en-US" sz="4000" dirty="0" smtClean="0">
                <a:latin typeface="Times New Roman" pitchFamily="18" charset="0"/>
                <a:cs typeface="Times New Roman" pitchFamily="18" charset="0"/>
              </a:rPr>
              <a:t/>
            </a:r>
            <a:br>
              <a:rPr lang="en-US" sz="4000" dirty="0" smtClean="0">
                <a:latin typeface="Times New Roman" pitchFamily="18" charset="0"/>
                <a:cs typeface="Times New Roman" pitchFamily="18" charset="0"/>
              </a:rPr>
            </a:br>
            <a:r>
              <a:rPr lang="en-US" sz="4000" dirty="0" smtClean="0">
                <a:latin typeface="Times New Roman" pitchFamily="18" charset="0"/>
                <a:cs typeface="Times New Roman" pitchFamily="18" charset="0"/>
              </a:rPr>
              <a:t>Umbilical catheter </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1966119" y="1752600"/>
            <a:ext cx="8229600" cy="4373564"/>
          </a:xfrm>
        </p:spPr>
        <p:txBody>
          <a:bodyPr>
            <a:normAutofit/>
          </a:bodyPr>
          <a:lstStyle/>
          <a:p>
            <a:pPr algn="ctr">
              <a:lnSpc>
                <a:spcPct val="150000"/>
              </a:lnSpc>
              <a:buNone/>
            </a:pPr>
            <a:endParaRPr lang="en-US" sz="2600" b="1" dirty="0" smtClean="0"/>
          </a:p>
          <a:p>
            <a:pPr>
              <a:lnSpc>
                <a:spcPct val="150000"/>
              </a:lnSpc>
            </a:pPr>
            <a:r>
              <a:rPr lang="en-US" sz="2600" b="1" dirty="0" smtClean="0">
                <a:latin typeface="Times New Roman" pitchFamily="18" charset="0"/>
                <a:cs typeface="Times New Roman" pitchFamily="18" charset="0"/>
              </a:rPr>
              <a:t>Entry Site :</a:t>
            </a:r>
            <a:r>
              <a:rPr lang="en-US" sz="2600" dirty="0" smtClean="0">
                <a:latin typeface="Times New Roman" pitchFamily="18" charset="0"/>
                <a:cs typeface="Times New Roman" pitchFamily="18" charset="0"/>
              </a:rPr>
              <a:t>Inserted into </a:t>
            </a:r>
            <a:r>
              <a:rPr lang="en-US" sz="2600" dirty="0" err="1" smtClean="0">
                <a:latin typeface="Times New Roman" pitchFamily="18" charset="0"/>
                <a:cs typeface="Times New Roman" pitchFamily="18" charset="0"/>
              </a:rPr>
              <a:t>eiher</a:t>
            </a:r>
            <a:r>
              <a:rPr lang="en-US" sz="2600" dirty="0" smtClean="0">
                <a:latin typeface="Times New Roman" pitchFamily="18" charset="0"/>
                <a:cs typeface="Times New Roman" pitchFamily="18" charset="0"/>
              </a:rPr>
              <a:t> the umbilical vein or artery of a newborn infant</a:t>
            </a:r>
            <a:endParaRPr lang="en-US" sz="2600" b="1" dirty="0" smtClean="0">
              <a:latin typeface="Times New Roman" pitchFamily="18" charset="0"/>
              <a:cs typeface="Times New Roman" pitchFamily="18" charset="0"/>
            </a:endParaRPr>
          </a:p>
          <a:p>
            <a:pPr>
              <a:lnSpc>
                <a:spcPct val="150000"/>
              </a:lnSpc>
            </a:pPr>
            <a:r>
              <a:rPr lang="en-US" sz="2600" b="1" dirty="0" smtClean="0">
                <a:latin typeface="Times New Roman" pitchFamily="18" charset="0"/>
                <a:cs typeface="Times New Roman" pitchFamily="18" charset="0"/>
              </a:rPr>
              <a:t>Length:</a:t>
            </a:r>
            <a:r>
              <a:rPr lang="en-US" sz="2600" dirty="0" smtClean="0">
                <a:latin typeface="Times New Roman" pitchFamily="18" charset="0"/>
                <a:cs typeface="Times New Roman" pitchFamily="18" charset="0"/>
              </a:rPr>
              <a:t> ≤ 6 cm (2.5 in.) depending on patient size</a:t>
            </a:r>
            <a:endParaRPr lang="en-US" sz="2600" b="1" dirty="0" smtClean="0">
              <a:latin typeface="Times New Roman" pitchFamily="18" charset="0"/>
              <a:cs typeface="Times New Roman" pitchFamily="18" charset="0"/>
            </a:endParaRPr>
          </a:p>
          <a:p>
            <a:pPr>
              <a:lnSpc>
                <a:spcPct val="150000"/>
              </a:lnSpc>
            </a:pPr>
            <a:r>
              <a:rPr lang="en-US" sz="2600" b="1" dirty="0" smtClean="0">
                <a:latin typeface="Times New Roman" pitchFamily="18" charset="0"/>
                <a:cs typeface="Times New Roman" pitchFamily="18" charset="0"/>
              </a:rPr>
              <a:t>Potential Side Effects:</a:t>
            </a:r>
            <a:r>
              <a:rPr lang="en-US" sz="2600" dirty="0" smtClean="0">
                <a:latin typeface="Times New Roman" pitchFamily="18" charset="0"/>
                <a:cs typeface="Times New Roman" pitchFamily="18" charset="0"/>
              </a:rPr>
              <a:t> High risk of infection. Risk similar for catheters placed in umbilical vein versus artery </a:t>
            </a:r>
          </a:p>
          <a:p>
            <a:pPr>
              <a:lnSpc>
                <a:spcPct val="150000"/>
              </a:lnSpc>
            </a:pPr>
            <a:endParaRPr lang="en-US" dirty="0"/>
          </a:p>
        </p:txBody>
      </p:sp>
    </p:spTree>
    <p:extLst>
      <p:ext uri="{BB962C8B-B14F-4D97-AF65-F5344CB8AC3E}">
        <p14:creationId xmlns:p14="http://schemas.microsoft.com/office/powerpoint/2010/main" val="3297044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274638"/>
            <a:ext cx="8229600" cy="411162"/>
          </a:xfrm>
        </p:spPr>
        <p:txBody>
          <a:bodyPr>
            <a:normAutofit fontScale="90000"/>
          </a:bodyPr>
          <a:lstStyle/>
          <a:p>
            <a:r>
              <a:rPr lang="en-US" dirty="0" smtClean="0"/>
              <a:t/>
            </a:r>
            <a:br>
              <a:rPr lang="en-US" dirty="0" smtClean="0"/>
            </a:br>
            <a:endParaRPr lang="en-US" dirty="0"/>
          </a:p>
        </p:txBody>
      </p:sp>
      <p:sp>
        <p:nvSpPr>
          <p:cNvPr id="3" name="Content Placeholder 2"/>
          <p:cNvSpPr>
            <a:spLocks noGrp="1"/>
          </p:cNvSpPr>
          <p:nvPr>
            <p:ph idx="1"/>
          </p:nvPr>
        </p:nvSpPr>
        <p:spPr>
          <a:xfrm>
            <a:off x="1508919" y="1143000"/>
            <a:ext cx="8991600" cy="5715000"/>
          </a:xfrm>
        </p:spPr>
        <p:txBody>
          <a:bodyPr>
            <a:noAutofit/>
          </a:bodyPr>
          <a:lstStyle/>
          <a:p>
            <a:pPr algn="ctr">
              <a:lnSpc>
                <a:spcPct val="150000"/>
              </a:lnSpc>
              <a:buNone/>
            </a:pPr>
            <a:endParaRPr lang="en-US" sz="2000" b="1" dirty="0" smtClean="0"/>
          </a:p>
          <a:p>
            <a:pPr algn="ctr">
              <a:lnSpc>
                <a:spcPct val="150000"/>
              </a:lnSpc>
              <a:buNone/>
            </a:pPr>
            <a:r>
              <a:rPr lang="en-US" sz="2000" b="1" dirty="0" smtClean="0">
                <a:latin typeface="Times New Roman" pitchFamily="18" charset="0"/>
                <a:cs typeface="Times New Roman" pitchFamily="18" charset="0"/>
              </a:rPr>
              <a:t>Infection </a:t>
            </a:r>
            <a:r>
              <a:rPr lang="en-US" sz="2000" b="1" dirty="0">
                <a:latin typeface="Times New Roman" pitchFamily="18" charset="0"/>
                <a:cs typeface="Times New Roman" pitchFamily="18" charset="0"/>
              </a:rPr>
              <a:t>Risk </a:t>
            </a:r>
            <a:r>
              <a:rPr lang="en-US" sz="2000" b="1" dirty="0" smtClean="0">
                <a:latin typeface="Times New Roman" pitchFamily="18" charset="0"/>
                <a:cs typeface="Times New Roman" pitchFamily="18" charset="0"/>
              </a:rPr>
              <a:t>actors </a:t>
            </a:r>
            <a:r>
              <a:rPr lang="en-US" sz="2000" b="1" dirty="0">
                <a:latin typeface="Times New Roman" pitchFamily="18" charset="0"/>
                <a:cs typeface="Times New Roman" pitchFamily="18" charset="0"/>
              </a:rPr>
              <a:t>Related </a:t>
            </a:r>
            <a:r>
              <a:rPr lang="en-US" sz="2000" b="1" dirty="0" smtClean="0">
                <a:latin typeface="Times New Roman" pitchFamily="18" charset="0"/>
                <a:cs typeface="Times New Roman" pitchFamily="18" charset="0"/>
              </a:rPr>
              <a:t>to </a:t>
            </a:r>
            <a:r>
              <a:rPr lang="en-US" sz="2000" b="1" dirty="0">
                <a:latin typeface="Times New Roman" pitchFamily="18" charset="0"/>
                <a:cs typeface="Times New Roman" pitchFamily="18" charset="0"/>
              </a:rPr>
              <a:t>Intravascular Catheters</a:t>
            </a:r>
            <a:r>
              <a:rPr lang="en-US" sz="2000" dirty="0">
                <a:latin typeface="Times New Roman" pitchFamily="18" charset="0"/>
                <a:cs typeface="Times New Roman" pitchFamily="18" charset="0"/>
              </a:rPr>
              <a:t> </a:t>
            </a:r>
          </a:p>
          <a:p>
            <a:pPr>
              <a:lnSpc>
                <a:spcPct val="150000"/>
              </a:lnSpc>
            </a:pPr>
            <a:r>
              <a:rPr lang="en-US" sz="2000" dirty="0">
                <a:latin typeface="Times New Roman" pitchFamily="18" charset="0"/>
                <a:cs typeface="Times New Roman" pitchFamily="18" charset="0"/>
              </a:rPr>
              <a:t>Handling of the catheter with contaminated hands</a:t>
            </a:r>
          </a:p>
          <a:p>
            <a:pPr>
              <a:lnSpc>
                <a:spcPct val="150000"/>
              </a:lnSpc>
            </a:pPr>
            <a:r>
              <a:rPr lang="en-US" sz="2000" dirty="0">
                <a:latin typeface="Times New Roman" pitchFamily="18" charset="0"/>
                <a:cs typeface="Times New Roman" pitchFamily="18" charset="0"/>
              </a:rPr>
              <a:t>Contamination of the insertion site</a:t>
            </a:r>
          </a:p>
          <a:p>
            <a:pPr>
              <a:lnSpc>
                <a:spcPct val="150000"/>
              </a:lnSpc>
            </a:pPr>
            <a:r>
              <a:rPr lang="en-US" sz="2000" dirty="0">
                <a:latin typeface="Times New Roman" pitchFamily="18" charset="0"/>
                <a:cs typeface="Times New Roman" pitchFamily="18" charset="0"/>
              </a:rPr>
              <a:t>Contamination of the catheter hub (including touching the patient’s skin)</a:t>
            </a:r>
          </a:p>
          <a:p>
            <a:pPr>
              <a:lnSpc>
                <a:spcPct val="150000"/>
              </a:lnSpc>
            </a:pPr>
            <a:r>
              <a:rPr lang="en-US" sz="2000" dirty="0">
                <a:latin typeface="Times New Roman" pitchFamily="18" charset="0"/>
                <a:cs typeface="Times New Roman" pitchFamily="18" charset="0"/>
              </a:rPr>
              <a:t>Contamination of end caps</a:t>
            </a:r>
          </a:p>
          <a:p>
            <a:pPr>
              <a:lnSpc>
                <a:spcPct val="150000"/>
              </a:lnSpc>
            </a:pPr>
            <a:r>
              <a:rPr lang="en-US" sz="2000" dirty="0">
                <a:latin typeface="Times New Roman" pitchFamily="18" charset="0"/>
                <a:cs typeface="Times New Roman" pitchFamily="18" charset="0"/>
              </a:rPr>
              <a:t>Contamination of tubing ends</a:t>
            </a:r>
          </a:p>
          <a:p>
            <a:pPr>
              <a:lnSpc>
                <a:spcPct val="150000"/>
              </a:lnSpc>
            </a:pPr>
            <a:r>
              <a:rPr lang="en-US" sz="2000" dirty="0">
                <a:latin typeface="Times New Roman" pitchFamily="18" charset="0"/>
                <a:cs typeface="Times New Roman" pitchFamily="18" charset="0"/>
              </a:rPr>
              <a:t>Contamination of injection ports</a:t>
            </a:r>
          </a:p>
          <a:p>
            <a:pPr>
              <a:lnSpc>
                <a:spcPct val="150000"/>
              </a:lnSpc>
              <a:buNone/>
            </a:pPr>
            <a:r>
              <a:rPr lang="en-US" sz="2000" dirty="0"/>
              <a:t/>
            </a:r>
            <a:br>
              <a:rPr lang="en-US" sz="2000" dirty="0"/>
            </a:br>
            <a:endParaRPr lang="en-US" sz="2000" dirty="0"/>
          </a:p>
        </p:txBody>
      </p:sp>
    </p:spTree>
    <p:extLst>
      <p:ext uri="{BB962C8B-B14F-4D97-AF65-F5344CB8AC3E}">
        <p14:creationId xmlns:p14="http://schemas.microsoft.com/office/powerpoint/2010/main" val="2292815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0"/>
            <a:ext cx="8229600" cy="838200"/>
          </a:xfrm>
        </p:spPr>
        <p:txBody>
          <a:bodyPr>
            <a:normAutofit fontScale="90000"/>
          </a:bodyPr>
          <a:lstStyle/>
          <a:p>
            <a:r>
              <a:rPr lang="en-US" sz="2800" dirty="0" smtClean="0"/>
              <a:t/>
            </a:r>
            <a:br>
              <a:rPr lang="en-US" sz="2800" dirty="0" smtClean="0"/>
            </a:br>
            <a:r>
              <a:rPr lang="en-US" sz="2800" dirty="0" smtClean="0"/>
              <a:t/>
            </a:r>
            <a:br>
              <a:rPr lang="en-US" sz="2800" dirty="0" smtClean="0"/>
            </a:br>
            <a:r>
              <a:rPr lang="en-US" sz="2800" dirty="0" smtClean="0"/>
              <a:t/>
            </a:r>
            <a:br>
              <a:rPr lang="en-US" sz="2800" dirty="0" smtClean="0"/>
            </a:br>
            <a:r>
              <a:rPr lang="en-US" sz="2800" dirty="0" smtClean="0"/>
              <a:t/>
            </a:r>
            <a:br>
              <a:rPr lang="en-US" sz="2800" dirty="0" smtClean="0"/>
            </a:br>
            <a:r>
              <a:rPr lang="en-US" sz="2800" dirty="0" smtClean="0"/>
              <a:t>Intravascular </a:t>
            </a:r>
            <a:r>
              <a:rPr lang="en-US" sz="2800" dirty="0"/>
              <a:t>Catheter-Related Bloodstream Infection</a:t>
            </a:r>
          </a:p>
        </p:txBody>
      </p:sp>
      <p:sp>
        <p:nvSpPr>
          <p:cNvPr id="3" name="Content Placeholder 2"/>
          <p:cNvSpPr>
            <a:spLocks noGrp="1"/>
          </p:cNvSpPr>
          <p:nvPr>
            <p:ph idx="1"/>
          </p:nvPr>
        </p:nvSpPr>
        <p:spPr>
          <a:xfrm>
            <a:off x="1737519" y="1828800"/>
            <a:ext cx="8763000" cy="4068764"/>
          </a:xfrm>
        </p:spPr>
        <p:txBody>
          <a:bodyPr>
            <a:noAutofit/>
          </a:bodyPr>
          <a:lstStyle/>
          <a:p>
            <a:pPr>
              <a:lnSpc>
                <a:spcPct val="150000"/>
              </a:lnSpc>
              <a:buNone/>
            </a:pPr>
            <a:r>
              <a:rPr lang="en-US" sz="1800" b="1" dirty="0" smtClean="0">
                <a:latin typeface="Times New Roman" pitchFamily="18" charset="0"/>
                <a:cs typeface="Times New Roman" pitchFamily="18" charset="0"/>
              </a:rPr>
              <a:t>Intravascular </a:t>
            </a:r>
            <a:r>
              <a:rPr lang="en-US" sz="1800" b="1" dirty="0">
                <a:latin typeface="Times New Roman" pitchFamily="18" charset="0"/>
                <a:cs typeface="Times New Roman" pitchFamily="18" charset="0"/>
              </a:rPr>
              <a:t>catheters </a:t>
            </a:r>
            <a:r>
              <a:rPr lang="en-US" sz="1800" dirty="0">
                <a:latin typeface="Times New Roman" pitchFamily="18" charset="0"/>
                <a:cs typeface="Times New Roman" pitchFamily="18" charset="0"/>
              </a:rPr>
              <a:t>are devices that are placed in blood vessels. They can be placed in central or peripheral veins. All central lines and peripheral IV lines are intravascular catheters.</a:t>
            </a:r>
          </a:p>
          <a:p>
            <a:pPr>
              <a:lnSpc>
                <a:spcPct val="150000"/>
              </a:lnSpc>
            </a:pPr>
            <a:r>
              <a:rPr lang="en-US" sz="1800" b="1" dirty="0">
                <a:latin typeface="Times New Roman" pitchFamily="18" charset="0"/>
                <a:cs typeface="Times New Roman" pitchFamily="18" charset="0"/>
              </a:rPr>
              <a:t>Microorganisms </a:t>
            </a:r>
            <a:r>
              <a:rPr lang="en-US" sz="1800" dirty="0">
                <a:latin typeface="Times New Roman" pitchFamily="18" charset="0"/>
                <a:cs typeface="Times New Roman" pitchFamily="18" charset="0"/>
              </a:rPr>
              <a:t>are causative agents of infection and include bacteria, viruses, fungi, and parasites. Some bacteria can exist in a vegetative state (during which the organism is active and infective) and as </a:t>
            </a:r>
            <a:r>
              <a:rPr lang="en-US" sz="1800" dirty="0" err="1">
                <a:latin typeface="Times New Roman" pitchFamily="18" charset="0"/>
                <a:cs typeface="Times New Roman" pitchFamily="18" charset="0"/>
              </a:rPr>
              <a:t>endospores</a:t>
            </a:r>
            <a:r>
              <a:rPr lang="en-US" sz="1800" dirty="0">
                <a:latin typeface="Times New Roman" pitchFamily="18" charset="0"/>
                <a:cs typeface="Times New Roman" pitchFamily="18" charset="0"/>
              </a:rPr>
              <a:t> (in which a tough, dormant, non-reproductive structure protects the cell). </a:t>
            </a:r>
            <a:r>
              <a:rPr lang="en-US" sz="1800" dirty="0" err="1">
                <a:latin typeface="Times New Roman" pitchFamily="18" charset="0"/>
                <a:cs typeface="Times New Roman" pitchFamily="18" charset="0"/>
              </a:rPr>
              <a:t>Endospores</a:t>
            </a:r>
            <a:r>
              <a:rPr lang="en-US" sz="1800" dirty="0">
                <a:latin typeface="Times New Roman" pitchFamily="18" charset="0"/>
                <a:cs typeface="Times New Roman" pitchFamily="18" charset="0"/>
              </a:rPr>
              <a:t> are the most difficult to kill due to their protective coating.</a:t>
            </a:r>
          </a:p>
          <a:p>
            <a:pPr>
              <a:lnSpc>
                <a:spcPct val="150000"/>
              </a:lnSpc>
            </a:pPr>
            <a:r>
              <a:rPr lang="en-US" sz="1800" b="1" dirty="0">
                <a:latin typeface="Times New Roman" pitchFamily="18" charset="0"/>
                <a:cs typeface="Times New Roman" pitchFamily="18" charset="0"/>
              </a:rPr>
              <a:t>Peripheral venous catheters (IV lines) </a:t>
            </a:r>
            <a:r>
              <a:rPr lang="en-US" sz="1800" dirty="0">
                <a:latin typeface="Times New Roman" pitchFamily="18" charset="0"/>
                <a:cs typeface="Times New Roman" pitchFamily="18" charset="0"/>
              </a:rPr>
              <a:t>are inserted in the peripheral veins and are used to administer fluids or medication. </a:t>
            </a:r>
          </a:p>
          <a:p>
            <a:pPr>
              <a:lnSpc>
                <a:spcPct val="150000"/>
              </a:lnSpc>
            </a:pPr>
            <a:endParaRPr lang="en-US" sz="2400" dirty="0"/>
          </a:p>
        </p:txBody>
      </p:sp>
    </p:spTree>
    <p:extLst>
      <p:ext uri="{BB962C8B-B14F-4D97-AF65-F5344CB8AC3E}">
        <p14:creationId xmlns:p14="http://schemas.microsoft.com/office/powerpoint/2010/main" val="1631801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0"/>
            <a:ext cx="8229600" cy="685800"/>
          </a:xfrm>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cont</a:t>
            </a:r>
            <a:endParaRPr lang="en-US" dirty="0"/>
          </a:p>
        </p:txBody>
      </p:sp>
      <p:sp>
        <p:nvSpPr>
          <p:cNvPr id="3" name="Content Placeholder 2"/>
          <p:cNvSpPr>
            <a:spLocks noGrp="1"/>
          </p:cNvSpPr>
          <p:nvPr>
            <p:ph idx="1"/>
          </p:nvPr>
        </p:nvSpPr>
        <p:spPr>
          <a:xfrm>
            <a:off x="1585119" y="1752600"/>
            <a:ext cx="8610600" cy="4373563"/>
          </a:xfrm>
        </p:spPr>
        <p:txBody>
          <a:bodyPr>
            <a:noAutofit/>
          </a:bodyPr>
          <a:lstStyle/>
          <a:p>
            <a:pPr>
              <a:lnSpc>
                <a:spcPct val="150000"/>
              </a:lnSpc>
              <a:buNone/>
            </a:pPr>
            <a:r>
              <a:rPr lang="en-US" sz="2000" dirty="0" smtClean="0">
                <a:latin typeface="Times New Roman" pitchFamily="18" charset="0"/>
                <a:cs typeface="Times New Roman" pitchFamily="18" charset="0"/>
              </a:rPr>
              <a:t>This </a:t>
            </a:r>
            <a:r>
              <a:rPr lang="en-US" sz="2000" dirty="0">
                <a:latin typeface="Times New Roman" pitchFamily="18" charset="0"/>
                <a:cs typeface="Times New Roman" pitchFamily="18" charset="0"/>
              </a:rPr>
              <a:t>is the most common form of vascular access in health care facilities. A midline catheter is also a type of peripheral intravenous line that is inserted into a vein in the upper arm or at the bend in the elbow and its tip ends at or near the armpit.</a:t>
            </a:r>
            <a:endParaRPr lang="en-US" sz="2000" b="1" dirty="0">
              <a:latin typeface="Times New Roman" pitchFamily="18" charset="0"/>
              <a:cs typeface="Times New Roman" pitchFamily="18" charset="0"/>
            </a:endParaRPr>
          </a:p>
          <a:p>
            <a:pPr>
              <a:lnSpc>
                <a:spcPct val="150000"/>
              </a:lnSpc>
            </a:pPr>
            <a:r>
              <a:rPr lang="en-US" sz="2000" b="1" dirty="0">
                <a:latin typeface="Times New Roman" pitchFamily="18" charset="0"/>
                <a:cs typeface="Times New Roman" pitchFamily="18" charset="0"/>
              </a:rPr>
              <a:t>Peripherally inserted central catheter (PICC) </a:t>
            </a:r>
            <a:r>
              <a:rPr lang="en-US" sz="2000" dirty="0">
                <a:latin typeface="Times New Roman" pitchFamily="18" charset="0"/>
                <a:cs typeface="Times New Roman" pitchFamily="18" charset="0"/>
              </a:rPr>
              <a:t>is a long, flexible, catheter inserted into a peripheral vein to provide intravenous access for treatment. It is inserted into a peripheral vein (such as in arms, legs, or feet) and then threaded through a vein all the way to a great vessel near the heart. It can be used when the duration of IV therapy will likely exceed 6 days.</a:t>
            </a: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276345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274638"/>
            <a:ext cx="8229600" cy="411162"/>
          </a:xfrm>
        </p:spPr>
        <p:txBody>
          <a:bodyPr>
            <a:normAutofit fontScale="90000"/>
          </a:bodyPr>
          <a:lstStyle/>
          <a:p>
            <a:r>
              <a:rPr lang="en-US" dirty="0" smtClean="0"/>
              <a:t/>
            </a:r>
            <a:br>
              <a:rPr lang="en-US" dirty="0" smtClean="0"/>
            </a:br>
            <a:r>
              <a:rPr lang="en-US" dirty="0" smtClean="0"/>
              <a:t/>
            </a:r>
            <a:br>
              <a:rPr lang="en-US" dirty="0" smtClean="0"/>
            </a:br>
            <a:r>
              <a:rPr lang="en-US" dirty="0" smtClean="0"/>
              <a:t>Cont.</a:t>
            </a:r>
            <a:endParaRPr lang="en-US" dirty="0"/>
          </a:p>
        </p:txBody>
      </p:sp>
      <p:sp>
        <p:nvSpPr>
          <p:cNvPr id="3" name="Content Placeholder 2"/>
          <p:cNvSpPr>
            <a:spLocks noGrp="1"/>
          </p:cNvSpPr>
          <p:nvPr>
            <p:ph idx="1"/>
          </p:nvPr>
        </p:nvSpPr>
        <p:spPr>
          <a:xfrm>
            <a:off x="1508919" y="1752600"/>
            <a:ext cx="8229600" cy="4648200"/>
          </a:xfrm>
        </p:spPr>
        <p:txBody>
          <a:bodyPr>
            <a:noAutofit/>
          </a:bodyPr>
          <a:lstStyle/>
          <a:p>
            <a:pPr>
              <a:lnSpc>
                <a:spcPct val="150000"/>
              </a:lnSpc>
            </a:pPr>
            <a:r>
              <a:rPr lang="en-US" sz="2000" b="1" dirty="0">
                <a:latin typeface="Times New Roman" pitchFamily="18" charset="0"/>
                <a:cs typeface="Times New Roman" pitchFamily="18" charset="0"/>
              </a:rPr>
              <a:t>Phlebitis </a:t>
            </a:r>
            <a:r>
              <a:rPr lang="en-US" sz="2000" dirty="0">
                <a:latin typeface="Times New Roman" pitchFamily="18" charset="0"/>
                <a:cs typeface="Times New Roman" pitchFamily="18" charset="0"/>
              </a:rPr>
              <a:t>is an area of swelling, redness, warmth, and tenderness of the skin around the site where an intravascular catheter comes out of the skin (i.e., the exit site). If phlebitis is associated with</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other signs of infection (i.e., fever and pus coming from the exit site), it is classified as a clinical exit site infection.</a:t>
            </a:r>
          </a:p>
          <a:p>
            <a:pPr>
              <a:lnSpc>
                <a:spcPct val="150000"/>
              </a:lnSpc>
            </a:pPr>
            <a:r>
              <a:rPr lang="en-US" sz="2000" b="1" dirty="0">
                <a:latin typeface="Times New Roman" pitchFamily="18" charset="0"/>
                <a:cs typeface="Times New Roman" pitchFamily="18" charset="0"/>
              </a:rPr>
              <a:t>Prevention bundle </a:t>
            </a:r>
            <a:r>
              <a:rPr lang="en-US" sz="2000" dirty="0">
                <a:latin typeface="Times New Roman" pitchFamily="18" charset="0"/>
                <a:cs typeface="Times New Roman" pitchFamily="18" charset="0"/>
              </a:rPr>
              <a:t>is a structured way of improving patient care and outcomes by using a set of evidence-based practices (i.e., recommendations by health experts in the field</a:t>
            </a:r>
            <a:r>
              <a:rPr lang="en-US" sz="2400" dirty="0"/>
              <a:t>).</a:t>
            </a:r>
          </a:p>
        </p:txBody>
      </p:sp>
    </p:spTree>
    <p:extLst>
      <p:ext uri="{BB962C8B-B14F-4D97-AF65-F5344CB8AC3E}">
        <p14:creationId xmlns:p14="http://schemas.microsoft.com/office/powerpoint/2010/main" val="2641600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838200"/>
            <a:ext cx="8229600" cy="914400"/>
          </a:xfrm>
        </p:spPr>
        <p:txBody>
          <a:bodyPr>
            <a:normAutofit fontScale="90000"/>
          </a:bodyPr>
          <a:lstStyle/>
          <a:p>
            <a:r>
              <a:rPr lang="en-US" sz="3100" dirty="0" smtClean="0"/>
              <a:t/>
            </a:r>
            <a:br>
              <a:rPr lang="en-US" sz="3100" dirty="0" smtClean="0"/>
            </a:br>
            <a:r>
              <a:rPr lang="en-US" sz="3100" dirty="0" smtClean="0"/>
              <a:t/>
            </a:r>
            <a:br>
              <a:rPr lang="en-US" sz="3100" dirty="0" smtClean="0"/>
            </a:br>
            <a:r>
              <a:rPr lang="en-US" sz="2700" dirty="0" smtClean="0">
                <a:latin typeface="Times New Roman" pitchFamily="18" charset="0"/>
                <a:cs typeface="Times New Roman" pitchFamily="18" charset="0"/>
              </a:rPr>
              <a:t>Intravascular Catheter-Related Bloodstream Infection Risk Factors </a:t>
            </a:r>
            <a:r>
              <a:rPr lang="en-US" dirty="0" smtClean="0"/>
              <a:t/>
            </a:r>
            <a:br>
              <a:rPr lang="en-US" dirty="0" smtClean="0"/>
            </a:br>
            <a:endParaRPr lang="en-US" dirty="0"/>
          </a:p>
        </p:txBody>
      </p:sp>
      <p:sp>
        <p:nvSpPr>
          <p:cNvPr id="3" name="Content Placeholder 2"/>
          <p:cNvSpPr>
            <a:spLocks noGrp="1"/>
          </p:cNvSpPr>
          <p:nvPr>
            <p:ph idx="1"/>
          </p:nvPr>
        </p:nvSpPr>
        <p:spPr>
          <a:xfrm>
            <a:off x="1280319" y="1295400"/>
            <a:ext cx="8839200" cy="4953000"/>
          </a:xfrm>
        </p:spPr>
        <p:txBody>
          <a:bodyPr>
            <a:noAutofit/>
          </a:bodyPr>
          <a:lstStyle/>
          <a:p>
            <a:pPr algn="ctr">
              <a:lnSpc>
                <a:spcPct val="170000"/>
              </a:lnSpc>
              <a:buNone/>
            </a:pPr>
            <a:endParaRPr lang="en-US" sz="2400" b="1" dirty="0" smtClean="0"/>
          </a:p>
          <a:p>
            <a:pPr algn="ctr">
              <a:lnSpc>
                <a:spcPct val="170000"/>
              </a:lnSpc>
              <a:buNone/>
            </a:pPr>
            <a:r>
              <a:rPr lang="en-US" sz="2400" b="1" dirty="0" smtClean="0">
                <a:latin typeface="Times New Roman" pitchFamily="18" charset="0"/>
                <a:cs typeface="Times New Roman" pitchFamily="18" charset="0"/>
              </a:rPr>
              <a:t>Non-Modifiable </a:t>
            </a:r>
            <a:r>
              <a:rPr lang="en-US" sz="2400" b="1" dirty="0">
                <a:latin typeface="Times New Roman" pitchFamily="18" charset="0"/>
                <a:cs typeface="Times New Roman" pitchFamily="18" charset="0"/>
              </a:rPr>
              <a:t>Risk Factors</a:t>
            </a:r>
          </a:p>
          <a:p>
            <a:pPr>
              <a:lnSpc>
                <a:spcPct val="150000"/>
              </a:lnSpc>
            </a:pPr>
            <a:r>
              <a:rPr lang="en-US" sz="2000" dirty="0">
                <a:latin typeface="Times New Roman" pitchFamily="18" charset="0"/>
                <a:cs typeface="Times New Roman" pitchFamily="18" charset="0"/>
              </a:rPr>
              <a:t>Old age</a:t>
            </a:r>
          </a:p>
          <a:p>
            <a:pPr>
              <a:lnSpc>
                <a:spcPct val="150000"/>
              </a:lnSpc>
            </a:pPr>
            <a:r>
              <a:rPr lang="en-US" sz="2000" dirty="0">
                <a:latin typeface="Times New Roman" pitchFamily="18" charset="0"/>
                <a:cs typeface="Times New Roman" pitchFamily="18" charset="0"/>
              </a:rPr>
              <a:t>Male gender</a:t>
            </a:r>
          </a:p>
          <a:p>
            <a:pPr>
              <a:lnSpc>
                <a:spcPct val="150000"/>
              </a:lnSpc>
            </a:pPr>
            <a:r>
              <a:rPr lang="en-US" sz="2000" dirty="0">
                <a:latin typeface="Times New Roman" pitchFamily="18" charset="0"/>
                <a:cs typeface="Times New Roman" pitchFamily="18" charset="0"/>
              </a:rPr>
              <a:t>Underlying disease such as hematological deficiencies, immunological deficiencies, and cardiovascular, and gastrointestinal </a:t>
            </a:r>
            <a:r>
              <a:rPr lang="en-US" sz="2000" dirty="0" smtClean="0">
                <a:latin typeface="Times New Roman" pitchFamily="18" charset="0"/>
                <a:cs typeface="Times New Roman" pitchFamily="18" charset="0"/>
              </a:rPr>
              <a:t>diseases</a:t>
            </a:r>
          </a:p>
          <a:p>
            <a:pPr>
              <a:lnSpc>
                <a:spcPct val="150000"/>
              </a:lnSpc>
            </a:pPr>
            <a:r>
              <a:rPr lang="en-US" sz="2000" dirty="0" smtClean="0">
                <a:latin typeface="Times New Roman" pitchFamily="18" charset="0"/>
                <a:cs typeface="Times New Roman" pitchFamily="18" charset="0"/>
              </a:rPr>
              <a:t>Admission </a:t>
            </a:r>
            <a:r>
              <a:rPr lang="en-US" sz="2000" dirty="0">
                <a:latin typeface="Times New Roman" pitchFamily="18" charset="0"/>
                <a:cs typeface="Times New Roman" pitchFamily="18" charset="0"/>
              </a:rPr>
              <a:t>to ICU</a:t>
            </a:r>
          </a:p>
          <a:p>
            <a:pPr>
              <a:lnSpc>
                <a:spcPct val="150000"/>
              </a:lnSpc>
            </a:pPr>
            <a:r>
              <a:rPr lang="en-US" sz="2400" dirty="0" err="1">
                <a:latin typeface="Times New Roman" pitchFamily="18" charset="0"/>
                <a:cs typeface="Times New Roman" pitchFamily="18" charset="0"/>
              </a:rPr>
              <a:t>Neutropenia</a:t>
            </a:r>
            <a:endParaRPr lang="en-US" sz="2400" dirty="0">
              <a:latin typeface="Times New Roman" pitchFamily="18" charset="0"/>
              <a:cs typeface="Times New Roman" pitchFamily="18" charset="0"/>
            </a:endParaRPr>
          </a:p>
          <a:p>
            <a:pPr algn="ctr">
              <a:lnSpc>
                <a:spcPct val="170000"/>
              </a:lnSpc>
              <a:buNone/>
            </a:pPr>
            <a:r>
              <a:rPr lang="en-US" sz="2400" dirty="0"/>
              <a:t/>
            </a:r>
            <a:br>
              <a:rPr lang="en-US" sz="2400" dirty="0"/>
            </a:br>
            <a:r>
              <a:rPr lang="en-US" sz="2400" dirty="0"/>
              <a:t> </a:t>
            </a:r>
            <a:br>
              <a:rPr lang="en-US" sz="2400" dirty="0"/>
            </a:br>
            <a:endParaRPr lang="en-US" sz="2400" dirty="0"/>
          </a:p>
        </p:txBody>
      </p:sp>
    </p:spTree>
    <p:extLst>
      <p:ext uri="{BB962C8B-B14F-4D97-AF65-F5344CB8AC3E}">
        <p14:creationId xmlns:p14="http://schemas.microsoft.com/office/powerpoint/2010/main" val="1440888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274638"/>
            <a:ext cx="8229600" cy="4873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1280319" y="1600200"/>
            <a:ext cx="9677400" cy="5257800"/>
          </a:xfrm>
        </p:spPr>
        <p:txBody>
          <a:bodyPr>
            <a:noAutofit/>
          </a:bodyPr>
          <a:lstStyle/>
          <a:p>
            <a:pPr algn="ctr">
              <a:lnSpc>
                <a:spcPct val="170000"/>
              </a:lnSpc>
              <a:buNone/>
            </a:pPr>
            <a:r>
              <a:rPr lang="en-US" sz="2800" b="1" dirty="0" smtClean="0">
                <a:latin typeface="Times New Roman" pitchFamily="18" charset="0"/>
                <a:cs typeface="Times New Roman" pitchFamily="18" charset="0"/>
              </a:rPr>
              <a:t>Potentially </a:t>
            </a:r>
            <a:r>
              <a:rPr lang="en-US" sz="2800" b="1" dirty="0">
                <a:latin typeface="Times New Roman" pitchFamily="18" charset="0"/>
                <a:cs typeface="Times New Roman" pitchFamily="18" charset="0"/>
              </a:rPr>
              <a:t>Modifiable Risk Factors</a:t>
            </a:r>
            <a:r>
              <a:rPr lang="en-US" sz="2800" dirty="0">
                <a:latin typeface="Times New Roman" pitchFamily="18" charset="0"/>
                <a:cs typeface="Times New Roman" pitchFamily="18" charset="0"/>
              </a:rPr>
              <a:t> </a:t>
            </a:r>
          </a:p>
          <a:p>
            <a:pPr>
              <a:lnSpc>
                <a:spcPct val="150000"/>
              </a:lnSpc>
            </a:pPr>
            <a:r>
              <a:rPr lang="en-US" sz="2400" dirty="0">
                <a:latin typeface="Times New Roman" pitchFamily="18" charset="0"/>
                <a:cs typeface="Times New Roman" pitchFamily="18" charset="0"/>
              </a:rPr>
              <a:t>Prolonged hospitalization before catheter insertion</a:t>
            </a:r>
          </a:p>
          <a:p>
            <a:pPr>
              <a:lnSpc>
                <a:spcPct val="150000"/>
              </a:lnSpc>
            </a:pPr>
            <a:r>
              <a:rPr lang="en-US" sz="2400" dirty="0">
                <a:latin typeface="Times New Roman" pitchFamily="18" charset="0"/>
                <a:cs typeface="Times New Roman" pitchFamily="18" charset="0"/>
              </a:rPr>
              <a:t>Multiple central lines</a:t>
            </a:r>
          </a:p>
          <a:p>
            <a:pPr>
              <a:lnSpc>
                <a:spcPct val="150000"/>
              </a:lnSpc>
            </a:pPr>
            <a:r>
              <a:rPr lang="en-US" sz="2400" dirty="0" err="1">
                <a:latin typeface="Times New Roman" pitchFamily="18" charset="0"/>
                <a:cs typeface="Times New Roman" pitchFamily="18" charset="0"/>
              </a:rPr>
              <a:t>Parenteral</a:t>
            </a:r>
            <a:r>
              <a:rPr lang="en-US" sz="2400" dirty="0">
                <a:latin typeface="Times New Roman" pitchFamily="18" charset="0"/>
                <a:cs typeface="Times New Roman" pitchFamily="18" charset="0"/>
              </a:rPr>
              <a:t> nutrition (providing nutrition through an IV line)</a:t>
            </a:r>
          </a:p>
          <a:p>
            <a:pPr>
              <a:lnSpc>
                <a:spcPct val="150000"/>
              </a:lnSpc>
            </a:pPr>
            <a:r>
              <a:rPr lang="en-US" sz="2400" dirty="0">
                <a:latin typeface="Times New Roman" pitchFamily="18" charset="0"/>
                <a:cs typeface="Times New Roman" pitchFamily="18" charset="0"/>
              </a:rPr>
              <a:t>Femoral or internal jugular access (in adults)</a:t>
            </a:r>
          </a:p>
          <a:p>
            <a:pPr>
              <a:lnSpc>
                <a:spcPct val="150000"/>
              </a:lnSpc>
            </a:pPr>
            <a:r>
              <a:rPr lang="en-US" sz="2400" dirty="0">
                <a:latin typeface="Times New Roman" pitchFamily="18" charset="0"/>
                <a:cs typeface="Times New Roman" pitchFamily="18" charset="0"/>
              </a:rPr>
              <a:t>Catheters with more than one </a:t>
            </a:r>
            <a:r>
              <a:rPr lang="en-US" sz="2400" dirty="0" smtClean="0">
                <a:latin typeface="Times New Roman" pitchFamily="18" charset="0"/>
                <a:cs typeface="Times New Roman" pitchFamily="18" charset="0"/>
              </a:rPr>
              <a:t>lumen</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225679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70000" lnSpcReduction="20000"/>
          </a:bodyPr>
          <a:lstStyle/>
          <a:p>
            <a:pPr>
              <a:lnSpc>
                <a:spcPct val="170000"/>
              </a:lnSpc>
            </a:pPr>
            <a:r>
              <a:rPr lang="en-US" dirty="0" smtClean="0">
                <a:latin typeface="Times New Roman" pitchFamily="18" charset="0"/>
                <a:cs typeface="Times New Roman" pitchFamily="18" charset="0"/>
              </a:rPr>
              <a:t>Heavy microbial colonization at the insertion site</a:t>
            </a:r>
          </a:p>
          <a:p>
            <a:pPr>
              <a:lnSpc>
                <a:spcPct val="170000"/>
              </a:lnSpc>
            </a:pPr>
            <a:r>
              <a:rPr lang="en-US" dirty="0" smtClean="0">
                <a:latin typeface="Times New Roman" pitchFamily="18" charset="0"/>
                <a:cs typeface="Times New Roman" pitchFamily="18" charset="0"/>
              </a:rPr>
              <a:t>Lack of proper technique used for insertion</a:t>
            </a:r>
          </a:p>
          <a:p>
            <a:pPr>
              <a:lnSpc>
                <a:spcPct val="170000"/>
              </a:lnSpc>
            </a:pPr>
            <a:r>
              <a:rPr lang="en-US" dirty="0" smtClean="0">
                <a:latin typeface="Times New Roman" pitchFamily="18" charset="0"/>
                <a:cs typeface="Times New Roman" pitchFamily="18" charset="0"/>
              </a:rPr>
              <a:t>Emergency insertion of the catheter</a:t>
            </a:r>
          </a:p>
          <a:p>
            <a:pPr>
              <a:lnSpc>
                <a:spcPct val="170000"/>
              </a:lnSpc>
            </a:pPr>
            <a:r>
              <a:rPr lang="en-US" dirty="0" smtClean="0">
                <a:latin typeface="Times New Roman" pitchFamily="18" charset="0"/>
                <a:cs typeface="Times New Roman" pitchFamily="18" charset="0"/>
              </a:rPr>
              <a:t>Poor catheter care</a:t>
            </a:r>
          </a:p>
          <a:p>
            <a:pPr>
              <a:lnSpc>
                <a:spcPct val="170000"/>
              </a:lnSpc>
            </a:pPr>
            <a:r>
              <a:rPr lang="en-US" sz="3400" dirty="0" smtClean="0">
                <a:latin typeface="Times New Roman" pitchFamily="18" charset="0"/>
                <a:cs typeface="Times New Roman" pitchFamily="18" charset="0"/>
              </a:rPr>
              <a:t>Increased length of time the catheter is left in the body</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304800"/>
            <a:ext cx="8229600" cy="4111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1966119" y="609601"/>
            <a:ext cx="8229600" cy="5516563"/>
          </a:xfrm>
        </p:spPr>
        <p:txBody>
          <a:bodyPr>
            <a:normAutofit fontScale="92500"/>
          </a:bodyPr>
          <a:lstStyle/>
          <a:p>
            <a:pPr algn="ctr">
              <a:lnSpc>
                <a:spcPct val="150000"/>
              </a:lnSpc>
              <a:buNone/>
            </a:pPr>
            <a:endParaRPr lang="en-US" b="1" dirty="0" smtClean="0"/>
          </a:p>
          <a:p>
            <a:pPr algn="ctr">
              <a:lnSpc>
                <a:spcPct val="150000"/>
              </a:lnSpc>
              <a:buNone/>
            </a:pPr>
            <a:r>
              <a:rPr lang="en-US" b="1" dirty="0" err="1" smtClean="0"/>
              <a:t>Biofilm</a:t>
            </a:r>
            <a:r>
              <a:rPr lang="en-US" b="1" dirty="0" smtClean="0"/>
              <a:t> as Risk Factor</a:t>
            </a:r>
          </a:p>
          <a:p>
            <a:pPr>
              <a:lnSpc>
                <a:spcPct val="150000"/>
              </a:lnSpc>
            </a:pPr>
            <a:r>
              <a:rPr lang="en-US" sz="2800" dirty="0" smtClean="0">
                <a:latin typeface="Times New Roman" pitchFamily="18" charset="0"/>
                <a:cs typeface="Times New Roman" pitchFamily="18" charset="0"/>
              </a:rPr>
              <a:t>Microorganisms form </a:t>
            </a:r>
            <a:r>
              <a:rPr lang="en-US" sz="2800" dirty="0" err="1" smtClean="0">
                <a:latin typeface="Times New Roman" pitchFamily="18" charset="0"/>
                <a:cs typeface="Times New Roman" pitchFamily="18" charset="0"/>
              </a:rPr>
              <a:t>biofilms</a:t>
            </a:r>
            <a:r>
              <a:rPr lang="en-US" sz="2800" dirty="0" smtClean="0">
                <a:latin typeface="Times New Roman" pitchFamily="18" charset="0"/>
                <a:cs typeface="Times New Roman" pitchFamily="18" charset="0"/>
              </a:rPr>
              <a:t> on most indwelling devices, including invasive medical devices that are inserted or introduced in the body.</a:t>
            </a:r>
          </a:p>
          <a:p>
            <a:pPr>
              <a:lnSpc>
                <a:spcPct val="150000"/>
              </a:lnSpc>
            </a:pPr>
            <a:r>
              <a:rPr lang="en-US" sz="2800" dirty="0" err="1" smtClean="0">
                <a:latin typeface="Times New Roman" pitchFamily="18" charset="0"/>
                <a:cs typeface="Times New Roman" pitchFamily="18" charset="0"/>
              </a:rPr>
              <a:t>Biofilms</a:t>
            </a:r>
            <a:r>
              <a:rPr lang="en-US" sz="2800" dirty="0" smtClean="0">
                <a:latin typeface="Times New Roman" pitchFamily="18" charset="0"/>
                <a:cs typeface="Times New Roman" pitchFamily="18" charset="0"/>
              </a:rPr>
              <a:t> allow bacteria to tightly adhere to the surfaces and make them difficult to remove with routine measures. </a:t>
            </a:r>
            <a:br>
              <a:rPr lang="en-US" sz="2800" dirty="0" smtClean="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5263375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0"/>
            <a:ext cx="8229600" cy="1524000"/>
          </a:xfrm>
        </p:spPr>
        <p:txBody>
          <a:bodyPr>
            <a:noAutofit/>
          </a:bodyPr>
          <a:lstStyle/>
          <a:p>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Intravascular Catheter-Related Bloodstream Infection Prevention Strategies </a:t>
            </a: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endParaRPr lang="en-US" sz="2800" dirty="0"/>
          </a:p>
        </p:txBody>
      </p:sp>
      <p:sp>
        <p:nvSpPr>
          <p:cNvPr id="3" name="Content Placeholder 2"/>
          <p:cNvSpPr>
            <a:spLocks noGrp="1"/>
          </p:cNvSpPr>
          <p:nvPr>
            <p:ph idx="1"/>
          </p:nvPr>
        </p:nvSpPr>
        <p:spPr>
          <a:xfrm>
            <a:off x="1508919" y="1066800"/>
            <a:ext cx="9144000" cy="6324600"/>
          </a:xfrm>
        </p:spPr>
        <p:txBody>
          <a:bodyPr>
            <a:noAutofit/>
          </a:bodyPr>
          <a:lstStyle/>
          <a:p>
            <a:pPr>
              <a:lnSpc>
                <a:spcPct val="150000"/>
              </a:lnSpc>
              <a:buNone/>
            </a:pPr>
            <a:endParaRPr lang="en-US" sz="1800" dirty="0" smtClean="0">
              <a:latin typeface="Times New Roman" pitchFamily="18" charset="0"/>
              <a:cs typeface="Times New Roman" pitchFamily="18" charset="0"/>
            </a:endParaRPr>
          </a:p>
          <a:p>
            <a:pPr>
              <a:lnSpc>
                <a:spcPct val="150000"/>
              </a:lnSpc>
              <a:buNone/>
            </a:pPr>
            <a:endParaRPr lang="en-US" sz="1800" dirty="0" smtClean="0">
              <a:latin typeface="Times New Roman" pitchFamily="18" charset="0"/>
              <a:cs typeface="Times New Roman" pitchFamily="18" charset="0"/>
            </a:endParaRPr>
          </a:p>
          <a:p>
            <a:pPr>
              <a:lnSpc>
                <a:spcPct val="150000"/>
              </a:lnSpc>
              <a:buNone/>
            </a:pPr>
            <a:r>
              <a:rPr lang="en-US" sz="1800" b="1" dirty="0" smtClean="0">
                <a:latin typeface="Times New Roman" pitchFamily="18" charset="0"/>
                <a:cs typeface="Times New Roman" pitchFamily="18" charset="0"/>
              </a:rPr>
              <a:t>Educate </a:t>
            </a:r>
            <a:r>
              <a:rPr lang="en-US" sz="1800" b="1" dirty="0">
                <a:latin typeface="Times New Roman" pitchFamily="18" charset="0"/>
                <a:cs typeface="Times New Roman" pitchFamily="18" charset="0"/>
              </a:rPr>
              <a:t>and train staff: </a:t>
            </a:r>
          </a:p>
          <a:p>
            <a:pPr lvl="0">
              <a:lnSpc>
                <a:spcPct val="150000"/>
              </a:lnSpc>
            </a:pPr>
            <a:r>
              <a:rPr lang="en-GB" sz="2000" dirty="0" smtClean="0">
                <a:latin typeface="Times New Roman" pitchFamily="18" charset="0"/>
                <a:cs typeface="Times New Roman" pitchFamily="18" charset="0"/>
              </a:rPr>
              <a:t>Offer competency-based training in recommended IPC practices for intravascular catheter (central line and IV line) indications, insertion, maintenance, and removal, and use of prevention bundles.</a:t>
            </a:r>
            <a:endParaRPr lang="en-US" sz="2000" dirty="0" smtClean="0">
              <a:latin typeface="Times New Roman" pitchFamily="18" charset="0"/>
              <a:cs typeface="Times New Roman" pitchFamily="18" charset="0"/>
            </a:endParaRPr>
          </a:p>
          <a:p>
            <a:pPr lvl="0">
              <a:lnSpc>
                <a:spcPct val="150000"/>
              </a:lnSpc>
            </a:pPr>
            <a:r>
              <a:rPr lang="en-GB" sz="2000" dirty="0" smtClean="0">
                <a:latin typeface="Times New Roman" pitchFamily="18" charset="0"/>
                <a:cs typeface="Times New Roman" pitchFamily="18" charset="0"/>
              </a:rPr>
              <a:t>Conduct periodic assessment of competency and refresher training </a:t>
            </a:r>
            <a:endParaRPr lang="en-US" sz="2000" dirty="0" smtClean="0">
              <a:latin typeface="Times New Roman" pitchFamily="18" charset="0"/>
              <a:cs typeface="Times New Roman" pitchFamily="18" charset="0"/>
            </a:endParaRPr>
          </a:p>
          <a:p>
            <a:pPr lvl="0">
              <a:lnSpc>
                <a:spcPct val="150000"/>
              </a:lnSpc>
            </a:pPr>
            <a:r>
              <a:rPr lang="en-GB" sz="2000" dirty="0" smtClean="0">
                <a:latin typeface="Times New Roman" pitchFamily="18" charset="0"/>
                <a:cs typeface="Times New Roman" pitchFamily="18" charset="0"/>
              </a:rPr>
              <a:t>Have a team of trained competent staff assigned to perform insertion of central lines.</a:t>
            </a:r>
            <a:endParaRPr lang="en-US" sz="2000" dirty="0" smtClean="0">
              <a:latin typeface="Times New Roman" pitchFamily="18" charset="0"/>
              <a:cs typeface="Times New Roman" pitchFamily="18" charset="0"/>
            </a:endParaRPr>
          </a:p>
          <a:p>
            <a:pPr lvl="0">
              <a:lnSpc>
                <a:spcPct val="150000"/>
              </a:lnSpc>
            </a:pPr>
            <a:r>
              <a:rPr lang="en-GB" sz="2000" dirty="0" smtClean="0">
                <a:latin typeface="Times New Roman" pitchFamily="18" charset="0"/>
                <a:cs typeface="Times New Roman" pitchFamily="18" charset="0"/>
              </a:rPr>
              <a:t>Choose appropriate catheter type, insertion site, and technique:</a:t>
            </a:r>
            <a:endParaRPr lang="en-US" sz="2000" dirty="0" smtClean="0">
              <a:latin typeface="Times New Roman" pitchFamily="18" charset="0"/>
              <a:cs typeface="Times New Roman" pitchFamily="18" charset="0"/>
            </a:endParaRPr>
          </a:p>
          <a:p>
            <a:pPr>
              <a:lnSpc>
                <a:spcPct val="150000"/>
              </a:lnSpc>
              <a:buNone/>
            </a:pPr>
            <a:r>
              <a:rPr lang="en-US" sz="2000" dirty="0"/>
              <a:t/>
            </a:r>
            <a:br>
              <a:rPr lang="en-US" sz="2000" dirty="0"/>
            </a:br>
            <a:r>
              <a:rPr lang="en-US" sz="2000" dirty="0"/>
              <a:t> </a:t>
            </a:r>
            <a:br>
              <a:rPr lang="en-US" sz="2000" dirty="0"/>
            </a:br>
            <a:r>
              <a:rPr lang="en-US" sz="2000" dirty="0"/>
              <a:t> </a:t>
            </a:r>
            <a:br>
              <a:rPr lang="en-US" sz="2000" dirty="0"/>
            </a:br>
            <a:endParaRPr lang="en-US" sz="2000" dirty="0"/>
          </a:p>
        </p:txBody>
      </p:sp>
    </p:spTree>
    <p:extLst>
      <p:ext uri="{BB962C8B-B14F-4D97-AF65-F5344CB8AC3E}">
        <p14:creationId xmlns:p14="http://schemas.microsoft.com/office/powerpoint/2010/main" val="13749691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a:xfrm>
            <a:off x="1280319" y="1676400"/>
            <a:ext cx="9251308" cy="4563533"/>
          </a:xfrm>
        </p:spPr>
        <p:txBody>
          <a:bodyPr>
            <a:normAutofit fontScale="25000" lnSpcReduction="20000"/>
          </a:bodyPr>
          <a:lstStyle/>
          <a:p>
            <a:pPr>
              <a:lnSpc>
                <a:spcPct val="170000"/>
              </a:lnSpc>
              <a:buNone/>
            </a:pPr>
            <a:r>
              <a:rPr lang="en-GB" sz="8000" b="1" dirty="0" smtClean="0">
                <a:latin typeface="Times New Roman" pitchFamily="18" charset="0"/>
                <a:cs typeface="Times New Roman" pitchFamily="18" charset="0"/>
              </a:rPr>
              <a:t>Weigh the risk and benefits of placing central lines</a:t>
            </a:r>
            <a:r>
              <a:rPr lang="en-GB" sz="8000" dirty="0" smtClean="0">
                <a:latin typeface="Times New Roman" pitchFamily="18" charset="0"/>
                <a:cs typeface="Times New Roman" pitchFamily="18" charset="0"/>
              </a:rPr>
              <a:t>. Minimize use.</a:t>
            </a:r>
            <a:endParaRPr lang="en-US" sz="8000" dirty="0" smtClean="0">
              <a:latin typeface="Times New Roman" pitchFamily="18" charset="0"/>
              <a:cs typeface="Times New Roman" pitchFamily="18" charset="0"/>
            </a:endParaRPr>
          </a:p>
          <a:p>
            <a:pPr lvl="0">
              <a:lnSpc>
                <a:spcPct val="170000"/>
              </a:lnSpc>
            </a:pPr>
            <a:r>
              <a:rPr lang="en-GB" sz="7200" dirty="0" smtClean="0">
                <a:latin typeface="Times New Roman" pitchFamily="18" charset="0"/>
                <a:cs typeface="Times New Roman" pitchFamily="18" charset="0"/>
              </a:rPr>
              <a:t>Use upper extremities (i.e., access </a:t>
            </a:r>
            <a:r>
              <a:rPr lang="en-GB" sz="7200" dirty="0" err="1" smtClean="0">
                <a:latin typeface="Times New Roman" pitchFamily="18" charset="0"/>
                <a:cs typeface="Times New Roman" pitchFamily="18" charset="0"/>
              </a:rPr>
              <a:t>subclavian</a:t>
            </a:r>
            <a:r>
              <a:rPr lang="en-GB" sz="7200" dirty="0" smtClean="0">
                <a:latin typeface="Times New Roman" pitchFamily="18" charset="0"/>
                <a:cs typeface="Times New Roman" pitchFamily="18" charset="0"/>
              </a:rPr>
              <a:t> veins) and avoid femoral veins in adult patients.</a:t>
            </a:r>
            <a:endParaRPr lang="en-US" sz="7200" dirty="0" smtClean="0">
              <a:latin typeface="Times New Roman" pitchFamily="18" charset="0"/>
              <a:cs typeface="Times New Roman" pitchFamily="18" charset="0"/>
            </a:endParaRPr>
          </a:p>
          <a:p>
            <a:pPr lvl="0">
              <a:lnSpc>
                <a:spcPct val="170000"/>
              </a:lnSpc>
            </a:pPr>
            <a:r>
              <a:rPr lang="en-GB" sz="7200" dirty="0" smtClean="0">
                <a:latin typeface="Times New Roman" pitchFamily="18" charset="0"/>
                <a:cs typeface="Times New Roman" pitchFamily="18" charset="0"/>
              </a:rPr>
              <a:t>Choose catheter types (peripheral versus central line ) based on duration of IV therapy and type of fluids (pH/</a:t>
            </a:r>
            <a:r>
              <a:rPr lang="en-GB" sz="7200" dirty="0" err="1" smtClean="0">
                <a:latin typeface="Times New Roman" pitchFamily="18" charset="0"/>
                <a:cs typeface="Times New Roman" pitchFamily="18" charset="0"/>
              </a:rPr>
              <a:t>osmolarity</a:t>
            </a:r>
            <a:r>
              <a:rPr lang="en-GB" sz="7200" dirty="0" smtClean="0">
                <a:latin typeface="Times New Roman" pitchFamily="18" charset="0"/>
                <a:cs typeface="Times New Roman" pitchFamily="18" charset="0"/>
              </a:rPr>
              <a:t>).</a:t>
            </a:r>
            <a:endParaRPr lang="en-US" sz="7200" dirty="0" smtClean="0">
              <a:latin typeface="Times New Roman" pitchFamily="18" charset="0"/>
              <a:cs typeface="Times New Roman" pitchFamily="18" charset="0"/>
            </a:endParaRPr>
          </a:p>
          <a:p>
            <a:pPr lvl="0">
              <a:lnSpc>
                <a:spcPct val="170000"/>
              </a:lnSpc>
            </a:pPr>
            <a:r>
              <a:rPr lang="en-GB" sz="7200" dirty="0" smtClean="0">
                <a:latin typeface="Times New Roman" pitchFamily="18" charset="0"/>
                <a:cs typeface="Times New Roman" pitchFamily="18" charset="0"/>
              </a:rPr>
              <a:t>Use a central line with a minimum number of lumens.</a:t>
            </a:r>
            <a:endParaRPr lang="en-US" sz="7200" dirty="0" smtClean="0">
              <a:latin typeface="Times New Roman" pitchFamily="18" charset="0"/>
              <a:cs typeface="Times New Roman" pitchFamily="18" charset="0"/>
            </a:endParaRPr>
          </a:p>
          <a:p>
            <a:pPr lvl="0">
              <a:lnSpc>
                <a:spcPct val="170000"/>
              </a:lnSpc>
            </a:pPr>
            <a:r>
              <a:rPr lang="en-GB" sz="7200" dirty="0" smtClean="0">
                <a:latin typeface="Times New Roman" pitchFamily="18" charset="0"/>
                <a:cs typeface="Times New Roman" pitchFamily="18" charset="0"/>
              </a:rPr>
              <a:t>Use ultrasound-guided insertion technique to place a central line if such technology is available.</a:t>
            </a:r>
            <a:endParaRPr lang="en-US" sz="7200" dirty="0" smtClean="0">
              <a:latin typeface="Times New Roman" pitchFamily="18" charset="0"/>
              <a:cs typeface="Times New Roman" pitchFamily="18" charset="0"/>
            </a:endParaRPr>
          </a:p>
          <a:p>
            <a:pPr>
              <a:lnSpc>
                <a:spcPct val="170000"/>
              </a:lnSpc>
            </a:pPr>
            <a:endParaRPr lang="en-US"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GB" b="1" dirty="0" smtClean="0">
                <a:latin typeface="Times New Roman" pitchFamily="18" charset="0"/>
                <a:cs typeface="Times New Roman" pitchFamily="18" charset="0"/>
              </a:rPr>
              <a:t>Comply with IPC recommendations for insertion, maintenance, and removal processes:</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Full barrier precautions, including drapes and PPE for insertion</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Sterile technique for insertion</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Skin antisepsis for insertion site and dressing</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Implementation of bloodstream infection surveillance and quality improvement interventions</a:t>
            </a:r>
            <a:endParaRPr lang="en-US" dirty="0" smtClean="0">
              <a:latin typeface="Times New Roman" pitchFamily="18" charset="0"/>
              <a:cs typeface="Times New Roman" pitchFamily="18" charset="0"/>
            </a:endParaRPr>
          </a:p>
          <a:p>
            <a:pPr lvl="0">
              <a:lnSpc>
                <a:spcPct val="170000"/>
              </a:lnSpc>
            </a:pPr>
            <a:r>
              <a:rPr lang="en-GB" dirty="0" smtClean="0">
                <a:latin typeface="Times New Roman" pitchFamily="18" charset="0"/>
                <a:cs typeface="Times New Roman" pitchFamily="18" charset="0"/>
              </a:rPr>
              <a:t>Remove peripheral and central lines as soon as possible</a:t>
            </a:r>
            <a:r>
              <a:rPr lang="en-GB" dirty="0" smtClean="0"/>
              <a:t>. </a:t>
            </a:r>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152400"/>
            <a:ext cx="8229600" cy="381000"/>
          </a:xfrm>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cont</a:t>
            </a:r>
            <a:endParaRPr lang="en-US" dirty="0"/>
          </a:p>
        </p:txBody>
      </p:sp>
      <p:sp>
        <p:nvSpPr>
          <p:cNvPr id="3" name="Content Placeholder 2"/>
          <p:cNvSpPr>
            <a:spLocks noGrp="1"/>
          </p:cNvSpPr>
          <p:nvPr>
            <p:ph idx="1"/>
          </p:nvPr>
        </p:nvSpPr>
        <p:spPr>
          <a:xfrm>
            <a:off x="1737519" y="1524000"/>
            <a:ext cx="8077200" cy="4876799"/>
          </a:xfrm>
        </p:spPr>
        <p:txBody>
          <a:bodyPr>
            <a:normAutofit fontScale="70000" lnSpcReduction="20000"/>
          </a:bodyPr>
          <a:lstStyle/>
          <a:p>
            <a:pPr algn="ctr">
              <a:lnSpc>
                <a:spcPct val="160000"/>
              </a:lnSpc>
              <a:buNone/>
            </a:pPr>
            <a:endParaRPr lang="en-US" b="1" dirty="0" smtClean="0"/>
          </a:p>
          <a:p>
            <a:pPr algn="ctr">
              <a:lnSpc>
                <a:spcPct val="160000"/>
              </a:lnSpc>
              <a:buNone/>
            </a:pPr>
            <a:r>
              <a:rPr lang="en-US" b="1" dirty="0" smtClean="0"/>
              <a:t>Methods to Limit the Use of Intravascular Catheters</a:t>
            </a:r>
          </a:p>
          <a:p>
            <a:pPr>
              <a:lnSpc>
                <a:spcPct val="160000"/>
              </a:lnSpc>
            </a:pPr>
            <a:r>
              <a:rPr lang="en-US" dirty="0" smtClean="0"/>
              <a:t>Use these methods to limit the use of intravascular catheters:</a:t>
            </a:r>
          </a:p>
          <a:p>
            <a:pPr>
              <a:lnSpc>
                <a:spcPct val="160000"/>
              </a:lnSpc>
            </a:pPr>
            <a:r>
              <a:rPr lang="en-US" dirty="0" smtClean="0"/>
              <a:t>Insert intravascular catheters only when indicated.</a:t>
            </a:r>
          </a:p>
          <a:p>
            <a:pPr>
              <a:lnSpc>
                <a:spcPct val="160000"/>
              </a:lnSpc>
            </a:pPr>
            <a:r>
              <a:rPr lang="en-US" dirty="0" smtClean="0"/>
              <a:t>Use a peripheral IV when possible.</a:t>
            </a:r>
          </a:p>
          <a:p>
            <a:pPr>
              <a:lnSpc>
                <a:spcPct val="160000"/>
              </a:lnSpc>
            </a:pPr>
            <a:r>
              <a:rPr lang="en-US" dirty="0" smtClean="0"/>
              <a:t>Remove a catheter as soon as it is not indicated.</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3768505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119" y="274638"/>
            <a:ext cx="8229600" cy="258762"/>
          </a:xfrm>
        </p:spPr>
        <p:txBody>
          <a:bodyPr>
            <a:normAutofit fontScale="90000"/>
          </a:bodyPr>
          <a:lstStyle/>
          <a:p>
            <a:r>
              <a:rPr lang="en-US" dirty="0" smtClean="0"/>
              <a:t>.</a:t>
            </a:r>
            <a:endParaRPr lang="en-US" dirty="0"/>
          </a:p>
        </p:txBody>
      </p:sp>
      <p:sp>
        <p:nvSpPr>
          <p:cNvPr id="3" name="Content Placeholder 2"/>
          <p:cNvSpPr>
            <a:spLocks noGrp="1"/>
          </p:cNvSpPr>
          <p:nvPr>
            <p:ph idx="1"/>
          </p:nvPr>
        </p:nvSpPr>
        <p:spPr>
          <a:xfrm>
            <a:off x="1966119" y="914400"/>
            <a:ext cx="8229600" cy="5211764"/>
          </a:xfrm>
        </p:spPr>
        <p:txBody>
          <a:bodyPr>
            <a:noAutofit/>
          </a:bodyPr>
          <a:lstStyle/>
          <a:p>
            <a:pPr algn="ctr">
              <a:lnSpc>
                <a:spcPct val="150000"/>
              </a:lnSpc>
              <a:buNone/>
            </a:pPr>
            <a:r>
              <a:rPr lang="en-US" sz="1800" b="1" dirty="0">
                <a:latin typeface="Times New Roman" pitchFamily="18" charset="0"/>
                <a:cs typeface="Times New Roman" pitchFamily="18" charset="0"/>
              </a:rPr>
              <a:t>Indications for the Use of Intravascular Catheters Indications for intravascular catheters include:</a:t>
            </a:r>
          </a:p>
          <a:p>
            <a:pPr>
              <a:lnSpc>
                <a:spcPct val="150000"/>
              </a:lnSpc>
            </a:pPr>
            <a:r>
              <a:rPr lang="en-US" sz="1800" dirty="0">
                <a:latin typeface="Times New Roman" pitchFamily="18" charset="0"/>
                <a:cs typeface="Times New Roman" pitchFamily="18" charset="0"/>
              </a:rPr>
              <a:t>Infusion of intravenous solution for rehydration</a:t>
            </a:r>
          </a:p>
          <a:p>
            <a:pPr>
              <a:lnSpc>
                <a:spcPct val="150000"/>
              </a:lnSpc>
            </a:pPr>
            <a:r>
              <a:rPr lang="en-US" sz="1800" dirty="0">
                <a:latin typeface="Times New Roman" pitchFamily="18" charset="0"/>
                <a:cs typeface="Times New Roman" pitchFamily="18" charset="0"/>
              </a:rPr>
              <a:t>Emergency venous access</a:t>
            </a:r>
          </a:p>
          <a:p>
            <a:pPr>
              <a:lnSpc>
                <a:spcPct val="150000"/>
              </a:lnSpc>
            </a:pPr>
            <a:r>
              <a:rPr lang="en-US" sz="1800" dirty="0" err="1">
                <a:latin typeface="Times New Roman" pitchFamily="18" charset="0"/>
                <a:cs typeface="Times New Roman" pitchFamily="18" charset="0"/>
              </a:rPr>
              <a:t>Hemodialysis</a:t>
            </a:r>
            <a:r>
              <a:rPr lang="en-US" sz="1800" dirty="0">
                <a:latin typeface="Times New Roman" pitchFamily="18" charset="0"/>
                <a:cs typeface="Times New Roman" pitchFamily="18" charset="0"/>
              </a:rPr>
              <a:t>: a process of purifying the blood of a person whose kidneys are not working normally</a:t>
            </a:r>
          </a:p>
          <a:p>
            <a:pPr>
              <a:lnSpc>
                <a:spcPct val="150000"/>
              </a:lnSpc>
            </a:pPr>
            <a:r>
              <a:rPr lang="en-US" sz="1800" dirty="0">
                <a:latin typeface="Times New Roman" pitchFamily="18" charset="0"/>
                <a:cs typeface="Times New Roman" pitchFamily="18" charset="0"/>
              </a:rPr>
              <a:t>Nutritional support</a:t>
            </a:r>
          </a:p>
          <a:p>
            <a:pPr>
              <a:lnSpc>
                <a:spcPct val="150000"/>
              </a:lnSpc>
            </a:pPr>
            <a:r>
              <a:rPr lang="en-US" sz="1800" dirty="0">
                <a:latin typeface="Times New Roman" pitchFamily="18" charset="0"/>
                <a:cs typeface="Times New Roman" pitchFamily="18" charset="0"/>
              </a:rPr>
              <a:t>Administration of certain medications (e.g., </a:t>
            </a:r>
            <a:r>
              <a:rPr lang="en-US" sz="1800" dirty="0" err="1">
                <a:latin typeface="Times New Roman" pitchFamily="18" charset="0"/>
                <a:cs typeface="Times New Roman" pitchFamily="18" charset="0"/>
              </a:rPr>
              <a:t>vasopressors</a:t>
            </a:r>
            <a:r>
              <a:rPr lang="en-US" sz="1800" dirty="0">
                <a:latin typeface="Times New Roman" pitchFamily="18" charset="0"/>
                <a:cs typeface="Times New Roman" pitchFamily="18" charset="0"/>
              </a:rPr>
              <a:t> used to raise blood pressure)</a:t>
            </a:r>
          </a:p>
          <a:p>
            <a:pPr>
              <a:lnSpc>
                <a:spcPct val="150000"/>
              </a:lnSpc>
            </a:pPr>
            <a:r>
              <a:rPr lang="en-US" sz="1800" dirty="0">
                <a:latin typeface="Times New Roman" pitchFamily="18" charset="0"/>
                <a:cs typeface="Times New Roman" pitchFamily="18" charset="0"/>
              </a:rPr>
              <a:t>Monitoring of central venous pressure</a:t>
            </a:r>
          </a:p>
          <a:p>
            <a:pPr>
              <a:lnSpc>
                <a:spcPct val="150000"/>
              </a:lnSpc>
            </a:pPr>
            <a:r>
              <a:rPr lang="en-US" sz="1800" dirty="0">
                <a:latin typeface="Times New Roman" pitchFamily="18" charset="0"/>
                <a:cs typeface="Times New Roman" pitchFamily="18" charset="0"/>
              </a:rPr>
              <a:t>Pulmonary artery catheterization </a:t>
            </a:r>
            <a:r>
              <a:rPr lang="en-US" sz="2000" dirty="0"/>
              <a:t/>
            </a:r>
            <a:br>
              <a:rPr lang="en-US" sz="2000" dirty="0"/>
            </a:br>
            <a:endParaRPr lang="en-US" sz="2000" dirty="0"/>
          </a:p>
        </p:txBody>
      </p:sp>
    </p:spTree>
    <p:extLst>
      <p:ext uri="{BB962C8B-B14F-4D97-AF65-F5344CB8AC3E}">
        <p14:creationId xmlns:p14="http://schemas.microsoft.com/office/powerpoint/2010/main" val="1141115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sz="2400" dirty="0" smtClean="0">
                <a:latin typeface="Times New Roman" pitchFamily="18" charset="0"/>
                <a:cs typeface="Times New Roman" pitchFamily="18" charset="0"/>
              </a:rPr>
              <a:t>Quality Improvement for Infections Related to Intravascular Catheter Use (including CLABSI)</a:t>
            </a:r>
            <a:r>
              <a:rPr lang="en-US" sz="2800" dirty="0" smtClean="0">
                <a:latin typeface="Times New Roman" pitchFamily="18" charset="0"/>
                <a:cs typeface="Times New Roman" pitchFamily="18" charset="0"/>
              </a:rPr>
              <a:t>.</a:t>
            </a:r>
            <a:br>
              <a:rPr lang="en-US" sz="2800" dirty="0" smtClean="0">
                <a:latin typeface="Times New Roman" pitchFamily="18" charset="0"/>
                <a:cs typeface="Times New Roman" pitchFamily="18" charset="0"/>
              </a:rPr>
            </a:br>
            <a:endParaRPr lang="en-US" sz="2800"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pPr>
              <a:lnSpc>
                <a:spcPct val="160000"/>
              </a:lnSpc>
            </a:pPr>
            <a:r>
              <a:rPr lang="en-GB" dirty="0" smtClean="0">
                <a:latin typeface="Times New Roman" pitchFamily="18" charset="0"/>
                <a:cs typeface="Times New Roman" pitchFamily="18" charset="0"/>
              </a:rPr>
              <a:t>When conducting quality improvement interventions to reduce intravascular catheter-associated blood stream infection, the formation of multidisciplinary teams has been shown to be an effective method to support quality improvement efforts </a:t>
            </a:r>
          </a:p>
          <a:p>
            <a:pPr>
              <a:lnSpc>
                <a:spcPct val="160000"/>
              </a:lnSpc>
            </a:pPr>
            <a:r>
              <a:rPr lang="en-GB" dirty="0" smtClean="0">
                <a:latin typeface="Times New Roman" pitchFamily="18" charset="0"/>
                <a:cs typeface="Times New Roman" pitchFamily="18" charset="0"/>
              </a:rPr>
              <a:t>Effective teams include representatives from the various disciplines</a:t>
            </a:r>
            <a:endParaRPr lang="en-US" dirty="0">
              <a:latin typeface="Times New Roman" pitchFamily="18" charset="0"/>
              <a:cs typeface="Times New Roman"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400" dirty="0" smtClean="0">
                <a:latin typeface="Times New Roman" pitchFamily="18" charset="0"/>
                <a:cs typeface="Times New Roman" pitchFamily="18" charset="0"/>
              </a:rPr>
              <a:t/>
            </a:r>
            <a:br>
              <a:rPr lang="en-GB" sz="4400" dirty="0" smtClean="0">
                <a:latin typeface="Times New Roman" pitchFamily="18" charset="0"/>
                <a:cs typeface="Times New Roman" pitchFamily="18" charset="0"/>
              </a:rPr>
            </a:br>
            <a:r>
              <a:rPr lang="en-GB" sz="4400" dirty="0" smtClean="0">
                <a:latin typeface="Times New Roman" pitchFamily="18" charset="0"/>
                <a:cs typeface="Times New Roman" pitchFamily="18" charset="0"/>
              </a:rPr>
              <a:t>Summary</a:t>
            </a:r>
            <a:r>
              <a:rPr lang="en-US" dirty="0" smtClean="0"/>
              <a:t/>
            </a:r>
            <a:br>
              <a:rPr lang="en-US" dirty="0" smtClean="0"/>
            </a:br>
            <a:endParaRPr lang="en-US" dirty="0"/>
          </a:p>
        </p:txBody>
      </p:sp>
      <p:sp>
        <p:nvSpPr>
          <p:cNvPr id="3" name="Content Placeholder 2"/>
          <p:cNvSpPr>
            <a:spLocks noGrp="1"/>
          </p:cNvSpPr>
          <p:nvPr>
            <p:ph idx="1"/>
          </p:nvPr>
        </p:nvSpPr>
        <p:spPr>
          <a:xfrm>
            <a:off x="1356519" y="1981200"/>
            <a:ext cx="9251309" cy="4343400"/>
          </a:xfrm>
        </p:spPr>
        <p:txBody>
          <a:bodyPr>
            <a:noAutofit/>
          </a:bodyPr>
          <a:lstStyle/>
          <a:p>
            <a:pPr>
              <a:lnSpc>
                <a:spcPct val="170000"/>
              </a:lnSpc>
              <a:buNone/>
            </a:pPr>
            <a:r>
              <a:rPr lang="en-GB" sz="1800" dirty="0" smtClean="0">
                <a:latin typeface="Times New Roman" pitchFamily="18" charset="0"/>
                <a:cs typeface="Times New Roman" pitchFamily="18" charset="0"/>
              </a:rPr>
              <a:t>The use of intravascular catheters places the patient at risk for bloodstream infection, which results in higher mortality and increased health care costs. However, by following evidence-based IPC practices, these infections can be prevented. Prevention practices are aimed at avoiding unnecessary use of intravascular catheters and improving insertion and care of lines. Interventions using a “bundle” approach have been shown to be effective, sustainable, and cost-effective at reducing infections. Surveillance for monitoring insertion and maintenance processes and measuring outcomes can help to identify risks and areas for performance improvement, but are not essential for implementing evidence-based procedures to prevent intravascular infections.</a:t>
            </a:r>
            <a:endParaRPr lang="en-US" sz="1800" dirty="0" smtClean="0">
              <a:latin typeface="Times New Roman" pitchFamily="18" charset="0"/>
              <a:cs typeface="Times New Roman" pitchFamily="18" charset="0"/>
            </a:endParaRPr>
          </a:p>
          <a:p>
            <a:pPr>
              <a:lnSpc>
                <a:spcPct val="170000"/>
              </a:lnSpc>
            </a:pPr>
            <a:endParaRPr lang="en-US" sz="18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6">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xmlns="" name="Presentation1" id="{FF8D033B-E2B8-2549-8206-D2592AE46FED}" vid="{E3C3ECE2-B6B8-A844-8217-32346E2508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Theme6</Template>
  <TotalTime>744</TotalTime>
  <Words>1587</Words>
  <Application>Microsoft Office PowerPoint</Application>
  <PresentationFormat>Custom</PresentationFormat>
  <Paragraphs>158</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Theme6</vt:lpstr>
      <vt:lpstr>Volume 2 Chapter 3: Preventing Intravascular Catheter-Associated Bloodstream Infections </vt:lpstr>
      <vt:lpstr>Chapter Outline</vt:lpstr>
      <vt:lpstr>   Chapter Contents</vt:lpstr>
      <vt:lpstr>   Learning Objective</vt:lpstr>
      <vt:lpstr>Overview</vt:lpstr>
      <vt:lpstr>Contn..</vt:lpstr>
      <vt:lpstr>     Common Types of Intravascular Catheters  </vt:lpstr>
      <vt:lpstr>cont..</vt:lpstr>
      <vt:lpstr>  Midline catheter (a type of IV line) </vt:lpstr>
      <vt:lpstr>  Peripherally inserted central catheter (PICC) </vt:lpstr>
      <vt:lpstr> Umbilical catheter </vt:lpstr>
      <vt:lpstr> </vt:lpstr>
      <vt:lpstr>    Intravascular Catheter-Related Bloodstream Infection</vt:lpstr>
      <vt:lpstr>   cont</vt:lpstr>
      <vt:lpstr>  Cont.</vt:lpstr>
      <vt:lpstr>  Intravascular Catheter-Related Bloodstream Infection Risk Factors  </vt:lpstr>
      <vt:lpstr>.</vt:lpstr>
      <vt:lpstr>Cont..</vt:lpstr>
      <vt:lpstr>.</vt:lpstr>
      <vt:lpstr>    Intravascular Catheter-Related Bloodstream Infection Prevention Strategies  </vt:lpstr>
      <vt:lpstr>.</vt:lpstr>
      <vt:lpstr>Cont.</vt:lpstr>
      <vt:lpstr>    cont</vt:lpstr>
      <vt:lpstr>.</vt:lpstr>
      <vt:lpstr>Quality Improvement for Infections Related to Intravascular Catheter Use (including CLABSI). </vt:lpstr>
      <vt:lpstr> Summary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Infection Prevention and Patient Safety</dc:title>
  <dc:creator>user</dc:creator>
  <cp:lastModifiedBy>moh</cp:lastModifiedBy>
  <cp:revision>90</cp:revision>
  <dcterms:created xsi:type="dcterms:W3CDTF">2018-12-17T08:49:22Z</dcterms:created>
  <dcterms:modified xsi:type="dcterms:W3CDTF">2019-09-27T06:38:46Z</dcterms:modified>
</cp:coreProperties>
</file>