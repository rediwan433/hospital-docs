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45"/>
  </p:notesMasterIdLst>
  <p:sldIdLst>
    <p:sldId id="256" r:id="rId2"/>
    <p:sldId id="270" r:id="rId3"/>
    <p:sldId id="289" r:id="rId4"/>
    <p:sldId id="257" r:id="rId5"/>
    <p:sldId id="271" r:id="rId6"/>
    <p:sldId id="258" r:id="rId7"/>
    <p:sldId id="301" r:id="rId8"/>
    <p:sldId id="302" r:id="rId9"/>
    <p:sldId id="303" r:id="rId10"/>
    <p:sldId id="305" r:id="rId11"/>
    <p:sldId id="306" r:id="rId12"/>
    <p:sldId id="304" r:id="rId13"/>
    <p:sldId id="307" r:id="rId14"/>
    <p:sldId id="309" r:id="rId15"/>
    <p:sldId id="311" r:id="rId16"/>
    <p:sldId id="312" r:id="rId17"/>
    <p:sldId id="313" r:id="rId18"/>
    <p:sldId id="314" r:id="rId19"/>
    <p:sldId id="328" r:id="rId20"/>
    <p:sldId id="308" r:id="rId21"/>
    <p:sldId id="310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9" r:id="rId36"/>
    <p:sldId id="330" r:id="rId37"/>
    <p:sldId id="331" r:id="rId38"/>
    <p:sldId id="332" r:id="rId39"/>
    <p:sldId id="333" r:id="rId40"/>
    <p:sldId id="335" r:id="rId41"/>
    <p:sldId id="334" r:id="rId42"/>
    <p:sldId id="336" r:id="rId43"/>
    <p:sldId id="337" r:id="rId44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74" y="66"/>
      </p:cViewPr>
      <p:guideLst>
        <p:guide orient="horz" pos="2160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4FD2E-C0D3-40B5-8DD1-9D796D061956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3C637-F117-4624-A596-DF844667A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3C637-F117-4624-A596-DF844667A7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91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35579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3419" y="1879926"/>
            <a:ext cx="7741314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597481"/>
            <a:ext cx="5956820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42948" y="4972192"/>
            <a:ext cx="1293001" cy="361810"/>
          </a:xfrm>
        </p:spPr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56239" y="4972194"/>
            <a:ext cx="4986707" cy="3618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9329" y="4972193"/>
            <a:ext cx="965806" cy="361809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86438" y="3471329"/>
            <a:ext cx="680057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63090" y="76751"/>
            <a:ext cx="4028810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54593" y="5960533"/>
            <a:ext cx="1130796" cy="279400"/>
          </a:xfrm>
        </p:spPr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85389" y="5960533"/>
            <a:ext cx="963150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403" y="1641413"/>
            <a:ext cx="8772290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403" y="3734860"/>
            <a:ext cx="8772290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81785" y="5960533"/>
            <a:ext cx="1151331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0405" y="3599392"/>
            <a:ext cx="877228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052394"/>
            <a:ext cx="9042553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5273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214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81784" y="5934457"/>
            <a:ext cx="1018658" cy="305477"/>
          </a:xfrm>
        </p:spPr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5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5275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798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798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2" y="915338"/>
            <a:ext cx="904255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388534"/>
            <a:ext cx="3374030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826" y="982133"/>
            <a:ext cx="5128001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1" y="3031065"/>
            <a:ext cx="3374030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0404" y="2912533"/>
            <a:ext cx="31037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883832"/>
            <a:ext cx="48309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3663" y="1032933"/>
            <a:ext cx="3896288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2" y="3255432"/>
            <a:ext cx="4830954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4815415"/>
            <a:ext cx="9042553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4961" y="1032934"/>
            <a:ext cx="9431918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3" y="5382153"/>
            <a:ext cx="9042553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06873"/>
            <a:ext cx="9042553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275666"/>
            <a:ext cx="9042555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4" y="4140199"/>
            <a:ext cx="87867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09" y="982132"/>
            <a:ext cx="8512555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28322" y="3352800"/>
            <a:ext cx="7837626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69" y="4343401"/>
            <a:ext cx="904255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0489" y="905362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2825" y="2827870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0404" y="4140199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7" y="3308581"/>
            <a:ext cx="904254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6" y="4777381"/>
            <a:ext cx="904254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73" y="982132"/>
            <a:ext cx="8412693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639312"/>
            <a:ext cx="9042547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529667"/>
            <a:ext cx="904255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67851" y="896895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4495" y="2607728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0404" y="342900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982132"/>
            <a:ext cx="9042553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566160"/>
            <a:ext cx="9042547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3" y="4470401"/>
            <a:ext cx="90425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9" y="3429000"/>
            <a:ext cx="878677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2" y="2490136"/>
            <a:ext cx="9042555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867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4588" y="906874"/>
            <a:ext cx="215323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5" y="906874"/>
            <a:ext cx="6537798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06748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17309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5273" y="915338"/>
            <a:ext cx="9042553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2490136"/>
            <a:ext cx="9042555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4593" y="5935133"/>
            <a:ext cx="895226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2EA2C9-3E80-4651-AEDB-66CBFBE914A4}" type="datetimeFigureOut">
              <a:rPr lang="en-US" smtClean="0"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5272" y="5960533"/>
            <a:ext cx="678938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19" y="5960533"/>
            <a:ext cx="125800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D56BD6-1C83-49ED-A825-919C14660340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85653" y="4072"/>
            <a:ext cx="3201790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9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019" y="1524001"/>
            <a:ext cx="7499800" cy="1828802"/>
          </a:xfrm>
        </p:spPr>
        <p:txBody>
          <a:bodyPr>
            <a:noAutofit/>
          </a:bodyPr>
          <a:lstStyle/>
          <a:p>
            <a:r>
              <a:rPr lang="en-US" sz="2800" dirty="0"/>
              <a:t>Volume </a:t>
            </a:r>
            <a:r>
              <a:rPr lang="en-US" sz="2800" dirty="0" smtClean="0"/>
              <a:t>1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3200" b="1" dirty="0"/>
              <a:t>Chapter 9: </a:t>
            </a:r>
            <a:r>
              <a:rPr lang="en-US" sz="3200" dirty="0"/>
              <a:t>Environmental Cleaning in 	Healthcare Facility</a:t>
            </a:r>
            <a:endParaRPr lang="en-US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0919" y="3886200"/>
            <a:ext cx="7543800" cy="838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IPC for Health for health care settings In Ethiopia </a:t>
            </a:r>
            <a:endParaRPr lang="en-US" b="1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905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295400"/>
            <a:ext cx="10438911" cy="990600"/>
          </a:xfrm>
        </p:spPr>
        <p:txBody>
          <a:bodyPr/>
          <a:lstStyle/>
          <a:p>
            <a:r>
              <a:rPr lang="en-US" b="1" dirty="0"/>
              <a:t>Chapter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7519" y="2438400"/>
            <a:ext cx="9067800" cy="38862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sz="3300" dirty="0"/>
              <a:t>Chapter Objective </a:t>
            </a:r>
          </a:p>
          <a:p>
            <a:pPr marL="280988" indent="-365760">
              <a:lnSpc>
                <a:spcPct val="160000"/>
              </a:lnSpc>
            </a:pPr>
            <a:r>
              <a:rPr lang="en-US" sz="3300" dirty="0"/>
              <a:t>PPP 9.1: Significance of housekeeping in hospitals and 					clinics.</a:t>
            </a:r>
          </a:p>
          <a:p>
            <a:pPr>
              <a:lnSpc>
                <a:spcPct val="160000"/>
              </a:lnSpc>
            </a:pPr>
            <a:r>
              <a:rPr lang="en-US" sz="3300" dirty="0"/>
              <a:t>PPP 9.2: General principles of cleaning.</a:t>
            </a:r>
          </a:p>
          <a:p>
            <a:pPr>
              <a:lnSpc>
                <a:spcPct val="160000"/>
              </a:lnSpc>
            </a:pPr>
            <a:r>
              <a:rPr lang="en-US" sz="3300" dirty="0"/>
              <a:t>PPP 9.3: Ways of preparing disinfectant cleaning solutions.</a:t>
            </a:r>
          </a:p>
          <a:p>
            <a:pPr>
              <a:lnSpc>
                <a:spcPct val="160000"/>
              </a:lnSpc>
            </a:pPr>
            <a:endParaRPr lang="en-US" dirty="0"/>
          </a:p>
          <a:p>
            <a:pPr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9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PPP 9.4: Cleaning Methods and schedule.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PPP 9.5: Cleaning spills of blood or other body fluids.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PPP 9.6: Cleaning the housekeeping equipment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Summery</a:t>
            </a:r>
          </a:p>
          <a:p>
            <a:pPr algn="just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77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066800"/>
            <a:ext cx="10438911" cy="1143000"/>
          </a:xfrm>
        </p:spPr>
        <p:txBody>
          <a:bodyPr/>
          <a:lstStyle/>
          <a:p>
            <a:r>
              <a:rPr lang="en-US" b="1" dirty="0"/>
              <a:t>Chapter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3428" y="2438400"/>
            <a:ext cx="8953632" cy="3810000"/>
          </a:xfrm>
        </p:spPr>
        <p:txBody>
          <a:bodyPr>
            <a:normAutofit fontScale="77500" lnSpcReduction="20000"/>
          </a:bodyPr>
          <a:lstStyle/>
          <a:p>
            <a:pPr algn="just">
              <a:spcAft>
                <a:spcPts val="1800"/>
              </a:spcAft>
              <a:buNone/>
              <a:defRPr/>
            </a:pPr>
            <a:r>
              <a:rPr lang="en-US" b="1" dirty="0"/>
              <a:t>At the end of this module, participants will be able to:</a:t>
            </a:r>
          </a:p>
          <a:p>
            <a:pPr lvl="0" algn="just"/>
            <a:r>
              <a:rPr lang="en-US" dirty="0"/>
              <a:t>Explain the importance of house keeping</a:t>
            </a:r>
          </a:p>
          <a:p>
            <a:pPr lvl="0" algn="just"/>
            <a:r>
              <a:rPr lang="en-US" dirty="0"/>
              <a:t>State the general principles of housekeeping in health care facilities</a:t>
            </a:r>
          </a:p>
          <a:p>
            <a:pPr lvl="0" algn="just"/>
            <a:r>
              <a:rPr lang="en-US" dirty="0"/>
              <a:t>Able how to select cleaning solutions</a:t>
            </a:r>
          </a:p>
          <a:p>
            <a:pPr lvl="0" algn="just"/>
            <a:r>
              <a:rPr lang="en-US" dirty="0"/>
              <a:t>List  the type of PPE used during environmental cleaning</a:t>
            </a:r>
          </a:p>
          <a:p>
            <a:pPr lvl="0" algn="just"/>
            <a:r>
              <a:rPr lang="en-US" dirty="0"/>
              <a:t>Demonstrate how to prepare disinfectant cleaning solution </a:t>
            </a:r>
          </a:p>
          <a:p>
            <a:pPr lvl="0" algn="just"/>
            <a:r>
              <a:rPr lang="en-US" dirty="0"/>
              <a:t>Identify cleaning methods</a:t>
            </a:r>
          </a:p>
          <a:p>
            <a:pPr lvl="0" algn="just"/>
            <a:r>
              <a:rPr lang="en-US" dirty="0"/>
              <a:t>Explain how to clean low and high risk area</a:t>
            </a:r>
          </a:p>
        </p:txBody>
      </p:sp>
    </p:spTree>
    <p:extLst>
      <p:ext uri="{BB962C8B-B14F-4D97-AF65-F5344CB8AC3E}">
        <p14:creationId xmlns:p14="http://schemas.microsoft.com/office/powerpoint/2010/main" val="274734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PPP 9.1: Significance of housekeeping 	in hospitals and clinics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03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138" y="1030778"/>
            <a:ext cx="10337562" cy="1188426"/>
          </a:xfrm>
        </p:spPr>
        <p:txBody>
          <a:bodyPr/>
          <a:lstStyle/>
          <a:p>
            <a:r>
              <a:rPr lang="en-US" dirty="0"/>
              <a:t>Significance of housekeeping 	in hospitals and clinics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720" y="2438400"/>
            <a:ext cx="10058400" cy="3810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Accumulation of dust, soil and microbial contaminants on environmental surfaces is both unsightly and potential source of HAIs. </a:t>
            </a:r>
          </a:p>
          <a:p>
            <a:pPr algn="just"/>
            <a:r>
              <a:rPr lang="en-US" dirty="0"/>
              <a:t>Effective and efficient cleaning methods and schedules are, therefore, necessary to maintain a clean and healthy environment in healthcare settings.</a:t>
            </a:r>
          </a:p>
          <a:p>
            <a:r>
              <a:rPr lang="en-US" dirty="0"/>
              <a:t>Housekeeping practices in the healthcare facilities including: the </a:t>
            </a:r>
            <a:r>
              <a:rPr lang="en-US" b="1" dirty="0"/>
              <a:t>compound</a:t>
            </a:r>
            <a:r>
              <a:rPr lang="en-US" dirty="0"/>
              <a:t>, the </a:t>
            </a:r>
            <a:r>
              <a:rPr lang="en-US" b="1" dirty="0"/>
              <a:t>floors, walls, various type of equipment, tables and other surfaces.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housekeeping 	in hospitals and clinics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6519" y="2651003"/>
            <a:ext cx="9601199" cy="3444997"/>
          </a:xfrm>
        </p:spPr>
        <p:txBody>
          <a:bodyPr/>
          <a:lstStyle/>
          <a:p>
            <a:pPr algn="just"/>
            <a:r>
              <a:rPr lang="en-US" dirty="0"/>
              <a:t>The purpose of general housekeeping is to:</a:t>
            </a:r>
          </a:p>
          <a:p>
            <a:pPr lvl="1" algn="just"/>
            <a:r>
              <a:rPr lang="en-US" dirty="0"/>
              <a:t>Reduce the number of microorganisms that may come in contact with patients, visitors, staff and the community; and</a:t>
            </a:r>
          </a:p>
          <a:p>
            <a:pPr lvl="1" algn="just"/>
            <a:r>
              <a:rPr lang="en-US" dirty="0"/>
              <a:t>Provide a clean and pleasant atmosphere for patients and staff.</a:t>
            </a:r>
          </a:p>
        </p:txBody>
      </p:sp>
    </p:spTree>
    <p:extLst>
      <p:ext uri="{BB962C8B-B14F-4D97-AF65-F5344CB8AC3E}">
        <p14:creationId xmlns:p14="http://schemas.microsoft.com/office/powerpoint/2010/main" val="817052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housekeeping 	in hospitals and clinics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119" y="2362200"/>
            <a:ext cx="9753599" cy="3962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Housekeeping staff be trained to perform their assigned tasks and are supervised on a regular basis. As part of their training, it is important that the housekeeping staff: </a:t>
            </a:r>
          </a:p>
          <a:p>
            <a:pPr lvl="1"/>
            <a:r>
              <a:rPr lang="en-US" dirty="0"/>
              <a:t>Understand the risk of exposure to contaminated items and surfaces when performing environmental cleaning procedures; and</a:t>
            </a:r>
          </a:p>
          <a:p>
            <a:pPr lvl="1"/>
            <a:r>
              <a:rPr lang="en-US" dirty="0"/>
              <a:t>Follow recommended policies and guidelines including the use of appropriate personal protective equipment (PPE).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43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housekeeping 	in hospitals and clinics cont’d…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604612"/>
              </p:ext>
            </p:extLst>
          </p:nvPr>
        </p:nvGraphicFramePr>
        <p:xfrm>
          <a:off x="1432719" y="2528455"/>
          <a:ext cx="9372599" cy="314498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606871">
                  <a:extLst>
                    <a:ext uri="{9D8B030D-6E8A-4147-A177-3AD203B41FA5}">
                      <a16:colId xmlns:a16="http://schemas.microsoft.com/office/drawing/2014/main" xmlns="" val="1111602446"/>
                    </a:ext>
                  </a:extLst>
                </a:gridCol>
                <a:gridCol w="2029847">
                  <a:extLst>
                    <a:ext uri="{9D8B030D-6E8A-4147-A177-3AD203B41FA5}">
                      <a16:colId xmlns:a16="http://schemas.microsoft.com/office/drawing/2014/main" xmlns="" val="4044635176"/>
                    </a:ext>
                  </a:extLst>
                </a:gridCol>
                <a:gridCol w="2735881">
                  <a:extLst>
                    <a:ext uri="{9D8B030D-6E8A-4147-A177-3AD203B41FA5}">
                      <a16:colId xmlns:a16="http://schemas.microsoft.com/office/drawing/2014/main" xmlns="" val="592049829"/>
                    </a:ext>
                  </a:extLst>
                </a:gridCol>
              </a:tblGrid>
              <a:tr h="284018">
                <a:tc>
                  <a:txBody>
                    <a:bodyPr/>
                    <a:lstStyle/>
                    <a:p>
                      <a:pPr marL="0" marR="4826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Areas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Level of risk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826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Cleaned</a:t>
                      </a:r>
                      <a:r>
                        <a:rPr lang="en-US" sz="2000" b="1" spc="5" dirty="0">
                          <a:effectLst/>
                        </a:rPr>
                        <a:t> </a:t>
                      </a:r>
                      <a:r>
                        <a:rPr lang="en-US" sz="2000" b="1" dirty="0">
                          <a:effectLst/>
                        </a:rPr>
                        <a:t>using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11463330"/>
                  </a:ext>
                </a:extLst>
              </a:tr>
              <a:tr h="568036">
                <a:tc>
                  <a:txBody>
                    <a:bodyPr/>
                    <a:lstStyle/>
                    <a:p>
                      <a:pPr marL="342900" marR="48260" indent="-342900" algn="jus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effectLst/>
                        </a:rPr>
                        <a:t>waiting rooms and administrative offices</a:t>
                      </a:r>
                      <a:endParaRPr lang="en-US" sz="2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4826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low-risk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4826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soap and</a:t>
                      </a:r>
                      <a:r>
                        <a:rPr lang="en-US" sz="2000" spc="5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water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0163372"/>
                  </a:ext>
                </a:extLst>
              </a:tr>
              <a:tr h="2272145">
                <a:tc>
                  <a:txBody>
                    <a:bodyPr/>
                    <a:lstStyle/>
                    <a:p>
                      <a:pPr marL="342900" marR="4826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2000" kern="1200" dirty="0">
                          <a:effectLst/>
                        </a:rPr>
                        <a:t>Toilets and latrines; </a:t>
                      </a:r>
                    </a:p>
                    <a:p>
                      <a:pPr marL="342900" marR="4826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effectLst/>
                        </a:rPr>
                        <a:t>Patient rooms items touched bare handedly by patients </a:t>
                      </a:r>
                      <a:r>
                        <a:rPr lang="en-US" sz="2000" kern="1200" spc="-10" dirty="0">
                          <a:effectLst/>
                        </a:rPr>
                        <a:t>and staff</a:t>
                      </a:r>
                    </a:p>
                    <a:p>
                      <a:pPr marL="342900" marR="4826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spc="-10" dirty="0">
                          <a:effectLst/>
                        </a:rPr>
                        <a:t>Operating rooms, pre- and postoperative recovery areas, dressing areas and intensive care units (ICUs).</a:t>
                      </a:r>
                    </a:p>
                    <a:p>
                      <a:pPr marL="342900" marR="4826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spc="-10" dirty="0">
                          <a:effectLst/>
                        </a:rPr>
                        <a:t>Blood or body fluid spills areas </a:t>
                      </a:r>
                      <a:endParaRPr lang="en-US" sz="2000" b="0" kern="1200" spc="-1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4826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High-risk (heavy</a:t>
                      </a:r>
                      <a:r>
                        <a:rPr lang="en-US" sz="2000" spc="225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conta</a:t>
                      </a:r>
                      <a:r>
                        <a:rPr lang="en-US" sz="2000" spc="-10" dirty="0">
                          <a:effectLst/>
                        </a:rPr>
                        <a:t>m</a:t>
                      </a:r>
                      <a:r>
                        <a:rPr lang="en-US" sz="2000" dirty="0">
                          <a:effectLst/>
                        </a:rPr>
                        <a:t>ination)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4826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0" dirty="0">
                          <a:effectLst/>
                        </a:rPr>
                        <a:t>D</a:t>
                      </a:r>
                      <a:r>
                        <a:rPr lang="en-US" sz="2000" spc="5" dirty="0">
                          <a:effectLst/>
                        </a:rPr>
                        <a:t>i</a:t>
                      </a:r>
                      <a:r>
                        <a:rPr lang="en-US" sz="2000" dirty="0">
                          <a:effectLst/>
                        </a:rPr>
                        <a:t>sinfectants</a:t>
                      </a:r>
                      <a:r>
                        <a:rPr lang="en-US" sz="2000" spc="205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like</a:t>
                      </a:r>
                      <a:r>
                        <a:rPr lang="en-US" sz="2000" spc="205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0.5%</a:t>
                      </a:r>
                      <a:r>
                        <a:rPr lang="en-US" sz="2000" spc="205" dirty="0">
                          <a:effectLst/>
                        </a:rPr>
                        <a:t> </a:t>
                      </a:r>
                      <a:r>
                        <a:rPr lang="en-US" sz="2000" spc="-10" dirty="0">
                          <a:effectLst/>
                        </a:rPr>
                        <a:t>C</a:t>
                      </a:r>
                      <a:r>
                        <a:rPr lang="en-US" sz="2000" dirty="0">
                          <a:effectLst/>
                        </a:rPr>
                        <a:t>hlorine</a:t>
                      </a:r>
                      <a:r>
                        <a:rPr lang="en-US" sz="2000" spc="205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or</a:t>
                      </a:r>
                      <a:r>
                        <a:rPr lang="en-US" sz="2000" spc="205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1%</a:t>
                      </a:r>
                      <a:r>
                        <a:rPr lang="en-US" sz="2000" spc="205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Phenol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0701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87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Touched Surfaces in an Examination Room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720" y="2438400"/>
            <a:ext cx="838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6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PPP 9.2: General principles of Cleaning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02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principles of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920" y="2413936"/>
            <a:ext cx="9982200" cy="3910664"/>
          </a:xfrm>
        </p:spPr>
        <p:txBody>
          <a:bodyPr>
            <a:normAutofit fontScale="62500" lnSpcReduction="20000"/>
          </a:bodyPr>
          <a:lstStyle/>
          <a:p>
            <a:pPr lvl="0" algn="just"/>
            <a:r>
              <a:rPr lang="en-US" dirty="0"/>
              <a:t>Cleaning is required </a:t>
            </a:r>
            <a:r>
              <a:rPr lang="en-US" b="1" dirty="0"/>
              <a:t>prior to any disinfection process </a:t>
            </a:r>
            <a:r>
              <a:rPr lang="en-US" dirty="0"/>
              <a:t>because dirt, debris and other materials can decrease the effectiveness of many chemical disinfectants</a:t>
            </a:r>
          </a:p>
          <a:p>
            <a:pPr lvl="0" algn="just"/>
            <a:r>
              <a:rPr lang="en-US" dirty="0" smtClean="0"/>
              <a:t>Scrubbing </a:t>
            </a:r>
            <a:r>
              <a:rPr lang="en-US" dirty="0"/>
              <a:t>(</a:t>
            </a:r>
            <a:r>
              <a:rPr lang="en-US" b="1" dirty="0"/>
              <a:t>frictional cleaning</a:t>
            </a:r>
            <a:r>
              <a:rPr lang="en-US" dirty="0"/>
              <a:t>) is the best way to physically remove dirt, debris and microorganisms</a:t>
            </a:r>
            <a:r>
              <a:rPr lang="en-US" dirty="0" smtClean="0"/>
              <a:t>.</a:t>
            </a:r>
            <a:endParaRPr lang="en-US" dirty="0"/>
          </a:p>
          <a:p>
            <a:pPr lvl="0" algn="just"/>
            <a:r>
              <a:rPr lang="en-US" dirty="0"/>
              <a:t>Cleaning products should be selected based on their </a:t>
            </a:r>
            <a:r>
              <a:rPr lang="en-US" b="1" dirty="0"/>
              <a:t>use, efficacy, safety and cost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Cleaning should always progress from the </a:t>
            </a:r>
            <a:r>
              <a:rPr lang="en-US" b="1" dirty="0"/>
              <a:t>least soiled areas </a:t>
            </a:r>
            <a:r>
              <a:rPr lang="en-US" dirty="0"/>
              <a:t>to the most soiled areas and from high to low areas so that the dirtiest areas and debris falling on the floor will be cleaned up last.</a:t>
            </a:r>
          </a:p>
          <a:p>
            <a:pPr lvl="0" algn="just"/>
            <a:r>
              <a:rPr lang="en-US" b="1" dirty="0"/>
              <a:t>Dry</a:t>
            </a:r>
            <a:r>
              <a:rPr lang="en-US" dirty="0"/>
              <a:t> sweeping, mopping and dusting should be avoided to prevent dust, debris and microorganisms from getting into the air and landing on clean surfaces. </a:t>
            </a:r>
            <a:endParaRPr lang="en-US" dirty="0" smtClean="0"/>
          </a:p>
          <a:p>
            <a:pPr lvl="0" algn="just"/>
            <a:r>
              <a:rPr lang="en-US" b="1" dirty="0" smtClean="0"/>
              <a:t>Airborne </a:t>
            </a:r>
            <a:r>
              <a:rPr lang="en-US" b="1" dirty="0"/>
              <a:t>fungal spores </a:t>
            </a:r>
            <a:r>
              <a:rPr lang="en-US" dirty="0"/>
              <a:t>are especially important as they can cause fatal infections in immune-suppressed patients.</a:t>
            </a:r>
          </a:p>
        </p:txBody>
      </p:sp>
    </p:spTree>
    <p:extLst>
      <p:ext uri="{BB962C8B-B14F-4D97-AF65-F5344CB8AC3E}">
        <p14:creationId xmlns:p14="http://schemas.microsoft.com/office/powerpoint/2010/main" val="4046801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principles of Cleaning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519" y="2490136"/>
            <a:ext cx="10210800" cy="3605864"/>
          </a:xfrm>
        </p:spPr>
        <p:txBody>
          <a:bodyPr>
            <a:normAutofit fontScale="85000" lnSpcReduction="10000"/>
          </a:bodyPr>
          <a:lstStyle/>
          <a:p>
            <a:pPr lvl="0" algn="just"/>
            <a:r>
              <a:rPr lang="en-US" dirty="0"/>
              <a:t>Instructions for mixing (dilution) should strictly be followed when using disinfectants. (</a:t>
            </a:r>
            <a:r>
              <a:rPr lang="en-US" b="1" dirty="0"/>
              <a:t>Too much or too little water may reduce the effectiveness of disinfectants</a:t>
            </a:r>
            <a:r>
              <a:rPr lang="en-US" dirty="0"/>
              <a:t>).</a:t>
            </a:r>
          </a:p>
          <a:p>
            <a:pPr lvl="0" algn="just"/>
            <a:r>
              <a:rPr lang="en-US" dirty="0"/>
              <a:t>Cleaning methods and written cleaning schedules should be based on the </a:t>
            </a:r>
            <a:r>
              <a:rPr lang="en-US" b="1" dirty="0"/>
              <a:t>type of the surface</a:t>
            </a:r>
            <a:r>
              <a:rPr lang="en-US" dirty="0"/>
              <a:t>, </a:t>
            </a:r>
            <a:r>
              <a:rPr lang="en-US" b="1" dirty="0"/>
              <a:t>the amount and the extent of the soil</a:t>
            </a:r>
            <a:r>
              <a:rPr lang="en-US" dirty="0"/>
              <a:t> present and the </a:t>
            </a:r>
            <a:r>
              <a:rPr lang="en-US" b="1" dirty="0"/>
              <a:t>purpose of the area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Routine cleaning is necessary to maintain the standard of cleanliness. Also, schedules and procedures should be consistent and posted.</a:t>
            </a:r>
          </a:p>
        </p:txBody>
      </p:sp>
    </p:spTree>
    <p:extLst>
      <p:ext uri="{BB962C8B-B14F-4D97-AF65-F5344CB8AC3E}">
        <p14:creationId xmlns:p14="http://schemas.microsoft.com/office/powerpoint/2010/main" val="74815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Cleaning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5272" y="2490136"/>
            <a:ext cx="9042555" cy="3834464"/>
          </a:xfrm>
        </p:spPr>
        <p:txBody>
          <a:bodyPr>
            <a:normAutofit fontScale="85000" lnSpcReduction="20000"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US" b="1" dirty="0"/>
              <a:t>An ideal cleaning product should accomplish the following:</a:t>
            </a:r>
          </a:p>
          <a:p>
            <a:pPr lvl="1" algn="just"/>
            <a:r>
              <a:rPr lang="en-US" dirty="0"/>
              <a:t>Able to suspend fats in water </a:t>
            </a:r>
          </a:p>
          <a:p>
            <a:pPr lvl="1" algn="just"/>
            <a:r>
              <a:rPr lang="en-US" dirty="0"/>
              <a:t>Saponification of fat (make fats water-soluble).</a:t>
            </a:r>
          </a:p>
          <a:p>
            <a:pPr lvl="1" algn="just"/>
            <a:r>
              <a:rPr lang="en-US" dirty="0" err="1"/>
              <a:t>Surfaction</a:t>
            </a:r>
            <a:r>
              <a:rPr lang="en-US" dirty="0"/>
              <a:t> (decreasing surface tension of water and allowing greater penetration of the agent into the dirt or soil).</a:t>
            </a:r>
          </a:p>
          <a:p>
            <a:pPr lvl="1" algn="just"/>
            <a:r>
              <a:rPr lang="en-US" dirty="0"/>
              <a:t>Dispersion (break up of soil into small particles).</a:t>
            </a:r>
          </a:p>
          <a:p>
            <a:pPr lvl="1" algn="just"/>
            <a:r>
              <a:rPr lang="en-US" dirty="0"/>
              <a:t>Protein destruction (break up proteins).</a:t>
            </a:r>
          </a:p>
          <a:p>
            <a:pPr lvl="1" algn="just"/>
            <a:r>
              <a:rPr lang="en-US" dirty="0"/>
              <a:t>Softening the water by removing calcium and magnesium from it.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765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Cleaning Products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 algn="just">
              <a:buFont typeface="+mj-lt"/>
              <a:buAutoNum type="arabicPeriod" startAt="2"/>
            </a:pPr>
            <a:r>
              <a:rPr lang="en-US" b="1" dirty="0"/>
              <a:t>The Main Guiding Principles for Resource Limited Areas are:</a:t>
            </a:r>
            <a:endParaRPr lang="en-US" dirty="0"/>
          </a:p>
          <a:p>
            <a:pPr lvl="1" algn="just"/>
            <a:r>
              <a:rPr lang="en-US" dirty="0"/>
              <a:t> Unnecessarily expensive products should not be selected.</a:t>
            </a:r>
          </a:p>
          <a:p>
            <a:pPr lvl="1" algn="just"/>
            <a:r>
              <a:rPr lang="en-US" dirty="0"/>
              <a:t>What is selected and bought should be based on evidence (not to be left to chance).</a:t>
            </a:r>
          </a:p>
          <a:p>
            <a:pPr lvl="1" algn="just"/>
            <a:r>
              <a:rPr lang="en-US" dirty="0"/>
              <a:t>The right product should be for the right purpose.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2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Select Cleaning Products cont’d…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5272" y="2490136"/>
            <a:ext cx="9042555" cy="3758264"/>
          </a:xfrm>
        </p:spPr>
        <p:txBody>
          <a:bodyPr>
            <a:normAutofit fontScale="85000" lnSpcReduction="20000"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US" b="1" dirty="0"/>
              <a:t>Selection of disinfectants and cleaning products should be based on the following factors:</a:t>
            </a:r>
            <a:endParaRPr lang="en-US" dirty="0"/>
          </a:p>
          <a:p>
            <a:pPr lvl="1" algn="just"/>
            <a:r>
              <a:rPr lang="en-US" dirty="0"/>
              <a:t>Intended use of the product/s.</a:t>
            </a:r>
          </a:p>
          <a:p>
            <a:pPr lvl="1" algn="just"/>
            <a:r>
              <a:rPr lang="en-US" dirty="0"/>
              <a:t>Efficacy of the product/s.</a:t>
            </a:r>
          </a:p>
          <a:p>
            <a:pPr lvl="1" algn="just"/>
            <a:r>
              <a:rPr lang="en-US" dirty="0"/>
              <a:t>Acceptability of the product/s.</a:t>
            </a:r>
          </a:p>
          <a:p>
            <a:pPr lvl="1" algn="just"/>
            <a:r>
              <a:rPr lang="en-US" dirty="0"/>
              <a:t>Environment friendly.</a:t>
            </a:r>
          </a:p>
          <a:p>
            <a:pPr lvl="1" algn="just"/>
            <a:r>
              <a:rPr lang="en-US" dirty="0"/>
              <a:t>Safety of the product/s.</a:t>
            </a:r>
          </a:p>
          <a:p>
            <a:pPr lvl="1" algn="just"/>
            <a:r>
              <a:rPr lang="en-US" dirty="0"/>
              <a:t>Cost-effectiveness of the product/s.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57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90600"/>
            <a:ext cx="9042553" cy="1255222"/>
          </a:xfrm>
        </p:spPr>
        <p:txBody>
          <a:bodyPr/>
          <a:lstStyle/>
          <a:p>
            <a:r>
              <a:rPr lang="en-US" dirty="0"/>
              <a:t>Personal Protective Equipment for Housekeeping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housekeeping staff in health facilities deals with dirt, soils and other materials that expose them to risks of infections and other health hazards. </a:t>
            </a:r>
          </a:p>
          <a:p>
            <a:pPr algn="just"/>
            <a:r>
              <a:rPr lang="en-US" dirty="0"/>
              <a:t>To avoid this hazardous exposure, they must be equipped with the relevant personal protective equipment.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384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Protective Equipment for Housekeeping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2720" y="2490136"/>
            <a:ext cx="9175108" cy="37582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Some of personal protective equipment for housekeeping purposes are:</a:t>
            </a:r>
          </a:p>
          <a:p>
            <a:pPr lvl="1"/>
            <a:r>
              <a:rPr lang="en-US" dirty="0"/>
              <a:t>Gloves preferably the utility or Heavy duty gloves</a:t>
            </a:r>
          </a:p>
          <a:p>
            <a:pPr lvl="1"/>
            <a:r>
              <a:rPr lang="en-US" dirty="0"/>
              <a:t>Protective shoes</a:t>
            </a:r>
          </a:p>
          <a:p>
            <a:pPr lvl="1"/>
            <a:r>
              <a:rPr lang="en-US" dirty="0"/>
              <a:t>Plastic or rubber apron</a:t>
            </a:r>
          </a:p>
          <a:p>
            <a:pPr lvl="1"/>
            <a:r>
              <a:rPr lang="en-US" dirty="0"/>
              <a:t>Masks</a:t>
            </a:r>
          </a:p>
          <a:p>
            <a:pPr lvl="1"/>
            <a:r>
              <a:rPr lang="en-US" dirty="0"/>
              <a:t>Protective eye wears</a:t>
            </a:r>
          </a:p>
          <a:p>
            <a:endParaRPr lang="en-US" dirty="0"/>
          </a:p>
        </p:txBody>
      </p:sp>
      <p:pic>
        <p:nvPicPr>
          <p:cNvPr id="4" name="Picture 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" t="18340" r="3810" b="50"/>
          <a:stretch>
            <a:fillRect/>
          </a:stretch>
        </p:blipFill>
        <p:spPr bwMode="auto">
          <a:xfrm>
            <a:off x="9016695" y="3251017"/>
            <a:ext cx="1057275" cy="1196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SO0124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939" y="3942818"/>
            <a:ext cx="1153391" cy="8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j00954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961" y="5161997"/>
            <a:ext cx="951345" cy="948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 descr="Ip0a02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919" y="4876799"/>
            <a:ext cx="3249174" cy="133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j008659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49" y="3846279"/>
            <a:ext cx="1633970" cy="179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55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Dry sweeping by patients</a:t>
            </a:r>
            <a:endParaRPr lang="en-US" dirty="0"/>
          </a:p>
        </p:txBody>
      </p:sp>
      <p:pic>
        <p:nvPicPr>
          <p:cNvPr id="4" name="Content Placeholder 3" descr="Alert Picture 01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20" y="2490788"/>
            <a:ext cx="8763000" cy="375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Diagram 4"/>
          <p:cNvGrpSpPr>
            <a:grpSpLocks/>
          </p:cNvGrpSpPr>
          <p:nvPr/>
        </p:nvGrpSpPr>
        <p:grpSpPr bwMode="auto">
          <a:xfrm>
            <a:off x="5748299" y="2568952"/>
            <a:ext cx="1337276" cy="1160539"/>
            <a:chOff x="1769" y="792"/>
            <a:chExt cx="2479" cy="2138"/>
          </a:xfrm>
          <a:solidFill>
            <a:schemeClr val="accent1">
              <a:alpha val="70000"/>
            </a:schemeClr>
          </a:solidFill>
        </p:grpSpPr>
        <p:sp>
          <p:nvSpPr>
            <p:cNvPr id="7" name="_s5124"/>
            <p:cNvSpPr>
              <a:spLocks noChangeArrowheads="1" noTextEdit="1"/>
            </p:cNvSpPr>
            <p:nvPr/>
          </p:nvSpPr>
          <p:spPr bwMode="auto">
            <a:xfrm>
              <a:off x="1769" y="1391"/>
              <a:ext cx="1539" cy="1539"/>
            </a:xfrm>
            <a:custGeom>
              <a:avLst/>
              <a:gdLst>
                <a:gd name="G0" fmla="+- 3600 0 0"/>
                <a:gd name="G1" fmla="+- 21600 0 3600"/>
                <a:gd name="G2" fmla="+- 21600 0 36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600" y="10800"/>
                  </a:moveTo>
                  <a:cubicBezTo>
                    <a:pt x="3600" y="14776"/>
                    <a:pt x="6824" y="18000"/>
                    <a:pt x="10800" y="18000"/>
                  </a:cubicBezTo>
                  <a:cubicBezTo>
                    <a:pt x="14776" y="18000"/>
                    <a:pt x="18000" y="14776"/>
                    <a:pt x="18000" y="10800"/>
                  </a:cubicBezTo>
                  <a:cubicBezTo>
                    <a:pt x="18000" y="6824"/>
                    <a:pt x="14776" y="3600"/>
                    <a:pt x="10800" y="3600"/>
                  </a:cubicBezTo>
                  <a:cubicBezTo>
                    <a:pt x="6824" y="3600"/>
                    <a:pt x="3600" y="6824"/>
                    <a:pt x="3600" y="10800"/>
                  </a:cubicBezTo>
                  <a:close/>
                </a:path>
              </a:pathLst>
            </a:cu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_s5125"/>
            <p:cNvSpPr>
              <a:spLocks/>
            </p:cNvSpPr>
            <p:nvPr/>
          </p:nvSpPr>
          <p:spPr bwMode="auto">
            <a:xfrm>
              <a:off x="3838" y="1476"/>
              <a:ext cx="410" cy="342"/>
            </a:xfrm>
            <a:prstGeom prst="callout2">
              <a:avLst>
                <a:gd name="adj1" fmla="val 66667"/>
                <a:gd name="adj2" fmla="val -40338"/>
                <a:gd name="adj3" fmla="val 66667"/>
                <a:gd name="adj4" fmla="val -47060"/>
                <a:gd name="adj5" fmla="val 200000"/>
                <a:gd name="adj6" fmla="val -160505"/>
              </a:avLst>
            </a:prstGeom>
            <a:solidFill>
              <a:schemeClr val="accent1"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300" b="1" i="0" u="none" strike="noStrike" cap="none" normalizeH="0" baseline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_s5126"/>
            <p:cNvSpPr>
              <a:spLocks noChangeArrowheads="1" noTextEdit="1"/>
            </p:cNvSpPr>
            <p:nvPr/>
          </p:nvSpPr>
          <p:spPr bwMode="auto">
            <a:xfrm>
              <a:off x="2025" y="1647"/>
              <a:ext cx="1026" cy="1026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_s5127"/>
            <p:cNvSpPr>
              <a:spLocks/>
            </p:cNvSpPr>
            <p:nvPr/>
          </p:nvSpPr>
          <p:spPr bwMode="auto">
            <a:xfrm>
              <a:off x="3838" y="1134"/>
              <a:ext cx="410" cy="342"/>
            </a:xfrm>
            <a:prstGeom prst="callout2">
              <a:avLst>
                <a:gd name="adj1" fmla="val 66056"/>
                <a:gd name="adj2" fmla="val -40338"/>
                <a:gd name="adj3" fmla="val 66056"/>
                <a:gd name="adj4" fmla="val -47898"/>
                <a:gd name="adj5" fmla="val 300000"/>
                <a:gd name="adj6" fmla="val -222690"/>
              </a:avLst>
            </a:prstGeom>
            <a:solidFill>
              <a:schemeClr val="accent1"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300" b="1" i="0" u="none" strike="noStrike" cap="none" normalizeH="0" baseline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_s5128"/>
            <p:cNvSpPr>
              <a:spLocks noChangeArrowheads="1" noTextEdit="1"/>
            </p:cNvSpPr>
            <p:nvPr/>
          </p:nvSpPr>
          <p:spPr bwMode="auto">
            <a:xfrm>
              <a:off x="2282" y="1904"/>
              <a:ext cx="513" cy="513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_s5129"/>
            <p:cNvSpPr>
              <a:spLocks/>
            </p:cNvSpPr>
            <p:nvPr/>
          </p:nvSpPr>
          <p:spPr bwMode="auto">
            <a:xfrm>
              <a:off x="3838" y="792"/>
              <a:ext cx="410" cy="342"/>
            </a:xfrm>
            <a:prstGeom prst="callout2">
              <a:avLst>
                <a:gd name="adj1" fmla="val 66667"/>
                <a:gd name="adj2" fmla="val -40338"/>
                <a:gd name="adj3" fmla="val 66667"/>
                <a:gd name="adj4" fmla="val -48741"/>
                <a:gd name="adj5" fmla="val 400000"/>
                <a:gd name="adj6" fmla="val -316806"/>
              </a:avLst>
            </a:prstGeom>
            <a:solidFill>
              <a:schemeClr val="accent1"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300" b="1" i="0" u="none" strike="noStrike" cap="none" normalizeH="0" baseline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891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PPP 9.3: Ways of preparing disinfectant cleaning solutions.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97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prepare cleaning disinfectant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719" y="2438400"/>
            <a:ext cx="10058400" cy="3758264"/>
          </a:xfrm>
        </p:spPr>
        <p:txBody>
          <a:bodyPr>
            <a:normAutofit lnSpcReduction="10000"/>
          </a:bodyPr>
          <a:lstStyle/>
          <a:p>
            <a:pPr marL="0" indent="-548640" algn="just">
              <a:buNone/>
            </a:pPr>
            <a:r>
              <a:rPr lang="en-US" b="1" dirty="0"/>
              <a:t>STEP 1 </a:t>
            </a:r>
            <a:r>
              <a:rPr lang="en-US" dirty="0"/>
              <a:t>Prepare a 0.5% Chlorine solution from liquid 						concentrates or from Chlorine powder compounds </a:t>
            </a:r>
          </a:p>
          <a:p>
            <a:pPr lvl="3" algn="just"/>
            <a:r>
              <a:rPr lang="en-US" sz="3000" dirty="0"/>
              <a:t>Alternative disinfectants that can be used include 1 to 2% Phenols or 5% Carbolic acid.</a:t>
            </a:r>
          </a:p>
          <a:p>
            <a:pPr marL="0" indent="0" algn="just">
              <a:buNone/>
            </a:pPr>
            <a:r>
              <a:rPr lang="en-US" b="1" dirty="0"/>
              <a:t>STEP 2 </a:t>
            </a:r>
            <a:r>
              <a:rPr lang="en-US" dirty="0"/>
              <a:t>Add enough detergent to the 0.5% Chlorine solution 			or another disinfectant to make a mild and soapy 				cleaning solution.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52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prepare cleaning disinfectant solution 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920" y="2490135"/>
            <a:ext cx="9982200" cy="377792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When we use Chlorine solution, we should be very cautious. </a:t>
            </a:r>
          </a:p>
          <a:p>
            <a:pPr algn="just"/>
            <a:r>
              <a:rPr lang="en-US" dirty="0"/>
              <a:t>Although chlorine-containing solutions (sodium hypochlorite) are excellent and inexpensive disinfectants, </a:t>
            </a:r>
            <a:r>
              <a:rPr lang="en-US" b="1" dirty="0"/>
              <a:t>they should not be mixed with cleaning solutions containing an acid</a:t>
            </a:r>
            <a:r>
              <a:rPr lang="en-US" dirty="0"/>
              <a:t> (e.g. phosphoric acid) like </a:t>
            </a:r>
            <a:r>
              <a:rPr lang="en-US" b="1" dirty="0"/>
              <a:t>Ammonia</a:t>
            </a:r>
            <a:r>
              <a:rPr lang="en-US" dirty="0"/>
              <a:t> or </a:t>
            </a:r>
            <a:r>
              <a:rPr lang="en-US" b="1" dirty="0"/>
              <a:t>Ammonium chloride </a:t>
            </a:r>
            <a:r>
              <a:rPr lang="en-US" dirty="0"/>
              <a:t>(NH</a:t>
            </a:r>
            <a:r>
              <a:rPr lang="en-US" baseline="-25000" dirty="0"/>
              <a:t>4</a:t>
            </a:r>
            <a:r>
              <a:rPr lang="en-US" dirty="0"/>
              <a:t>Cl). </a:t>
            </a:r>
          </a:p>
          <a:p>
            <a:pPr algn="just"/>
            <a:r>
              <a:rPr lang="en-US" dirty="0"/>
              <a:t>So doing will release chlorine gas and other by- products that can result in temporary illness (nausea, tearing, headache or shortness of breath) of the staff inhaling fumes in a poorly ventilated area.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883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Prepare Chlorine Solution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2984" y="2468238"/>
            <a:ext cx="9577135" cy="37039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liquid bleach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To make a 0.5% chlorine solution from 5% bleach, mix 1 part bleach to 9 parts water.</a:t>
            </a:r>
          </a:p>
          <a:p>
            <a:endParaRPr 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813719" y="3179704"/>
            <a:ext cx="5638800" cy="761999"/>
            <a:chOff x="768" y="971"/>
            <a:chExt cx="3356" cy="480"/>
          </a:xfrm>
        </p:grpSpPr>
        <p:graphicFrame>
          <p:nvGraphicFramePr>
            <p:cNvPr id="5" name="Object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61569067"/>
                </p:ext>
              </p:extLst>
            </p:nvPr>
          </p:nvGraphicFramePr>
          <p:xfrm>
            <a:off x="2416" y="971"/>
            <a:ext cx="112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Equation" r:id="rId3" imgW="1091880" imgH="431640" progId="Equation.3">
                    <p:embed/>
                  </p:oleObj>
                </mc:Choice>
                <mc:Fallback>
                  <p:oleObj name="Equation" r:id="rId3" imgW="1091880" imgH="431640" progId="Equation.3">
                    <p:embed/>
                    <p:pic>
                      <p:nvPicPr>
                        <p:cNvPr id="1027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6" y="971"/>
                          <a:ext cx="1124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768" y="1104"/>
              <a:ext cx="15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parts (TP) (H</a:t>
              </a:r>
              <a:r>
                <a:rPr lang="en-US" altLang="en-US" b="1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O) = 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625" y="1104"/>
              <a:ext cx="49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b="1" dirty="0">
                  <a:latin typeface="Calibri" panose="020F0502020204030204" pitchFamily="34" charset="0"/>
                </a:rPr>
                <a:t>- </a:t>
              </a:r>
              <a:r>
                <a:rPr lang="en-US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1813719" y="4021106"/>
            <a:ext cx="8921388" cy="881064"/>
            <a:chOff x="624" y="2006"/>
            <a:chExt cx="5195" cy="555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624" y="2208"/>
              <a:ext cx="15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 parts (TP) (H</a:t>
              </a:r>
              <a:r>
                <a:rPr lang="en-US" altLang="en-US" b="1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O) </a:t>
              </a:r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</a:p>
          </p:txBody>
        </p:sp>
        <p:grpSp>
          <p:nvGrpSpPr>
            <p:cNvPr id="10" name="Group 10"/>
            <p:cNvGrpSpPr>
              <a:grpSpLocks/>
            </p:cNvGrpSpPr>
            <p:nvPr/>
          </p:nvGrpSpPr>
          <p:grpSpPr bwMode="auto">
            <a:xfrm>
              <a:off x="2240" y="2006"/>
              <a:ext cx="1791" cy="555"/>
              <a:chOff x="1995" y="2534"/>
              <a:chExt cx="1791" cy="555"/>
            </a:xfrm>
          </p:grpSpPr>
          <p:graphicFrame>
            <p:nvGraphicFramePr>
              <p:cNvPr id="12" name="Object 1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68789759"/>
                  </p:ext>
                </p:extLst>
              </p:nvPr>
            </p:nvGraphicFramePr>
            <p:xfrm>
              <a:off x="1995" y="2534"/>
              <a:ext cx="1459" cy="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3" name="Equation" r:id="rId5" imgW="1168200" imgH="431640" progId="Equation.3">
                      <p:embed/>
                    </p:oleObj>
                  </mc:Choice>
                  <mc:Fallback>
                    <p:oleObj name="Equation" r:id="rId5" imgW="1168200" imgH="431640" progId="Equation.3">
                      <p:embed/>
                      <p:pic>
                        <p:nvPicPr>
                          <p:cNvPr id="1026" name="Object 1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95" y="2534"/>
                            <a:ext cx="1459" cy="5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3502" y="2685"/>
                <a:ext cx="28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 b="1" dirty="0">
                    <a:latin typeface="Calibri" panose="020F0502020204030204" pitchFamily="34" charset="0"/>
                  </a:rPr>
                  <a:t>- </a:t>
                </a: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4107" y="2157"/>
              <a:ext cx="171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</a:rPr>
                <a:t>=  </a:t>
              </a:r>
              <a:r>
                <a:rPr lang="en-US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 Total parts (TP) (H</a:t>
              </a:r>
              <a:r>
                <a:rPr lang="en-US" altLang="en-US" b="1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199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Using 5% Bleach for</a:t>
            </a:r>
            <a:br>
              <a:rPr lang="en-US" altLang="en-US" dirty="0"/>
            </a:br>
            <a:r>
              <a:rPr lang="en-US" altLang="en-US" dirty="0"/>
              <a:t>0.5% Concentration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519" y="2490136"/>
            <a:ext cx="10286999" cy="375826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ChlorineSolution_1_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519" y="2645199"/>
            <a:ext cx="31337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ChlorineSolution_1_9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519" y="2992968"/>
            <a:ext cx="54102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347118" y="5416550"/>
            <a:ext cx="7543800" cy="8318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 dirty="0">
                <a:latin typeface="Calibri" panose="020F0502020204030204" pitchFamily="34" charset="0"/>
              </a:rPr>
              <a:t>One part bleach to 9 parts water (use the same container to measure the bleach and water)</a:t>
            </a:r>
          </a:p>
        </p:txBody>
      </p:sp>
    </p:spTree>
    <p:extLst>
      <p:ext uri="{BB962C8B-B14F-4D97-AF65-F5344CB8AC3E}">
        <p14:creationId xmlns:p14="http://schemas.microsoft.com/office/powerpoint/2010/main" val="89104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Prepare Chlorine Solution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2719" y="2490136"/>
            <a:ext cx="9372599" cy="368206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For powder chlorine form </a:t>
            </a:r>
          </a:p>
          <a:p>
            <a:endParaRPr lang="en-US" dirty="0"/>
          </a:p>
          <a:p>
            <a:pPr marL="0" indent="0" algn="ctr" defTabSz="885825">
              <a:buNone/>
            </a:pPr>
            <a:endParaRPr lang="en-US" alt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make a 0.5% chlorine solution form a 35% chlorine powder, mix 14.2 grams of powder chlorine to 1 liter of water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889919" y="3124200"/>
            <a:ext cx="5139977" cy="838200"/>
            <a:chOff x="1248" y="1536"/>
            <a:chExt cx="2822" cy="528"/>
          </a:xfrm>
        </p:grpSpPr>
        <p:graphicFrame>
          <p:nvGraphicFramePr>
            <p:cNvPr id="5" name="Object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32596890"/>
                </p:ext>
              </p:extLst>
            </p:nvPr>
          </p:nvGraphicFramePr>
          <p:xfrm>
            <a:off x="2252" y="1536"/>
            <a:ext cx="113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2" name="معادلة" r:id="rId3" imgW="1091880" imgH="431640" progId="Equation.3">
                    <p:embed/>
                  </p:oleObj>
                </mc:Choice>
                <mc:Fallback>
                  <p:oleObj name="معادلة" r:id="rId3" imgW="1091880" imgH="431640" progId="Equation.3">
                    <p:embed/>
                    <p:pic>
                      <p:nvPicPr>
                        <p:cNvPr id="2051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2" y="1536"/>
                          <a:ext cx="113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248" y="1630"/>
              <a:ext cx="95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Gram/Liter = 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549" y="1632"/>
              <a:ext cx="5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1000</a:t>
              </a: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1910102" y="4044014"/>
            <a:ext cx="7815414" cy="838200"/>
            <a:chOff x="827" y="2740"/>
            <a:chExt cx="4207" cy="528"/>
          </a:xfrm>
        </p:grpSpPr>
        <p:graphicFrame>
          <p:nvGraphicFramePr>
            <p:cNvPr id="9" name="Object 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08047995"/>
                </p:ext>
              </p:extLst>
            </p:nvPr>
          </p:nvGraphicFramePr>
          <p:xfrm>
            <a:off x="1801" y="2740"/>
            <a:ext cx="127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3" name="معادلة" r:id="rId5" imgW="1244520" imgH="431640" progId="Equation.3">
                    <p:embed/>
                  </p:oleObj>
                </mc:Choice>
                <mc:Fallback>
                  <p:oleObj name="معادلة" r:id="rId5" imgW="1244520" imgH="431640" progId="Equation.3">
                    <p:embed/>
                    <p:pic>
                      <p:nvPicPr>
                        <p:cNvPr id="205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1" y="2740"/>
                          <a:ext cx="1271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827" y="2790"/>
              <a:ext cx="10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Gram/Liter = 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117" y="2846"/>
              <a:ext cx="5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1000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3697" y="2846"/>
              <a:ext cx="13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14.2 Gram/Liter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867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PPP 9.4: Cleaning Methods and Schedules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62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Cleaning should start with the least soiled area and extend to the most soiled area and from high to low surfaces. </a:t>
            </a:r>
          </a:p>
          <a:p>
            <a:r>
              <a:rPr lang="en-US" dirty="0"/>
              <a:t>Common methods of cleaning are briefly described below: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34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914400" indent="-914400">
              <a:buFont typeface="+mj-lt"/>
              <a:buAutoNum type="alphaUcPeriod"/>
            </a:pPr>
            <a:r>
              <a:rPr lang="en-US" sz="4800" b="1" dirty="0"/>
              <a:t>Wet Mopping Method   (Preferable for Floor Cleaning)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4119" y="2432461"/>
            <a:ext cx="4724400" cy="404453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sz="2600" b="1" dirty="0"/>
              <a:t>Single-Bucket (Basin) Technique </a:t>
            </a:r>
            <a:endParaRPr lang="en-US" sz="2600" dirty="0"/>
          </a:p>
          <a:p>
            <a:pPr lvl="1"/>
            <a:r>
              <a:rPr lang="en-US" sz="2600" dirty="0"/>
              <a:t>Only one bucket of cleaning solution is used here. </a:t>
            </a:r>
          </a:p>
          <a:p>
            <a:pPr lvl="1"/>
            <a:r>
              <a:rPr lang="en-US" sz="2600" dirty="0"/>
              <a:t>The solution, however, needs to be changed when dirty. </a:t>
            </a:r>
          </a:p>
          <a:p>
            <a:pPr lvl="1"/>
            <a:r>
              <a:rPr lang="en-US" sz="2600" dirty="0"/>
              <a:t>The killing power of the cleaning product decreases with the increased load of soil and organic material present</a:t>
            </a:r>
          </a:p>
          <a:p>
            <a:pPr lvl="0"/>
            <a:r>
              <a:rPr lang="en-US" dirty="0"/>
              <a:t> </a:t>
            </a:r>
            <a:r>
              <a:rPr lang="en-US" sz="2900" b="1" dirty="0"/>
              <a:t>Double-Bucket Technique </a:t>
            </a:r>
            <a:r>
              <a:rPr lang="en-US" sz="2900" dirty="0"/>
              <a:t>– </a:t>
            </a:r>
          </a:p>
          <a:p>
            <a:pPr lvl="1"/>
            <a:r>
              <a:rPr lang="en-US" sz="2900" dirty="0"/>
              <a:t>Two different buckets are used here---</a:t>
            </a:r>
          </a:p>
          <a:p>
            <a:pPr lvl="1"/>
            <a:r>
              <a:rPr lang="en-US" sz="2900" dirty="0"/>
              <a:t>one containing a cleaning solution and the other containing water for rinsing. 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519" y="2520037"/>
            <a:ext cx="4779505" cy="3761232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US" sz="2600" dirty="0"/>
              <a:t>The mop is always rinsed and wrung out before it is dipped into the cleaning solution.</a:t>
            </a:r>
          </a:p>
          <a:p>
            <a:pPr lvl="1"/>
            <a:r>
              <a:rPr lang="en-US" sz="2600" dirty="0"/>
              <a:t>The double-bucket technique extends the life of the cleaning solution (fewer changes are required) saving both labor and material costs</a:t>
            </a:r>
            <a:r>
              <a:rPr lang="en-US" dirty="0"/>
              <a:t>.</a:t>
            </a:r>
          </a:p>
          <a:p>
            <a:pPr lvl="0"/>
            <a:r>
              <a:rPr lang="en-US" sz="2600" b="1" dirty="0"/>
              <a:t>Triple-Bucket Technique </a:t>
            </a:r>
            <a:endParaRPr lang="en-US" sz="2600" dirty="0"/>
          </a:p>
          <a:p>
            <a:pPr lvl="1"/>
            <a:r>
              <a:rPr lang="en-US" sz="2600" dirty="0"/>
              <a:t>The third bucket is used for wringing out the mop before rinsing </a:t>
            </a:r>
          </a:p>
          <a:p>
            <a:pPr lvl="1"/>
            <a:r>
              <a:rPr lang="en-US" sz="2600" dirty="0"/>
              <a:t>this extends the life of the rinse water.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92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14400" indent="-914400">
              <a:buFont typeface="+mj-lt"/>
              <a:buAutoNum type="alphaUcPeriod" startAt="2"/>
            </a:pPr>
            <a:r>
              <a:rPr lang="en-US" sz="3200" b="0" dirty="0"/>
              <a:t>Flooding Followed by Wet Vacuuming Method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65272" y="2133600"/>
            <a:ext cx="9042555" cy="40386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It is preferable for </a:t>
            </a:r>
            <a:r>
              <a:rPr lang="en-US" b="1" dirty="0"/>
              <a:t>surgical suits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It eliminates </a:t>
            </a:r>
            <a:r>
              <a:rPr lang="en-US" b="1" dirty="0"/>
              <a:t>mopping </a:t>
            </a:r>
            <a:r>
              <a:rPr lang="en-US" dirty="0"/>
              <a:t>and minimizes the spread of micro-organisms.</a:t>
            </a:r>
          </a:p>
          <a:p>
            <a:pPr lvl="0"/>
            <a:r>
              <a:rPr lang="en-US" dirty="0"/>
              <a:t>It increases the </a:t>
            </a:r>
            <a:r>
              <a:rPr lang="en-US" b="1" dirty="0"/>
              <a:t>contact time </a:t>
            </a:r>
            <a:r>
              <a:rPr lang="en-US" dirty="0"/>
              <a:t>of the disinfectant and the area to be cleaned.</a:t>
            </a:r>
          </a:p>
          <a:p>
            <a:pPr lvl="0"/>
            <a:r>
              <a:rPr lang="en-US" dirty="0"/>
              <a:t>Preferably, it should be </a:t>
            </a:r>
            <a:r>
              <a:rPr lang="en-US" b="1" dirty="0"/>
              <a:t>done at night </a:t>
            </a:r>
            <a:r>
              <a:rPr lang="en-US" dirty="0"/>
              <a:t>when the traffic flow of the facility is low.</a:t>
            </a:r>
          </a:p>
        </p:txBody>
      </p:sp>
    </p:spTree>
    <p:extLst>
      <p:ext uri="{BB962C8B-B14F-4D97-AF65-F5344CB8AC3E}">
        <p14:creationId xmlns:p14="http://schemas.microsoft.com/office/powerpoint/2010/main" val="2940516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874222"/>
          </a:xfrm>
        </p:spPr>
        <p:txBody>
          <a:bodyPr/>
          <a:lstStyle/>
          <a:p>
            <a:pPr marL="914400" indent="-914400">
              <a:buFont typeface="+mj-lt"/>
              <a:buAutoNum type="alphaUcPeriod" startAt="3"/>
            </a:pPr>
            <a:r>
              <a:rPr lang="en-US" dirty="0"/>
              <a:t>Dusting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920" y="2438400"/>
            <a:ext cx="10058400" cy="3910664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US" dirty="0"/>
              <a:t>Should be used for cleaning walls, ceilings, doors, windows, furniture and other environmental surfaces</a:t>
            </a:r>
            <a:r>
              <a:rPr lang="en-US" dirty="0" smtClean="0"/>
              <a:t>..</a:t>
            </a:r>
            <a:endParaRPr lang="en-US" dirty="0"/>
          </a:p>
          <a:p>
            <a:pPr lvl="0" algn="just"/>
            <a:r>
              <a:rPr lang="en-US" b="1" dirty="0"/>
              <a:t>Dry dusting should be avoided </a:t>
            </a:r>
            <a:r>
              <a:rPr lang="en-US" dirty="0"/>
              <a:t>and dust cloths should not be shaken for fear of spreading of micro-organisms.</a:t>
            </a:r>
          </a:p>
          <a:p>
            <a:pPr lvl="0" algn="just"/>
            <a:r>
              <a:rPr lang="en-US" dirty="0"/>
              <a:t>Should be performed in a systematic way using a </a:t>
            </a:r>
            <a:r>
              <a:rPr lang="en-US" b="1" dirty="0"/>
              <a:t>starting point as a reference </a:t>
            </a:r>
            <a:r>
              <a:rPr lang="en-US" dirty="0"/>
              <a:t>to endure that all surfaces have been reached.</a:t>
            </a:r>
          </a:p>
          <a:p>
            <a:pPr lvl="0" algn="just"/>
            <a:r>
              <a:rPr lang="en-US" dirty="0"/>
              <a:t>Check for a </a:t>
            </a:r>
            <a:r>
              <a:rPr lang="en-US" b="1" dirty="0"/>
              <a:t>stain</a:t>
            </a:r>
            <a:r>
              <a:rPr lang="en-US" dirty="0"/>
              <a:t> that may indicate possible leaks when doing high dusting, (ceiling tiles and walls).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65805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14400" indent="-914400">
              <a:buFont typeface="+mj-lt"/>
              <a:buAutoNum type="alphaUcPeriod" startAt="4"/>
            </a:pPr>
            <a:r>
              <a:rPr lang="en-US" dirty="0"/>
              <a:t>Dry Vacuuming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recommended only for cleaning carpets</a:t>
            </a:r>
          </a:p>
        </p:txBody>
      </p:sp>
    </p:spTree>
    <p:extLst>
      <p:ext uri="{BB962C8B-B14F-4D97-AF65-F5344CB8AC3E}">
        <p14:creationId xmlns:p14="http://schemas.microsoft.com/office/powerpoint/2010/main" val="3789018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Schedule and Procedure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519" y="2286000"/>
            <a:ext cx="10439400" cy="3962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health facilities, housekeeping activities should be scheduled. </a:t>
            </a:r>
          </a:p>
          <a:p>
            <a:pPr lvl="1"/>
            <a:r>
              <a:rPr lang="en-US" dirty="0"/>
              <a:t>Housekeeping schedule should be </a:t>
            </a:r>
            <a:r>
              <a:rPr lang="en-US" b="1" dirty="0"/>
              <a:t>planned, written and closely followed. </a:t>
            </a:r>
          </a:p>
          <a:p>
            <a:pPr lvl="1"/>
            <a:r>
              <a:rPr lang="en-US" b="1" dirty="0"/>
              <a:t>Cleaning schedules </a:t>
            </a:r>
            <a:r>
              <a:rPr lang="en-US" dirty="0"/>
              <a:t>should be developed </a:t>
            </a:r>
            <a:r>
              <a:rPr lang="en-US" b="1" dirty="0"/>
              <a:t>per the need of each </a:t>
            </a:r>
            <a:r>
              <a:rPr lang="en-US" dirty="0"/>
              <a:t>area.</a:t>
            </a:r>
          </a:p>
          <a:p>
            <a:pPr lvl="1"/>
            <a:r>
              <a:rPr lang="en-US" dirty="0"/>
              <a:t> </a:t>
            </a:r>
            <a:r>
              <a:rPr lang="en-US" b="1" dirty="0"/>
              <a:t>Disinfectant should be used </a:t>
            </a:r>
            <a:r>
              <a:rPr lang="en-US" dirty="0"/>
              <a:t>when contaminations from blood or other body fluid spills are present.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892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dirty="0"/>
              <a:t>Schedule and Procedure Cleaning cont’d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520" y="2490136"/>
            <a:ext cx="10287000" cy="3758264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Walls, Windows, Ceilings and Doors, including Door Handles</a:t>
            </a:r>
          </a:p>
          <a:p>
            <a:pPr lvl="1"/>
            <a:r>
              <a:rPr lang="en-US" dirty="0"/>
              <a:t>These should be cleaned at the spot when visibly dirty with a damp cloth, detergent and water. In general, routine </a:t>
            </a:r>
            <a:r>
              <a:rPr lang="en-US" b="1" dirty="0"/>
              <a:t>damp dusting </a:t>
            </a:r>
            <a:r>
              <a:rPr lang="en-US" dirty="0"/>
              <a:t>is adequate for these areas (</a:t>
            </a:r>
            <a:r>
              <a:rPr lang="en-US" b="1" dirty="0"/>
              <a:t>disinfection is unnecessary</a:t>
            </a:r>
            <a:r>
              <a:rPr lang="en-US" dirty="0"/>
              <a:t>).</a:t>
            </a:r>
          </a:p>
          <a:p>
            <a:r>
              <a:rPr lang="en-US" sz="2800" b="1" dirty="0"/>
              <a:t>Chairs, Lamps, Tables, Tabletops, Beds, Handrails, Grab Bars, Lights, Tops of Doors and Counters</a:t>
            </a:r>
          </a:p>
          <a:p>
            <a:pPr lvl="1"/>
            <a:r>
              <a:rPr lang="en-US" dirty="0"/>
              <a:t>These items should be </a:t>
            </a:r>
            <a:r>
              <a:rPr lang="en-US" b="1" dirty="0"/>
              <a:t>wiped daily </a:t>
            </a:r>
            <a:r>
              <a:rPr lang="en-US" dirty="0"/>
              <a:t>and whenever visibly soiled with a damp cloth containing </a:t>
            </a:r>
            <a:r>
              <a:rPr lang="en-US" b="1" dirty="0"/>
              <a:t>disinfectant cleaning solution</a:t>
            </a:r>
            <a:r>
              <a:rPr lang="en-US" dirty="0"/>
              <a:t>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32972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and Procedure Cleaning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5272" y="2490136"/>
            <a:ext cx="9042555" cy="37582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Non-Critical Equipment </a:t>
            </a:r>
            <a:r>
              <a:rPr lang="en-US" dirty="0"/>
              <a:t>(e.g. stethoscopes and blood pressure cuffs) </a:t>
            </a:r>
          </a:p>
          <a:p>
            <a:pPr lvl="1" algn="just"/>
            <a:r>
              <a:rPr lang="en-US" dirty="0"/>
              <a:t>These ones can just be wiped daily and whenever visibly soiled with a damp cloth </a:t>
            </a:r>
            <a:r>
              <a:rPr lang="en-US" b="1" dirty="0"/>
              <a:t>with detergent and water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If the equipment is </a:t>
            </a:r>
            <a:r>
              <a:rPr lang="en-US" b="1" dirty="0"/>
              <a:t>visibly soiled with blood or other body fluids </a:t>
            </a:r>
            <a:r>
              <a:rPr lang="en-US" dirty="0"/>
              <a:t>or when the patient is under contact precautions, however, it should be cleaned and disinfected before it is reused.</a:t>
            </a:r>
          </a:p>
          <a:p>
            <a:pPr algn="just"/>
            <a:r>
              <a:rPr lang="en-US" b="1" dirty="0"/>
              <a:t>Floors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Floors usually cleaned (daily and as needed) with a wet mop, detergent and water. 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8545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and Procedure Cleaning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119" y="2490136"/>
            <a:ext cx="9677399" cy="3758264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Sinks </a:t>
            </a:r>
            <a:endParaRPr lang="en-US" dirty="0"/>
          </a:p>
          <a:p>
            <a:pPr lvl="1"/>
            <a:r>
              <a:rPr lang="en-US" dirty="0"/>
              <a:t>Scrub frequently (daily or more often as needed) with a separate mop, cloth or </a:t>
            </a:r>
            <a:r>
              <a:rPr lang="en-US" b="1" dirty="0"/>
              <a:t>brush</a:t>
            </a:r>
            <a:r>
              <a:rPr lang="en-US" dirty="0"/>
              <a:t> is using </a:t>
            </a:r>
            <a:r>
              <a:rPr lang="en-US" b="1" dirty="0"/>
              <a:t>a disinfectant cleaning solution</a:t>
            </a:r>
            <a:r>
              <a:rPr lang="en-US" dirty="0"/>
              <a:t>. Following this, it needs to be rinsed with water.</a:t>
            </a:r>
          </a:p>
          <a:p>
            <a:pPr lvl="0"/>
            <a:r>
              <a:rPr lang="en-US" b="1" dirty="0"/>
              <a:t>Toilets and Latrines </a:t>
            </a:r>
            <a:endParaRPr lang="en-US" dirty="0"/>
          </a:p>
          <a:p>
            <a:pPr lvl="1"/>
            <a:r>
              <a:rPr lang="en-US" dirty="0"/>
              <a:t>Scrub them frequently (daily and more often as needed) with a separate mop, cloth or </a:t>
            </a:r>
            <a:r>
              <a:rPr lang="en-US" b="1" dirty="0"/>
              <a:t>brush</a:t>
            </a:r>
            <a:r>
              <a:rPr lang="en-US" dirty="0"/>
              <a:t> and a disinfectant cleaning solution.</a:t>
            </a:r>
          </a:p>
          <a:p>
            <a:r>
              <a:rPr lang="en-US" b="1" dirty="0"/>
              <a:t>Patient Rooms </a:t>
            </a:r>
            <a:endParaRPr lang="en-US" dirty="0"/>
          </a:p>
          <a:p>
            <a:pPr lvl="1"/>
            <a:r>
              <a:rPr lang="en-US" dirty="0"/>
              <a:t>They should be </a:t>
            </a:r>
            <a:r>
              <a:rPr lang="en-US" b="1" dirty="0"/>
              <a:t>cleaned daily and right after patient is discharged </a:t>
            </a:r>
            <a:r>
              <a:rPr lang="en-US" dirty="0"/>
              <a:t>using the processes described above.</a:t>
            </a:r>
          </a:p>
        </p:txBody>
      </p:sp>
    </p:spTree>
    <p:extLst>
      <p:ext uri="{BB962C8B-B14F-4D97-AF65-F5344CB8AC3E}">
        <p14:creationId xmlns:p14="http://schemas.microsoft.com/office/powerpoint/2010/main" val="6061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719" y="1030778"/>
            <a:ext cx="9556107" cy="950422"/>
          </a:xfrm>
        </p:spPr>
        <p:txBody>
          <a:bodyPr/>
          <a:lstStyle/>
          <a:p>
            <a:r>
              <a:rPr lang="en-US" sz="3200" dirty="0"/>
              <a:t>Schedule and Procedure Cleaning cont’d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5272" y="2490136"/>
            <a:ext cx="9544847" cy="3605864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b="1" dirty="0"/>
              <a:t>Procedure Rooms </a:t>
            </a:r>
          </a:p>
          <a:p>
            <a:pPr lvl="1"/>
            <a:r>
              <a:rPr lang="en-US" dirty="0"/>
              <a:t>Wipe horizontal surfaces, equipment and furniture used for the procedures, with a </a:t>
            </a:r>
            <a:r>
              <a:rPr lang="en-US" b="1" dirty="0"/>
              <a:t>disinfectant cleaning solution </a:t>
            </a:r>
            <a:r>
              <a:rPr lang="en-US" dirty="0"/>
              <a:t>after each </a:t>
            </a:r>
            <a:r>
              <a:rPr lang="en-US" dirty="0" smtClean="0"/>
              <a:t>procedure and  </a:t>
            </a:r>
            <a:r>
              <a:rPr lang="en-US" dirty="0">
                <a:solidFill>
                  <a:srgbClr val="0070C0"/>
                </a:solidFill>
              </a:rPr>
              <a:t>whenever visibly soiled</a:t>
            </a:r>
            <a:r>
              <a:rPr lang="en-US" dirty="0"/>
              <a:t>. </a:t>
            </a:r>
          </a:p>
          <a:p>
            <a:pPr lvl="0"/>
            <a:r>
              <a:rPr lang="en-US" b="1" dirty="0"/>
              <a:t>Examination Rooms </a:t>
            </a:r>
            <a:endParaRPr lang="en-US" dirty="0"/>
          </a:p>
          <a:p>
            <a:pPr lvl="1"/>
            <a:r>
              <a:rPr lang="en-US" dirty="0"/>
              <a:t>Wipe horizontal surfaces with a </a:t>
            </a:r>
            <a:r>
              <a:rPr lang="en-US" b="1" dirty="0"/>
              <a:t>disinfectant cleaning solution </a:t>
            </a:r>
            <a:r>
              <a:rPr lang="en-US" dirty="0">
                <a:solidFill>
                  <a:srgbClr val="0070C0"/>
                </a:solidFill>
              </a:rPr>
              <a:t>whenever visibly soiled. </a:t>
            </a:r>
            <a:endParaRPr lang="en-US" dirty="0" smtClean="0">
              <a:solidFill>
                <a:srgbClr val="0070C0"/>
              </a:solidFill>
            </a:endParaRPr>
          </a:p>
          <a:p>
            <a:pPr lvl="1"/>
            <a:r>
              <a:rPr lang="en-US" dirty="0" smtClean="0"/>
              <a:t>Linen </a:t>
            </a:r>
            <a:r>
              <a:rPr lang="en-US" dirty="0"/>
              <a:t>or paper on the examination table should be changed and laid out for each patient. </a:t>
            </a:r>
            <a:endParaRPr lang="en-US" dirty="0" smtClean="0"/>
          </a:p>
          <a:p>
            <a:pPr lvl="1"/>
            <a:r>
              <a:rPr lang="en-US" dirty="0" smtClean="0"/>
              <a:t>Clean </a:t>
            </a:r>
            <a:r>
              <a:rPr lang="en-US" dirty="0"/>
              <a:t>blood or other body fluid spills 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03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and Procedure Cleaning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719" y="2490136"/>
            <a:ext cx="10134599" cy="3758264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b="1" dirty="0"/>
              <a:t>Laboratory </a:t>
            </a:r>
          </a:p>
          <a:p>
            <a:pPr lvl="1"/>
            <a:r>
              <a:rPr lang="en-US" dirty="0"/>
              <a:t>Wipe  countertops  with  a  disinfectant  cleaning  solution  after  each  shift  and whenever visibly soiled. Clean blood or other body fluid spills as described below.</a:t>
            </a:r>
          </a:p>
          <a:p>
            <a:pPr lvl="0"/>
            <a:r>
              <a:rPr lang="en-US" b="1" dirty="0"/>
              <a:t>Curtains </a:t>
            </a:r>
            <a:endParaRPr lang="en-US" dirty="0"/>
          </a:p>
          <a:p>
            <a:pPr lvl="1"/>
            <a:r>
              <a:rPr lang="en-US" dirty="0"/>
              <a:t>Change and clean curtains according to the routine schedule and when visibly soiled.</a:t>
            </a:r>
          </a:p>
          <a:p>
            <a:pPr lvl="0"/>
            <a:r>
              <a:rPr lang="en-US" b="1" dirty="0"/>
              <a:t>Carpets</a:t>
            </a:r>
          </a:p>
          <a:p>
            <a:pPr lvl="1"/>
            <a:r>
              <a:rPr lang="en-US" dirty="0"/>
              <a:t>Vacuuming </a:t>
            </a:r>
            <a:r>
              <a:rPr lang="en-US" b="1" dirty="0"/>
              <a:t>daily carpets in patient rooms </a:t>
            </a:r>
            <a:r>
              <a:rPr lang="en-US" dirty="0"/>
              <a:t>or </a:t>
            </a:r>
            <a:r>
              <a:rPr lang="en-US" b="1" dirty="0"/>
              <a:t>weekly in offices or conference rooms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Soiled Linen</a:t>
            </a:r>
          </a:p>
          <a:p>
            <a:pPr lvl="1"/>
            <a:r>
              <a:rPr lang="en-US" dirty="0"/>
              <a:t>Collect soiled linen daily (or more often as needed) put them in </a:t>
            </a:r>
            <a:r>
              <a:rPr lang="en-US" b="1" dirty="0"/>
              <a:t>closed and leak proof </a:t>
            </a:r>
            <a:r>
              <a:rPr lang="en-US" dirty="0"/>
              <a:t>containers.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076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Schedule and Procedure Cleaning cont’d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19" y="2362200"/>
            <a:ext cx="10363199" cy="40386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/>
              <a:t>Waste </a:t>
            </a:r>
            <a:endParaRPr lang="en-US" dirty="0"/>
          </a:p>
          <a:p>
            <a:pPr lvl="1"/>
            <a:r>
              <a:rPr lang="en-US" dirty="0"/>
              <a:t>Collect waste from all areas </a:t>
            </a:r>
            <a:r>
              <a:rPr lang="en-US" b="1" dirty="0"/>
              <a:t>at least daily </a:t>
            </a:r>
            <a:r>
              <a:rPr lang="en-US" dirty="0"/>
              <a:t>(or more frequently as needed) and avoid overflowing.</a:t>
            </a:r>
          </a:p>
          <a:p>
            <a:pPr lvl="0"/>
            <a:r>
              <a:rPr lang="en-US" b="1" dirty="0"/>
              <a:t>Waste Containers </a:t>
            </a:r>
            <a:endParaRPr lang="en-US" dirty="0"/>
          </a:p>
          <a:p>
            <a:pPr lvl="1"/>
            <a:r>
              <a:rPr lang="en-US" dirty="0"/>
              <a:t>Clean </a:t>
            </a:r>
            <a:r>
              <a:rPr lang="en-US" b="1" dirty="0"/>
              <a:t>contaminated waste containers </a:t>
            </a:r>
            <a:r>
              <a:rPr lang="en-US" dirty="0"/>
              <a:t>each time following emptying. </a:t>
            </a:r>
          </a:p>
          <a:p>
            <a:pPr lvl="1"/>
            <a:r>
              <a:rPr lang="en-US" dirty="0"/>
              <a:t>Clean </a:t>
            </a:r>
            <a:r>
              <a:rPr lang="en-US" b="1" dirty="0"/>
              <a:t>no  contaminated  waste  containers  </a:t>
            </a:r>
            <a:r>
              <a:rPr lang="en-US" dirty="0"/>
              <a:t>when  visibly  soiled  and  </a:t>
            </a:r>
            <a:r>
              <a:rPr lang="en-US" b="1" dirty="0"/>
              <a:t>at  least  once  a  week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disinfectant cleaning solution </a:t>
            </a:r>
            <a:r>
              <a:rPr lang="en-US" dirty="0"/>
              <a:t>and scrub to remove soil and organic material.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49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Schedule and Procedures for the Operating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520" y="2286000"/>
            <a:ext cx="10363200" cy="4038600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b="1" dirty="0"/>
              <a:t>At the beginning of each day</a:t>
            </a:r>
            <a:r>
              <a:rPr lang="en-US" dirty="0"/>
              <a:t>, all flat (horizontal) surfaces (table, chairs, etc.) should be wiped with </a:t>
            </a:r>
            <a:r>
              <a:rPr lang="en-US" b="1" dirty="0"/>
              <a:t>a clean, lint-free and moist </a:t>
            </a:r>
            <a:r>
              <a:rPr lang="en-US" dirty="0"/>
              <a:t>cloth to remove dust and lint that may have collected overnight.</a:t>
            </a:r>
          </a:p>
          <a:p>
            <a:pPr lvl="0"/>
            <a:r>
              <a:rPr lang="en-US" b="1" dirty="0"/>
              <a:t>Total cleaning</a:t>
            </a:r>
            <a:r>
              <a:rPr lang="en-US" dirty="0"/>
              <a:t> is </a:t>
            </a:r>
            <a:r>
              <a:rPr lang="en-US" b="1" dirty="0"/>
              <a:t>not necessary between each case </a:t>
            </a:r>
            <a:r>
              <a:rPr lang="en-US" dirty="0"/>
              <a:t>for surgical procedures.</a:t>
            </a:r>
          </a:p>
          <a:p>
            <a:pPr lvl="0"/>
            <a:r>
              <a:rPr lang="en-US" b="1" dirty="0"/>
              <a:t>Total cleaning or terminal cleaning </a:t>
            </a:r>
            <a:r>
              <a:rPr lang="en-US" dirty="0"/>
              <a:t>(mopping floors and scrubbing all surfaces from </a:t>
            </a:r>
            <a:r>
              <a:rPr lang="en-US" b="1" dirty="0"/>
              <a:t>top to bottom</a:t>
            </a:r>
            <a:r>
              <a:rPr lang="en-US" dirty="0"/>
              <a:t>) of the operating room should be done at the end of </a:t>
            </a:r>
            <a:r>
              <a:rPr lang="en-US" b="1" dirty="0"/>
              <a:t>each day.</a:t>
            </a:r>
          </a:p>
          <a:p>
            <a:r>
              <a:rPr lang="en-US" b="1" dirty="0"/>
              <a:t>Do not dry mop or sweep </a:t>
            </a:r>
            <a:r>
              <a:rPr lang="en-US" dirty="0"/>
              <a:t>the operating room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276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PPP 9.5: Cleaning spills of blood or other body fluids.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63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319" y="1066800"/>
            <a:ext cx="10439400" cy="1026622"/>
          </a:xfrm>
        </p:spPr>
        <p:txBody>
          <a:bodyPr/>
          <a:lstStyle/>
          <a:p>
            <a:r>
              <a:rPr lang="en-US" sz="3600" b="0" dirty="0"/>
              <a:t>Cleaning Procedure for Small and large Spill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919" y="2490136"/>
            <a:ext cx="10058399" cy="375826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Clean spills of blood, body fluids and other potentially infectious fluids immediately:</a:t>
            </a:r>
          </a:p>
          <a:p>
            <a:pPr lvl="1" algn="just"/>
            <a:r>
              <a:rPr lang="en-US" dirty="0"/>
              <a:t>For </a:t>
            </a:r>
            <a:r>
              <a:rPr lang="en-US" b="1" dirty="0"/>
              <a:t>small spills</a:t>
            </a:r>
            <a:r>
              <a:rPr lang="en-US" dirty="0"/>
              <a:t>, remove visible material using a cloth soaked in a </a:t>
            </a:r>
            <a:r>
              <a:rPr lang="en-US" b="1" dirty="0"/>
              <a:t>0.5% Chlorine solution</a:t>
            </a:r>
            <a:r>
              <a:rPr lang="en-US" dirty="0"/>
              <a:t>, then wipe clean with a disinfectant cleaning solution while wearing utility or examination gloves.</a:t>
            </a:r>
          </a:p>
          <a:p>
            <a:pPr lvl="1" algn="just"/>
            <a:r>
              <a:rPr lang="en-US" dirty="0"/>
              <a:t>For </a:t>
            </a:r>
            <a:r>
              <a:rPr lang="en-US" b="1" dirty="0"/>
              <a:t>large spills, flood the area </a:t>
            </a:r>
            <a:r>
              <a:rPr lang="en-US" dirty="0"/>
              <a:t>with a </a:t>
            </a:r>
            <a:r>
              <a:rPr lang="en-US" b="1" dirty="0"/>
              <a:t>0.5% Chlorine </a:t>
            </a:r>
            <a:r>
              <a:rPr lang="en-US" dirty="0"/>
              <a:t>solution leave for 10 minutes and mop up the solution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697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719" y="1066800"/>
            <a:ext cx="10210800" cy="1188426"/>
          </a:xfrm>
        </p:spPr>
        <p:txBody>
          <a:bodyPr/>
          <a:lstStyle/>
          <a:p>
            <a:r>
              <a:rPr lang="en-US" sz="3600" b="0" dirty="0"/>
              <a:t>Cleaning Procedure for </a:t>
            </a:r>
            <a:r>
              <a:rPr lang="en-US" sz="3600" dirty="0"/>
              <a:t>Soiled and Contaminated </a:t>
            </a:r>
            <a:r>
              <a:rPr lang="en-US" sz="3600" b="0" dirty="0"/>
              <a:t>Cleaning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19" y="2209800"/>
            <a:ext cx="10363200" cy="4038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STEP 1 </a:t>
            </a:r>
            <a:r>
              <a:rPr lang="en-US" sz="2800" b="1" dirty="0"/>
              <a:t>	</a:t>
            </a:r>
            <a:r>
              <a:rPr lang="en-US" sz="2800" dirty="0"/>
              <a:t>Decontaminate cleaning equipment that has been 						contaminated with blood or body fluids  by  soaking  it  for  			10  minutes  in  a  0.5%  Chlorine  solution  or  other  					locally approved and available disinfectants.</a:t>
            </a:r>
          </a:p>
          <a:p>
            <a:pPr marL="0" indent="0">
              <a:buNone/>
            </a:pPr>
            <a:r>
              <a:rPr lang="en-US" sz="2800" b="1" dirty="0"/>
              <a:t>STEP 2</a:t>
            </a:r>
            <a:r>
              <a:rPr lang="en-US" sz="2800" dirty="0"/>
              <a:t> 	Wash cleaning buckets, cloths, brushes, mops and the like 				with detergent and water daily or right away if visibly dirty.</a:t>
            </a:r>
          </a:p>
          <a:p>
            <a:pPr marL="0" indent="0">
              <a:buNone/>
            </a:pPr>
            <a:r>
              <a:rPr lang="en-US" sz="2800" b="1" dirty="0"/>
              <a:t>STEP 3</a:t>
            </a:r>
            <a:r>
              <a:rPr lang="en-US" sz="2800" dirty="0"/>
              <a:t> 	Rinse them in clean water.</a:t>
            </a:r>
          </a:p>
          <a:p>
            <a:pPr marL="0" indent="0">
              <a:buNone/>
            </a:pPr>
            <a:r>
              <a:rPr lang="en-US" sz="2800" b="1" dirty="0"/>
              <a:t>STEP 4</a:t>
            </a:r>
            <a:r>
              <a:rPr lang="en-US" sz="2800" dirty="0"/>
              <a:t> 	Dry them completely before reuse.  (Wet clothes and mop 			heads are heavily contaminated with microorganisms).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6711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5271" y="1052395"/>
            <a:ext cx="9042553" cy="928806"/>
          </a:xfrm>
        </p:spPr>
        <p:txBody>
          <a:bodyPr>
            <a:normAutofit/>
          </a:bodyPr>
          <a:lstStyle/>
          <a:p>
            <a:r>
              <a:rPr lang="en-US" sz="4400" b="1" smtClean="0"/>
              <a:t>Summary</a:t>
            </a:r>
            <a:endParaRPr lang="en-US" sz="4400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65272" y="2499458"/>
            <a:ext cx="3296448" cy="344728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i="1" dirty="0"/>
              <a:t>Don’t:</a:t>
            </a:r>
          </a:p>
          <a:p>
            <a:r>
              <a:rPr lang="en-US" sz="3200" dirty="0"/>
              <a:t>Dry mop or dust</a:t>
            </a:r>
          </a:p>
          <a:p>
            <a:r>
              <a:rPr lang="en-US" sz="3200" dirty="0"/>
              <a:t>Sweep</a:t>
            </a:r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861720" y="2487168"/>
            <a:ext cx="6172199" cy="3761232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i="1" dirty="0"/>
              <a:t>Do:</a:t>
            </a:r>
          </a:p>
          <a:p>
            <a:r>
              <a:rPr lang="en-US" sz="3200" b="1" dirty="0"/>
              <a:t>Wet</a:t>
            </a:r>
            <a:r>
              <a:rPr lang="en-US" sz="3200" dirty="0"/>
              <a:t> mop and dust</a:t>
            </a:r>
          </a:p>
          <a:p>
            <a:r>
              <a:rPr lang="en-US" sz="3200" b="1" dirty="0"/>
              <a:t>Terminal cleaning </a:t>
            </a:r>
            <a:r>
              <a:rPr lang="en-US" sz="3200" dirty="0"/>
              <a:t>of the surgical unit </a:t>
            </a:r>
            <a:r>
              <a:rPr lang="en-US" sz="3200" b="1" dirty="0"/>
              <a:t>every 24 hours</a:t>
            </a:r>
          </a:p>
          <a:p>
            <a:r>
              <a:rPr lang="en-US" sz="3200" dirty="0"/>
              <a:t>Clean the OR and procedure rooms </a:t>
            </a:r>
            <a:r>
              <a:rPr lang="en-US" sz="3200" b="1" dirty="0"/>
              <a:t>between patients</a:t>
            </a:r>
          </a:p>
          <a:p>
            <a:r>
              <a:rPr lang="en-US" sz="3100" b="1" dirty="0"/>
              <a:t>Post</a:t>
            </a:r>
            <a:r>
              <a:rPr lang="en-US" sz="3100" dirty="0"/>
              <a:t> cleaning methods and schedules </a:t>
            </a:r>
          </a:p>
          <a:p>
            <a:r>
              <a:rPr lang="en-US" sz="3000" dirty="0"/>
              <a:t>Cleaning should start with the </a:t>
            </a:r>
            <a:r>
              <a:rPr lang="en-US" sz="3000" b="1" dirty="0"/>
              <a:t>least soiled area and extend to the most soiled area </a:t>
            </a:r>
          </a:p>
          <a:p>
            <a:r>
              <a:rPr lang="en-US" sz="3000" dirty="0"/>
              <a:t>Housekeeping staff </a:t>
            </a:r>
            <a:r>
              <a:rPr lang="en-US" sz="3000" dirty="0" smtClean="0"/>
              <a:t>should be </a:t>
            </a:r>
            <a:r>
              <a:rPr lang="en-US" sz="3000" dirty="0"/>
              <a:t>trained </a:t>
            </a:r>
          </a:p>
          <a:p>
            <a:r>
              <a:rPr lang="en-US" sz="3000" b="1" dirty="0"/>
              <a:t>Decontaminate</a:t>
            </a:r>
            <a:r>
              <a:rPr lang="en-US" sz="3000" dirty="0"/>
              <a:t>, </a:t>
            </a:r>
            <a:r>
              <a:rPr lang="en-US" sz="3000" b="1" dirty="0"/>
              <a:t>wash</a:t>
            </a:r>
            <a:r>
              <a:rPr lang="en-US" sz="3000" dirty="0"/>
              <a:t>, </a:t>
            </a:r>
            <a:r>
              <a:rPr lang="en-US" sz="3100" dirty="0"/>
              <a:t>and </a:t>
            </a:r>
            <a:r>
              <a:rPr lang="en-US" sz="3100" b="1" dirty="0"/>
              <a:t>dry</a:t>
            </a:r>
            <a:r>
              <a:rPr lang="en-US" sz="3100" dirty="0"/>
              <a:t> cleaning </a:t>
            </a:r>
            <a:r>
              <a:rPr lang="en-US" sz="3200" dirty="0"/>
              <a:t>equipment before reuse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00207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6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762</TotalTime>
  <Words>2199</Words>
  <Application>Microsoft Office PowerPoint</Application>
  <PresentationFormat>Custom</PresentationFormat>
  <Paragraphs>231</Paragraphs>
  <Slides>43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Theme6</vt:lpstr>
      <vt:lpstr>Equation</vt:lpstr>
      <vt:lpstr>معادلة</vt:lpstr>
      <vt:lpstr>Volume 1  Chapter 9: Environmental Cleaning in  Healthcare Facility</vt:lpstr>
      <vt:lpstr>Chapter Outline</vt:lpstr>
      <vt:lpstr>Chapter Outline cont’d</vt:lpstr>
      <vt:lpstr>Chapter Objective</vt:lpstr>
      <vt:lpstr>PPP 9.1: Significance of housekeeping  in hospitals and clinics</vt:lpstr>
      <vt:lpstr>Significance of housekeeping  in hospitals and clinics</vt:lpstr>
      <vt:lpstr>Significance of housekeeping  in hospitals and clinics cont’d…</vt:lpstr>
      <vt:lpstr>Significance of housekeeping  in hospitals and clinics cont’d…</vt:lpstr>
      <vt:lpstr>Significance of housekeeping  in hospitals and clinics cont’d…</vt:lpstr>
      <vt:lpstr>Frequently Touched Surfaces in an Examination Room</vt:lpstr>
      <vt:lpstr>PPP 9.2: General principles of Cleaning</vt:lpstr>
      <vt:lpstr>General principles of Cleaning</vt:lpstr>
      <vt:lpstr>General principles of Cleaning cont’d…</vt:lpstr>
      <vt:lpstr>How to Select Cleaning Products</vt:lpstr>
      <vt:lpstr>How to Select Cleaning Products cont’d…</vt:lpstr>
      <vt:lpstr>How to Select Cleaning Products cont’d…</vt:lpstr>
      <vt:lpstr>Personal Protective Equipment for Housekeeping</vt:lpstr>
      <vt:lpstr>Personal Protective Equipment for Housekeeping cont’d…</vt:lpstr>
      <vt:lpstr>Dry sweeping by patients</vt:lpstr>
      <vt:lpstr>    PPP 9.3: Ways of preparing disinfectant cleaning solutions.</vt:lpstr>
      <vt:lpstr>How to prepare cleaning disinfectant solution</vt:lpstr>
      <vt:lpstr>How to prepare cleaning disinfectant solution cont’d…</vt:lpstr>
      <vt:lpstr>How to Prepare Chlorine Solution </vt:lpstr>
      <vt:lpstr>Examples Using 5% Bleach for 0.5% Concentration</vt:lpstr>
      <vt:lpstr>How to Prepare Chlorine Solution cont’d…</vt:lpstr>
      <vt:lpstr>PPP 9.4: Cleaning Methods and Schedules</vt:lpstr>
      <vt:lpstr>Cleaning Methods</vt:lpstr>
      <vt:lpstr>Wet Mopping Method   (Preferable for Floor Cleaning)</vt:lpstr>
      <vt:lpstr>Flooding Followed by Wet Vacuuming Method</vt:lpstr>
      <vt:lpstr>Dusting</vt:lpstr>
      <vt:lpstr>Dry Vacuuming</vt:lpstr>
      <vt:lpstr>Schedule and Procedure Cleaning</vt:lpstr>
      <vt:lpstr>Schedule and Procedure Cleaning cont’d…</vt:lpstr>
      <vt:lpstr>Schedule and Procedure Cleaning cont’d…</vt:lpstr>
      <vt:lpstr>Schedule and Procedure Cleaning cont’d…</vt:lpstr>
      <vt:lpstr>Schedule and Procedure Cleaning cont’d…</vt:lpstr>
      <vt:lpstr>Schedule and Procedure Cleaning cont’d…</vt:lpstr>
      <vt:lpstr>Schedule and Procedure Cleaning cont’d…</vt:lpstr>
      <vt:lpstr>Schedule and Procedures for the Operating Room</vt:lpstr>
      <vt:lpstr>PPP 9.5: Cleaning spills of blood or other body fluids.</vt:lpstr>
      <vt:lpstr>Cleaning Procedure for Small and large Spill</vt:lpstr>
      <vt:lpstr>Cleaning Procedure for Soiled and Contaminated Cleaning Equipment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Infection Prevention and Patient Safety</dc:title>
  <dc:creator>user</dc:creator>
  <cp:lastModifiedBy>ismail - [2010]</cp:lastModifiedBy>
  <cp:revision>70</cp:revision>
  <dcterms:created xsi:type="dcterms:W3CDTF">2018-12-17T08:49:22Z</dcterms:created>
  <dcterms:modified xsi:type="dcterms:W3CDTF">2020-01-23T20:36:14Z</dcterms:modified>
</cp:coreProperties>
</file>