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1"/>
  </p:sldMasterIdLst>
  <p:notesMasterIdLst>
    <p:notesMasterId r:id="rId19"/>
  </p:notesMasterIdLst>
  <p:sldIdLst>
    <p:sldId id="272" r:id="rId2"/>
    <p:sldId id="308" r:id="rId3"/>
    <p:sldId id="344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>
        <p:scale>
          <a:sx n="81" d="100"/>
          <a:sy n="81" d="100"/>
        </p:scale>
        <p:origin x="-300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69BE-FE39-41DA-9D4E-AA67771FB734}" type="datetimeFigureOut">
              <a:rPr lang="en-US" smtClean="0"/>
              <a:pPr/>
              <a:t>9/22/2019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E9FDA-DA69-4B03-8209-1DB69FFE3E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4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66172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884" y="1879926"/>
            <a:ext cx="7760513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0204" y="3597481"/>
            <a:ext cx="5971593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61655" y="4972192"/>
            <a:ext cx="1296208" cy="361810"/>
          </a:xfrm>
        </p:spPr>
        <p:txBody>
          <a:bodyPr/>
          <a:lstStyle/>
          <a:p>
            <a:fld id="{F7715CAA-549E-48EB-8882-D4D1357BD171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4972194"/>
            <a:ext cx="4999075" cy="361809"/>
          </a:xfrm>
        </p:spPr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797" y="4972193"/>
            <a:ext cx="968201" cy="361809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72920" y="76751"/>
            <a:ext cx="4038801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75561" y="5960533"/>
            <a:ext cx="1133600" cy="279400"/>
          </a:xfrm>
        </p:spPr>
        <p:txBody>
          <a:bodyPr/>
          <a:lstStyle/>
          <a:p>
            <a:fld id="{11A3667A-8014-447F-B426-22C32A0F7CE4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9161" y="5960533"/>
            <a:ext cx="965539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C35C-5F39-4899-9E54-69BCF78DB94B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06788" y="5960533"/>
            <a:ext cx="1154187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052394"/>
            <a:ext cx="906497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E2B4C-E78F-4849-869D-1A6B08B0BD2A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06788" y="5934457"/>
            <a:ext cx="1021184" cy="305477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54B4-61E2-4B3A-8D9B-1A30DA49DF14}" type="datetime1">
              <a:rPr lang="en-US" smtClean="0"/>
              <a:t>9/22/2019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83CF-C691-4623-87DF-919BD61077E3}" type="datetime1">
              <a:rPr lang="en-US" smtClean="0"/>
              <a:t>9/22/2019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9BB7-C886-4CB4-81E7-A39D602D4510}" type="datetime1">
              <a:rPr lang="en-US" smtClean="0"/>
              <a:t>9/22/2019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2C479-8A8C-4062-98E1-192483A57DE0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B2C8-6D4A-4D82-AC23-A36068D795F4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798B-0209-4030-897D-1B92F74AFA34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4E266-FF93-45D5-94B5-D75102C8995C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6368C-1425-4932-B35D-713E319B8BAE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498B-0E54-415E-B6A3-71A30EBB1FE9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B49E-E6D2-48C1-A4E5-AD06019827EC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26C33-6729-4F31-AB7D-4AB57ED895C3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3F1A0-CC35-443C-A653-2BFC746A8882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ED6C0-3CE9-4E94-A34C-051B097F21EC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35133"/>
            <a:ext cx="897447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6CBD5F4-5C04-4773-882E-3A7DDE512CB9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3007" y="5960533"/>
            <a:ext cx="126112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96777" y="4072"/>
            <a:ext cx="3209731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8884" y="2460821"/>
            <a:ext cx="7760513" cy="1877628"/>
          </a:xfrm>
        </p:spPr>
        <p:txBody>
          <a:bodyPr/>
          <a:lstStyle/>
          <a:p>
            <a:r>
              <a:rPr lang="en-US" sz="3200" dirty="0" smtClean="0"/>
              <a:t>Volume 2_Section 4</a:t>
            </a:r>
            <a:br>
              <a:rPr lang="en-US" sz="3200" dirty="0" smtClean="0"/>
            </a:br>
            <a:r>
              <a:rPr lang="en-US" sz="2800" dirty="0" smtClean="0">
                <a:cs typeface="Arial" panose="020B0604020202020204" pitchFamily="34" charset="0"/>
              </a:rPr>
              <a:t>CHAPTER 3: </a:t>
            </a:r>
            <a:r>
              <a:rPr lang="en-US" sz="2800" dirty="0" smtClean="0"/>
              <a:t>IPC </a:t>
            </a:r>
            <a:r>
              <a:rPr lang="en-US" sz="2800" dirty="0"/>
              <a:t>IN CLINICALLABORATORY SERVICES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427890" y="5252911"/>
            <a:ext cx="7677807" cy="101290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Infection Prevention and Control </a:t>
            </a:r>
            <a:r>
              <a:rPr lang="en-US" sz="5100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 special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setting</a:t>
            </a:r>
          </a:p>
        </p:txBody>
      </p:sp>
    </p:spTree>
    <p:extLst>
      <p:ext uri="{BB962C8B-B14F-4D97-AF65-F5344CB8AC3E}">
        <p14:creationId xmlns:p14="http://schemas.microsoft.com/office/powerpoint/2010/main" val="350658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7" y="873760"/>
            <a:ext cx="10515600" cy="807403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Chapter contents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9120"/>
            <a:ext cx="10515600" cy="432784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Overview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Laboratory-acquired infections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Common routes of Exposure that can result in Laboratory-acquired infections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Factors Contributing to Laboratory accidents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Laboratory </a:t>
            </a:r>
            <a:r>
              <a:rPr lang="en-GB" dirty="0" err="1" smtClean="0"/>
              <a:t>Biosafety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Safe Work practices and Recommended infection prevention practices for laboratory workers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Infection prevention and control for specific laboratory procedures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799A-C9F0-42C8-AED1-64C53C80C552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1960880"/>
            <a:ext cx="10464800" cy="4318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By the end of this chapter, participants will be able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smtClean="0"/>
              <a:t>Describe Laboratory Acquired Infections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smtClean="0"/>
              <a:t>Identify Common Routes of Exposure to Laboratory-acquired infections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smtClean="0"/>
              <a:t>Describe Laboratory Bio-safety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smtClean="0"/>
              <a:t>Identify safe work practices and recommended infection prevention practices for laboratory workers   in specific laboratory procedures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81F8-9084-4772-AAB8-AFFF6377F6BD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9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sz="4000" b="1" dirty="0" smtClean="0"/>
              <a:t>OVERVIEW (1/1) 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60" y="2396359"/>
            <a:ext cx="10429240" cy="3780604"/>
          </a:xfrm>
        </p:spPr>
        <p:txBody>
          <a:bodyPr/>
          <a:lstStyle/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clinical laboratory is a unique area of the health care </a:t>
            </a:r>
            <a:r>
              <a:rPr lang="en-US" sz="2800" dirty="0" smtClean="0"/>
              <a:t>facility. </a:t>
            </a:r>
          </a:p>
          <a:p>
            <a:pPr algn="just"/>
            <a:r>
              <a:rPr lang="en-GB" sz="2800" dirty="0" smtClean="0"/>
              <a:t>Error, accident, or carelessness in the handling of specimens and pathogens is the cause of most laboratory acquired infections. </a:t>
            </a:r>
          </a:p>
          <a:p>
            <a:pPr algn="just"/>
            <a:r>
              <a:rPr lang="en-GB" sz="2800" dirty="0" smtClean="0"/>
              <a:t>Infections such as brucellosis, tuberculosis, typhoid, hepatitis, streptococcal infections, and others are known to have been acquired from the laboratory.</a:t>
            </a:r>
            <a:endParaRPr lang="en-US" sz="2800" dirty="0" smtClean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61BB-F701-4FF4-A1EF-B8B56B39658C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4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1030778"/>
            <a:ext cx="10485119" cy="1188426"/>
          </a:xfrm>
        </p:spPr>
        <p:txBody>
          <a:bodyPr/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2. </a:t>
            </a:r>
            <a:r>
              <a:rPr lang="en-US" sz="4000" b="1" dirty="0" smtClean="0"/>
              <a:t>Laboratory-acquired Infections (1/1)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360" y="1960880"/>
            <a:ext cx="10739120" cy="4689049"/>
          </a:xfrm>
        </p:spPr>
        <p:txBody>
          <a:bodyPr/>
          <a:lstStyle/>
          <a:p>
            <a:endParaRPr lang="en-US" dirty="0" smtClean="0"/>
          </a:p>
          <a:p>
            <a:pPr algn="just"/>
            <a:r>
              <a:rPr lang="en-US" sz="2800" dirty="0" smtClean="0"/>
              <a:t>Laboratory </a:t>
            </a:r>
            <a:r>
              <a:rPr lang="en-US" sz="2800" dirty="0"/>
              <a:t>acquired infection (LAI) is  an infection obtained through laboratory or laboratory-related activities as a result of work with infectious biological agents.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F452-05FB-4B30-98F9-CAEB8B26D185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" y="365125"/>
            <a:ext cx="10810240" cy="1605915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3. Common Routes of Exposure That Can Result In LAI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040" y="2490951"/>
            <a:ext cx="10652760" cy="3686011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Inhalation. </a:t>
            </a:r>
          </a:p>
          <a:p>
            <a:pPr lvl="0"/>
            <a:r>
              <a:rPr lang="en-US" sz="2800" dirty="0"/>
              <a:t>Ingestion </a:t>
            </a:r>
          </a:p>
          <a:p>
            <a:pPr lvl="0"/>
            <a:r>
              <a:rPr lang="en-US" sz="2800" dirty="0"/>
              <a:t>Puncture Wounds </a:t>
            </a:r>
          </a:p>
          <a:p>
            <a:pPr lvl="0"/>
            <a:r>
              <a:rPr lang="en-US" sz="2800" dirty="0"/>
              <a:t>Contamination of Skin and Mucous Membranes </a:t>
            </a:r>
          </a:p>
          <a:p>
            <a:r>
              <a:rPr lang="en-US" sz="2800" dirty="0"/>
              <a:t>Infected Laboratory Animals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9633-7330-418A-870E-697AC9A5C6D5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9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934720"/>
            <a:ext cx="11145520" cy="949008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000" b="1" dirty="0" smtClean="0">
                <a:latin typeface="+mn-lt"/>
              </a:rPr>
              <a:t/>
            </a:r>
            <a:br>
              <a:rPr lang="en-US" sz="4000" b="1" dirty="0" smtClean="0">
                <a:latin typeface="+mn-lt"/>
              </a:rPr>
            </a:br>
            <a:r>
              <a:rPr lang="en-US" sz="4000" b="1" dirty="0" smtClean="0">
                <a:latin typeface="+mn-lt"/>
              </a:rPr>
              <a:t>4. Factors  Contributing  To Laboratory Accidents</a:t>
            </a:r>
            <a:br>
              <a:rPr lang="en-US" sz="4000" b="1" dirty="0" smtClean="0">
                <a:latin typeface="+mn-lt"/>
              </a:rPr>
            </a:br>
            <a:r>
              <a:rPr lang="en-US" sz="4000" b="1" dirty="0" smtClean="0">
                <a:latin typeface="+mn-lt"/>
              </a:rPr>
              <a:t>(1/1)</a:t>
            </a:r>
            <a:br>
              <a:rPr lang="en-US" sz="4000" b="1" dirty="0" smtClean="0">
                <a:latin typeface="+mn-lt"/>
              </a:rPr>
            </a:br>
            <a:endParaRPr lang="en-US" sz="40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090" y="2081047"/>
            <a:ext cx="10754710" cy="4095915"/>
          </a:xfrm>
        </p:spPr>
        <p:txBody>
          <a:bodyPr/>
          <a:lstStyle/>
          <a:p>
            <a:pPr lvl="0"/>
            <a:r>
              <a:rPr lang="en-US" sz="2800" dirty="0" smtClean="0"/>
              <a:t>Poor </a:t>
            </a:r>
            <a:r>
              <a:rPr lang="en-US" sz="2800" dirty="0"/>
              <a:t>training.</a:t>
            </a:r>
          </a:p>
          <a:p>
            <a:pPr lvl="0"/>
            <a:r>
              <a:rPr lang="en-US" sz="2800" dirty="0"/>
              <a:t>Lack of concentration.</a:t>
            </a:r>
          </a:p>
          <a:p>
            <a:pPr lvl="0"/>
            <a:r>
              <a:rPr lang="en-US" sz="2800" dirty="0"/>
              <a:t>Carelessness and negligence.</a:t>
            </a:r>
          </a:p>
          <a:p>
            <a:pPr lvl="0"/>
            <a:r>
              <a:rPr lang="en-US" sz="2800" dirty="0"/>
              <a:t>Overwork and fatigue-emergency conditions.</a:t>
            </a:r>
          </a:p>
          <a:p>
            <a:pPr lvl="0"/>
            <a:r>
              <a:rPr lang="en-US" sz="2800" dirty="0"/>
              <a:t>Untidy and noisy working environment.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9E6D-1E94-42B3-85E6-BEACE279955E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5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8515" y="949498"/>
            <a:ext cx="9064979" cy="798022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GB" sz="4400" b="1" dirty="0" smtClean="0">
                <a:latin typeface="+mn-lt"/>
              </a:rPr>
              <a:t/>
            </a:r>
            <a:br>
              <a:rPr lang="en-GB" sz="4400" b="1" dirty="0" smtClean="0">
                <a:latin typeface="+mn-lt"/>
              </a:rPr>
            </a:br>
            <a:r>
              <a:rPr lang="en-GB" sz="4400" b="1" dirty="0" smtClean="0">
                <a:latin typeface="+mn-lt"/>
              </a:rPr>
              <a:t>5. Laboratory Bio-safety (1/2)</a:t>
            </a:r>
            <a:r>
              <a:rPr lang="en-US" sz="4000" dirty="0" smtClean="0">
                <a:latin typeface="+mn-lt"/>
              </a:rPr>
              <a:t/>
            </a:r>
            <a:br>
              <a:rPr lang="en-US" sz="4000" dirty="0" smtClean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40" y="1889761"/>
            <a:ext cx="10449560" cy="4287202"/>
          </a:xfrm>
        </p:spPr>
        <p:txBody>
          <a:bodyPr>
            <a:normAutofit/>
          </a:bodyPr>
          <a:lstStyle/>
          <a:p>
            <a:pPr marL="0" indent="0" algn="just"/>
            <a:r>
              <a:rPr lang="en-US" sz="2800" dirty="0" smtClean="0"/>
              <a:t>This </a:t>
            </a:r>
            <a:r>
              <a:rPr lang="en-US" sz="2800" dirty="0"/>
              <a:t>is </a:t>
            </a:r>
            <a:r>
              <a:rPr lang="en-US" sz="2800" dirty="0" smtClean="0"/>
              <a:t> a </a:t>
            </a:r>
            <a:r>
              <a:rPr lang="en-US" sz="2800" b="1" dirty="0" smtClean="0"/>
              <a:t>“</a:t>
            </a:r>
            <a:r>
              <a:rPr lang="en-GB" sz="2800" b="1" dirty="0" smtClean="0"/>
              <a:t>containment” </a:t>
            </a:r>
            <a:r>
              <a:rPr lang="en-US" sz="2800" dirty="0" smtClean="0"/>
              <a:t>principles, technologies, </a:t>
            </a:r>
            <a:r>
              <a:rPr lang="en-US" sz="2800" dirty="0"/>
              <a:t>practices implemented to prevent unintentional exposure to pathogens and toxins, or their accidental </a:t>
            </a:r>
            <a:r>
              <a:rPr lang="en-US" sz="2800" dirty="0" smtClean="0"/>
              <a:t>release.</a:t>
            </a:r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/>
            <a:r>
              <a:rPr lang="en-GB" sz="2800" dirty="0" smtClean="0"/>
              <a:t>The term </a:t>
            </a:r>
            <a:r>
              <a:rPr lang="en-GB" sz="2800" b="1" dirty="0" smtClean="0"/>
              <a:t>“containment” </a:t>
            </a:r>
            <a:r>
              <a:rPr lang="en-GB" sz="2800" dirty="0" smtClean="0"/>
              <a:t>is used in describing safe methods, facilities and equipment   for managing infectious materials in the laboratory environment where they are being handled or maintained.</a:t>
            </a:r>
            <a:endParaRPr lang="en-US" sz="2800" dirty="0" smtClean="0"/>
          </a:p>
          <a:p>
            <a:pPr marL="0" indent="0"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E983-9B29-489F-82C4-466E03934C4D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2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08" y="1682131"/>
            <a:ext cx="10515600" cy="4238378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Bio-safety level (BSL) Guidelines - </a:t>
            </a:r>
            <a:r>
              <a:rPr lang="en-US" sz="2800" dirty="0"/>
              <a:t>is a combination of primary and secondary containment and safety guidelines designed for use in microbiology laboratories and bacteriology research units functioning at </a:t>
            </a:r>
            <a:r>
              <a:rPr lang="en-US" sz="2800" b="1" dirty="0"/>
              <a:t>four levels </a:t>
            </a:r>
            <a:r>
              <a:rPr lang="en-US" sz="2800" dirty="0"/>
              <a:t>(BSL-1 to BSL-4) of increasing risk</a:t>
            </a:r>
            <a:r>
              <a:rPr lang="en-US" sz="2800" dirty="0" smtClean="0"/>
              <a:t>:</a:t>
            </a:r>
          </a:p>
          <a:p>
            <a:pPr marL="0" indent="0" algn="just">
              <a:buNone/>
            </a:pPr>
            <a:endParaRPr lang="en-US" sz="2800" dirty="0"/>
          </a:p>
          <a:p>
            <a:pPr algn="just"/>
            <a:r>
              <a:rPr lang="en-US" sz="2800" b="1" dirty="0"/>
              <a:t>Biological Safety Cabinets (BSCs) - </a:t>
            </a:r>
            <a:r>
              <a:rPr lang="en-US" sz="2800" dirty="0"/>
              <a:t>these are devices that provide protection for the </a:t>
            </a:r>
            <a:r>
              <a:rPr lang="en-US" sz="2800" dirty="0" smtClean="0"/>
              <a:t>staff, </a:t>
            </a:r>
            <a:r>
              <a:rPr lang="en-US" sz="2800" dirty="0"/>
              <a:t>the agent being </a:t>
            </a:r>
            <a:r>
              <a:rPr lang="en-US" sz="2800" dirty="0" smtClean="0"/>
              <a:t>processed, </a:t>
            </a:r>
            <a:r>
              <a:rPr lang="en-US" sz="2800" dirty="0"/>
              <a:t>and the environment.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1123-5C68-4802-9755-7E23A8228985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9154" y="978570"/>
            <a:ext cx="84523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a typeface="+mj-ea"/>
                <a:cs typeface="+mj-cs"/>
              </a:rPr>
              <a:t>Laboratory </a:t>
            </a:r>
            <a:r>
              <a:rPr lang="en-GB" sz="40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a typeface="+mj-ea"/>
                <a:cs typeface="+mj-cs"/>
              </a:rPr>
              <a:t>Bio-safety… (2/2)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709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690245"/>
            <a:ext cx="10820400" cy="1325563"/>
          </a:xfrm>
        </p:spPr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000" dirty="0" smtClean="0">
                <a:latin typeface="+mn-lt"/>
              </a:rPr>
              <a:t/>
            </a:r>
            <a:br>
              <a:rPr lang="en-US" sz="4000" dirty="0" smtClean="0">
                <a:latin typeface="+mn-lt"/>
              </a:rPr>
            </a:br>
            <a:r>
              <a:rPr lang="en-US" sz="4000" dirty="0" smtClean="0">
                <a:latin typeface="+mn-lt"/>
              </a:rPr>
              <a:t>6. </a:t>
            </a:r>
            <a:r>
              <a:rPr lang="en-US" sz="4000" b="1" dirty="0" smtClean="0">
                <a:latin typeface="+mn-lt"/>
              </a:rPr>
              <a:t>Safe Work Practices and Recommended IP Practices For Laboratory Workers (1/5)</a:t>
            </a:r>
            <a:r>
              <a:rPr lang="en-US" sz="4000" dirty="0">
                <a:latin typeface="+mn-lt"/>
              </a:rPr>
              <a:t/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2207171"/>
            <a:ext cx="10728960" cy="3969791"/>
          </a:xfrm>
        </p:spPr>
        <p:txBody>
          <a:bodyPr/>
          <a:lstStyle/>
          <a:p>
            <a:r>
              <a:rPr lang="en-US" sz="2800" dirty="0"/>
              <a:t>Most hospital or clinic laboratories are defined as BSL-1 or BSL-2 units</a:t>
            </a:r>
            <a:r>
              <a:rPr lang="en-US" sz="2800" dirty="0" smtClean="0"/>
              <a:t>.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dirty="0"/>
              <a:t>Prevention of occupationally-acquired infections in these laboratories consists of staff conscientiously using the basic practices prescribed for all healthcare workers namely Hand hygiene (hand washing or use of an antiseptic hand rub)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4B7A-AC14-48AE-ACFA-E354383279D8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8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051" y="270532"/>
            <a:ext cx="10943897" cy="1325563"/>
          </a:xfrm>
        </p:spPr>
        <p:txBody>
          <a:bodyPr/>
          <a:lstStyle/>
          <a:p>
            <a:r>
              <a:rPr lang="en-US" sz="4000" b="1" dirty="0" smtClean="0"/>
              <a:t>Requirements For Safe Laboratory Practice (2/5)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75641"/>
            <a:ext cx="10749280" cy="4001322"/>
          </a:xfrm>
        </p:spPr>
        <p:txBody>
          <a:bodyPr>
            <a:normAutofit/>
          </a:bodyPr>
          <a:lstStyle/>
          <a:p>
            <a:pPr lvl="0" algn="just"/>
            <a:r>
              <a:rPr lang="en-US" sz="2800" dirty="0" smtClean="0"/>
              <a:t>Appropriate </a:t>
            </a:r>
            <a:r>
              <a:rPr lang="en-US" sz="2800" dirty="0"/>
              <a:t>laboratory design (superstructure, furniture and space).</a:t>
            </a:r>
          </a:p>
          <a:p>
            <a:pPr lvl="0" algn="just"/>
            <a:r>
              <a:rPr lang="en-US" sz="2800" dirty="0"/>
              <a:t>Adequate light, water, sewage, ventilation and electrical facilities. </a:t>
            </a:r>
          </a:p>
          <a:p>
            <a:pPr lvl="0" algn="just"/>
            <a:r>
              <a:rPr lang="en-US" sz="2800" dirty="0"/>
              <a:t>Waste disposal facilities.</a:t>
            </a:r>
          </a:p>
          <a:p>
            <a:pPr lvl="0" algn="just"/>
            <a:r>
              <a:rPr lang="en-US" sz="2800" dirty="0"/>
              <a:t>Appropriate storage of facilities.</a:t>
            </a:r>
          </a:p>
          <a:p>
            <a:pPr lvl="0" algn="just"/>
            <a:r>
              <a:rPr lang="en-US" sz="2800" dirty="0"/>
              <a:t>Use of safety devices and bio-safety cabinets.</a:t>
            </a:r>
          </a:p>
          <a:p>
            <a:pPr lvl="0" algn="just"/>
            <a:r>
              <a:rPr lang="en-US" sz="2800" dirty="0"/>
              <a:t>Restricted access to laboratories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7EB4F-1DD5-4E51-8E55-68A862D84F31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6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848822"/>
          </a:xfrm>
        </p:spPr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General </a:t>
            </a:r>
            <a:r>
              <a:rPr lang="en-US" sz="4000" b="1" dirty="0"/>
              <a:t>Laboratory Safety </a:t>
            </a:r>
            <a:r>
              <a:rPr lang="en-US" sz="4000" b="1" dirty="0" smtClean="0"/>
              <a:t>Procedures (3/5)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680" y="2490136"/>
            <a:ext cx="10698480" cy="3444997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Wear  new  examination  gloves  when  handling  blood,  body  fluids  and/or  specimens containing pathogenic microorganisms.</a:t>
            </a:r>
          </a:p>
          <a:p>
            <a:pPr lvl="0"/>
            <a:r>
              <a:rPr lang="en-US" sz="2800" dirty="0"/>
              <a:t>No eating, drinking or smoking is permitted in the laboratory.</a:t>
            </a:r>
          </a:p>
          <a:p>
            <a:pPr lvl="0"/>
            <a:r>
              <a:rPr lang="en-US" sz="2800" dirty="0"/>
              <a:t>Food should not be stored in refrigerators used for clinical or research specimens.</a:t>
            </a:r>
          </a:p>
          <a:p>
            <a:r>
              <a:rPr lang="en-US" sz="2800" dirty="0"/>
              <a:t>No mouth pipetting is permitted;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14D7-9BAB-4202-837F-28A699F7F3B4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84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General Laboratory </a:t>
            </a:r>
            <a:r>
              <a:rPr lang="en-US" sz="4000" dirty="0" smtClean="0"/>
              <a:t>Safety … (4/5)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2159874"/>
            <a:ext cx="10769600" cy="4319754"/>
          </a:xfrm>
        </p:spPr>
        <p:txBody>
          <a:bodyPr>
            <a:normAutofit/>
          </a:bodyPr>
          <a:lstStyle/>
          <a:p>
            <a:pPr lvl="0"/>
            <a:r>
              <a:rPr lang="en-US" sz="3000" dirty="0"/>
              <a:t>Do not open centrifuges while still in motion.</a:t>
            </a:r>
          </a:p>
          <a:p>
            <a:pPr lvl="0"/>
            <a:r>
              <a:rPr lang="en-US" sz="3000" dirty="0"/>
              <a:t>Always cover the end of blood collection tubes with a cloth or paper towel or point them away from anyone’s face when opening.</a:t>
            </a:r>
          </a:p>
          <a:p>
            <a:pPr lvl="0"/>
            <a:r>
              <a:rPr lang="en-US" sz="3000" dirty="0"/>
              <a:t>Decontaminate working surfaces daily or when contaminated (e.g. after spills, with a 0.5% Chlorine solution).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3272-7383-4B7C-9F98-A9C950031013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35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General Laboratory </a:t>
            </a:r>
            <a:r>
              <a:rPr lang="en-US" sz="4000" b="1" dirty="0" smtClean="0"/>
              <a:t>Safety …(5/5)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90951"/>
            <a:ext cx="10515600" cy="3686011"/>
          </a:xfrm>
        </p:spPr>
        <p:txBody>
          <a:bodyPr/>
          <a:lstStyle/>
          <a:p>
            <a:r>
              <a:rPr lang="en-US" sz="2800" dirty="0"/>
              <a:t>Wear protective face shields or masks and goggles </a:t>
            </a:r>
            <a:endParaRPr lang="en-US" sz="2800" dirty="0" smtClean="0"/>
          </a:p>
          <a:p>
            <a:r>
              <a:rPr lang="en-US" sz="2800" dirty="0" smtClean="0"/>
              <a:t>Wear </a:t>
            </a:r>
            <a:r>
              <a:rPr lang="en-US" sz="2800" dirty="0"/>
              <a:t>heavy-duty or utility gloves when cleaning laboratory </a:t>
            </a:r>
            <a:r>
              <a:rPr lang="en-US" sz="2800" dirty="0" smtClean="0"/>
              <a:t>glassware.</a:t>
            </a:r>
          </a:p>
          <a:p>
            <a:r>
              <a:rPr lang="en-US" sz="2800" dirty="0" smtClean="0"/>
              <a:t>Use </a:t>
            </a:r>
            <a:r>
              <a:rPr lang="en-US" sz="2800" dirty="0"/>
              <a:t>puncture-resistant and leak proof containers for </a:t>
            </a:r>
            <a:r>
              <a:rPr lang="en-US" sz="2800" dirty="0" smtClean="0"/>
              <a:t>sharps</a:t>
            </a:r>
          </a:p>
          <a:p>
            <a:r>
              <a:rPr lang="en-US" sz="2800" dirty="0" smtClean="0"/>
              <a:t>Place </a:t>
            </a:r>
            <a:r>
              <a:rPr lang="en-US" sz="2800" dirty="0"/>
              <a:t>infectious waste materials in plastic bags or </a:t>
            </a:r>
            <a:r>
              <a:rPr lang="en-US" sz="2800" dirty="0" smtClean="0"/>
              <a:t>containers</a:t>
            </a:r>
          </a:p>
          <a:p>
            <a:r>
              <a:rPr lang="en-US" sz="2800" dirty="0" smtClean="0"/>
              <a:t>Immunization </a:t>
            </a:r>
            <a:r>
              <a:rPr lang="en-US" sz="2800" dirty="0"/>
              <a:t>against highly infectious agents such as HBV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A0D85-C655-49E3-AE69-FF833F9830C1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86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61" y="1030778"/>
            <a:ext cx="9912774" cy="1188426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 smtClean="0"/>
              <a:t>7. IPC For Specific Laboratory  Procedures (1/2)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490136"/>
            <a:ext cx="10698480" cy="3444997"/>
          </a:xfrm>
        </p:spPr>
        <p:txBody>
          <a:bodyPr>
            <a:normAutofit/>
          </a:bodyPr>
          <a:lstStyle/>
          <a:p>
            <a:pPr lvl="0"/>
            <a:r>
              <a:rPr lang="en-US" sz="2800" dirty="0" smtClean="0"/>
              <a:t>Drawing </a:t>
            </a:r>
            <a:r>
              <a:rPr lang="en-US" sz="2800" dirty="0"/>
              <a:t>blood from veins of patients (phlebotomy) is often performed by laboratory staff.</a:t>
            </a:r>
          </a:p>
          <a:p>
            <a:pPr lvl="0"/>
            <a:r>
              <a:rPr lang="en-US" sz="2800" dirty="0"/>
              <a:t>Safe Handling of Specimens</a:t>
            </a:r>
          </a:p>
          <a:p>
            <a:pPr lvl="0"/>
            <a:r>
              <a:rPr lang="en-US" sz="2800" dirty="0"/>
              <a:t>Specimen containers and labels</a:t>
            </a:r>
          </a:p>
          <a:p>
            <a:pPr lvl="0"/>
            <a:r>
              <a:rPr lang="en-US" sz="2800" dirty="0"/>
              <a:t>Transporting specimens within the health care facility</a:t>
            </a:r>
          </a:p>
          <a:p>
            <a:pPr lvl="0"/>
            <a:r>
              <a:rPr lang="en-US" sz="2800" dirty="0"/>
              <a:t>Receipt of specimens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4E37-1C13-441E-A3A3-CBA54D208618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82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IPC For Specific …(2/2)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880" y="2412123"/>
            <a:ext cx="10662920" cy="3764839"/>
          </a:xfrm>
        </p:spPr>
        <p:txBody>
          <a:bodyPr/>
          <a:lstStyle/>
          <a:p>
            <a:pPr lvl="0"/>
            <a:r>
              <a:rPr lang="en-US" sz="2800" dirty="0"/>
              <a:t>Safe Laboratory Bench Workspace</a:t>
            </a:r>
          </a:p>
          <a:p>
            <a:pPr lvl="0"/>
            <a:r>
              <a:rPr lang="en-US" sz="2800" dirty="0"/>
              <a:t>Use of pipettes and pipetting aids</a:t>
            </a:r>
          </a:p>
          <a:p>
            <a:pPr lvl="0"/>
            <a:r>
              <a:rPr lang="en-US" sz="2800" dirty="0"/>
              <a:t>Separation of serum</a:t>
            </a:r>
          </a:p>
          <a:p>
            <a:pPr lvl="0"/>
            <a:r>
              <a:rPr lang="en-US" sz="2800" dirty="0"/>
              <a:t>Use of centrifuges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27AA2-C24B-4DDE-A604-18F518AC9230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2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660400"/>
            <a:ext cx="9064979" cy="817124"/>
          </a:xfrm>
        </p:spPr>
        <p:txBody>
          <a:bodyPr/>
          <a:lstStyle/>
          <a:p>
            <a:r>
              <a:rPr lang="en-US" dirty="0" smtClean="0"/>
              <a:t>Summary (1/1)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120" y="1717040"/>
            <a:ext cx="10535920" cy="4218093"/>
          </a:xfrm>
        </p:spPr>
        <p:txBody>
          <a:bodyPr>
            <a:normAutofit/>
          </a:bodyPr>
          <a:lstStyle/>
          <a:p>
            <a:r>
              <a:rPr lang="en-GB" sz="2800" dirty="0" smtClean="0"/>
              <a:t>The clinical laboratory is a unique area of the health care facility </a:t>
            </a:r>
            <a:r>
              <a:rPr lang="en-US" sz="2800" dirty="0" smtClean="0"/>
              <a:t>where </a:t>
            </a:r>
            <a:r>
              <a:rPr lang="en-GB" sz="2800" dirty="0" smtClean="0"/>
              <a:t>Error, accident, or carelessness in the handling of specimens and pathogens is the cause of most laboratory acquired infections. </a:t>
            </a:r>
          </a:p>
          <a:p>
            <a:pPr lvl="0"/>
            <a:r>
              <a:rPr lang="en-GB" sz="2800" dirty="0" smtClean="0"/>
              <a:t>Common routes of Exposure to LAI includes: Inhalation, Ingestion, Puncture Wounds</a:t>
            </a:r>
            <a:r>
              <a:rPr lang="en-US" sz="2800" dirty="0" smtClean="0"/>
              <a:t>, </a:t>
            </a:r>
            <a:r>
              <a:rPr lang="en-GB" sz="2800" dirty="0" smtClean="0"/>
              <a:t>Contamination of Skin and Mucous Membranes</a:t>
            </a:r>
            <a:r>
              <a:rPr lang="en-US" sz="2800" dirty="0" smtClean="0"/>
              <a:t>, </a:t>
            </a:r>
            <a:r>
              <a:rPr lang="en-GB" sz="2800" dirty="0" smtClean="0"/>
              <a:t>Infected Laboratory Animals</a:t>
            </a:r>
          </a:p>
          <a:p>
            <a:pPr lvl="0"/>
            <a:r>
              <a:rPr lang="en-GB" sz="2800" dirty="0" smtClean="0"/>
              <a:t>Identifying and improving factors contributing laboratory accidents</a:t>
            </a:r>
          </a:p>
          <a:p>
            <a:pPr lvl="0"/>
            <a:r>
              <a:rPr lang="en-GB" sz="2800" dirty="0" smtClean="0"/>
              <a:t>Implementation of General laboratory Safety and Procedures.</a:t>
            </a:r>
          </a:p>
          <a:p>
            <a:pPr lvl="0"/>
            <a:endParaRPr lang="en-US" sz="2800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C0F53-02D4-450B-9EBF-A6E6165234E9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Vol. 2, Sec.4, Chap 3: IPC in Clinical Lab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7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Theme7</Template>
  <TotalTime>1477</TotalTime>
  <Words>978</Words>
  <Application>Microsoft Office PowerPoint</Application>
  <PresentationFormat>Custom</PresentationFormat>
  <Paragraphs>133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Theme7</vt:lpstr>
      <vt:lpstr>Volume 2_Section 4 CHAPTER 3: IPC IN CLINICALLABORATORY SERVICES   </vt:lpstr>
      <vt:lpstr> Chapter contents  </vt:lpstr>
      <vt:lpstr>Learning Objective</vt:lpstr>
      <vt:lpstr>1. OVERVIEW (1/1)  </vt:lpstr>
      <vt:lpstr> 2. Laboratory-acquired Infections (1/1) </vt:lpstr>
      <vt:lpstr> 3. Common Routes of Exposure That Can Result In LAI (1/1)</vt:lpstr>
      <vt:lpstr> 4. Factors  Contributing  To Laboratory Accidents (1/1) </vt:lpstr>
      <vt:lpstr> 5. Laboratory Bio-safety (1/2) </vt:lpstr>
      <vt:lpstr>PowerPoint Presentation</vt:lpstr>
      <vt:lpstr> 6. Safe Work Practices and Recommended IP Practices For Laboratory Workers (1/5) </vt:lpstr>
      <vt:lpstr>Requirements For Safe Laboratory Practice (2/5)</vt:lpstr>
      <vt:lpstr> General Laboratory Safety Procedures (3/5) </vt:lpstr>
      <vt:lpstr>General Laboratory Safety … (4/5)</vt:lpstr>
      <vt:lpstr>General Laboratory Safety …(5/5)</vt:lpstr>
      <vt:lpstr> 7. IPC For Specific Laboratory  Procedures (1/2) </vt:lpstr>
      <vt:lpstr>IPC For Specific …(2/2)</vt:lpstr>
      <vt:lpstr>Summary (1/1)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6. Mortuary IPC for Handling Human Remains</dc:title>
  <dc:creator>yayene Tad</dc:creator>
  <cp:lastModifiedBy>moh</cp:lastModifiedBy>
  <cp:revision>48</cp:revision>
  <dcterms:created xsi:type="dcterms:W3CDTF">2018-12-11T15:00:38Z</dcterms:created>
  <dcterms:modified xsi:type="dcterms:W3CDTF">2019-09-23T06:55:38Z</dcterms:modified>
</cp:coreProperties>
</file>