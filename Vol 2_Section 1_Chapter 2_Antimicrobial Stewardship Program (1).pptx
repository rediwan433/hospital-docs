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16"/>
  </p:notesMasterIdLst>
  <p:sldIdLst>
    <p:sldId id="256" r:id="rId2"/>
    <p:sldId id="318" r:id="rId3"/>
    <p:sldId id="307" r:id="rId4"/>
    <p:sldId id="306" r:id="rId5"/>
    <p:sldId id="308" r:id="rId6"/>
    <p:sldId id="309" r:id="rId7"/>
    <p:sldId id="310" r:id="rId8"/>
    <p:sldId id="311" r:id="rId9"/>
    <p:sldId id="312" r:id="rId10"/>
    <p:sldId id="313" r:id="rId11"/>
    <p:sldId id="314" r:id="rId12"/>
    <p:sldId id="315" r:id="rId13"/>
    <p:sldId id="316" r:id="rId14"/>
    <p:sldId id="317" r:id="rId15"/>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486" y="66"/>
      </p:cViewPr>
      <p:guideLst>
        <p:guide orient="horz" pos="2160"/>
        <p:guide pos="383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A4FD2E-C0D3-40B5-8DD1-9D796D061956}" type="datetimeFigureOut">
              <a:rPr lang="en-US" smtClean="0"/>
              <a:pPr/>
              <a:t>9/26/2019</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93C637-F117-4624-A596-DF844667A77C}" type="slidenum">
              <a:rPr lang="en-US" smtClean="0"/>
              <a:pPr/>
              <a:t>‹#›</a:t>
            </a:fld>
            <a:endParaRPr lang="en-US"/>
          </a:p>
        </p:txBody>
      </p:sp>
    </p:spTree>
    <p:extLst>
      <p:ext uri="{BB962C8B-B14F-4D97-AF65-F5344CB8AC3E}">
        <p14:creationId xmlns:p14="http://schemas.microsoft.com/office/powerpoint/2010/main" val="53098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1" y="109831"/>
            <a:ext cx="1233557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2203419" y="1879926"/>
            <a:ext cx="7741314"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3102509" y="3597481"/>
            <a:ext cx="5956820"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42948" y="4972192"/>
            <a:ext cx="1293001" cy="361810"/>
          </a:xfrm>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a:xfrm>
            <a:off x="2556239" y="4972194"/>
            <a:ext cx="4986707" cy="361809"/>
          </a:xfrm>
        </p:spPr>
        <p:txBody>
          <a:bodyPr/>
          <a:lstStyle/>
          <a:p>
            <a:endParaRPr lang="en-US"/>
          </a:p>
        </p:txBody>
      </p:sp>
      <p:sp>
        <p:nvSpPr>
          <p:cNvPr id="6" name="Slide Number Placeholder 5"/>
          <p:cNvSpPr>
            <a:spLocks noGrp="1"/>
          </p:cNvSpPr>
          <p:nvPr>
            <p:ph type="sldNum" sz="quarter" idx="12"/>
          </p:nvPr>
        </p:nvSpPr>
        <p:spPr>
          <a:xfrm>
            <a:off x="9059329" y="4972193"/>
            <a:ext cx="965806" cy="361809"/>
          </a:xfrm>
        </p:spPr>
        <p:txBody>
          <a:bodyPr/>
          <a:lstStyle/>
          <a:p>
            <a:fld id="{45D56BD6-1C83-49ED-A825-919C14660340}" type="slidenum">
              <a:rPr lang="en-US" smtClean="0"/>
              <a:pPr/>
              <a:t>‹#›</a:t>
            </a:fld>
            <a:endParaRPr lang="en-US"/>
          </a:p>
        </p:txBody>
      </p:sp>
      <p:cxnSp>
        <p:nvCxnSpPr>
          <p:cNvPr id="15" name="Straight Connector 14"/>
          <p:cNvCxnSpPr/>
          <p:nvPr/>
        </p:nvCxnSpPr>
        <p:spPr>
          <a:xfrm>
            <a:off x="2686438" y="3471329"/>
            <a:ext cx="6800578"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3963090" y="76751"/>
            <a:ext cx="4028810" cy="1229383"/>
            <a:chOff x="2823850" y="0"/>
            <a:chExt cx="3344655" cy="1558429"/>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520855"/>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700403" y="235626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5273" y="1030778"/>
            <a:ext cx="9042553"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454593" y="5960533"/>
            <a:ext cx="1130796" cy="279400"/>
          </a:xfrm>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85389" y="5960533"/>
            <a:ext cx="963150" cy="279400"/>
          </a:xfrm>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00403" y="1641413"/>
            <a:ext cx="8772290"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00403" y="3734860"/>
            <a:ext cx="8772290"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081785" y="5960533"/>
            <a:ext cx="1151331" cy="279400"/>
          </a:xfrm>
        </p:spPr>
        <p:txBody>
          <a:bodyPr/>
          <a:lstStyle/>
          <a:p>
            <a:fld id="{45D56BD6-1C83-49ED-A825-919C14660340}" type="slidenum">
              <a:rPr lang="en-US" smtClean="0"/>
              <a:pPr/>
              <a:t>‹#›</a:t>
            </a:fld>
            <a:endParaRPr lang="en-US"/>
          </a:p>
        </p:txBody>
      </p:sp>
      <p:cxnSp>
        <p:nvCxnSpPr>
          <p:cNvPr id="31" name="Straight Connector 30"/>
          <p:cNvCxnSpPr/>
          <p:nvPr/>
        </p:nvCxnSpPr>
        <p:spPr>
          <a:xfrm>
            <a:off x="1700405" y="3599392"/>
            <a:ext cx="877228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700403" y="235626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5271" y="1052394"/>
            <a:ext cx="9042553"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65273" y="2487168"/>
            <a:ext cx="4439071"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8214" y="2487168"/>
            <a:ext cx="4439071"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E2EA2C9-3E80-4651-AEDB-66CBFBE914A4}"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081784" y="5934457"/>
            <a:ext cx="1018658" cy="305477"/>
          </a:xfrm>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5275" y="2658533"/>
            <a:ext cx="443907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5275" y="3243263"/>
            <a:ext cx="4439071"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3798" y="2658533"/>
            <a:ext cx="443907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3798" y="3243263"/>
            <a:ext cx="4439071"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E2EA2C9-3E80-4651-AEDB-66CBFBE914A4}" type="datetimeFigureOut">
              <a:rPr lang="en-US" smtClean="0"/>
              <a:pPr/>
              <a:t>9/26/2019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D56BD6-1C83-49ED-A825-919C14660340}" type="slidenum">
              <a:rPr lang="en-US" smtClean="0"/>
              <a:pPr/>
              <a:t>‹#›</a:t>
            </a:fld>
            <a:endParaRPr lang="en-US"/>
          </a:p>
        </p:txBody>
      </p:sp>
      <p:cxnSp>
        <p:nvCxnSpPr>
          <p:cNvPr id="41" name="Straight Connector 40"/>
          <p:cNvCxnSpPr/>
          <p:nvPr/>
        </p:nvCxnSpPr>
        <p:spPr>
          <a:xfrm>
            <a:off x="1700404" y="235467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2" y="915338"/>
            <a:ext cx="9042554"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E2EA2C9-3E80-4651-AEDB-66CBFBE914A4}" type="datetimeFigureOut">
              <a:rPr lang="en-US" smtClean="0"/>
              <a:pPr/>
              <a:t>9/26/2019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1700404" y="235467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2EA2C9-3E80-4651-AEDB-66CBFBE914A4}" type="datetimeFigureOut">
              <a:rPr lang="en-US" smtClean="0"/>
              <a:pPr/>
              <a:t>9/26/2019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1388534"/>
            <a:ext cx="3374030"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79826" y="982133"/>
            <a:ext cx="5128001"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5271" y="3031065"/>
            <a:ext cx="3374030"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cxnSp>
        <p:nvCxnSpPr>
          <p:cNvPr id="16" name="Straight Connector 15"/>
          <p:cNvCxnSpPr/>
          <p:nvPr/>
        </p:nvCxnSpPr>
        <p:spPr>
          <a:xfrm>
            <a:off x="1700404" y="2912533"/>
            <a:ext cx="31037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1883832"/>
            <a:ext cx="4830955"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893663" y="1032933"/>
            <a:ext cx="3896288"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5272" y="3255432"/>
            <a:ext cx="4830954"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3" y="4815415"/>
            <a:ext cx="9042553"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64961" y="1032934"/>
            <a:ext cx="9431918"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5273" y="5382153"/>
            <a:ext cx="9042553"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3" y="906873"/>
            <a:ext cx="9042553"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5272" y="4275666"/>
            <a:ext cx="9042555"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5" name="Straight Connector 14"/>
          <p:cNvCxnSpPr/>
          <p:nvPr/>
        </p:nvCxnSpPr>
        <p:spPr>
          <a:xfrm>
            <a:off x="1700404" y="4140199"/>
            <a:ext cx="878677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709" y="982132"/>
            <a:ext cx="8512555"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128322" y="3352800"/>
            <a:ext cx="7837626"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565269" y="4343401"/>
            <a:ext cx="904255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
        <p:nvSpPr>
          <p:cNvPr id="14" name="TextBox 13"/>
          <p:cNvSpPr txBox="1"/>
          <p:nvPr/>
        </p:nvSpPr>
        <p:spPr>
          <a:xfrm>
            <a:off x="1130489" y="905362"/>
            <a:ext cx="608250"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52825" y="2827870"/>
            <a:ext cx="608250"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0404" y="4140199"/>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7" y="3308581"/>
            <a:ext cx="904254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5276" y="4777381"/>
            <a:ext cx="9042547"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74573" y="982132"/>
            <a:ext cx="8412693"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565276" y="3639312"/>
            <a:ext cx="9042547"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5272" y="4529667"/>
            <a:ext cx="9042555"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
        <p:nvSpPr>
          <p:cNvPr id="12" name="TextBox 11"/>
          <p:cNvSpPr txBox="1"/>
          <p:nvPr/>
        </p:nvSpPr>
        <p:spPr>
          <a:xfrm>
            <a:off x="1167851" y="896895"/>
            <a:ext cx="60825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74495" y="2607728"/>
            <a:ext cx="60825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0404" y="342900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982132"/>
            <a:ext cx="9042553"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565276" y="3566160"/>
            <a:ext cx="9042547"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5273" y="4470401"/>
            <a:ext cx="9042553"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5" name="Straight Connector 14"/>
          <p:cNvCxnSpPr/>
          <p:nvPr/>
        </p:nvCxnSpPr>
        <p:spPr>
          <a:xfrm>
            <a:off x="1700409" y="3429000"/>
            <a:ext cx="87867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5272" y="2490136"/>
            <a:ext cx="9042555"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1700404" y="2354670"/>
            <a:ext cx="87867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54588" y="906874"/>
            <a:ext cx="2153233"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5275" y="906874"/>
            <a:ext cx="6537798"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8306748"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1" y="0"/>
            <a:ext cx="12173099"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5273" y="915338"/>
            <a:ext cx="9042553"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5272" y="2490136"/>
            <a:ext cx="9042555"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454593" y="5935133"/>
            <a:ext cx="895226"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E2EA2C9-3E80-4651-AEDB-66CBFBE914A4}" type="datetimeFigureOut">
              <a:rPr lang="en-US" smtClean="0"/>
              <a:pPr/>
              <a:t>9/26/2019</a:t>
            </a:fld>
            <a:endParaRPr lang="en-US"/>
          </a:p>
        </p:txBody>
      </p:sp>
      <p:sp>
        <p:nvSpPr>
          <p:cNvPr id="5" name="Footer Placeholder 4"/>
          <p:cNvSpPr>
            <a:spLocks noGrp="1"/>
          </p:cNvSpPr>
          <p:nvPr>
            <p:ph type="ftr" sz="quarter" idx="3"/>
          </p:nvPr>
        </p:nvSpPr>
        <p:spPr>
          <a:xfrm>
            <a:off x="1565272" y="5960533"/>
            <a:ext cx="6789385"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9349819" y="5960533"/>
            <a:ext cx="1258008"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5D56BD6-1C83-49ED-A825-919C14660340}" type="slidenum">
              <a:rPr lang="en-US" smtClean="0"/>
              <a:pPr/>
              <a:t>‹#›</a:t>
            </a:fld>
            <a:endParaRPr lang="en-US"/>
          </a:p>
        </p:txBody>
      </p:sp>
      <p:grpSp>
        <p:nvGrpSpPr>
          <p:cNvPr id="12" name="Group 11"/>
          <p:cNvGrpSpPr/>
          <p:nvPr/>
        </p:nvGrpSpPr>
        <p:grpSpPr>
          <a:xfrm>
            <a:off x="4485653" y="4072"/>
            <a:ext cx="3201790" cy="981605"/>
            <a:chOff x="2823850" y="0"/>
            <a:chExt cx="3344655" cy="1466289"/>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5"/>
              <a:ext cx="3344655" cy="428714"/>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1019" y="1676401"/>
            <a:ext cx="7499800" cy="2438399"/>
          </a:xfrm>
        </p:spPr>
        <p:txBody>
          <a:bodyPr>
            <a:noAutofit/>
          </a:bodyPr>
          <a:lstStyle/>
          <a:p>
            <a:pPr>
              <a:lnSpc>
                <a:spcPct val="150000"/>
              </a:lnSpc>
            </a:pPr>
            <a:r>
              <a:rPr lang="en-US" sz="2800" dirty="0" smtClean="0">
                <a:latin typeface="Times New Roman" pitchFamily="18" charset="0"/>
                <a:cs typeface="Times New Roman" pitchFamily="18" charset="0"/>
              </a:rPr>
              <a:t>Volume 2</a:t>
            </a:r>
            <a:br>
              <a:rPr lang="en-US" sz="2800"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Chapter </a:t>
            </a:r>
            <a:r>
              <a:rPr lang="en-US" sz="2800" dirty="0">
                <a:latin typeface="Times New Roman" pitchFamily="18" charset="0"/>
                <a:cs typeface="Times New Roman" pitchFamily="18" charset="0"/>
              </a:rPr>
              <a:t>2</a:t>
            </a:r>
            <a:r>
              <a:rPr lang="en-US" sz="28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ANTIBIOTIC </a:t>
            </a:r>
            <a:r>
              <a:rPr lang="en-US" sz="2400" dirty="0">
                <a:latin typeface="Times New Roman" pitchFamily="18" charset="0"/>
                <a:cs typeface="Times New Roman" pitchFamily="18" charset="0"/>
              </a:rPr>
              <a:t>STEWARDSHIP PROGRAMS</a:t>
            </a:r>
            <a:endParaRPr lang="en-US" sz="2400" b="1" dirty="0">
              <a:latin typeface="Times New Roman" pitchFamily="18" charset="0"/>
              <a:cs typeface="Times New Roman" pitchFamily="18" charset="0"/>
            </a:endParaRPr>
          </a:p>
        </p:txBody>
      </p:sp>
      <p:sp>
        <p:nvSpPr>
          <p:cNvPr id="3" name="Subtitle 2"/>
          <p:cNvSpPr>
            <a:spLocks noGrp="1"/>
          </p:cNvSpPr>
          <p:nvPr>
            <p:ph type="subTitle" idx="1"/>
          </p:nvPr>
        </p:nvSpPr>
        <p:spPr>
          <a:xfrm>
            <a:off x="3102509" y="3886200"/>
            <a:ext cx="5956820" cy="724182"/>
          </a:xfrm>
        </p:spPr>
        <p:txBody>
          <a:bodyPr>
            <a:normAutofit/>
          </a:bodyPr>
          <a:lstStyle/>
          <a:p>
            <a:r>
              <a:rPr lang="en-US" b="1">
                <a:ln w="3175" cmpd="sng">
                  <a:noFill/>
                </a:ln>
                <a:solidFill>
                  <a:schemeClr val="tx1">
                    <a:lumMod val="85000"/>
                    <a:lumOff val="15000"/>
                  </a:schemeClr>
                </a:solidFill>
                <a:latin typeface="+mj-lt"/>
                <a:ea typeface="+mj-ea"/>
                <a:cs typeface="+mj-cs"/>
              </a:rPr>
              <a:t>.</a:t>
            </a:r>
            <a:endParaRPr lang="en-US" b="1" dirty="0">
              <a:ln w="3175" cmpd="sng">
                <a:noFill/>
              </a:ln>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19690514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789" y="1295400"/>
            <a:ext cx="10438911" cy="990600"/>
          </a:xfrm>
        </p:spPr>
        <p:txBody>
          <a:bodyPr/>
          <a:lstStyle/>
          <a:p>
            <a:pPr>
              <a:lnSpc>
                <a:spcPct val="150000"/>
              </a:lnSpc>
            </a:pPr>
            <a:r>
              <a:rPr lang="en-US" sz="4000" b="1" dirty="0" smtClean="0">
                <a:latin typeface="Times New Roman" pitchFamily="18" charset="0"/>
                <a:cs typeface="Times New Roman" pitchFamily="18" charset="0"/>
              </a:rPr>
              <a:t>Chapter Outline</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1114835" y="2438400"/>
            <a:ext cx="9932168" cy="3810000"/>
          </a:xfrm>
        </p:spPr>
        <p:txBody>
          <a:bodyPr>
            <a:normAutofit/>
          </a:bodyPr>
          <a:lstStyle/>
          <a:p>
            <a:pPr algn="just">
              <a:lnSpc>
                <a:spcPct val="150000"/>
              </a:lnSpc>
            </a:pPr>
            <a:r>
              <a:rPr lang="en-US" sz="2800" dirty="0" smtClean="0">
                <a:latin typeface="Times New Roman" pitchFamily="18" charset="0"/>
                <a:cs typeface="Times New Roman" pitchFamily="18" charset="0"/>
              </a:rPr>
              <a:t>Chapter Objective </a:t>
            </a:r>
          </a:p>
          <a:p>
            <a:pPr marL="285750" lvl="1">
              <a:lnSpc>
                <a:spcPct val="150000"/>
              </a:lnSpc>
            </a:pPr>
            <a:r>
              <a:rPr lang="en-US" sz="2400" dirty="0" smtClean="0">
                <a:latin typeface="Times New Roman" pitchFamily="18" charset="0"/>
                <a:cs typeface="Times New Roman" pitchFamily="18" charset="0"/>
              </a:rPr>
              <a:t>PPP 1.1:Goals of an Antimicrobial Stewardship Program </a:t>
            </a:r>
          </a:p>
          <a:p>
            <a:pPr marL="285750" lvl="1">
              <a:lnSpc>
                <a:spcPct val="150000"/>
              </a:lnSpc>
            </a:pPr>
            <a:r>
              <a:rPr lang="en-US" sz="2400" dirty="0" smtClean="0">
                <a:latin typeface="Times New Roman" pitchFamily="18" charset="0"/>
                <a:cs typeface="Times New Roman" pitchFamily="18" charset="0"/>
              </a:rPr>
              <a:t>PPP 1.2:Core Elements of an Antibiotic Stewardship Program  </a:t>
            </a:r>
          </a:p>
          <a:p>
            <a:pPr marL="285750" lvl="1">
              <a:lnSpc>
                <a:spcPct val="150000"/>
              </a:lnSpc>
            </a:pPr>
            <a:r>
              <a:rPr lang="en-US" sz="2400" dirty="0" smtClean="0">
                <a:latin typeface="Times New Roman" pitchFamily="18" charset="0"/>
                <a:cs typeface="Times New Roman" pitchFamily="18" charset="0"/>
              </a:rPr>
              <a:t>PPP 1.3:Intervention Modalities for Implementing AMS program</a:t>
            </a:r>
          </a:p>
          <a:p>
            <a:pPr>
              <a:lnSpc>
                <a:spcPct val="160000"/>
              </a:lnSpc>
            </a:pPr>
            <a:endParaRPr lang="en-US" dirty="0" smtClean="0"/>
          </a:p>
        </p:txBody>
      </p:sp>
    </p:spTree>
    <p:extLst>
      <p:ext uri="{BB962C8B-B14F-4D97-AF65-F5344CB8AC3E}">
        <p14:creationId xmlns:p14="http://schemas.microsoft.com/office/powerpoint/2010/main" val="19251976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b="1" dirty="0" smtClean="0">
                <a:latin typeface="Times New Roman" pitchFamily="18" charset="0"/>
                <a:cs typeface="Times New Roman" pitchFamily="18" charset="0"/>
              </a:rPr>
              <a:t/>
            </a:r>
            <a:br>
              <a:rPr lang="en-US" sz="4000" b="1" dirty="0" smtClean="0">
                <a:latin typeface="Times New Roman" pitchFamily="18" charset="0"/>
                <a:cs typeface="Times New Roman" pitchFamily="18" charset="0"/>
              </a:rPr>
            </a:br>
            <a:r>
              <a:rPr lang="en-US" sz="4000" b="1" dirty="0" smtClean="0">
                <a:latin typeface="Times New Roman" pitchFamily="18" charset="0"/>
                <a:cs typeface="Times New Roman" pitchFamily="18" charset="0"/>
              </a:rPr>
              <a:t>Chapter Content</a:t>
            </a:r>
            <a:r>
              <a:rPr lang="en-US" sz="3990" dirty="0"/>
              <a:t/>
            </a:r>
            <a:br>
              <a:rPr lang="en-US" sz="3990" dirty="0"/>
            </a:br>
            <a:endParaRPr lang="en-US" dirty="0"/>
          </a:p>
        </p:txBody>
      </p:sp>
      <p:sp>
        <p:nvSpPr>
          <p:cNvPr id="3" name="Content Placeholder 2"/>
          <p:cNvSpPr>
            <a:spLocks noGrp="1"/>
          </p:cNvSpPr>
          <p:nvPr>
            <p:ph idx="1"/>
          </p:nvPr>
        </p:nvSpPr>
        <p:spPr>
          <a:xfrm>
            <a:off x="836127" y="2650538"/>
            <a:ext cx="10489585" cy="3519627"/>
          </a:xfrm>
        </p:spPr>
        <p:txBody>
          <a:bodyPr>
            <a:normAutofit/>
          </a:bodyPr>
          <a:lstStyle/>
          <a:p>
            <a:pPr lvl="1">
              <a:lnSpc>
                <a:spcPct val="150000"/>
              </a:lnSpc>
            </a:pPr>
            <a:r>
              <a:rPr lang="en-US" sz="2400" dirty="0">
                <a:latin typeface="Times New Roman" pitchFamily="18" charset="0"/>
                <a:cs typeface="Times New Roman" pitchFamily="18" charset="0"/>
              </a:rPr>
              <a:t>Goals of an Antimicrobial Stewardship Program </a:t>
            </a:r>
          </a:p>
          <a:p>
            <a:pPr lvl="1">
              <a:lnSpc>
                <a:spcPct val="150000"/>
              </a:lnSpc>
            </a:pPr>
            <a:r>
              <a:rPr lang="en-US" sz="2400" dirty="0">
                <a:latin typeface="Times New Roman" pitchFamily="18" charset="0"/>
                <a:cs typeface="Times New Roman" pitchFamily="18" charset="0"/>
              </a:rPr>
              <a:t>Core Elements of an Antibiotic Stewardship Program  </a:t>
            </a:r>
          </a:p>
          <a:p>
            <a:pPr lvl="1">
              <a:lnSpc>
                <a:spcPct val="150000"/>
              </a:lnSpc>
            </a:pPr>
            <a:r>
              <a:rPr lang="en-US" sz="2400" dirty="0">
                <a:latin typeface="Times New Roman" pitchFamily="18" charset="0"/>
                <a:cs typeface="Times New Roman" pitchFamily="18" charset="0"/>
              </a:rPr>
              <a:t>Intervention Modalities for Implementing AMS program</a:t>
            </a:r>
          </a:p>
        </p:txBody>
      </p:sp>
    </p:spTree>
    <p:extLst>
      <p:ext uri="{BB962C8B-B14F-4D97-AF65-F5344CB8AC3E}">
        <p14:creationId xmlns:p14="http://schemas.microsoft.com/office/powerpoint/2010/main" val="900262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ct val="150000"/>
              </a:lnSpc>
            </a:pPr>
            <a:r>
              <a:rPr lang="en-US" sz="4000" dirty="0" smtClean="0">
                <a:latin typeface="Times New Roman" pitchFamily="18" charset="0"/>
                <a:cs typeface="Times New Roman" pitchFamily="18" charset="0"/>
              </a:rPr>
              <a:t/>
            </a:r>
            <a:br>
              <a:rPr lang="en-US" sz="4000" dirty="0" smtClean="0">
                <a:latin typeface="Times New Roman" pitchFamily="18" charset="0"/>
                <a:cs typeface="Times New Roman" pitchFamily="18" charset="0"/>
              </a:rPr>
            </a:br>
            <a:r>
              <a:rPr lang="en-US" sz="4000" dirty="0" smtClean="0">
                <a:latin typeface="Times New Roman" pitchFamily="18" charset="0"/>
                <a:cs typeface="Times New Roman" pitchFamily="18" charset="0"/>
              </a:rPr>
              <a:t>Learning </a:t>
            </a:r>
            <a:r>
              <a:rPr lang="en-US" sz="4000" dirty="0">
                <a:latin typeface="Times New Roman" pitchFamily="18" charset="0"/>
                <a:cs typeface="Times New Roman" pitchFamily="18" charset="0"/>
              </a:rPr>
              <a:t>Objectives</a:t>
            </a:r>
            <a:br>
              <a:rPr lang="en-US" sz="4000" dirty="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25000" lnSpcReduction="20000"/>
          </a:bodyPr>
          <a:lstStyle/>
          <a:p>
            <a:pPr marL="0" indent="0">
              <a:buNone/>
            </a:pPr>
            <a:endParaRPr lang="en-US" dirty="0"/>
          </a:p>
          <a:p>
            <a:pPr>
              <a:lnSpc>
                <a:spcPct val="170000"/>
              </a:lnSpc>
              <a:buNone/>
            </a:pPr>
            <a:r>
              <a:rPr lang="en-US" sz="9600" b="1" dirty="0">
                <a:latin typeface="Times New Roman" panose="02020603050405020304" pitchFamily="18" charset="0"/>
                <a:cs typeface="Times New Roman" panose="02020603050405020304" pitchFamily="18" charset="0"/>
              </a:rPr>
              <a:t>By the end of this chapter participants will be able to</a:t>
            </a:r>
            <a:r>
              <a:rPr lang="en-US" sz="5600" b="1" dirty="0">
                <a:latin typeface="Times New Roman" panose="02020603050405020304" pitchFamily="18" charset="0"/>
                <a:cs typeface="Times New Roman" panose="02020603050405020304" pitchFamily="18" charset="0"/>
              </a:rPr>
              <a:t>:</a:t>
            </a:r>
          </a:p>
          <a:p>
            <a:pPr>
              <a:lnSpc>
                <a:spcPct val="170000"/>
              </a:lnSpc>
            </a:pPr>
            <a:r>
              <a:rPr lang="en-US" sz="9600" dirty="0">
                <a:latin typeface="Times New Roman" panose="02020603050405020304" pitchFamily="18" charset="0"/>
                <a:cs typeface="Times New Roman" panose="02020603050405020304" pitchFamily="18" charset="0"/>
              </a:rPr>
              <a:t>Describe the Goals of an Antimicrobial Stewardship </a:t>
            </a:r>
            <a:r>
              <a:rPr lang="en-US" sz="9600" dirty="0" smtClean="0">
                <a:latin typeface="Times New Roman" panose="02020603050405020304" pitchFamily="18" charset="0"/>
                <a:cs typeface="Times New Roman" panose="02020603050405020304" pitchFamily="18" charset="0"/>
              </a:rPr>
              <a:t>Program</a:t>
            </a:r>
            <a:r>
              <a:rPr lang="en-US" sz="9600" b="1" dirty="0" smtClean="0">
                <a:latin typeface="Times New Roman" panose="02020603050405020304" pitchFamily="18" charset="0"/>
                <a:cs typeface="Times New Roman" panose="02020603050405020304" pitchFamily="18" charset="0"/>
              </a:rPr>
              <a:t> </a:t>
            </a:r>
            <a:endParaRPr lang="en-US" sz="9600" dirty="0">
              <a:latin typeface="Times New Roman" panose="02020603050405020304" pitchFamily="18" charset="0"/>
              <a:cs typeface="Times New Roman" panose="02020603050405020304" pitchFamily="18" charset="0"/>
            </a:endParaRPr>
          </a:p>
          <a:p>
            <a:pPr>
              <a:lnSpc>
                <a:spcPct val="170000"/>
              </a:lnSpc>
            </a:pPr>
            <a:r>
              <a:rPr lang="en-US" sz="9600" dirty="0">
                <a:latin typeface="Times New Roman" panose="02020603050405020304" pitchFamily="18" charset="0"/>
                <a:cs typeface="Times New Roman" panose="02020603050405020304" pitchFamily="18" charset="0"/>
              </a:rPr>
              <a:t>Identify the  core elements of an Antibiotic Stewardship Program</a:t>
            </a:r>
          </a:p>
          <a:p>
            <a:pPr>
              <a:lnSpc>
                <a:spcPct val="170000"/>
              </a:lnSpc>
            </a:pPr>
            <a:r>
              <a:rPr lang="en-US" sz="9600" dirty="0">
                <a:latin typeface="Times New Roman" panose="02020603050405020304" pitchFamily="18" charset="0"/>
                <a:cs typeface="Times New Roman" panose="02020603050405020304" pitchFamily="18" charset="0"/>
              </a:rPr>
              <a:t>Describe the</a:t>
            </a:r>
            <a:r>
              <a:rPr lang="en-US" sz="9600" i="1" dirty="0">
                <a:latin typeface="Times New Roman" panose="02020603050405020304" pitchFamily="18" charset="0"/>
                <a:cs typeface="Times New Roman" panose="02020603050405020304" pitchFamily="18" charset="0"/>
              </a:rPr>
              <a:t> </a:t>
            </a:r>
            <a:r>
              <a:rPr lang="en-US" sz="9600" dirty="0">
                <a:latin typeface="Times New Roman" panose="02020603050405020304" pitchFamily="18" charset="0"/>
                <a:cs typeface="Times New Roman" panose="02020603050405020304" pitchFamily="18" charset="0"/>
              </a:rPr>
              <a:t>Intervention Modalities for Implementing AMS </a:t>
            </a:r>
            <a:r>
              <a:rPr lang="en-US" sz="9600" dirty="0" smtClean="0">
                <a:latin typeface="Times New Roman" panose="02020603050405020304" pitchFamily="18" charset="0"/>
                <a:cs typeface="Times New Roman" panose="02020603050405020304" pitchFamily="18" charset="0"/>
              </a:rPr>
              <a:t>program</a:t>
            </a:r>
            <a:endParaRPr lang="en-US" sz="9600" dirty="0">
              <a:latin typeface="Times New Roman" panose="02020603050405020304" pitchFamily="18" charset="0"/>
              <a:cs typeface="Times New Roman" panose="02020603050405020304" pitchFamily="18" charset="0"/>
            </a:endParaRPr>
          </a:p>
          <a:p>
            <a:pPr marL="0" indent="0">
              <a:buNone/>
            </a:pPr>
            <a:endParaRPr lang="en-US" dirty="0"/>
          </a:p>
          <a:p>
            <a:endParaRPr lang="en-US" dirty="0"/>
          </a:p>
        </p:txBody>
      </p:sp>
    </p:spTree>
    <p:extLst>
      <p:ext uri="{BB962C8B-B14F-4D97-AF65-F5344CB8AC3E}">
        <p14:creationId xmlns:p14="http://schemas.microsoft.com/office/powerpoint/2010/main" val="3744573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b="1" dirty="0" smtClean="0">
                <a:latin typeface="Times New Roman" pitchFamily="18" charset="0"/>
                <a:cs typeface="Times New Roman" pitchFamily="18" charset="0"/>
              </a:rPr>
              <a:t>Overview</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836127" y="2634811"/>
            <a:ext cx="10489585" cy="3535354"/>
          </a:xfrm>
        </p:spPr>
        <p:txBody>
          <a:bodyPr>
            <a:normAutofit/>
          </a:bodyPr>
          <a:lstStyle/>
          <a:p>
            <a:pPr algn="just">
              <a:lnSpc>
                <a:spcPct val="150000"/>
              </a:lnSpc>
            </a:pPr>
            <a:r>
              <a:rPr lang="en-US" sz="2400" dirty="0" smtClean="0">
                <a:latin typeface="Times New Roman" pitchFamily="18" charset="0"/>
                <a:cs typeface="Times New Roman" pitchFamily="18" charset="0"/>
              </a:rPr>
              <a:t>Antibiotic </a:t>
            </a:r>
            <a:r>
              <a:rPr lang="en-US" sz="2400" dirty="0">
                <a:latin typeface="Times New Roman" pitchFamily="18" charset="0"/>
                <a:cs typeface="Times New Roman" pitchFamily="18" charset="0"/>
              </a:rPr>
              <a:t>stewardship programs are coordinated interventions at the health care facility level intended to monitor and improve the appropriate use of antibiotics by encouraging the selection of the optimal drug regimen, dose, duration of therapy, and route of </a:t>
            </a:r>
            <a:r>
              <a:rPr lang="en-US" sz="2400" dirty="0" smtClean="0">
                <a:latin typeface="Times New Roman" pitchFamily="18" charset="0"/>
                <a:cs typeface="Times New Roman" pitchFamily="18" charset="0"/>
              </a:rPr>
              <a:t>administration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gn="just"/>
            <a:endParaRPr lang="en-US" dirty="0"/>
          </a:p>
        </p:txBody>
      </p:sp>
    </p:spTree>
    <p:extLst>
      <p:ext uri="{BB962C8B-B14F-4D97-AF65-F5344CB8AC3E}">
        <p14:creationId xmlns:p14="http://schemas.microsoft.com/office/powerpoint/2010/main" val="1025587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624" y="372705"/>
            <a:ext cx="11543262" cy="1322284"/>
          </a:xfrm>
        </p:spPr>
        <p:txBody>
          <a:bodyPr/>
          <a:lstStyle/>
          <a:p>
            <a:pPr>
              <a:lnSpc>
                <a:spcPct val="150000"/>
              </a:lnSpc>
            </a:pP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Antibiotic stewardship programs are designed to</a:t>
            </a:r>
            <a:r>
              <a:rPr lang="en-US" sz="4400" dirty="0" smtClean="0"/>
              <a:t>:</a:t>
            </a:r>
            <a:endParaRPr lang="en-US" sz="4400" dirty="0"/>
          </a:p>
        </p:txBody>
      </p:sp>
      <p:sp>
        <p:nvSpPr>
          <p:cNvPr id="3" name="Content Placeholder 2"/>
          <p:cNvSpPr>
            <a:spLocks noGrp="1"/>
          </p:cNvSpPr>
          <p:nvPr>
            <p:ph idx="1"/>
          </p:nvPr>
        </p:nvSpPr>
        <p:spPr/>
        <p:txBody>
          <a:bodyPr>
            <a:normAutofit fontScale="62500" lnSpcReduction="20000"/>
          </a:bodyPr>
          <a:lstStyle/>
          <a:p>
            <a:pPr marL="0" indent="0">
              <a:buNone/>
            </a:pPr>
            <a:endParaRPr lang="en-US" dirty="0"/>
          </a:p>
          <a:p>
            <a:pPr lvl="0">
              <a:lnSpc>
                <a:spcPct val="170000"/>
              </a:lnSpc>
            </a:pPr>
            <a:r>
              <a:rPr lang="en-US" dirty="0">
                <a:latin typeface="Times New Roman" pitchFamily="18" charset="0"/>
                <a:cs typeface="Times New Roman" pitchFamily="18" charset="0"/>
              </a:rPr>
              <a:t>Achieve optimal clinical outcomes associated with antibiotic use </a:t>
            </a:r>
          </a:p>
          <a:p>
            <a:pPr lvl="0">
              <a:lnSpc>
                <a:spcPct val="170000"/>
              </a:lnSpc>
            </a:pPr>
            <a:r>
              <a:rPr lang="en-US" dirty="0">
                <a:latin typeface="Times New Roman" pitchFamily="18" charset="0"/>
                <a:cs typeface="Times New Roman" pitchFamily="18" charset="0"/>
              </a:rPr>
              <a:t>Minimize adverse events</a:t>
            </a:r>
          </a:p>
          <a:p>
            <a:pPr lvl="0">
              <a:lnSpc>
                <a:spcPct val="170000"/>
              </a:lnSpc>
            </a:pPr>
            <a:r>
              <a:rPr lang="en-US" dirty="0">
                <a:latin typeface="Times New Roman" pitchFamily="18" charset="0"/>
                <a:cs typeface="Times New Roman" pitchFamily="18" charset="0"/>
              </a:rPr>
              <a:t>Reduce infection-related health care costs </a:t>
            </a:r>
          </a:p>
          <a:p>
            <a:pPr lvl="0">
              <a:lnSpc>
                <a:spcPct val="170000"/>
              </a:lnSpc>
            </a:pPr>
            <a:r>
              <a:rPr lang="en-US" dirty="0">
                <a:latin typeface="Times New Roman" pitchFamily="18" charset="0"/>
                <a:cs typeface="Times New Roman" pitchFamily="18" charset="0"/>
              </a:rPr>
              <a:t>Reduce antibiotic resistance</a:t>
            </a:r>
          </a:p>
          <a:p>
            <a:pPr lvl="0">
              <a:lnSpc>
                <a:spcPct val="170000"/>
              </a:lnSpc>
            </a:pPr>
            <a:r>
              <a:rPr lang="en-US" dirty="0">
                <a:latin typeface="Times New Roman" pitchFamily="18" charset="0"/>
                <a:cs typeface="Times New Roman" pitchFamily="18" charset="0"/>
              </a:rPr>
              <a:t>Prevent the creation of antibiotic-resistant strains</a:t>
            </a:r>
          </a:p>
          <a:p>
            <a:endParaRPr lang="en-US" dirty="0"/>
          </a:p>
          <a:p>
            <a:endParaRPr lang="en-US" dirty="0"/>
          </a:p>
        </p:txBody>
      </p:sp>
    </p:spTree>
    <p:extLst>
      <p:ext uri="{BB962C8B-B14F-4D97-AF65-F5344CB8AC3E}">
        <p14:creationId xmlns:p14="http://schemas.microsoft.com/office/powerpoint/2010/main" val="393941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72705"/>
            <a:ext cx="12161838" cy="1322284"/>
          </a:xfrm>
        </p:spPr>
        <p:txBody>
          <a:bodyPr/>
          <a:lstStyle/>
          <a:p>
            <a:pPr>
              <a:lnSpc>
                <a:spcPct val="150000"/>
              </a:lnSpc>
            </a:pPr>
            <a:r>
              <a:rPr lang="en-US" sz="2800" dirty="0" smtClean="0">
                <a:latin typeface="Times New Roman" pitchFamily="18" charset="0"/>
                <a:cs typeface="Times New Roman" pitchFamily="18" charset="0"/>
              </a:rPr>
              <a:t>The goals of an antibiotic stewardship program should inclu</a:t>
            </a:r>
            <a:r>
              <a:rPr lang="en-US" sz="3200" dirty="0" smtClean="0">
                <a:latin typeface="Times New Roman" pitchFamily="18" charset="0"/>
                <a:cs typeface="Times New Roman" pitchFamily="18" charset="0"/>
              </a:rPr>
              <a:t>de</a:t>
            </a:r>
            <a:r>
              <a:rPr lang="en-US" dirty="0" smtClean="0"/>
              <a:t>:</a:t>
            </a:r>
            <a:endParaRPr lang="en-US" dirty="0"/>
          </a:p>
        </p:txBody>
      </p:sp>
      <p:sp>
        <p:nvSpPr>
          <p:cNvPr id="3" name="Content Placeholder 2"/>
          <p:cNvSpPr>
            <a:spLocks noGrp="1"/>
          </p:cNvSpPr>
          <p:nvPr>
            <p:ph idx="1"/>
          </p:nvPr>
        </p:nvSpPr>
        <p:spPr/>
        <p:txBody>
          <a:bodyPr>
            <a:normAutofit fontScale="55000" lnSpcReduction="20000"/>
          </a:bodyPr>
          <a:lstStyle/>
          <a:p>
            <a:pPr marL="0" indent="0" algn="just">
              <a:buNone/>
            </a:pPr>
            <a:endParaRPr lang="en-US" dirty="0"/>
          </a:p>
          <a:p>
            <a:pPr lvl="0">
              <a:lnSpc>
                <a:spcPct val="170000"/>
              </a:lnSpc>
            </a:pPr>
            <a:r>
              <a:rPr lang="en-US" sz="4400" dirty="0">
                <a:latin typeface="Times New Roman" pitchFamily="18" charset="0"/>
                <a:cs typeface="Times New Roman" pitchFamily="18" charset="0"/>
              </a:rPr>
              <a:t>Optimization of clinical outcomes while minimizing unintended consequences of antibiotic use, such as toxicity and selection of pathogenic organisms (e.g., </a:t>
            </a:r>
            <a:r>
              <a:rPr lang="en-US" sz="4400" i="1" dirty="0">
                <a:latin typeface="Times New Roman" pitchFamily="18" charset="0"/>
                <a:cs typeface="Times New Roman" pitchFamily="18" charset="0"/>
              </a:rPr>
              <a:t>Clostridium </a:t>
            </a:r>
            <a:r>
              <a:rPr lang="en-US" sz="4400" i="1" dirty="0" err="1">
                <a:latin typeface="Times New Roman" pitchFamily="18" charset="0"/>
                <a:cs typeface="Times New Roman" pitchFamily="18" charset="0"/>
              </a:rPr>
              <a:t>difficile</a:t>
            </a:r>
            <a:r>
              <a:rPr lang="en-US" sz="4400" dirty="0" smtClean="0">
                <a:latin typeface="Times New Roman" pitchFamily="18" charset="0"/>
                <a:cs typeface="Times New Roman" pitchFamily="18" charset="0"/>
              </a:rPr>
              <a:t>)</a:t>
            </a:r>
            <a:endParaRPr lang="en-US" sz="4400" dirty="0">
              <a:latin typeface="Times New Roman" pitchFamily="18" charset="0"/>
              <a:cs typeface="Times New Roman" pitchFamily="18" charset="0"/>
            </a:endParaRPr>
          </a:p>
          <a:p>
            <a:pPr lvl="0">
              <a:lnSpc>
                <a:spcPct val="170000"/>
              </a:lnSpc>
            </a:pPr>
            <a:r>
              <a:rPr lang="en-US" sz="4400" dirty="0">
                <a:latin typeface="Times New Roman" pitchFamily="18" charset="0"/>
                <a:cs typeface="Times New Roman" pitchFamily="18" charset="0"/>
              </a:rPr>
              <a:t>Reduction of health care costs without an adverse impact on quality of care </a:t>
            </a:r>
          </a:p>
          <a:p>
            <a:endParaRPr lang="en-US" dirty="0"/>
          </a:p>
        </p:txBody>
      </p:sp>
    </p:spTree>
    <p:extLst>
      <p:ext uri="{BB962C8B-B14F-4D97-AF65-F5344CB8AC3E}">
        <p14:creationId xmlns:p14="http://schemas.microsoft.com/office/powerpoint/2010/main" val="4047566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72705"/>
            <a:ext cx="11779159" cy="1322284"/>
          </a:xfrm>
        </p:spPr>
        <p:txBody>
          <a:bodyPr>
            <a:normAutofit fontScale="90000"/>
          </a:bodyPr>
          <a:lstStyle/>
          <a:p>
            <a:pPr>
              <a:lnSpc>
                <a:spcPct val="150000"/>
              </a:lnSpc>
            </a:pPr>
            <a:r>
              <a:rPr lang="en-US" sz="4000" b="1" dirty="0" smtClean="0">
                <a:latin typeface="Times New Roman" pitchFamily="18" charset="0"/>
                <a:cs typeface="Times New Roman" pitchFamily="18" charset="0"/>
              </a:rPr>
              <a:t/>
            </a:r>
            <a:br>
              <a:rPr lang="en-US" sz="4000" b="1" dirty="0" smtClean="0">
                <a:latin typeface="Times New Roman" pitchFamily="18" charset="0"/>
                <a:cs typeface="Times New Roman" pitchFamily="18" charset="0"/>
              </a:rPr>
            </a:br>
            <a:r>
              <a:rPr lang="en-US" sz="4000" dirty="0" smtClean="0">
                <a:latin typeface="Times New Roman" pitchFamily="18" charset="0"/>
                <a:cs typeface="Times New Roman" pitchFamily="18" charset="0"/>
              </a:rPr>
              <a:t/>
            </a:r>
            <a:br>
              <a:rPr lang="en-US" sz="4000" dirty="0" smtClean="0">
                <a:latin typeface="Times New Roman" pitchFamily="18" charset="0"/>
                <a:cs typeface="Times New Roman" pitchFamily="18" charset="0"/>
              </a:rPr>
            </a:br>
            <a:r>
              <a:rPr lang="en-US" sz="3600" b="1" dirty="0" smtClean="0">
                <a:latin typeface="Times New Roman" pitchFamily="18" charset="0"/>
                <a:cs typeface="Times New Roman" pitchFamily="18" charset="0"/>
              </a:rPr>
              <a:t>Core Elements of an Antibiotic Stewardship Program</a:t>
            </a:r>
            <a:r>
              <a:rPr lang="en-US" b="1" dirty="0" smtClean="0"/>
              <a:t/>
            </a:r>
            <a:br>
              <a:rPr lang="en-US" b="1" dirty="0" smtClean="0"/>
            </a:br>
            <a:endParaRPr lang="en-US" dirty="0"/>
          </a:p>
        </p:txBody>
      </p:sp>
      <p:sp>
        <p:nvSpPr>
          <p:cNvPr id="3" name="Content Placeholder 2"/>
          <p:cNvSpPr>
            <a:spLocks noGrp="1"/>
          </p:cNvSpPr>
          <p:nvPr>
            <p:ph idx="1"/>
          </p:nvPr>
        </p:nvSpPr>
        <p:spPr>
          <a:xfrm>
            <a:off x="1289574" y="2273101"/>
            <a:ext cx="10489585" cy="3944243"/>
          </a:xfrm>
        </p:spPr>
        <p:txBody>
          <a:bodyPr>
            <a:normAutofit/>
          </a:bodyPr>
          <a:lstStyle/>
          <a:p>
            <a:pPr lvl="0">
              <a:lnSpc>
                <a:spcPct val="150000"/>
              </a:lnSpc>
            </a:pPr>
            <a:r>
              <a:rPr lang="en-US" sz="2600" dirty="0" smtClean="0">
                <a:latin typeface="Times New Roman" pitchFamily="18" charset="0"/>
                <a:cs typeface="Times New Roman" pitchFamily="18" charset="0"/>
              </a:rPr>
              <a:t>Leadership </a:t>
            </a:r>
            <a:r>
              <a:rPr lang="en-US" sz="2600" dirty="0">
                <a:latin typeface="Times New Roman" pitchFamily="18" charset="0"/>
                <a:cs typeface="Times New Roman" pitchFamily="18" charset="0"/>
              </a:rPr>
              <a:t>commitment</a:t>
            </a:r>
          </a:p>
          <a:p>
            <a:pPr lvl="0">
              <a:lnSpc>
                <a:spcPct val="150000"/>
              </a:lnSpc>
            </a:pPr>
            <a:r>
              <a:rPr lang="en-US" sz="2600" dirty="0">
                <a:latin typeface="Times New Roman" pitchFamily="18" charset="0"/>
                <a:cs typeface="Times New Roman" pitchFamily="18" charset="0"/>
              </a:rPr>
              <a:t>Accountability and drug expertise</a:t>
            </a:r>
          </a:p>
          <a:p>
            <a:pPr lvl="0">
              <a:lnSpc>
                <a:spcPct val="150000"/>
              </a:lnSpc>
            </a:pPr>
            <a:r>
              <a:rPr lang="en-US" sz="2600" dirty="0">
                <a:latin typeface="Times New Roman" pitchFamily="18" charset="0"/>
                <a:cs typeface="Times New Roman" pitchFamily="18" charset="0"/>
              </a:rPr>
              <a:t>Implementation of policies and interventions</a:t>
            </a:r>
          </a:p>
          <a:p>
            <a:pPr lvl="0">
              <a:lnSpc>
                <a:spcPct val="150000"/>
              </a:lnSpc>
            </a:pPr>
            <a:r>
              <a:rPr lang="en-US" sz="2600" dirty="0">
                <a:latin typeface="Times New Roman" pitchFamily="18" charset="0"/>
                <a:cs typeface="Times New Roman" pitchFamily="18" charset="0"/>
              </a:rPr>
              <a:t>Tracking and reporting antibiotic use and outcomes</a:t>
            </a:r>
          </a:p>
          <a:p>
            <a:pPr lvl="0">
              <a:lnSpc>
                <a:spcPct val="150000"/>
              </a:lnSpc>
            </a:pPr>
            <a:r>
              <a:rPr lang="en-US" sz="2600" dirty="0">
                <a:latin typeface="Times New Roman" pitchFamily="18" charset="0"/>
                <a:cs typeface="Times New Roman" pitchFamily="18" charset="0"/>
              </a:rPr>
              <a:t>Education</a:t>
            </a:r>
          </a:p>
          <a:p>
            <a:endParaRPr lang="en-US" dirty="0"/>
          </a:p>
        </p:txBody>
      </p:sp>
    </p:spTree>
    <p:extLst>
      <p:ext uri="{BB962C8B-B14F-4D97-AF65-F5344CB8AC3E}">
        <p14:creationId xmlns:p14="http://schemas.microsoft.com/office/powerpoint/2010/main" val="3561310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72705"/>
            <a:ext cx="12030784" cy="1322284"/>
          </a:xfrm>
        </p:spPr>
        <p:txBody>
          <a:bodyPr>
            <a:noAutofit/>
          </a:bodyPr>
          <a:lstStyle/>
          <a:p>
            <a:pPr>
              <a:lnSpc>
                <a:spcPct val="150000"/>
              </a:lnSpc>
            </a:pPr>
            <a:r>
              <a:rPr lang="en-US" sz="3200" b="1" dirty="0" smtClean="0">
                <a:latin typeface="Times New Roman" pitchFamily="18" charset="0"/>
                <a:cs typeface="Times New Roman" pitchFamily="18" charset="0"/>
              </a:rPr>
              <a:t/>
            </a:r>
            <a:br>
              <a:rPr lang="en-US" sz="3200" b="1"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b="1" dirty="0" smtClean="0">
                <a:latin typeface="Times New Roman" pitchFamily="18" charset="0"/>
                <a:cs typeface="Times New Roman" pitchFamily="18" charset="0"/>
              </a:rPr>
              <a:t>Intervention </a:t>
            </a:r>
            <a:r>
              <a:rPr lang="en-US" sz="3200" b="1" dirty="0">
                <a:latin typeface="Times New Roman" pitchFamily="18" charset="0"/>
                <a:cs typeface="Times New Roman" pitchFamily="18" charset="0"/>
              </a:rPr>
              <a:t>Modalities for Implementing AMS </a:t>
            </a:r>
            <a:r>
              <a:rPr lang="en-US" sz="3200" b="1" dirty="0" smtClean="0">
                <a:latin typeface="Times New Roman" pitchFamily="18" charset="0"/>
                <a:cs typeface="Times New Roman" pitchFamily="18" charset="0"/>
              </a:rPr>
              <a:t>program</a:t>
            </a:r>
            <a:r>
              <a:rPr lang="en-US" sz="3200" i="1" dirty="0">
                <a:latin typeface="Times New Roman" pitchFamily="18" charset="0"/>
                <a:cs typeface="Times New Roman" pitchFamily="18" charset="0"/>
              </a:rPr>
              <a:t/>
            </a:r>
            <a:br>
              <a:rPr lang="en-US" sz="3200" i="1"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836127" y="2446093"/>
            <a:ext cx="10489585" cy="3724072"/>
          </a:xfrm>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Antibiotic </a:t>
            </a:r>
            <a:r>
              <a:rPr lang="en-US" sz="2400" dirty="0" smtClean="0">
                <a:latin typeface="Times New Roman" panose="02020603050405020304" pitchFamily="18" charset="0"/>
                <a:cs typeface="Times New Roman" panose="02020603050405020304" pitchFamily="18" charset="0"/>
              </a:rPr>
              <a:t>time-outs</a:t>
            </a:r>
          </a:p>
          <a:p>
            <a:pPr>
              <a:lnSpc>
                <a:spcPct val="150000"/>
              </a:lnSpc>
            </a:pPr>
            <a:r>
              <a:rPr lang="en-US" sz="2400" dirty="0">
                <a:latin typeface="Times New Roman" panose="02020603050405020304" pitchFamily="18" charset="0"/>
                <a:cs typeface="Times New Roman" panose="02020603050405020304" pitchFamily="18" charset="0"/>
              </a:rPr>
              <a:t>Prior authorization</a:t>
            </a:r>
          </a:p>
          <a:p>
            <a:pPr>
              <a:lnSpc>
                <a:spcPct val="150000"/>
              </a:lnSpc>
            </a:pPr>
            <a:r>
              <a:rPr lang="en-US" sz="2400" dirty="0">
                <a:latin typeface="Times New Roman" panose="02020603050405020304" pitchFamily="18" charset="0"/>
                <a:cs typeface="Times New Roman" panose="02020603050405020304" pitchFamily="18" charset="0"/>
              </a:rPr>
              <a:t>Prospective audits and feedback: </a:t>
            </a:r>
          </a:p>
          <a:p>
            <a:endParaRPr lang="en-US" sz="2800" dirty="0"/>
          </a:p>
        </p:txBody>
      </p:sp>
    </p:spTree>
    <p:extLst>
      <p:ext uri="{BB962C8B-B14F-4D97-AF65-F5344CB8AC3E}">
        <p14:creationId xmlns:p14="http://schemas.microsoft.com/office/powerpoint/2010/main" val="1768930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
            </a:r>
            <a:br>
              <a:rPr lang="en-US" sz="4000" dirty="0" smtClean="0">
                <a:latin typeface="Times New Roman" pitchFamily="18" charset="0"/>
                <a:cs typeface="Times New Roman" pitchFamily="18" charset="0"/>
              </a:rPr>
            </a:br>
            <a:r>
              <a:rPr lang="en-US" sz="4000" dirty="0" smtClean="0">
                <a:latin typeface="Times New Roman" pitchFamily="18" charset="0"/>
                <a:cs typeface="Times New Roman" pitchFamily="18" charset="0"/>
              </a:rPr>
              <a:t>Pharmacy-driven </a:t>
            </a:r>
            <a:r>
              <a:rPr lang="en-US" sz="4000" dirty="0">
                <a:latin typeface="Times New Roman" pitchFamily="18" charset="0"/>
                <a:cs typeface="Times New Roman" pitchFamily="18" charset="0"/>
              </a:rPr>
              <a:t>interventions</a:t>
            </a:r>
            <a:br>
              <a:rPr lang="en-US" sz="4000" dirty="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lnSpc>
                <a:spcPct val="170000"/>
              </a:lnSpc>
            </a:pPr>
            <a:r>
              <a:rPr lang="en-US" dirty="0">
                <a:latin typeface="Times New Roman" pitchFamily="18" charset="0"/>
                <a:cs typeface="Times New Roman" pitchFamily="18" charset="0"/>
              </a:rPr>
              <a:t>Changing from parenteral (i.e., IV) to oral antibiotic </a:t>
            </a:r>
            <a:r>
              <a:rPr lang="en-US" dirty="0" smtClean="0">
                <a:latin typeface="Times New Roman" pitchFamily="18" charset="0"/>
                <a:cs typeface="Times New Roman" pitchFamily="18" charset="0"/>
              </a:rPr>
              <a:t>therapy</a:t>
            </a:r>
          </a:p>
          <a:p>
            <a:pPr>
              <a:lnSpc>
                <a:spcPct val="170000"/>
              </a:lnSpc>
            </a:pPr>
            <a:r>
              <a:rPr lang="en-US" dirty="0">
                <a:latin typeface="Times New Roman" pitchFamily="18" charset="0"/>
                <a:cs typeface="Times New Roman" pitchFamily="18" charset="0"/>
              </a:rPr>
              <a:t>Adjusting dosage</a:t>
            </a:r>
          </a:p>
          <a:p>
            <a:pPr>
              <a:lnSpc>
                <a:spcPct val="170000"/>
              </a:lnSpc>
            </a:pPr>
            <a:r>
              <a:rPr lang="en-US" dirty="0">
                <a:latin typeface="Times New Roman" pitchFamily="18" charset="0"/>
                <a:cs typeface="Times New Roman" pitchFamily="18" charset="0"/>
              </a:rPr>
              <a:t>Optimizing dosage</a:t>
            </a:r>
          </a:p>
          <a:p>
            <a:pPr>
              <a:lnSpc>
                <a:spcPct val="170000"/>
              </a:lnSpc>
            </a:pPr>
            <a:r>
              <a:rPr lang="en-US" dirty="0">
                <a:latin typeface="Times New Roman" pitchFamily="18" charset="0"/>
                <a:cs typeface="Times New Roman" pitchFamily="18" charset="0"/>
              </a:rPr>
              <a:t>Avoiding therapeutic duplication</a:t>
            </a:r>
          </a:p>
          <a:p>
            <a:pPr>
              <a:lnSpc>
                <a:spcPct val="170000"/>
              </a:lnSpc>
            </a:pPr>
            <a:r>
              <a:rPr lang="en-US" dirty="0">
                <a:latin typeface="Times New Roman" pitchFamily="18" charset="0"/>
                <a:cs typeface="Times New Roman" pitchFamily="18" charset="0"/>
              </a:rPr>
              <a:t>Issuing time-sensitive automatic stop orders</a:t>
            </a:r>
          </a:p>
          <a:p>
            <a:pPr>
              <a:lnSpc>
                <a:spcPct val="170000"/>
              </a:lnSpc>
            </a:pPr>
            <a:r>
              <a:rPr lang="en-US" dirty="0">
                <a:latin typeface="Times New Roman" pitchFamily="18" charset="0"/>
                <a:cs typeface="Times New Roman" pitchFamily="18" charset="0"/>
              </a:rPr>
              <a:t>Detecting and preventing antibiotic-related drug interactions</a:t>
            </a:r>
          </a:p>
          <a:p>
            <a:endParaRPr lang="en-US" dirty="0"/>
          </a:p>
        </p:txBody>
      </p:sp>
    </p:spTree>
    <p:extLst>
      <p:ext uri="{BB962C8B-B14F-4D97-AF65-F5344CB8AC3E}">
        <p14:creationId xmlns:p14="http://schemas.microsoft.com/office/powerpoint/2010/main" val="2623286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3600" i="1" dirty="0" smtClean="0">
                <a:latin typeface="Times New Roman" pitchFamily="18" charset="0"/>
                <a:cs typeface="Times New Roman" pitchFamily="18" charset="0"/>
              </a:rPr>
              <a:t/>
            </a:r>
            <a:br>
              <a:rPr lang="en-US" sz="3600" i="1"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Infection- </a:t>
            </a:r>
            <a:r>
              <a:rPr lang="en-US" sz="3200" dirty="0">
                <a:latin typeface="Times New Roman" pitchFamily="18" charset="0"/>
                <a:cs typeface="Times New Roman" pitchFamily="18" charset="0"/>
              </a:rPr>
              <a:t>and syndrome-specific interventions</a:t>
            </a:r>
            <a:br>
              <a:rPr lang="en-US" sz="3200"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836127" y="2603357"/>
            <a:ext cx="10489585" cy="3566807"/>
          </a:xfrm>
        </p:spPr>
        <p:txBody>
          <a:bodyPr>
            <a:normAutofit/>
          </a:bodyPr>
          <a:lstStyle/>
          <a:p>
            <a:pPr>
              <a:lnSpc>
                <a:spcPct val="150000"/>
              </a:lnSpc>
            </a:pPr>
            <a:r>
              <a:rPr lang="en-US" sz="2800" dirty="0">
                <a:latin typeface="Times New Roman" pitchFamily="18" charset="0"/>
                <a:cs typeface="Times New Roman" pitchFamily="18" charset="0"/>
              </a:rPr>
              <a:t>Standard treatment guidelines for prescribing antibiotics for a given infection help avoid the use of multiple antibiotics for managing an infection that can be treated with a single, specific antibiotic.</a:t>
            </a:r>
          </a:p>
        </p:txBody>
      </p:sp>
    </p:spTree>
    <p:extLst>
      <p:ext uri="{BB962C8B-B14F-4D97-AF65-F5344CB8AC3E}">
        <p14:creationId xmlns:p14="http://schemas.microsoft.com/office/powerpoint/2010/main" val="3963868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087" y="507308"/>
            <a:ext cx="11089813" cy="1322284"/>
          </a:xfrm>
        </p:spPr>
        <p:txBody>
          <a:bodyPr/>
          <a:lstStyle/>
          <a:p>
            <a:pPr>
              <a:lnSpc>
                <a:spcPct val="150000"/>
              </a:lnSpc>
            </a:pP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Standard </a:t>
            </a:r>
            <a:r>
              <a:rPr lang="en-US" sz="3200" dirty="0">
                <a:latin typeface="Times New Roman" pitchFamily="18" charset="0"/>
                <a:cs typeface="Times New Roman" pitchFamily="18" charset="0"/>
              </a:rPr>
              <a:t>treatment guidelines include those for</a:t>
            </a:r>
            <a:r>
              <a:rPr lang="en-US" sz="4000" dirty="0" smtClean="0">
                <a:latin typeface="Times New Roman" pitchFamily="18" charset="0"/>
                <a:cs typeface="Times New Roman" pitchFamily="18" charset="0"/>
              </a:rPr>
              <a:t>: </a:t>
            </a:r>
            <a:r>
              <a:rPr lang="en-US" sz="4000" dirty="0">
                <a:latin typeface="Times New Roman" pitchFamily="18" charset="0"/>
                <a:cs typeface="Times New Roman" pitchFamily="18" charset="0"/>
              </a:rPr>
              <a:t/>
            </a:r>
            <a:br>
              <a:rPr lang="en-US" sz="4000" dirty="0">
                <a:latin typeface="Times New Roman" pitchFamily="18" charset="0"/>
                <a:cs typeface="Times New Roman" pitchFamily="18" charset="0"/>
              </a:rPr>
            </a:br>
            <a:r>
              <a:rPr lang="en-US" sz="4000" dirty="0" smtClean="0">
                <a:latin typeface="Times New Roman" pitchFamily="18" charset="0"/>
                <a:cs typeface="Times New Roman" pitchFamily="18" charset="0"/>
              </a:rPr>
              <a:t>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836127" y="2398914"/>
            <a:ext cx="10489585" cy="3771251"/>
          </a:xfrm>
        </p:spPr>
        <p:txBody>
          <a:bodyPr>
            <a:normAutofit fontScale="25000" lnSpcReduction="20000"/>
          </a:bodyPr>
          <a:lstStyle/>
          <a:p>
            <a:pPr lvl="0">
              <a:lnSpc>
                <a:spcPct val="170000"/>
              </a:lnSpc>
            </a:pPr>
            <a:r>
              <a:rPr lang="en-US" sz="7200" dirty="0" smtClean="0">
                <a:latin typeface="Times New Roman" pitchFamily="18" charset="0"/>
                <a:cs typeface="Times New Roman" pitchFamily="18" charset="0"/>
              </a:rPr>
              <a:t>Sexually </a:t>
            </a:r>
            <a:r>
              <a:rPr lang="en-US" sz="7200" dirty="0">
                <a:latin typeface="Times New Roman" pitchFamily="18" charset="0"/>
                <a:cs typeface="Times New Roman" pitchFamily="18" charset="0"/>
              </a:rPr>
              <a:t>transmitted infections</a:t>
            </a:r>
          </a:p>
          <a:p>
            <a:pPr lvl="0">
              <a:lnSpc>
                <a:spcPct val="170000"/>
              </a:lnSpc>
            </a:pPr>
            <a:r>
              <a:rPr lang="en-US" sz="7200" dirty="0">
                <a:latin typeface="Times New Roman" pitchFamily="18" charset="0"/>
                <a:cs typeface="Times New Roman" pitchFamily="18" charset="0"/>
              </a:rPr>
              <a:t>Community-acquired pneumonia</a:t>
            </a:r>
          </a:p>
          <a:p>
            <a:pPr lvl="0">
              <a:lnSpc>
                <a:spcPct val="170000"/>
              </a:lnSpc>
            </a:pPr>
            <a:r>
              <a:rPr lang="en-US" sz="7200" dirty="0">
                <a:latin typeface="Times New Roman" pitchFamily="18" charset="0"/>
                <a:cs typeface="Times New Roman" pitchFamily="18" charset="0"/>
              </a:rPr>
              <a:t>Urinary tract infections</a:t>
            </a:r>
          </a:p>
          <a:p>
            <a:pPr lvl="0">
              <a:lnSpc>
                <a:spcPct val="170000"/>
              </a:lnSpc>
            </a:pPr>
            <a:r>
              <a:rPr lang="en-US" sz="7200" dirty="0">
                <a:latin typeface="Times New Roman" pitchFamily="18" charset="0"/>
                <a:cs typeface="Times New Roman" pitchFamily="18" charset="0"/>
              </a:rPr>
              <a:t>Skin and soft tissue infections</a:t>
            </a:r>
          </a:p>
          <a:p>
            <a:pPr lvl="0">
              <a:lnSpc>
                <a:spcPct val="170000"/>
              </a:lnSpc>
            </a:pPr>
            <a:r>
              <a:rPr lang="en-US" sz="7200" dirty="0">
                <a:latin typeface="Times New Roman" pitchFamily="18" charset="0"/>
                <a:cs typeface="Times New Roman" pitchFamily="18" charset="0"/>
              </a:rPr>
              <a:t>Empiric treatment of MRSA infections</a:t>
            </a:r>
          </a:p>
          <a:p>
            <a:pPr lvl="0">
              <a:lnSpc>
                <a:spcPct val="170000"/>
              </a:lnSpc>
            </a:pPr>
            <a:r>
              <a:rPr lang="en-US" sz="7200" i="1" dirty="0">
                <a:latin typeface="Times New Roman" pitchFamily="18" charset="0"/>
                <a:cs typeface="Times New Roman" pitchFamily="18" charset="0"/>
              </a:rPr>
              <a:t>C. </a:t>
            </a:r>
            <a:r>
              <a:rPr lang="en-US" sz="7200" i="1" dirty="0" err="1">
                <a:latin typeface="Times New Roman" pitchFamily="18" charset="0"/>
                <a:cs typeface="Times New Roman" pitchFamily="18" charset="0"/>
              </a:rPr>
              <a:t>difficile</a:t>
            </a:r>
            <a:r>
              <a:rPr lang="en-US" sz="7200" i="1" dirty="0">
                <a:latin typeface="Times New Roman" pitchFamily="18" charset="0"/>
                <a:cs typeface="Times New Roman" pitchFamily="18" charset="0"/>
              </a:rPr>
              <a:t> </a:t>
            </a:r>
            <a:r>
              <a:rPr lang="en-US" sz="7200" dirty="0">
                <a:latin typeface="Times New Roman" pitchFamily="18" charset="0"/>
                <a:cs typeface="Times New Roman" pitchFamily="18" charset="0"/>
              </a:rPr>
              <a:t>infections </a:t>
            </a:r>
          </a:p>
          <a:p>
            <a:pPr lvl="0">
              <a:lnSpc>
                <a:spcPct val="170000"/>
              </a:lnSpc>
            </a:pPr>
            <a:r>
              <a:rPr lang="en-US" sz="7200" dirty="0">
                <a:latin typeface="Times New Roman" pitchFamily="18" charset="0"/>
                <a:cs typeface="Times New Roman" pitchFamily="18" charset="0"/>
              </a:rPr>
              <a:t>Maternal sepsis</a:t>
            </a:r>
          </a:p>
          <a:p>
            <a:endParaRPr lang="en-US" dirty="0"/>
          </a:p>
        </p:txBody>
      </p:sp>
    </p:spTree>
    <p:extLst>
      <p:ext uri="{BB962C8B-B14F-4D97-AF65-F5344CB8AC3E}">
        <p14:creationId xmlns:p14="http://schemas.microsoft.com/office/powerpoint/2010/main" val="89049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286" y="224232"/>
            <a:ext cx="11121266" cy="1199638"/>
          </a:xfrm>
        </p:spPr>
        <p:txBody>
          <a:bodyPr>
            <a:normAutofit fontScale="90000"/>
          </a:bodyPr>
          <a:lstStyle/>
          <a:p>
            <a:pPr>
              <a:lnSpc>
                <a:spcPct val="150000"/>
              </a:lnSpc>
            </a:pP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100" dirty="0" smtClean="0">
                <a:latin typeface="Times New Roman" pitchFamily="18" charset="0"/>
                <a:cs typeface="Times New Roman" pitchFamily="18" charset="0"/>
              </a:rPr>
              <a:t>General </a:t>
            </a:r>
            <a:r>
              <a:rPr lang="en-US" sz="3100" dirty="0">
                <a:latin typeface="Times New Roman" pitchFamily="18" charset="0"/>
                <a:cs typeface="Times New Roman" pitchFamily="18" charset="0"/>
              </a:rPr>
              <a:t>public/community-level recommendations and strategies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836127" y="2446093"/>
            <a:ext cx="10489585" cy="3724072"/>
          </a:xfrm>
        </p:spPr>
        <p:txBody>
          <a:bodyPr>
            <a:normAutofit fontScale="62500" lnSpcReduction="20000"/>
          </a:bodyPr>
          <a:lstStyle/>
          <a:p>
            <a:pPr>
              <a:lnSpc>
                <a:spcPct val="170000"/>
              </a:lnSpc>
            </a:pPr>
            <a:r>
              <a:rPr lang="en-US" dirty="0">
                <a:latin typeface="Times New Roman" pitchFamily="18" charset="0"/>
                <a:cs typeface="Times New Roman" pitchFamily="18" charset="0"/>
              </a:rPr>
              <a:t>Prevent the </a:t>
            </a:r>
            <a:r>
              <a:rPr lang="en-US" dirty="0" smtClean="0">
                <a:latin typeface="Times New Roman" pitchFamily="18" charset="0"/>
                <a:cs typeface="Times New Roman" pitchFamily="18" charset="0"/>
              </a:rPr>
              <a:t>spread </a:t>
            </a:r>
            <a:r>
              <a:rPr lang="en-US" dirty="0">
                <a:latin typeface="Times New Roman" pitchFamily="18" charset="0"/>
                <a:cs typeface="Times New Roman" pitchFamily="18" charset="0"/>
              </a:rPr>
              <a:t>of </a:t>
            </a:r>
            <a:r>
              <a:rPr lang="en-US" dirty="0" smtClean="0">
                <a:latin typeface="Times New Roman" pitchFamily="18" charset="0"/>
                <a:cs typeface="Times New Roman" pitchFamily="18" charset="0"/>
              </a:rPr>
              <a:t>infections</a:t>
            </a:r>
          </a:p>
          <a:p>
            <a:pPr>
              <a:lnSpc>
                <a:spcPct val="170000"/>
              </a:lnSpc>
            </a:pPr>
            <a:r>
              <a:rPr lang="en-US" dirty="0">
                <a:latin typeface="Times New Roman" pitchFamily="18" charset="0"/>
                <a:cs typeface="Times New Roman" pitchFamily="18" charset="0"/>
              </a:rPr>
              <a:t>Use antibiotics only when prescribed </a:t>
            </a:r>
          </a:p>
          <a:p>
            <a:pPr>
              <a:lnSpc>
                <a:spcPct val="170000"/>
              </a:lnSpc>
            </a:pPr>
            <a:r>
              <a:rPr lang="en-US" dirty="0">
                <a:latin typeface="Times New Roman" pitchFamily="18" charset="0"/>
                <a:cs typeface="Times New Roman" pitchFamily="18" charset="0"/>
              </a:rPr>
              <a:t>Take all antibiotics according to the clinician’s advice</a:t>
            </a:r>
          </a:p>
          <a:p>
            <a:pPr>
              <a:lnSpc>
                <a:spcPct val="170000"/>
              </a:lnSpc>
            </a:pPr>
            <a:r>
              <a:rPr lang="en-US" dirty="0">
                <a:latin typeface="Times New Roman" pitchFamily="18" charset="0"/>
                <a:cs typeface="Times New Roman" pitchFamily="18" charset="0"/>
              </a:rPr>
              <a:t>Do not use antibiotics left over </a:t>
            </a:r>
          </a:p>
          <a:p>
            <a:pPr>
              <a:lnSpc>
                <a:spcPct val="170000"/>
              </a:lnSpc>
            </a:pPr>
            <a:r>
              <a:rPr lang="en-US" dirty="0">
                <a:latin typeface="Times New Roman" pitchFamily="18" charset="0"/>
                <a:cs typeface="Times New Roman" pitchFamily="18" charset="0"/>
              </a:rPr>
              <a:t>Refrain from sharing antibiotics with others</a:t>
            </a:r>
          </a:p>
          <a:p>
            <a:pPr>
              <a:lnSpc>
                <a:spcPct val="170000"/>
              </a:lnSpc>
            </a:pPr>
            <a:r>
              <a:rPr lang="en-US" dirty="0">
                <a:latin typeface="Times New Roman" pitchFamily="18" charset="0"/>
                <a:cs typeface="Times New Roman" pitchFamily="18" charset="0"/>
              </a:rPr>
              <a:t>Refrain from pressuring the doctor to prescribe antibiotics </a:t>
            </a:r>
          </a:p>
          <a:p>
            <a:endParaRPr lang="en-US" dirty="0"/>
          </a:p>
        </p:txBody>
      </p:sp>
    </p:spTree>
    <p:extLst>
      <p:ext uri="{BB962C8B-B14F-4D97-AF65-F5344CB8AC3E}">
        <p14:creationId xmlns:p14="http://schemas.microsoft.com/office/powerpoint/2010/main" val="375557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b="1" dirty="0" smtClean="0">
                <a:latin typeface="Times New Roman" pitchFamily="18" charset="0"/>
                <a:cs typeface="Times New Roman" pitchFamily="18" charset="0"/>
              </a:rPr>
              <a:t/>
            </a:r>
            <a:br>
              <a:rPr lang="en-US" sz="4000" b="1" dirty="0" smtClean="0">
                <a:latin typeface="Times New Roman" pitchFamily="18" charset="0"/>
                <a:cs typeface="Times New Roman" pitchFamily="18" charset="0"/>
              </a:rPr>
            </a:br>
            <a:r>
              <a:rPr lang="en-US" sz="4000" b="1" dirty="0" smtClean="0">
                <a:latin typeface="Times New Roman" pitchFamily="18" charset="0"/>
                <a:cs typeface="Times New Roman" pitchFamily="18" charset="0"/>
              </a:rPr>
              <a:t>Summary</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a:bodyPr>
          <a:lstStyle/>
          <a:p>
            <a:pPr algn="just">
              <a:lnSpc>
                <a:spcPct val="160000"/>
              </a:lnSpc>
            </a:pPr>
            <a:r>
              <a:rPr lang="en-US" sz="2400" dirty="0" smtClean="0">
                <a:latin typeface="Times New Roman" pitchFamily="18" charset="0"/>
                <a:cs typeface="Times New Roman" pitchFamily="18" charset="0"/>
              </a:rPr>
              <a:t>Antibiotic </a:t>
            </a:r>
            <a:r>
              <a:rPr lang="en-US" sz="2400" dirty="0">
                <a:latin typeface="Times New Roman" pitchFamily="18" charset="0"/>
                <a:cs typeface="Times New Roman" pitchFamily="18" charset="0"/>
              </a:rPr>
              <a:t>stewardship programs are coordinated interventions at the facility level intended to improve and monitor the appropriate use of </a:t>
            </a:r>
            <a:r>
              <a:rPr lang="en-US" sz="2400" dirty="0" smtClean="0">
                <a:latin typeface="Times New Roman" pitchFamily="18" charset="0"/>
                <a:cs typeface="Times New Roman" pitchFamily="18" charset="0"/>
              </a:rPr>
              <a:t>antibiotics</a:t>
            </a:r>
          </a:p>
          <a:p>
            <a:pPr algn="just">
              <a:lnSpc>
                <a:spcPct val="160000"/>
              </a:lnSpc>
            </a:pPr>
            <a:r>
              <a:rPr lang="en-US" sz="2400" dirty="0">
                <a:latin typeface="Times New Roman" pitchFamily="18" charset="0"/>
                <a:cs typeface="Times New Roman" pitchFamily="18" charset="0"/>
              </a:rPr>
              <a:t>Health care managers and practitioner should encourage and participate in efforts at implementing a facility-based stewardship </a:t>
            </a:r>
            <a:r>
              <a:rPr lang="en-US" sz="2400" dirty="0" err="1">
                <a:latin typeface="Times New Roman" pitchFamily="18" charset="0"/>
                <a:cs typeface="Times New Roman" pitchFamily="18" charset="0"/>
              </a:rPr>
              <a:t>programme</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890691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6">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Presentation1" id="{FF8D033B-E2B8-2549-8206-D2592AE46FED}" vid="{E3C3ECE2-B6B8-A844-8217-32346E2508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Theme6</Template>
  <TotalTime>614</TotalTime>
  <Words>392</Words>
  <Application>Microsoft Office PowerPoint</Application>
  <PresentationFormat>Custom</PresentationFormat>
  <Paragraphs>67</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Theme6</vt:lpstr>
      <vt:lpstr>Volume 2 Chapter 2:ANTIBIOTIC STEWARDSHIP PROGRAMS</vt:lpstr>
      <vt:lpstr>Chapter Outline</vt:lpstr>
      <vt:lpstr> Chapter Content </vt:lpstr>
      <vt:lpstr> Learning Objectives </vt:lpstr>
      <vt:lpstr>Overview</vt:lpstr>
      <vt:lpstr>  Antibiotic stewardship programs are designed to:</vt:lpstr>
      <vt:lpstr>The goals of an antibiotic stewardship program should include:</vt:lpstr>
      <vt:lpstr>  Core Elements of an Antibiotic Stewardship Program </vt:lpstr>
      <vt:lpstr>  Intervention Modalities for Implementing AMS program </vt:lpstr>
      <vt:lpstr> Pharmacy-driven interventions </vt:lpstr>
      <vt:lpstr> Infection- and syndrome-specific interventions </vt:lpstr>
      <vt:lpstr> Standard treatment guidelines include those for:   </vt:lpstr>
      <vt:lpstr>  General public/community-level recommendations and strategies</vt:lpstr>
      <vt:lpstr> Summary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Infection Prevention and Patient Safety</dc:title>
  <dc:creator>user</dc:creator>
  <cp:lastModifiedBy>moh</cp:lastModifiedBy>
  <cp:revision>67</cp:revision>
  <dcterms:created xsi:type="dcterms:W3CDTF">2018-12-17T08:49:22Z</dcterms:created>
  <dcterms:modified xsi:type="dcterms:W3CDTF">2019-09-27T06:34:24Z</dcterms:modified>
</cp:coreProperties>
</file>