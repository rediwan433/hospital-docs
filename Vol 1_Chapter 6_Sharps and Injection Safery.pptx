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59" r:id="rId3"/>
    <p:sldId id="260" r:id="rId4"/>
    <p:sldId id="257" r:id="rId5"/>
    <p:sldId id="258" r:id="rId6"/>
    <p:sldId id="261" r:id="rId7"/>
    <p:sldId id="263" r:id="rId8"/>
    <p:sldId id="265" r:id="rId9"/>
    <p:sldId id="262"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1" r:id="rId28"/>
    <p:sldId id="283" r:id="rId29"/>
    <p:sldId id="285" r:id="rId30"/>
    <p:sldId id="284" r:id="rId31"/>
    <p:sldId id="286" r:id="rId32"/>
    <p:sldId id="287" r:id="rId33"/>
    <p:sldId id="290" r:id="rId34"/>
    <p:sldId id="291" r:id="rId35"/>
    <p:sldId id="293" r:id="rId36"/>
    <p:sldId id="301" r:id="rId37"/>
    <p:sldId id="302" r:id="rId38"/>
    <p:sldId id="314" r:id="rId39"/>
    <p:sldId id="303" r:id="rId40"/>
    <p:sldId id="304" r:id="rId41"/>
    <p:sldId id="305" r:id="rId42"/>
    <p:sldId id="306" r:id="rId43"/>
    <p:sldId id="307" r:id="rId44"/>
    <p:sldId id="315" r:id="rId45"/>
    <p:sldId id="292" r:id="rId46"/>
    <p:sldId id="309" r:id="rId47"/>
    <p:sldId id="310" r:id="rId48"/>
    <p:sldId id="294" r:id="rId49"/>
    <p:sldId id="295" r:id="rId50"/>
    <p:sldId id="296" r:id="rId51"/>
    <p:sldId id="297" r:id="rId52"/>
    <p:sldId id="298" r:id="rId53"/>
    <p:sldId id="299" r:id="rId54"/>
    <p:sldId id="300" r:id="rId55"/>
    <p:sldId id="311" r:id="rId56"/>
    <p:sldId id="31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0EC83A-4FF7-425E-8BDB-AC9059F6C8B4}" type="datetimeFigureOut">
              <a:rPr lang="en-US" smtClean="0"/>
              <a:t>15-Dec-20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91DC9B-4588-4CB1-8AA8-3B13DE1DCAFC}" type="slidenum">
              <a:rPr lang="en-US" smtClean="0"/>
              <a:t>‹#›</a:t>
            </a:fld>
            <a:endParaRPr lang="en-US"/>
          </a:p>
        </p:txBody>
      </p:sp>
    </p:spTree>
    <p:extLst>
      <p:ext uri="{BB962C8B-B14F-4D97-AF65-F5344CB8AC3E}">
        <p14:creationId xmlns:p14="http://schemas.microsoft.com/office/powerpoint/2010/main" val="3720239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91DC9B-4588-4CB1-8AA8-3B13DE1DCAFC}" type="slidenum">
              <a:rPr lang="en-US" smtClean="0"/>
              <a:t>33</a:t>
            </a:fld>
            <a:endParaRPr lang="en-US"/>
          </a:p>
        </p:txBody>
      </p:sp>
    </p:spTree>
    <p:extLst>
      <p:ext uri="{BB962C8B-B14F-4D97-AF65-F5344CB8AC3E}">
        <p14:creationId xmlns:p14="http://schemas.microsoft.com/office/powerpoint/2010/main" val="34241554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a:xfrm>
            <a:off x="1921934" y="4972193"/>
            <a:ext cx="3749306" cy="361809"/>
          </a:xfrm>
        </p:spPr>
        <p:txBody>
          <a:bodyPr/>
          <a:lstStyle/>
          <a:p>
            <a:endParaRPr lang="en-US"/>
          </a:p>
        </p:txBody>
      </p:sp>
      <p:sp>
        <p:nvSpPr>
          <p:cNvPr id="6" name="Slide Number Placeholder 5"/>
          <p:cNvSpPr>
            <a:spLocks noGrp="1"/>
          </p:cNvSpPr>
          <p:nvPr>
            <p:ph type="sldNum" sz="quarter" idx="12"/>
          </p:nvPr>
        </p:nvSpPr>
        <p:spPr>
          <a:xfrm>
            <a:off x="6811347" y="4972192"/>
            <a:ext cx="726151" cy="361809"/>
          </a:xfrm>
        </p:spPr>
        <p:txBody>
          <a:bodyPr/>
          <a:lstStyle/>
          <a:p>
            <a:fld id="{28714BC2-874A-4EFC-8022-83A20D0A0D6B}"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206871" y="5960533"/>
            <a:ext cx="724154" cy="279400"/>
          </a:xfrm>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580091" y="5960533"/>
            <a:ext cx="865640" cy="279400"/>
          </a:xfrm>
        </p:spPr>
        <p:txBody>
          <a:bodyPr/>
          <a:lstStyle/>
          <a:p>
            <a:fld id="{28714BC2-874A-4EFC-8022-83A20D0A0D6B}"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052393"/>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A1EC69B-95B1-4C37-B86F-FF80B8D24211}" type="datetimeFigureOut">
              <a:rPr lang="en-US" smtClean="0"/>
              <a:t>15-Dec-20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580091" y="5934456"/>
            <a:ext cx="765888" cy="305477"/>
          </a:xfrm>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A1EC69B-95B1-4C37-B86F-FF80B8D24211}" type="datetimeFigureOut">
              <a:rPr lang="en-US" smtClean="0"/>
              <a:t>15-Dec-20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714BC2-874A-4EFC-8022-83A20D0A0D6B}"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A1EC69B-95B1-4C37-B86F-FF80B8D24211}" type="datetimeFigureOut">
              <a:rPr lang="en-US" smtClean="0"/>
              <a:t>15-Dec-20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714BC2-874A-4EFC-8022-83A20D0A0D6B}"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1EC69B-95B1-4C37-B86F-FF80B8D24211}" type="datetimeFigureOut">
              <a:rPr lang="en-US" smtClean="0"/>
              <a:t>15-Dec-20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1EC69B-95B1-4C37-B86F-FF80B8D24211}" type="datetimeFigureOut">
              <a:rPr lang="en-US" smtClean="0"/>
              <a:t>15-Dec-20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14BC2-874A-4EFC-8022-83A20D0A0D6B}"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1EC69B-95B1-4C37-B86F-FF80B8D24211}" type="datetimeFigureOut">
              <a:rPr lang="en-US" smtClean="0"/>
              <a:t>15-Dec-20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1EC69B-95B1-4C37-B86F-FF80B8D24211}" type="datetimeFigureOut">
              <a:rPr lang="en-US" smtClean="0"/>
              <a:t>15-Dec-20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A1EC69B-95B1-4C37-B86F-FF80B8D24211}" type="datetimeFigureOut">
              <a:rPr lang="en-US" smtClean="0"/>
              <a:t>15-Dec-20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714BC2-874A-4EFC-8022-83A20D0A0D6B}"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35132"/>
            <a:ext cx="673085"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1EC69B-95B1-4C37-B86F-FF80B8D24211}" type="datetimeFigureOut">
              <a:rPr lang="en-US" smtClean="0"/>
              <a:t>15-Dec-20</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029755" y="5960533"/>
            <a:ext cx="94584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714BC2-874A-4EFC-8022-83A20D0A0D6B}" type="slidenum">
              <a:rPr lang="en-US" smtClean="0"/>
              <a:t>‹#›</a:t>
            </a:fld>
            <a:endParaRPr lang="en-US"/>
          </a:p>
        </p:txBody>
      </p:sp>
      <p:grpSp>
        <p:nvGrpSpPr>
          <p:cNvPr id="12" name="Group 11"/>
          <p:cNvGrpSpPr/>
          <p:nvPr/>
        </p:nvGrpSpPr>
        <p:grpSpPr>
          <a:xfrm>
            <a:off x="3372583" y="4072"/>
            <a:ext cx="2407298" cy="1306286"/>
            <a:chOff x="2823850" y="0"/>
            <a:chExt cx="3344655" cy="1951286"/>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6662" y="1447800"/>
            <a:ext cx="5820385" cy="1960454"/>
          </a:xfrm>
        </p:spPr>
        <p:txBody>
          <a:bodyPr/>
          <a:lstStyle/>
          <a:p>
            <a:r>
              <a:rPr lang="en-US" sz="2800" dirty="0"/>
              <a:t>Volume 1_Section </a:t>
            </a:r>
            <a:r>
              <a:rPr lang="en-US" sz="2800" dirty="0" smtClean="0"/>
              <a:t>1</a:t>
            </a:r>
            <a:br>
              <a:rPr lang="en-US" sz="2800" dirty="0" smtClean="0"/>
            </a:br>
            <a:r>
              <a:rPr lang="en-US" sz="2800" dirty="0"/>
              <a:t/>
            </a:r>
            <a:br>
              <a:rPr lang="en-US" sz="2800" dirty="0"/>
            </a:br>
            <a:r>
              <a:rPr lang="en-US" sz="2800" dirty="0"/>
              <a:t>Chapter </a:t>
            </a:r>
            <a:r>
              <a:rPr lang="en-US" sz="2800" dirty="0" smtClean="0"/>
              <a:t>5: Sharps and Injection Safety</a:t>
            </a:r>
            <a:endParaRPr lang="en-US" sz="2800" dirty="0"/>
          </a:p>
        </p:txBody>
      </p:sp>
      <p:sp>
        <p:nvSpPr>
          <p:cNvPr id="3" name="Subtitle 2"/>
          <p:cNvSpPr>
            <a:spLocks noGrp="1"/>
          </p:cNvSpPr>
          <p:nvPr>
            <p:ph type="subTitle" idx="1"/>
          </p:nvPr>
        </p:nvSpPr>
        <p:spPr/>
        <p:txBody>
          <a:bodyPr>
            <a:normAutofit fontScale="85000" lnSpcReduction="10000"/>
          </a:bodyPr>
          <a:lstStyle/>
          <a:p>
            <a:r>
              <a:rPr lang="en-US" b="1" dirty="0">
                <a:ln w="3175" cmpd="sng">
                  <a:noFill/>
                </a:ln>
                <a:solidFill>
                  <a:schemeClr val="tx1">
                    <a:lumMod val="85000"/>
                    <a:lumOff val="15000"/>
                  </a:schemeClr>
                </a:solidFill>
                <a:latin typeface="+mj-lt"/>
              </a:rPr>
              <a:t>IPC and PS for Healthcare Setting in Ethiopia</a:t>
            </a:r>
          </a:p>
          <a:p>
            <a:endParaRPr lang="en-US" dirty="0"/>
          </a:p>
        </p:txBody>
      </p:sp>
    </p:spTree>
    <p:extLst>
      <p:ext uri="{BB962C8B-B14F-4D97-AF65-F5344CB8AC3E}">
        <p14:creationId xmlns:p14="http://schemas.microsoft.com/office/powerpoint/2010/main" val="31600495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Outline</a:t>
            </a:r>
            <a:endParaRPr lang="en-US" dirty="0"/>
          </a:p>
        </p:txBody>
      </p:sp>
      <p:sp>
        <p:nvSpPr>
          <p:cNvPr id="3" name="Content Placeholder 2"/>
          <p:cNvSpPr>
            <a:spLocks noGrp="1"/>
          </p:cNvSpPr>
          <p:nvPr>
            <p:ph idx="1"/>
          </p:nvPr>
        </p:nvSpPr>
        <p:spPr>
          <a:xfrm>
            <a:off x="1176865" y="2490135"/>
            <a:ext cx="6798736" cy="3605865"/>
          </a:xfrm>
        </p:spPr>
        <p:txBody>
          <a:bodyPr>
            <a:normAutofit fontScale="77500" lnSpcReduction="20000"/>
          </a:bodyPr>
          <a:lstStyle/>
          <a:p>
            <a:pPr lvl="0"/>
            <a:r>
              <a:rPr lang="en-US" dirty="0" smtClean="0"/>
              <a:t>PPP 6.1: Overview </a:t>
            </a:r>
            <a:endParaRPr lang="en-US" dirty="0"/>
          </a:p>
          <a:p>
            <a:pPr lvl="0"/>
            <a:r>
              <a:rPr lang="en-US" dirty="0" smtClean="0"/>
              <a:t>PPP 6.2: Magnitude </a:t>
            </a:r>
            <a:r>
              <a:rPr lang="en-US" dirty="0"/>
              <a:t>of unsafe injection</a:t>
            </a:r>
          </a:p>
          <a:p>
            <a:pPr lvl="0"/>
            <a:r>
              <a:rPr lang="en-US" dirty="0" smtClean="0"/>
              <a:t>PPP 6.3: The </a:t>
            </a:r>
            <a:r>
              <a:rPr lang="en-US" dirty="0"/>
              <a:t>risks and impacts associated with unsafe injection practices </a:t>
            </a:r>
          </a:p>
          <a:p>
            <a:pPr lvl="0"/>
            <a:r>
              <a:rPr lang="en-US" dirty="0" smtClean="0"/>
              <a:t>PPP 6.4: Common </a:t>
            </a:r>
            <a:r>
              <a:rPr lang="en-US" dirty="0"/>
              <a:t>reason for prescribing and providing unnecessary and unsafe injection </a:t>
            </a:r>
          </a:p>
          <a:p>
            <a:pPr lvl="0"/>
            <a:r>
              <a:rPr lang="en-US" dirty="0" smtClean="0"/>
              <a:t>PPP 6.5: Unsafe </a:t>
            </a:r>
            <a:r>
              <a:rPr lang="en-US" dirty="0"/>
              <a:t>injection Practice: Transmission pathways</a:t>
            </a:r>
          </a:p>
          <a:p>
            <a:pPr lvl="0"/>
            <a:r>
              <a:rPr lang="en-US" dirty="0" smtClean="0"/>
              <a:t>PPP 6.6: The </a:t>
            </a:r>
            <a:r>
              <a:rPr lang="en-US" dirty="0"/>
              <a:t>best practices in injection </a:t>
            </a:r>
            <a:r>
              <a:rPr lang="en-US" dirty="0" smtClean="0"/>
              <a:t>safety</a:t>
            </a:r>
            <a:endParaRPr lang="en-US" dirty="0"/>
          </a:p>
        </p:txBody>
      </p:sp>
    </p:spTree>
    <p:extLst>
      <p:ext uri="{BB962C8B-B14F-4D97-AF65-F5344CB8AC3E}">
        <p14:creationId xmlns:p14="http://schemas.microsoft.com/office/powerpoint/2010/main" val="18117507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a:t>
            </a:r>
            <a:r>
              <a:rPr lang="en-US" dirty="0" smtClean="0"/>
              <a:t>Outline cont’d</a:t>
            </a:r>
            <a:endParaRPr lang="en-US" dirty="0"/>
          </a:p>
        </p:txBody>
      </p:sp>
      <p:sp>
        <p:nvSpPr>
          <p:cNvPr id="3" name="Content Placeholder 2"/>
          <p:cNvSpPr>
            <a:spLocks noGrp="1"/>
          </p:cNvSpPr>
          <p:nvPr>
            <p:ph idx="1"/>
          </p:nvPr>
        </p:nvSpPr>
        <p:spPr/>
        <p:txBody>
          <a:bodyPr>
            <a:normAutofit fontScale="77500" lnSpcReduction="20000"/>
          </a:bodyPr>
          <a:lstStyle/>
          <a:p>
            <a:pPr lvl="0"/>
            <a:r>
              <a:rPr lang="en-US" dirty="0" smtClean="0"/>
              <a:t>PPP 6.7: Role of prescriber in injection safety</a:t>
            </a:r>
          </a:p>
          <a:p>
            <a:pPr lvl="0"/>
            <a:r>
              <a:rPr lang="en-US" dirty="0" smtClean="0"/>
              <a:t>PPP 6.8: Principles </a:t>
            </a:r>
            <a:r>
              <a:rPr lang="en-US" dirty="0"/>
              <a:t>in safe injection practice</a:t>
            </a:r>
          </a:p>
          <a:p>
            <a:pPr lvl="0"/>
            <a:r>
              <a:rPr lang="en-US" dirty="0" smtClean="0"/>
              <a:t>PPP 6.9: Injection </a:t>
            </a:r>
            <a:r>
              <a:rPr lang="en-US" dirty="0"/>
              <a:t>devices and their safety features</a:t>
            </a:r>
          </a:p>
          <a:p>
            <a:pPr lvl="0"/>
            <a:r>
              <a:rPr lang="en-US" dirty="0" smtClean="0"/>
              <a:t>PPP 6.10: Safe </a:t>
            </a:r>
            <a:r>
              <a:rPr lang="en-US" dirty="0"/>
              <a:t>handling of medications containing vials (single and multiple dose vials)</a:t>
            </a:r>
          </a:p>
          <a:p>
            <a:pPr lvl="0"/>
            <a:r>
              <a:rPr lang="en-US" dirty="0" smtClean="0"/>
              <a:t>PPP 6.11: Sharp </a:t>
            </a:r>
            <a:r>
              <a:rPr lang="en-US" dirty="0"/>
              <a:t>safety </a:t>
            </a:r>
          </a:p>
          <a:p>
            <a:pPr lvl="0"/>
            <a:r>
              <a:rPr lang="en-US" dirty="0" smtClean="0"/>
              <a:t>PPP 6.12: </a:t>
            </a:r>
            <a:r>
              <a:rPr lang="en-US" dirty="0" smtClean="0"/>
              <a:t>Summary</a:t>
            </a:r>
            <a:endParaRPr lang="en-US" dirty="0"/>
          </a:p>
        </p:txBody>
      </p:sp>
    </p:spTree>
    <p:extLst>
      <p:ext uri="{BB962C8B-B14F-4D97-AF65-F5344CB8AC3E}">
        <p14:creationId xmlns:p14="http://schemas.microsoft.com/office/powerpoint/2010/main" val="18117507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a:t>
            </a:r>
            <a:endParaRPr lang="en-US" dirty="0"/>
          </a:p>
        </p:txBody>
      </p:sp>
      <p:sp>
        <p:nvSpPr>
          <p:cNvPr id="3" name="Content Placeholder 2"/>
          <p:cNvSpPr>
            <a:spLocks noGrp="1"/>
          </p:cNvSpPr>
          <p:nvPr>
            <p:ph idx="1"/>
          </p:nvPr>
        </p:nvSpPr>
        <p:spPr/>
        <p:txBody>
          <a:bodyPr>
            <a:normAutofit fontScale="85000" lnSpcReduction="10000"/>
          </a:bodyPr>
          <a:lstStyle/>
          <a:p>
            <a:pPr lvl="0"/>
            <a:r>
              <a:rPr lang="en-US" dirty="0"/>
              <a:t>Define Injection Safety</a:t>
            </a:r>
          </a:p>
          <a:p>
            <a:pPr lvl="0"/>
            <a:r>
              <a:rPr lang="en-US" dirty="0"/>
              <a:t>Describe the magnitude of unsafe injection</a:t>
            </a:r>
          </a:p>
          <a:p>
            <a:pPr lvl="0"/>
            <a:r>
              <a:rPr lang="en-US" dirty="0"/>
              <a:t>Recognize the risk and impact associated with unsafe injection</a:t>
            </a:r>
          </a:p>
          <a:p>
            <a:pPr lvl="0"/>
            <a:r>
              <a:rPr lang="en-US" dirty="0"/>
              <a:t>Demonstrate best practices in injection safety</a:t>
            </a:r>
          </a:p>
          <a:p>
            <a:pPr lvl="0"/>
            <a:r>
              <a:rPr lang="en-US" dirty="0"/>
              <a:t>Discuss the common reasons for providing unnecessary and unsafe </a:t>
            </a:r>
            <a:r>
              <a:rPr lang="en-US" dirty="0" smtClean="0"/>
              <a:t>injection</a:t>
            </a:r>
            <a:endParaRPr lang="en-US" dirty="0"/>
          </a:p>
        </p:txBody>
      </p:sp>
    </p:spTree>
    <p:extLst>
      <p:ext uri="{BB962C8B-B14F-4D97-AF65-F5344CB8AC3E}">
        <p14:creationId xmlns:p14="http://schemas.microsoft.com/office/powerpoint/2010/main" val="3884422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030778"/>
            <a:ext cx="7162800" cy="1188426"/>
          </a:xfrm>
        </p:spPr>
        <p:txBody>
          <a:bodyPr/>
          <a:lstStyle/>
          <a:p>
            <a:r>
              <a:rPr lang="en-US" dirty="0" smtClean="0"/>
              <a:t>Learning Objective cont’d</a:t>
            </a: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smtClean="0"/>
              <a:t>Identify </a:t>
            </a:r>
            <a:r>
              <a:rPr lang="en-US" dirty="0"/>
              <a:t>the role of prescribers in injection safety</a:t>
            </a:r>
          </a:p>
          <a:p>
            <a:pPr lvl="0"/>
            <a:r>
              <a:rPr lang="en-US" dirty="0"/>
              <a:t>Elucidate safe injection principles</a:t>
            </a:r>
          </a:p>
          <a:p>
            <a:pPr lvl="0"/>
            <a:r>
              <a:rPr lang="en-US" dirty="0"/>
              <a:t>Mention injection devices and their safety features</a:t>
            </a:r>
          </a:p>
          <a:p>
            <a:pPr lvl="0"/>
            <a:r>
              <a:rPr lang="en-US" dirty="0"/>
              <a:t>Demonstrate the safe medication handling </a:t>
            </a:r>
          </a:p>
          <a:p>
            <a:pPr lvl="0"/>
            <a:r>
              <a:rPr lang="en-US" dirty="0"/>
              <a:t>Demonstrate how to handle sharps </a:t>
            </a:r>
            <a:r>
              <a:rPr lang="en-US" dirty="0" smtClean="0"/>
              <a:t>safely</a:t>
            </a:r>
            <a:endParaRPr lang="en-US" dirty="0"/>
          </a:p>
        </p:txBody>
      </p:sp>
    </p:spTree>
    <p:extLst>
      <p:ext uri="{BB962C8B-B14F-4D97-AF65-F5344CB8AC3E}">
        <p14:creationId xmlns:p14="http://schemas.microsoft.com/office/powerpoint/2010/main" val="3884422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lvl="0"/>
            <a:r>
              <a:rPr lang="en-US" sz="4400" dirty="0"/>
              <a:t>PPP 6.1: </a:t>
            </a:r>
            <a:r>
              <a:rPr lang="en-US" sz="4400" dirty="0" smtClean="0"/>
              <a:t/>
            </a:r>
            <a:br>
              <a:rPr lang="en-US" sz="4400" dirty="0" smtClean="0"/>
            </a:br>
            <a:r>
              <a:rPr lang="en-US" sz="4400" dirty="0" smtClean="0"/>
              <a:t>Overview </a:t>
            </a:r>
            <a:endParaRPr lang="en-US" sz="44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84772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30778"/>
            <a:ext cx="6798734" cy="1026622"/>
          </a:xfrm>
        </p:spPr>
        <p:txBody>
          <a:bodyPr/>
          <a:lstStyle/>
          <a:p>
            <a:r>
              <a:rPr lang="en-US" dirty="0" smtClean="0"/>
              <a:t>Definition of Terms</a:t>
            </a:r>
            <a:endParaRPr lang="en-US" dirty="0"/>
          </a:p>
        </p:txBody>
      </p:sp>
      <p:sp>
        <p:nvSpPr>
          <p:cNvPr id="3" name="Content Placeholder 2"/>
          <p:cNvSpPr>
            <a:spLocks noGrp="1"/>
          </p:cNvSpPr>
          <p:nvPr>
            <p:ph idx="1"/>
          </p:nvPr>
        </p:nvSpPr>
        <p:spPr>
          <a:xfrm>
            <a:off x="838200" y="2362200"/>
            <a:ext cx="7543799" cy="3809999"/>
          </a:xfrm>
        </p:spPr>
        <p:txBody>
          <a:bodyPr>
            <a:normAutofit fontScale="77500" lnSpcReduction="20000"/>
          </a:bodyPr>
          <a:lstStyle/>
          <a:p>
            <a:pPr algn="just"/>
            <a:r>
              <a:rPr lang="en-US" b="1" dirty="0"/>
              <a:t>A safe injection</a:t>
            </a:r>
            <a:r>
              <a:rPr lang="en-US" dirty="0"/>
              <a:t> can be defined as; an injection that </a:t>
            </a:r>
            <a:r>
              <a:rPr lang="en-US" dirty="0" smtClean="0"/>
              <a:t>does </a:t>
            </a:r>
            <a:r>
              <a:rPr lang="en-US" dirty="0"/>
              <a:t>not harm the recipient, does not expose the HCW to any avoidable risks, provided by skilled person, using appropriate injection equipment and does not result in waste that is dangerous for the community. </a:t>
            </a:r>
            <a:endParaRPr lang="en-US" dirty="0" smtClean="0"/>
          </a:p>
          <a:p>
            <a:pPr algn="just"/>
            <a:endParaRPr lang="en-US" dirty="0"/>
          </a:p>
          <a:p>
            <a:pPr algn="just"/>
            <a:r>
              <a:rPr lang="en-US" b="1" dirty="0" smtClean="0"/>
              <a:t>Unsafe </a:t>
            </a:r>
            <a:r>
              <a:rPr lang="en-US" b="1" dirty="0"/>
              <a:t>injection practice</a:t>
            </a:r>
            <a:r>
              <a:rPr lang="en-US" dirty="0"/>
              <a:t>, on the contrary, is the one that could harm the recipient, and/or the provider and/or may result in waste that is dangerous to the community.</a:t>
            </a:r>
          </a:p>
          <a:p>
            <a:pPr algn="just"/>
            <a:endParaRPr lang="en-US" dirty="0"/>
          </a:p>
        </p:txBody>
      </p:sp>
    </p:spTree>
    <p:extLst>
      <p:ext uri="{BB962C8B-B14F-4D97-AF65-F5344CB8AC3E}">
        <p14:creationId xmlns:p14="http://schemas.microsoft.com/office/powerpoint/2010/main" val="524882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78465" y="1447800"/>
            <a:ext cx="6595534" cy="2016127"/>
          </a:xfrm>
        </p:spPr>
        <p:txBody>
          <a:bodyPr>
            <a:noAutofit/>
          </a:bodyPr>
          <a:lstStyle/>
          <a:p>
            <a:pPr lvl="0"/>
            <a:r>
              <a:rPr lang="en-US" sz="4400" b="1" dirty="0"/>
              <a:t>PPP 6.2: </a:t>
            </a:r>
            <a:r>
              <a:rPr lang="en-US" sz="4400" b="1" dirty="0" smtClean="0"/>
              <a:t/>
            </a:r>
            <a:br>
              <a:rPr lang="en-US" sz="4400" b="1" dirty="0" smtClean="0"/>
            </a:br>
            <a:r>
              <a:rPr lang="en-US" sz="4400" b="1" dirty="0" smtClean="0"/>
              <a:t>Magnitude </a:t>
            </a:r>
            <a:r>
              <a:rPr lang="en-US" sz="4400" b="1" dirty="0"/>
              <a:t>of </a:t>
            </a:r>
            <a:r>
              <a:rPr lang="en-US" sz="4400" b="1" dirty="0" smtClean="0"/>
              <a:t>Unsafe </a:t>
            </a:r>
            <a:r>
              <a:rPr lang="en-US" sz="4400" b="1" dirty="0"/>
              <a:t>I</a:t>
            </a:r>
            <a:r>
              <a:rPr lang="en-US" sz="4400" b="1" dirty="0" smtClean="0"/>
              <a:t>njection</a:t>
            </a:r>
            <a:endParaRPr lang="en-US" sz="4400" b="1" dirty="0"/>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402147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Magnitude of Unsafe injection</a:t>
            </a:r>
          </a:p>
        </p:txBody>
      </p:sp>
      <p:sp>
        <p:nvSpPr>
          <p:cNvPr id="3" name="Content Placeholder 2"/>
          <p:cNvSpPr>
            <a:spLocks noGrp="1"/>
          </p:cNvSpPr>
          <p:nvPr>
            <p:ph idx="1"/>
          </p:nvPr>
        </p:nvSpPr>
        <p:spPr>
          <a:xfrm>
            <a:off x="685800" y="2438400"/>
            <a:ext cx="7772400" cy="4038599"/>
          </a:xfrm>
        </p:spPr>
        <p:txBody>
          <a:bodyPr>
            <a:normAutofit/>
          </a:bodyPr>
          <a:lstStyle/>
          <a:p>
            <a:pPr algn="just"/>
            <a:r>
              <a:rPr lang="en-US" dirty="0" smtClean="0"/>
              <a:t>WHO  estimates: 16  </a:t>
            </a:r>
            <a:r>
              <a:rPr lang="en-US" dirty="0"/>
              <a:t>billion  healthcare </a:t>
            </a:r>
            <a:r>
              <a:rPr lang="en-US" dirty="0" smtClean="0"/>
              <a:t>injections/year (3.4 </a:t>
            </a:r>
            <a:r>
              <a:rPr lang="en-US" dirty="0"/>
              <a:t>injections per </a:t>
            </a:r>
            <a:r>
              <a:rPr lang="en-US" dirty="0" smtClean="0"/>
              <a:t>person). </a:t>
            </a:r>
          </a:p>
          <a:p>
            <a:pPr lvl="0" algn="just"/>
            <a:r>
              <a:rPr lang="en-US" dirty="0" smtClean="0"/>
              <a:t>90 </a:t>
            </a:r>
            <a:r>
              <a:rPr lang="en-US" dirty="0"/>
              <a:t>to 95</a:t>
            </a:r>
            <a:r>
              <a:rPr lang="en-US" dirty="0" smtClean="0"/>
              <a:t>%  for therapeutic, the other (</a:t>
            </a:r>
            <a:r>
              <a:rPr lang="en-US" dirty="0"/>
              <a:t>5 to 10%) </a:t>
            </a:r>
            <a:r>
              <a:rPr lang="en-US" dirty="0" smtClean="0"/>
              <a:t>for </a:t>
            </a:r>
            <a:r>
              <a:rPr lang="en-US" dirty="0"/>
              <a:t>immunization</a:t>
            </a:r>
            <a:r>
              <a:rPr lang="en-US" dirty="0" smtClean="0"/>
              <a:t>.</a:t>
            </a:r>
          </a:p>
          <a:p>
            <a:pPr algn="just"/>
            <a:r>
              <a:rPr lang="en-US" dirty="0" smtClean="0"/>
              <a:t>at </a:t>
            </a:r>
            <a:r>
              <a:rPr lang="en-US" dirty="0"/>
              <a:t>least 50 % of all injections are unsafe. </a:t>
            </a:r>
            <a:endParaRPr lang="en-US" dirty="0" smtClean="0"/>
          </a:p>
          <a:p>
            <a:pPr lvl="0" algn="just"/>
            <a:r>
              <a:rPr lang="en-US" dirty="0" smtClean="0"/>
              <a:t>70% injections  </a:t>
            </a:r>
            <a:r>
              <a:rPr lang="en-US" dirty="0"/>
              <a:t>are  </a:t>
            </a:r>
            <a:r>
              <a:rPr lang="en-US" dirty="0" smtClean="0"/>
              <a:t>unnecessary.</a:t>
            </a:r>
          </a:p>
          <a:p>
            <a:pPr algn="just"/>
            <a:endParaRPr lang="en-US" dirty="0"/>
          </a:p>
          <a:p>
            <a:pPr algn="just"/>
            <a:endParaRPr lang="en-US" dirty="0"/>
          </a:p>
        </p:txBody>
      </p:sp>
    </p:spTree>
    <p:extLst>
      <p:ext uri="{BB962C8B-B14F-4D97-AF65-F5344CB8AC3E}">
        <p14:creationId xmlns:p14="http://schemas.microsoft.com/office/powerpoint/2010/main" val="3000087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Magnitude of Unsafe </a:t>
            </a:r>
            <a:r>
              <a:rPr lang="en-US" dirty="0" smtClean="0"/>
              <a:t>injection cont’d</a:t>
            </a:r>
            <a:endParaRPr lang="en-US" dirty="0"/>
          </a:p>
        </p:txBody>
      </p:sp>
      <p:sp>
        <p:nvSpPr>
          <p:cNvPr id="3" name="Content Placeholder 2"/>
          <p:cNvSpPr>
            <a:spLocks noGrp="1"/>
          </p:cNvSpPr>
          <p:nvPr>
            <p:ph idx="1"/>
          </p:nvPr>
        </p:nvSpPr>
        <p:spPr>
          <a:xfrm>
            <a:off x="762000" y="2490135"/>
            <a:ext cx="7620000" cy="3910665"/>
          </a:xfrm>
        </p:spPr>
        <p:txBody>
          <a:bodyPr>
            <a:normAutofit fontScale="77500" lnSpcReduction="20000"/>
          </a:bodyPr>
          <a:lstStyle/>
          <a:p>
            <a:pPr algn="just"/>
            <a:r>
              <a:rPr lang="en-US" dirty="0" smtClean="0"/>
              <a:t>Injection safety survey/observation in Ethiopia (MMIS) in 2004 and 2005 showed: </a:t>
            </a:r>
          </a:p>
          <a:p>
            <a:pPr lvl="1" algn="just"/>
            <a:r>
              <a:rPr lang="en-US" sz="3400" dirty="0" smtClean="0"/>
              <a:t>About 74% of injections  were  unsafe,  </a:t>
            </a:r>
          </a:p>
          <a:p>
            <a:pPr lvl="1" algn="just"/>
            <a:r>
              <a:rPr lang="en-US" sz="3400" dirty="0" smtClean="0"/>
              <a:t>About 72%  of  health  facilities  practiced  unsafe  disposal  and  </a:t>
            </a:r>
          </a:p>
          <a:p>
            <a:pPr lvl="1" algn="just"/>
            <a:r>
              <a:rPr lang="en-US" sz="3400" dirty="0" smtClean="0"/>
              <a:t>The prevalence rate of needle stick injury was 30 to 35%. </a:t>
            </a:r>
          </a:p>
          <a:p>
            <a:pPr algn="just"/>
            <a:r>
              <a:rPr lang="en-US" dirty="0" smtClean="0"/>
              <a:t>almost </a:t>
            </a:r>
            <a:r>
              <a:rPr lang="en-US" dirty="0"/>
              <a:t>half (45%) of the community members have a tendency of preferring injections to other preparations.</a:t>
            </a:r>
          </a:p>
          <a:p>
            <a:endParaRPr lang="en-US" dirty="0"/>
          </a:p>
        </p:txBody>
      </p:sp>
    </p:spTree>
    <p:extLst>
      <p:ext uri="{BB962C8B-B14F-4D97-AF65-F5344CB8AC3E}">
        <p14:creationId xmlns:p14="http://schemas.microsoft.com/office/powerpoint/2010/main" val="912568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1" y="1641413"/>
            <a:ext cx="7772400" cy="1822514"/>
          </a:xfrm>
        </p:spPr>
        <p:txBody>
          <a:bodyPr>
            <a:noAutofit/>
          </a:bodyPr>
          <a:lstStyle/>
          <a:p>
            <a:pPr lvl="0"/>
            <a:r>
              <a:rPr lang="en-US" b="1" dirty="0"/>
              <a:t>PPP 6.3: </a:t>
            </a:r>
            <a:r>
              <a:rPr lang="en-US" b="1" dirty="0" smtClean="0"/>
              <a:t/>
            </a:r>
            <a:br>
              <a:rPr lang="en-US" b="1" dirty="0" smtClean="0"/>
            </a:br>
            <a:r>
              <a:rPr lang="en-US" b="1" dirty="0" smtClean="0"/>
              <a:t>What are the </a:t>
            </a:r>
            <a:r>
              <a:rPr lang="en-US" b="1" dirty="0"/>
              <a:t>risks and impacts associated with unsafe injection </a:t>
            </a:r>
            <a:r>
              <a:rPr lang="en-US" b="1" dirty="0" smtClean="0"/>
              <a:t>practices? </a:t>
            </a:r>
            <a:endParaRPr lang="en-US"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95832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1" algn="ctr" defTabSz="457200" rtl="0">
              <a:spcBef>
                <a:spcPct val="0"/>
              </a:spcBef>
            </a:pPr>
            <a:r>
              <a:rPr lang="en-US" sz="3600" b="1" dirty="0">
                <a:latin typeface="+mj-lt"/>
              </a:rPr>
              <a:t>Risk of Unsafe </a:t>
            </a:r>
            <a:r>
              <a:rPr lang="en-US" sz="3600" b="1" dirty="0" smtClean="0">
                <a:latin typeface="+mj-lt"/>
              </a:rPr>
              <a:t>Injection</a:t>
            </a:r>
            <a:endParaRPr lang="en-US" sz="3600" dirty="0">
              <a:latin typeface="+mj-lt"/>
            </a:endParaRPr>
          </a:p>
        </p:txBody>
      </p:sp>
      <p:sp>
        <p:nvSpPr>
          <p:cNvPr id="5" name="Content Placeholder 4"/>
          <p:cNvSpPr>
            <a:spLocks noGrp="1"/>
          </p:cNvSpPr>
          <p:nvPr>
            <p:ph idx="1"/>
          </p:nvPr>
        </p:nvSpPr>
        <p:spPr/>
        <p:txBody>
          <a:bodyPr>
            <a:normAutofit/>
          </a:bodyPr>
          <a:lstStyle/>
          <a:p>
            <a:pPr marL="0" indent="0" algn="just">
              <a:buNone/>
            </a:pPr>
            <a:r>
              <a:rPr lang="en-US" b="1" dirty="0"/>
              <a:t>Risk to Patients</a:t>
            </a:r>
          </a:p>
          <a:p>
            <a:pPr algn="just"/>
            <a:r>
              <a:rPr lang="en-US" dirty="0"/>
              <a:t>Transmission of blood born infections </a:t>
            </a:r>
          </a:p>
          <a:p>
            <a:pPr algn="just"/>
            <a:r>
              <a:rPr lang="en-US" dirty="0"/>
              <a:t>Injection abscesses </a:t>
            </a:r>
          </a:p>
          <a:p>
            <a:pPr algn="just"/>
            <a:r>
              <a:rPr lang="en-US" dirty="0"/>
              <a:t>Paralysis</a:t>
            </a:r>
          </a:p>
          <a:p>
            <a:pPr algn="just"/>
            <a:r>
              <a:rPr lang="en-US" dirty="0"/>
              <a:t>Drug/allergic reactions shock </a:t>
            </a:r>
          </a:p>
          <a:p>
            <a:pPr algn="just"/>
            <a:endParaRPr lang="en-US" dirty="0"/>
          </a:p>
        </p:txBody>
      </p:sp>
    </p:spTree>
    <p:extLst>
      <p:ext uri="{BB962C8B-B14F-4D97-AF65-F5344CB8AC3E}">
        <p14:creationId xmlns:p14="http://schemas.microsoft.com/office/powerpoint/2010/main" val="48025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030778"/>
            <a:ext cx="7086600" cy="1188426"/>
          </a:xfrm>
        </p:spPr>
        <p:txBody>
          <a:bodyPr/>
          <a:lstStyle/>
          <a:p>
            <a:r>
              <a:rPr lang="en-US" dirty="0"/>
              <a:t>Risk of Unsafe </a:t>
            </a:r>
            <a:r>
              <a:rPr lang="en-US" dirty="0" smtClean="0"/>
              <a:t>Injection cont’d…</a:t>
            </a:r>
            <a:endParaRPr lang="en-US" dirty="0"/>
          </a:p>
        </p:txBody>
      </p:sp>
      <p:sp>
        <p:nvSpPr>
          <p:cNvPr id="3" name="Content Placeholder 2"/>
          <p:cNvSpPr>
            <a:spLocks noGrp="1"/>
          </p:cNvSpPr>
          <p:nvPr>
            <p:ph idx="1"/>
          </p:nvPr>
        </p:nvSpPr>
        <p:spPr>
          <a:xfrm>
            <a:off x="1176865" y="2490135"/>
            <a:ext cx="6798736" cy="3758265"/>
          </a:xfrm>
        </p:spPr>
        <p:txBody>
          <a:bodyPr>
            <a:normAutofit lnSpcReduction="10000"/>
          </a:bodyPr>
          <a:lstStyle/>
          <a:p>
            <a:pPr marL="0" indent="0">
              <a:buNone/>
            </a:pPr>
            <a:r>
              <a:rPr lang="en-US" b="1" dirty="0"/>
              <a:t>Risk to Health Care Workers</a:t>
            </a:r>
          </a:p>
          <a:p>
            <a:r>
              <a:rPr lang="en-US" dirty="0"/>
              <a:t>A</a:t>
            </a:r>
            <a:r>
              <a:rPr lang="en-US" dirty="0" smtClean="0"/>
              <a:t>ttributable risk related to </a:t>
            </a:r>
            <a:r>
              <a:rPr lang="en-US" dirty="0"/>
              <a:t>occupational exposure to sharps </a:t>
            </a:r>
            <a:r>
              <a:rPr lang="en-US" dirty="0" smtClean="0"/>
              <a:t>injuries</a:t>
            </a:r>
          </a:p>
          <a:p>
            <a:pPr lvl="1"/>
            <a:r>
              <a:rPr lang="en-US" dirty="0"/>
              <a:t>39% of HCV, </a:t>
            </a:r>
            <a:endParaRPr lang="en-US" dirty="0" smtClean="0"/>
          </a:p>
          <a:p>
            <a:pPr lvl="1"/>
            <a:r>
              <a:rPr lang="en-US" dirty="0" smtClean="0"/>
              <a:t>37</a:t>
            </a:r>
            <a:r>
              <a:rPr lang="en-US" dirty="0"/>
              <a:t>% of HBV, and </a:t>
            </a:r>
            <a:endParaRPr lang="en-US" dirty="0" smtClean="0"/>
          </a:p>
          <a:p>
            <a:pPr lvl="1"/>
            <a:r>
              <a:rPr lang="en-US" dirty="0" smtClean="0"/>
              <a:t>4.4</a:t>
            </a:r>
            <a:r>
              <a:rPr lang="en-US" dirty="0"/>
              <a:t>% of HIV infection among HCWs worldwide </a:t>
            </a:r>
          </a:p>
        </p:txBody>
      </p:sp>
    </p:spTree>
    <p:extLst>
      <p:ext uri="{BB962C8B-B14F-4D97-AF65-F5344CB8AC3E}">
        <p14:creationId xmlns:p14="http://schemas.microsoft.com/office/powerpoint/2010/main" val="2324044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of Unsafe Injection cont’d…</a:t>
            </a:r>
          </a:p>
        </p:txBody>
      </p:sp>
      <p:sp>
        <p:nvSpPr>
          <p:cNvPr id="3" name="Content Placeholder 2"/>
          <p:cNvSpPr>
            <a:spLocks noGrp="1"/>
          </p:cNvSpPr>
          <p:nvPr>
            <p:ph idx="1"/>
          </p:nvPr>
        </p:nvSpPr>
        <p:spPr>
          <a:xfrm>
            <a:off x="1176865" y="2718735"/>
            <a:ext cx="6798736" cy="3072465"/>
          </a:xfrm>
        </p:spPr>
        <p:txBody>
          <a:bodyPr/>
          <a:lstStyle/>
          <a:p>
            <a:pPr algn="just"/>
            <a:r>
              <a:rPr lang="en-US" dirty="0" smtClean="0"/>
              <a:t>For Conditions </a:t>
            </a:r>
            <a:r>
              <a:rPr lang="en-US" dirty="0"/>
              <a:t>Causing Risks to Community, Patients/Clients and </a:t>
            </a:r>
            <a:r>
              <a:rPr lang="en-US" dirty="0" smtClean="0"/>
              <a:t>Providers, see participant manual Table </a:t>
            </a:r>
            <a:r>
              <a:rPr lang="en-US" dirty="0"/>
              <a:t>6</a:t>
            </a:r>
            <a:r>
              <a:rPr lang="en-US" dirty="0" smtClean="0"/>
              <a:t>.1. </a:t>
            </a:r>
            <a:endParaRPr lang="en-US" dirty="0"/>
          </a:p>
        </p:txBody>
      </p:sp>
    </p:spTree>
    <p:extLst>
      <p:ext uri="{BB962C8B-B14F-4D97-AF65-F5344CB8AC3E}">
        <p14:creationId xmlns:p14="http://schemas.microsoft.com/office/powerpoint/2010/main" val="193437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3600" b="1" dirty="0">
                <a:latin typeface="+mj-lt"/>
              </a:rPr>
              <a:t>Impacts of Unsafe </a:t>
            </a:r>
            <a:r>
              <a:rPr lang="en-US" sz="3600" b="1" dirty="0" smtClean="0">
                <a:latin typeface="+mj-lt"/>
              </a:rPr>
              <a:t>Injection</a:t>
            </a:r>
            <a:endParaRPr lang="en-US" sz="3600" dirty="0">
              <a:latin typeface="+mj-lt"/>
            </a:endParaRPr>
          </a:p>
        </p:txBody>
      </p:sp>
      <p:sp>
        <p:nvSpPr>
          <p:cNvPr id="3" name="Content Placeholder 2"/>
          <p:cNvSpPr>
            <a:spLocks noGrp="1"/>
          </p:cNvSpPr>
          <p:nvPr>
            <p:ph idx="1"/>
          </p:nvPr>
        </p:nvSpPr>
        <p:spPr/>
        <p:txBody>
          <a:bodyPr/>
          <a:lstStyle/>
          <a:p>
            <a:pPr algn="just"/>
            <a:r>
              <a:rPr lang="en-US" dirty="0"/>
              <a:t>Health Impacts </a:t>
            </a:r>
            <a:endParaRPr lang="en-US" dirty="0" smtClean="0"/>
          </a:p>
          <a:p>
            <a:pPr algn="just"/>
            <a:r>
              <a:rPr lang="en-US" dirty="0"/>
              <a:t>Socio-Economic </a:t>
            </a:r>
          </a:p>
          <a:p>
            <a:pPr algn="just"/>
            <a:r>
              <a:rPr lang="en-US" dirty="0"/>
              <a:t>Psycho-Social </a:t>
            </a:r>
          </a:p>
          <a:p>
            <a:pPr algn="just"/>
            <a:endParaRPr lang="en-US" dirty="0"/>
          </a:p>
        </p:txBody>
      </p:sp>
    </p:spTree>
    <p:extLst>
      <p:ext uri="{BB962C8B-B14F-4D97-AF65-F5344CB8AC3E}">
        <p14:creationId xmlns:p14="http://schemas.microsoft.com/office/powerpoint/2010/main" val="2431332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1295400"/>
            <a:ext cx="7772400" cy="2168527"/>
          </a:xfrm>
        </p:spPr>
        <p:txBody>
          <a:bodyPr>
            <a:noAutofit/>
          </a:bodyPr>
          <a:lstStyle/>
          <a:p>
            <a:pPr lvl="0"/>
            <a:r>
              <a:rPr lang="en-US" b="1" dirty="0"/>
              <a:t>PPP 6.4: </a:t>
            </a:r>
            <a:r>
              <a:rPr lang="en-US" b="1" dirty="0" smtClean="0"/>
              <a:t/>
            </a:r>
            <a:br>
              <a:rPr lang="en-US" b="1" dirty="0" smtClean="0"/>
            </a:br>
            <a:r>
              <a:rPr lang="en-US" b="1" dirty="0" smtClean="0"/>
              <a:t>what are common reasons/factors contributing to for providing </a:t>
            </a:r>
            <a:r>
              <a:rPr lang="en-US" b="1" dirty="0"/>
              <a:t>unnecessary and unsafe </a:t>
            </a:r>
            <a:r>
              <a:rPr lang="en-US" b="1" dirty="0" smtClean="0"/>
              <a:t>injection? </a:t>
            </a:r>
            <a:endParaRPr lang="en-US" b="1" dirty="0"/>
          </a:p>
        </p:txBody>
      </p:sp>
      <p:sp>
        <p:nvSpPr>
          <p:cNvPr id="5" name="Text Placeholder 4"/>
          <p:cNvSpPr>
            <a:spLocks noGrp="1"/>
          </p:cNvSpPr>
          <p:nvPr>
            <p:ph type="body" idx="1"/>
          </p:nvPr>
        </p:nvSpPr>
        <p:spPr/>
        <p:txBody>
          <a:bodyPr/>
          <a:lstStyle/>
          <a:p>
            <a:r>
              <a:rPr lang="en-US" dirty="0" smtClean="0"/>
              <a:t>Health workers</a:t>
            </a:r>
          </a:p>
          <a:p>
            <a:r>
              <a:rPr lang="en-US" dirty="0" smtClean="0"/>
              <a:t>clients</a:t>
            </a:r>
            <a:endParaRPr lang="en-US" dirty="0"/>
          </a:p>
        </p:txBody>
      </p:sp>
    </p:spTree>
    <p:extLst>
      <p:ext uri="{BB962C8B-B14F-4D97-AF65-F5344CB8AC3E}">
        <p14:creationId xmlns:p14="http://schemas.microsoft.com/office/powerpoint/2010/main" val="4126823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685800"/>
            <a:ext cx="7772400" cy="685800"/>
          </a:xfrm>
        </p:spPr>
        <p:txBody>
          <a:bodyPr/>
          <a:lstStyle/>
          <a:p>
            <a:r>
              <a:rPr lang="en-US" dirty="0" smtClean="0"/>
              <a:t>Common Reasons</a:t>
            </a:r>
            <a:endParaRPr lang="en-US" dirty="0"/>
          </a:p>
        </p:txBody>
      </p:sp>
      <p:sp>
        <p:nvSpPr>
          <p:cNvPr id="5" name="Content Placeholder 4"/>
          <p:cNvSpPr>
            <a:spLocks noGrp="1"/>
          </p:cNvSpPr>
          <p:nvPr>
            <p:ph idx="1"/>
          </p:nvPr>
        </p:nvSpPr>
        <p:spPr>
          <a:xfrm>
            <a:off x="685800" y="1524000"/>
            <a:ext cx="7772400" cy="4648200"/>
          </a:xfrm>
        </p:spPr>
        <p:txBody>
          <a:bodyPr>
            <a:normAutofit/>
          </a:bodyPr>
          <a:lstStyle/>
          <a:p>
            <a:pPr marL="514350" indent="-514350" algn="just">
              <a:buFont typeface="+mj-lt"/>
              <a:buAutoNum type="arabicPeriod"/>
            </a:pPr>
            <a:r>
              <a:rPr lang="en-US" sz="2800" dirty="0" smtClean="0"/>
              <a:t>Inadequate </a:t>
            </a:r>
            <a:r>
              <a:rPr lang="en-US" sz="2800" dirty="0"/>
              <a:t>dissemination/promotion </a:t>
            </a:r>
            <a:r>
              <a:rPr lang="en-US" sz="2800" dirty="0" smtClean="0"/>
              <a:t>on </a:t>
            </a:r>
            <a:r>
              <a:rPr lang="en-US" sz="2800" dirty="0"/>
              <a:t>use of standard treatment guidelines.</a:t>
            </a:r>
          </a:p>
          <a:p>
            <a:pPr marL="514350" indent="-514350" algn="just">
              <a:buFont typeface="+mj-lt"/>
              <a:buAutoNum type="arabicPeriod"/>
            </a:pPr>
            <a:r>
              <a:rPr lang="en-US" sz="2800" dirty="0" smtClean="0"/>
              <a:t>Prescriber’s preference for </a:t>
            </a:r>
            <a:r>
              <a:rPr lang="en-US" sz="2800" dirty="0"/>
              <a:t>injections. </a:t>
            </a:r>
            <a:endParaRPr lang="en-US" sz="2800" dirty="0" smtClean="0"/>
          </a:p>
          <a:p>
            <a:pPr lvl="1" algn="just"/>
            <a:r>
              <a:rPr lang="en-US" dirty="0" smtClean="0"/>
              <a:t>Lack </a:t>
            </a:r>
            <a:r>
              <a:rPr lang="en-US" dirty="0"/>
              <a:t>of knowledge on the dangers of injections, </a:t>
            </a:r>
            <a:endParaRPr lang="en-US" dirty="0" smtClean="0"/>
          </a:p>
          <a:p>
            <a:pPr lvl="1" algn="just"/>
            <a:r>
              <a:rPr lang="en-US" dirty="0"/>
              <a:t>W</a:t>
            </a:r>
            <a:r>
              <a:rPr lang="en-US" dirty="0" smtClean="0"/>
              <a:t>rong </a:t>
            </a:r>
            <a:r>
              <a:rPr lang="en-US" dirty="0"/>
              <a:t>perception that injections are </a:t>
            </a:r>
            <a:endParaRPr lang="en-US" dirty="0" smtClean="0"/>
          </a:p>
          <a:p>
            <a:pPr lvl="2" algn="just"/>
            <a:r>
              <a:rPr lang="en-US" sz="2800" dirty="0"/>
              <a:t>M</a:t>
            </a:r>
            <a:r>
              <a:rPr lang="en-US" sz="2800" dirty="0" smtClean="0"/>
              <a:t>ore </a:t>
            </a:r>
            <a:r>
              <a:rPr lang="en-US" sz="2800" dirty="0"/>
              <a:t>effective than oral medications, </a:t>
            </a:r>
            <a:endParaRPr lang="en-US" sz="2800" dirty="0" smtClean="0"/>
          </a:p>
          <a:p>
            <a:pPr lvl="2" algn="just"/>
            <a:r>
              <a:rPr lang="en-US" sz="2800" dirty="0"/>
              <a:t>G</a:t>
            </a:r>
            <a:r>
              <a:rPr lang="en-US" sz="2800" dirty="0" smtClean="0"/>
              <a:t>ive </a:t>
            </a:r>
            <a:r>
              <a:rPr lang="en-US" sz="2800" dirty="0"/>
              <a:t>more rapid </a:t>
            </a:r>
            <a:r>
              <a:rPr lang="en-US" sz="2800" dirty="0" smtClean="0"/>
              <a:t>relief</a:t>
            </a:r>
          </a:p>
          <a:p>
            <a:pPr lvl="2" algn="just"/>
            <a:r>
              <a:rPr lang="en-US" sz="2800" dirty="0" smtClean="0"/>
              <a:t>Are </a:t>
            </a:r>
            <a:r>
              <a:rPr lang="en-US" sz="2800" dirty="0"/>
              <a:t>more potent </a:t>
            </a:r>
            <a:r>
              <a:rPr lang="en-US" sz="2800" dirty="0" smtClean="0"/>
              <a:t> </a:t>
            </a:r>
          </a:p>
        </p:txBody>
      </p:sp>
    </p:spTree>
    <p:extLst>
      <p:ext uri="{BB962C8B-B14F-4D97-AF65-F5344CB8AC3E}">
        <p14:creationId xmlns:p14="http://schemas.microsoft.com/office/powerpoint/2010/main" val="2691411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Common Reasons cont’d..</a:t>
            </a:r>
            <a:endParaRPr lang="en-US" dirty="0"/>
          </a:p>
        </p:txBody>
      </p:sp>
      <p:sp>
        <p:nvSpPr>
          <p:cNvPr id="5" name="Content Placeholder 4"/>
          <p:cNvSpPr>
            <a:spLocks noGrp="1"/>
          </p:cNvSpPr>
          <p:nvPr>
            <p:ph idx="1"/>
          </p:nvPr>
        </p:nvSpPr>
        <p:spPr>
          <a:xfrm>
            <a:off x="685800" y="2438400"/>
            <a:ext cx="7772400" cy="4095135"/>
          </a:xfrm>
        </p:spPr>
        <p:txBody>
          <a:bodyPr>
            <a:normAutofit/>
          </a:bodyPr>
          <a:lstStyle/>
          <a:p>
            <a:pPr marL="514350" indent="-514350" algn="just">
              <a:buFont typeface="+mj-lt"/>
              <a:buAutoNum type="arabicPeriod" startAt="3"/>
            </a:pPr>
            <a:r>
              <a:rPr lang="en-US" dirty="0"/>
              <a:t>F</a:t>
            </a:r>
            <a:r>
              <a:rPr lang="en-US" dirty="0" smtClean="0"/>
              <a:t>inancial </a:t>
            </a:r>
            <a:r>
              <a:rPr lang="en-US" dirty="0"/>
              <a:t>incentive for prescribing injections </a:t>
            </a:r>
            <a:r>
              <a:rPr lang="en-US" dirty="0" smtClean="0"/>
              <a:t> </a:t>
            </a:r>
          </a:p>
          <a:p>
            <a:pPr marL="514350" indent="-514350" algn="just">
              <a:buFont typeface="+mj-lt"/>
              <a:buAutoNum type="arabicPeriod" startAt="3"/>
            </a:pPr>
            <a:r>
              <a:rPr lang="en-US" dirty="0"/>
              <a:t>F</a:t>
            </a:r>
            <a:r>
              <a:rPr lang="en-US" dirty="0" smtClean="0"/>
              <a:t>ear </a:t>
            </a:r>
            <a:r>
              <a:rPr lang="en-US" dirty="0"/>
              <a:t>that patients will go elsewhere if therapy is given </a:t>
            </a:r>
            <a:r>
              <a:rPr lang="en-US" dirty="0" smtClean="0"/>
              <a:t>otherwise</a:t>
            </a:r>
          </a:p>
          <a:p>
            <a:pPr marL="514350" indent="-514350" algn="just">
              <a:buFont typeface="+mj-lt"/>
              <a:buAutoNum type="arabicPeriod" startAt="3"/>
            </a:pPr>
            <a:r>
              <a:rPr lang="en-US" dirty="0" smtClean="0"/>
              <a:t>Perceived </a:t>
            </a:r>
            <a:r>
              <a:rPr lang="en-US" dirty="0"/>
              <a:t>belief that patients prefer injections.</a:t>
            </a:r>
          </a:p>
          <a:p>
            <a:pPr marL="514350" indent="-514350" algn="just">
              <a:buFont typeface="+mj-lt"/>
              <a:buAutoNum type="arabicPeriod" startAt="3"/>
            </a:pPr>
            <a:r>
              <a:rPr lang="en-US" dirty="0" smtClean="0"/>
              <a:t>Informal </a:t>
            </a:r>
            <a:r>
              <a:rPr lang="en-US" dirty="0"/>
              <a:t>providers giving injections.</a:t>
            </a:r>
          </a:p>
          <a:p>
            <a:pPr marL="514350" indent="-514350" algn="just">
              <a:buFont typeface="+mj-lt"/>
              <a:buAutoNum type="arabicPeriod" startAt="3"/>
            </a:pPr>
            <a:endParaRPr lang="en-US" dirty="0"/>
          </a:p>
        </p:txBody>
      </p:sp>
    </p:spTree>
    <p:extLst>
      <p:ext uri="{BB962C8B-B14F-4D97-AF65-F5344CB8AC3E}">
        <p14:creationId xmlns:p14="http://schemas.microsoft.com/office/powerpoint/2010/main" val="2691411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lvl="0"/>
            <a:r>
              <a:rPr lang="en-US" sz="4400" b="1" dirty="0"/>
              <a:t>PPP 6.5: </a:t>
            </a:r>
            <a:r>
              <a:rPr lang="en-US" sz="4400" b="1" dirty="0" smtClean="0"/>
              <a:t/>
            </a:r>
            <a:br>
              <a:rPr lang="en-US" sz="4400" b="1" dirty="0" smtClean="0"/>
            </a:br>
            <a:r>
              <a:rPr lang="en-US" sz="4400" b="1" dirty="0" smtClean="0"/>
              <a:t>Unsafe </a:t>
            </a:r>
            <a:r>
              <a:rPr lang="en-US" sz="4400" b="1" dirty="0"/>
              <a:t>injection Practice: Transmission </a:t>
            </a:r>
            <a:r>
              <a:rPr lang="en-US" sz="4400" b="1" dirty="0" smtClean="0"/>
              <a:t>pathways</a:t>
            </a:r>
            <a:endParaRPr lang="en-US" sz="4400" b="1" dirty="0"/>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7945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848600" cy="838200"/>
          </a:xfrm>
        </p:spPr>
        <p:txBody>
          <a:bodyPr/>
          <a:lstStyle/>
          <a:p>
            <a:r>
              <a:rPr lang="en-US" sz="3200" dirty="0" smtClean="0"/>
              <a:t>Unsafe Injection Practice: Transmission Pathways </a:t>
            </a:r>
            <a:endParaRPr lang="en-US" sz="3200" dirty="0"/>
          </a:p>
        </p:txBody>
      </p:sp>
      <p:sp>
        <p:nvSpPr>
          <p:cNvPr id="3" name="Content Placeholder 2"/>
          <p:cNvSpPr>
            <a:spLocks noGrp="1"/>
          </p:cNvSpPr>
          <p:nvPr>
            <p:ph idx="1"/>
          </p:nvPr>
        </p:nvSpPr>
        <p:spPr>
          <a:xfrm>
            <a:off x="685800" y="1828800"/>
            <a:ext cx="7696200" cy="4419599"/>
          </a:xfrm>
        </p:spPr>
        <p:txBody>
          <a:bodyPr>
            <a:normAutofit/>
          </a:bodyPr>
          <a:lstStyle/>
          <a:p>
            <a:pPr algn="just"/>
            <a:r>
              <a:rPr lang="en-US" sz="3000" b="1" dirty="0"/>
              <a:t>Double dipping </a:t>
            </a:r>
            <a:r>
              <a:rPr lang="en-US" sz="3000" dirty="0"/>
              <a:t>is the reuse of a syringe that has been used to inject medication into a patient to withdraw medication from a multi-dose vial using a new needle and injecting another patient with the medication. </a:t>
            </a:r>
            <a:endParaRPr lang="en-US" sz="3000" dirty="0" smtClean="0"/>
          </a:p>
          <a:p>
            <a:pPr algn="just"/>
            <a:r>
              <a:rPr lang="en-US" sz="3000" dirty="0" smtClean="0"/>
              <a:t>This </a:t>
            </a:r>
            <a:r>
              <a:rPr lang="en-US" sz="3000" dirty="0"/>
              <a:t>results in contamination of the medication in the vial and the syringe</a:t>
            </a:r>
            <a:r>
              <a:rPr lang="en-US" dirty="0"/>
              <a:t>. </a:t>
            </a:r>
          </a:p>
          <a:p>
            <a:pPr algn="just"/>
            <a:endParaRPr lang="en-US" dirty="0"/>
          </a:p>
        </p:txBody>
      </p:sp>
    </p:spTree>
    <p:extLst>
      <p:ext uri="{BB962C8B-B14F-4D97-AF65-F5344CB8AC3E}">
        <p14:creationId xmlns:p14="http://schemas.microsoft.com/office/powerpoint/2010/main" val="4008455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Unsafe Injection Practices and Disease Transmission</a:t>
            </a:r>
          </a:p>
        </p:txBody>
      </p:sp>
      <p:pic>
        <p:nvPicPr>
          <p:cNvPr id="5" name="Picture 4" descr="https://www.cdc.gov/mmwr/preview/mmwrhtml/figures/m719a2f2.gif"/>
          <p:cNvPicPr/>
          <p:nvPr/>
        </p:nvPicPr>
        <p:blipFill rotWithShape="1">
          <a:blip r:embed="rId2">
            <a:extLst>
              <a:ext uri="{28A0092B-C50C-407E-A947-70E740481C1C}">
                <a14:useLocalDpi xmlns:a14="http://schemas.microsoft.com/office/drawing/2010/main" val="0"/>
              </a:ext>
            </a:extLst>
          </a:blip>
          <a:srcRect t="9205"/>
          <a:stretch/>
        </p:blipFill>
        <p:spPr bwMode="auto">
          <a:xfrm>
            <a:off x="685800" y="2438400"/>
            <a:ext cx="7772399" cy="3733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5798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489073"/>
            <a:ext cx="7162800" cy="2016127"/>
          </a:xfrm>
        </p:spPr>
        <p:txBody>
          <a:bodyPr>
            <a:noAutofit/>
          </a:bodyPr>
          <a:lstStyle/>
          <a:p>
            <a:pPr lvl="0"/>
            <a:r>
              <a:rPr lang="en-US" sz="4400" b="1" dirty="0"/>
              <a:t>PPP 6.6: </a:t>
            </a:r>
            <a:r>
              <a:rPr lang="en-US" sz="4400" b="1" dirty="0" smtClean="0"/>
              <a:t/>
            </a:r>
            <a:br>
              <a:rPr lang="en-US" sz="4400" b="1" dirty="0" smtClean="0"/>
            </a:br>
            <a:r>
              <a:rPr lang="en-US" sz="4400" b="1" dirty="0" smtClean="0"/>
              <a:t>What are the Best Practices to make Injection Safer ?</a:t>
            </a:r>
            <a:endParaRPr lang="en-US" sz="4400" b="1" dirty="0"/>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737642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799" y="838200"/>
            <a:ext cx="7772399" cy="685800"/>
          </a:xfrm>
        </p:spPr>
        <p:txBody>
          <a:bodyPr/>
          <a:lstStyle/>
          <a:p>
            <a:pPr lvl="0"/>
            <a:r>
              <a:rPr lang="en-US" sz="3600" dirty="0" smtClean="0"/>
              <a:t>Best </a:t>
            </a:r>
            <a:r>
              <a:rPr lang="en-US" sz="3600" dirty="0"/>
              <a:t>Practices in Injection Safety</a:t>
            </a:r>
          </a:p>
        </p:txBody>
      </p:sp>
      <p:sp>
        <p:nvSpPr>
          <p:cNvPr id="4" name="Content Placeholder 3"/>
          <p:cNvSpPr>
            <a:spLocks noGrp="1"/>
          </p:cNvSpPr>
          <p:nvPr>
            <p:ph idx="1"/>
          </p:nvPr>
        </p:nvSpPr>
        <p:spPr>
          <a:xfrm>
            <a:off x="685800" y="1371600"/>
            <a:ext cx="7772399" cy="4876801"/>
          </a:xfrm>
        </p:spPr>
        <p:txBody>
          <a:bodyPr>
            <a:normAutofit/>
          </a:bodyPr>
          <a:lstStyle/>
          <a:p>
            <a:pPr marL="514350" indent="-514350" algn="just">
              <a:buFont typeface="+mj-lt"/>
              <a:buAutoNum type="arabicPeriod"/>
            </a:pPr>
            <a:r>
              <a:rPr lang="en-US" sz="2800" dirty="0" smtClean="0"/>
              <a:t>Elimination  of  unnecessary  Injection  </a:t>
            </a:r>
          </a:p>
          <a:p>
            <a:pPr lvl="1" algn="just"/>
            <a:r>
              <a:rPr lang="en-US" sz="2400" dirty="0" smtClean="0"/>
              <a:t>Promoting Rational Prescribing </a:t>
            </a:r>
          </a:p>
          <a:p>
            <a:pPr lvl="1" algn="just"/>
            <a:r>
              <a:rPr lang="en-US" sz="2400" dirty="0" smtClean="0"/>
              <a:t>Educating  the  patients  </a:t>
            </a:r>
          </a:p>
          <a:p>
            <a:pPr marL="514350" indent="-514350" algn="just">
              <a:buFont typeface="+mj-lt"/>
              <a:buAutoNum type="arabicPeriod"/>
            </a:pPr>
            <a:r>
              <a:rPr lang="en-US" sz="2800" dirty="0" smtClean="0"/>
              <a:t>Administer Injections Safely</a:t>
            </a:r>
          </a:p>
          <a:p>
            <a:pPr marL="0" indent="0" algn="just">
              <a:buNone/>
            </a:pPr>
            <a:endParaRPr lang="en-US" sz="3600" dirty="0"/>
          </a:p>
        </p:txBody>
      </p:sp>
      <p:sp>
        <p:nvSpPr>
          <p:cNvPr id="5" name="Content Placeholder 2"/>
          <p:cNvSpPr txBox="1">
            <a:spLocks/>
          </p:cNvSpPr>
          <p:nvPr/>
        </p:nvSpPr>
        <p:spPr>
          <a:xfrm>
            <a:off x="838200" y="3733801"/>
            <a:ext cx="3810000" cy="2362200"/>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514350" indent="-514350">
              <a:buFont typeface="+mj-lt"/>
              <a:buAutoNum type="arabicPeriod"/>
            </a:pPr>
            <a:r>
              <a:rPr lang="en-US" sz="2000" dirty="0" smtClean="0"/>
              <a:t>Right Patient</a:t>
            </a:r>
          </a:p>
          <a:p>
            <a:pPr marL="514350" indent="-514350">
              <a:buFont typeface="+mj-lt"/>
              <a:buAutoNum type="arabicPeriod"/>
            </a:pPr>
            <a:r>
              <a:rPr lang="en-US" sz="2000" dirty="0" smtClean="0"/>
              <a:t>Right Drug</a:t>
            </a:r>
          </a:p>
          <a:p>
            <a:pPr marL="514350" indent="-514350">
              <a:buFont typeface="+mj-lt"/>
              <a:buAutoNum type="arabicPeriod"/>
            </a:pPr>
            <a:r>
              <a:rPr lang="en-US" sz="2000" dirty="0" smtClean="0"/>
              <a:t>Right Formulation</a:t>
            </a:r>
          </a:p>
          <a:p>
            <a:pPr marL="514350" indent="-514350">
              <a:buFont typeface="+mj-lt"/>
              <a:buAutoNum type="arabicPeriod"/>
            </a:pPr>
            <a:r>
              <a:rPr lang="en-US" sz="2000" dirty="0" smtClean="0"/>
              <a:t>Right Injection Equipment</a:t>
            </a:r>
          </a:p>
          <a:p>
            <a:pPr marL="514350" indent="-514350">
              <a:buFont typeface="+mj-lt"/>
              <a:buAutoNum type="arabicPeriod"/>
            </a:pPr>
            <a:r>
              <a:rPr lang="en-US" sz="2000" dirty="0" smtClean="0"/>
              <a:t>Right Dosage</a:t>
            </a:r>
          </a:p>
        </p:txBody>
      </p:sp>
      <p:sp>
        <p:nvSpPr>
          <p:cNvPr id="6" name="Content Placeholder 2"/>
          <p:cNvSpPr txBox="1">
            <a:spLocks/>
          </p:cNvSpPr>
          <p:nvPr/>
        </p:nvSpPr>
        <p:spPr>
          <a:xfrm>
            <a:off x="4953000" y="3733800"/>
            <a:ext cx="3581400" cy="2209800"/>
          </a:xfrm>
          <a:prstGeom prst="rect">
            <a:avLst/>
          </a:prstGeom>
        </p:spPr>
        <p:txBody>
          <a:bodyPr vert="horz" lIns="91440" tIns="45720" rIns="91440" bIns="45720" rtlCol="0" anchor="t">
            <a:normAutofit fontScale="77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dirty="0" smtClean="0"/>
              <a:t>6. 	Right Time</a:t>
            </a:r>
          </a:p>
          <a:p>
            <a:pPr marL="0" indent="0">
              <a:buNone/>
            </a:pPr>
            <a:r>
              <a:rPr lang="en-US" dirty="0" smtClean="0"/>
              <a:t>7. 	Right Route</a:t>
            </a:r>
          </a:p>
          <a:p>
            <a:pPr marL="0" indent="0">
              <a:buNone/>
            </a:pPr>
            <a:r>
              <a:rPr lang="en-US" dirty="0" smtClean="0"/>
              <a:t>8.	Right Storage</a:t>
            </a:r>
          </a:p>
          <a:p>
            <a:pPr marL="0" indent="0">
              <a:buNone/>
            </a:pPr>
            <a:r>
              <a:rPr lang="en-US" dirty="0" smtClean="0"/>
              <a:t>9.	Right Method of Disposal</a:t>
            </a:r>
          </a:p>
        </p:txBody>
      </p:sp>
    </p:spTree>
    <p:extLst>
      <p:ext uri="{BB962C8B-B14F-4D97-AF65-F5344CB8AC3E}">
        <p14:creationId xmlns:p14="http://schemas.microsoft.com/office/powerpoint/2010/main" val="4112975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924800" cy="533400"/>
          </a:xfrm>
        </p:spPr>
        <p:txBody>
          <a:bodyPr/>
          <a:lstStyle/>
          <a:p>
            <a:r>
              <a:rPr lang="en-US" sz="3600" dirty="0">
                <a:latin typeface="Times New Roman" panose="02020603050405020304" pitchFamily="18" charset="0"/>
                <a:cs typeface="Times New Roman" panose="02020603050405020304" pitchFamily="18" charset="0"/>
              </a:rPr>
              <a:t>Standards for Administering Injections </a:t>
            </a:r>
          </a:p>
        </p:txBody>
      </p:sp>
      <p:sp>
        <p:nvSpPr>
          <p:cNvPr id="3" name="Content Placeholder 2"/>
          <p:cNvSpPr>
            <a:spLocks noGrp="1"/>
          </p:cNvSpPr>
          <p:nvPr>
            <p:ph idx="1"/>
          </p:nvPr>
        </p:nvSpPr>
        <p:spPr>
          <a:xfrm>
            <a:off x="762000" y="1447801"/>
            <a:ext cx="7620000" cy="4800600"/>
          </a:xfrm>
        </p:spPr>
        <p:txBody>
          <a:bodyPr>
            <a:normAutofit fontScale="77500" lnSpcReduction="20000"/>
          </a:bodyPr>
          <a:lstStyle/>
          <a:p>
            <a:pPr lvl="0"/>
            <a:r>
              <a:rPr lang="en-US" dirty="0"/>
              <a:t>Prepare a well-laid up tray including emergency drugs </a:t>
            </a:r>
            <a:r>
              <a:rPr lang="en-US" dirty="0" smtClean="0"/>
              <a:t>for management or possible drug reaction.</a:t>
            </a:r>
            <a:endParaRPr lang="en-US" dirty="0"/>
          </a:p>
          <a:p>
            <a:pPr lvl="0"/>
            <a:r>
              <a:rPr lang="en-US" b="1" dirty="0"/>
              <a:t>Wash hands with soap and water. Alcohol could be used as a secondary step after soap and water except for EPI injection</a:t>
            </a:r>
            <a:r>
              <a:rPr lang="en-US" b="1" dirty="0" smtClean="0"/>
              <a:t>.????</a:t>
            </a:r>
            <a:endParaRPr lang="en-US" b="1" dirty="0"/>
          </a:p>
          <a:p>
            <a:pPr lvl="0"/>
            <a:r>
              <a:rPr lang="en-US" dirty="0"/>
              <a:t>Dry up hands. </a:t>
            </a:r>
          </a:p>
          <a:p>
            <a:pPr lvl="0"/>
            <a:r>
              <a:rPr lang="en-US" dirty="0"/>
              <a:t>Check for the integrity of the vial/ampoule </a:t>
            </a:r>
          </a:p>
          <a:p>
            <a:pPr lvl="0"/>
            <a:r>
              <a:rPr lang="en-US" dirty="0"/>
              <a:t>Make sure that the right dose, formulation and route are used for the right patient or client.</a:t>
            </a:r>
          </a:p>
          <a:p>
            <a:pPr lvl="0"/>
            <a:r>
              <a:rPr lang="en-US" dirty="0"/>
              <a:t>For medications that need to be reconstituted, (powder forms) it should be done according to the manufacturer’s instruction and use the correct diluents</a:t>
            </a:r>
            <a:r>
              <a:rPr lang="en-US" dirty="0" smtClean="0"/>
              <a:t>.</a:t>
            </a:r>
            <a:endParaRPr lang="en-US" dirty="0"/>
          </a:p>
        </p:txBody>
      </p:sp>
    </p:spTree>
    <p:extLst>
      <p:ext uri="{BB962C8B-B14F-4D97-AF65-F5344CB8AC3E}">
        <p14:creationId xmlns:p14="http://schemas.microsoft.com/office/powerpoint/2010/main" val="3234032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924800" cy="685800"/>
          </a:xfrm>
        </p:spPr>
        <p:txBody>
          <a:bodyPr/>
          <a:lstStyle/>
          <a:p>
            <a:r>
              <a:rPr lang="en-US" dirty="0" smtClean="0"/>
              <a:t>Cont’d</a:t>
            </a:r>
            <a:r>
              <a:rPr lang="en-US" dirty="0" smtClean="0"/>
              <a:t>…</a:t>
            </a:r>
            <a:endParaRPr lang="en-US" dirty="0"/>
          </a:p>
        </p:txBody>
      </p:sp>
      <p:sp>
        <p:nvSpPr>
          <p:cNvPr id="3" name="Content Placeholder 2"/>
          <p:cNvSpPr>
            <a:spLocks noGrp="1"/>
          </p:cNvSpPr>
          <p:nvPr>
            <p:ph idx="1"/>
          </p:nvPr>
        </p:nvSpPr>
        <p:spPr>
          <a:xfrm>
            <a:off x="685800" y="1524001"/>
            <a:ext cx="7772400" cy="4724400"/>
          </a:xfrm>
        </p:spPr>
        <p:txBody>
          <a:bodyPr>
            <a:normAutofit fontScale="85000" lnSpcReduction="20000"/>
          </a:bodyPr>
          <a:lstStyle/>
          <a:p>
            <a:pPr lvl="0"/>
            <a:r>
              <a:rPr lang="en-US" dirty="0" smtClean="0">
                <a:latin typeface="Times New Roman" panose="02020603050405020304" pitchFamily="18" charset="0"/>
                <a:cs typeface="Times New Roman" panose="02020603050405020304" pitchFamily="18" charset="0"/>
              </a:rPr>
              <a:t>Draw  </a:t>
            </a:r>
            <a:r>
              <a:rPr lang="en-US" dirty="0">
                <a:latin typeface="Times New Roman" panose="02020603050405020304" pitchFamily="18" charset="0"/>
                <a:cs typeface="Times New Roman" panose="02020603050405020304" pitchFamily="18" charset="0"/>
              </a:rPr>
              <a:t>the  right  dose  as  </a:t>
            </a:r>
            <a:r>
              <a:rPr lang="en-US" dirty="0" smtClean="0">
                <a:latin typeface="Times New Roman" panose="02020603050405020304" pitchFamily="18" charset="0"/>
                <a:cs typeface="Times New Roman" panose="02020603050405020304" pitchFamily="18" charset="0"/>
              </a:rPr>
              <a:t>prescribed.</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Ensure aseptic technique while giving the injection.</a:t>
            </a:r>
          </a:p>
          <a:p>
            <a:pPr lvl="0"/>
            <a:r>
              <a:rPr lang="en-US" dirty="0">
                <a:latin typeface="Times New Roman" panose="02020603050405020304" pitchFamily="18" charset="0"/>
                <a:cs typeface="Times New Roman" panose="02020603050405020304" pitchFamily="18" charset="0"/>
              </a:rPr>
              <a:t>Administer the drug at the correct site.</a:t>
            </a:r>
          </a:p>
          <a:p>
            <a:pPr lvl="0"/>
            <a:r>
              <a:rPr lang="en-US" dirty="0">
                <a:latin typeface="Times New Roman" panose="02020603050405020304" pitchFamily="18" charset="0"/>
                <a:cs typeface="Times New Roman" panose="02020603050405020304" pitchFamily="18" charset="0"/>
              </a:rPr>
              <a:t>Dispose the used syringes and needles immediately into the sharp’s </a:t>
            </a:r>
            <a:r>
              <a:rPr lang="en-US" dirty="0" smtClean="0">
                <a:latin typeface="Times New Roman" panose="02020603050405020304" pitchFamily="18" charset="0"/>
                <a:cs typeface="Times New Roman" panose="02020603050405020304" pitchFamily="18" charset="0"/>
              </a:rPr>
              <a:t>container.</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 patient should be kept in the room for at least 5 minutes after the injection has been given and be observed for any possible adverse effect or events.</a:t>
            </a:r>
          </a:p>
          <a:p>
            <a:pPr lvl="0"/>
            <a:r>
              <a:rPr lang="en-US" dirty="0">
                <a:latin typeface="Times New Roman" panose="02020603050405020304" pitchFamily="18" charset="0"/>
                <a:cs typeface="Times New Roman" panose="02020603050405020304" pitchFamily="18" charset="0"/>
              </a:rPr>
              <a:t>Thank the patient or the client.</a:t>
            </a:r>
          </a:p>
          <a:p>
            <a:pPr lvl="0"/>
            <a:r>
              <a:rPr lang="en-US" dirty="0" smtClean="0">
                <a:latin typeface="Times New Roman" panose="02020603050405020304" pitchFamily="18" charset="0"/>
                <a:cs typeface="Times New Roman" panose="02020603050405020304" pitchFamily="18" charset="0"/>
              </a:rPr>
              <a:t>Record </a:t>
            </a:r>
            <a:r>
              <a:rPr lang="en-US" dirty="0">
                <a:latin typeface="Times New Roman" panose="02020603050405020304" pitchFamily="18" charset="0"/>
                <a:cs typeface="Times New Roman" panose="02020603050405020304" pitchFamily="18" charset="0"/>
              </a:rPr>
              <a:t>the date and time of injection administered.</a:t>
            </a:r>
          </a:p>
        </p:txBody>
      </p:sp>
    </p:spTree>
    <p:extLst>
      <p:ext uri="{BB962C8B-B14F-4D97-AF65-F5344CB8AC3E}">
        <p14:creationId xmlns:p14="http://schemas.microsoft.com/office/powerpoint/2010/main" val="3234032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1600201"/>
            <a:ext cx="7467600" cy="2133600"/>
          </a:xfrm>
        </p:spPr>
        <p:txBody>
          <a:bodyPr>
            <a:noAutofit/>
          </a:bodyPr>
          <a:lstStyle/>
          <a:p>
            <a:pPr lvl="0"/>
            <a:r>
              <a:rPr lang="en-US" sz="4800" b="1" dirty="0"/>
              <a:t>PPP 6.7: </a:t>
            </a:r>
            <a:r>
              <a:rPr lang="en-US" sz="4800" b="1" dirty="0" smtClean="0"/>
              <a:t/>
            </a:r>
            <a:br>
              <a:rPr lang="en-US" sz="4800" b="1" dirty="0" smtClean="0"/>
            </a:br>
            <a:r>
              <a:rPr lang="en-US" sz="4800" b="1" dirty="0" smtClean="0"/>
              <a:t>W</a:t>
            </a:r>
            <a:r>
              <a:rPr lang="en-US" sz="4400" b="1" dirty="0" smtClean="0"/>
              <a:t>hat is the role </a:t>
            </a:r>
            <a:r>
              <a:rPr lang="en-US" sz="4400" b="1" dirty="0"/>
              <a:t>of </a:t>
            </a:r>
            <a:r>
              <a:rPr lang="en-US" sz="4400" b="1" dirty="0" smtClean="0"/>
              <a:t>Prescriber/provider in Injection Safety ?</a:t>
            </a:r>
            <a:endParaRPr lang="en-US" sz="4800" b="1" dirty="0"/>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8813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7848600" cy="914400"/>
          </a:xfrm>
        </p:spPr>
        <p:txBody>
          <a:bodyPr/>
          <a:lstStyle/>
          <a:p>
            <a:pPr lvl="0"/>
            <a:r>
              <a:rPr lang="en-US" sz="3200" dirty="0">
                <a:latin typeface="Times New Roman" panose="02020603050405020304" pitchFamily="18" charset="0"/>
                <a:cs typeface="Times New Roman" panose="02020603050405020304" pitchFamily="18" charset="0"/>
              </a:rPr>
              <a:t>The Role of Prescribers and Providers in Injection </a:t>
            </a:r>
            <a:r>
              <a:rPr lang="en-US" sz="3200" dirty="0" smtClean="0">
                <a:latin typeface="Times New Roman" panose="02020603050405020304" pitchFamily="18" charset="0"/>
                <a:cs typeface="Times New Roman" panose="02020603050405020304" pitchFamily="18" charset="0"/>
              </a:rPr>
              <a:t>Safety</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905000"/>
            <a:ext cx="7620000" cy="4283197"/>
          </a:xfrm>
        </p:spPr>
        <p:txBody>
          <a:bodyPr>
            <a:normAutofit/>
          </a:bodyPr>
          <a:lstStyle/>
          <a:p>
            <a:pPr algn="just"/>
            <a:r>
              <a:rPr lang="en-US" dirty="0">
                <a:latin typeface="Times New Roman" panose="02020603050405020304" pitchFamily="18" charset="0"/>
                <a:cs typeface="Times New Roman" panose="02020603050405020304" pitchFamily="18" charset="0"/>
              </a:rPr>
              <a:t>Avoid unnecessary injections.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Therefore </a:t>
            </a:r>
            <a:r>
              <a:rPr lang="en-US" dirty="0">
                <a:latin typeface="Times New Roman" panose="02020603050405020304" pitchFamily="18" charset="0"/>
                <a:cs typeface="Times New Roman" panose="02020603050405020304" pitchFamily="18" charset="0"/>
              </a:rPr>
              <a:t>injections should only be used in:</a:t>
            </a:r>
          </a:p>
          <a:p>
            <a:pPr lvl="1" algn="just"/>
            <a:r>
              <a:rPr lang="en-US" dirty="0">
                <a:latin typeface="Times New Roman" panose="02020603050405020304" pitchFamily="18" charset="0"/>
                <a:cs typeface="Times New Roman" panose="02020603050405020304" pitchFamily="18" charset="0"/>
              </a:rPr>
              <a:t>Life threatening conditions</a:t>
            </a:r>
          </a:p>
          <a:p>
            <a:pPr lvl="1" algn="just"/>
            <a:r>
              <a:rPr lang="en-US" dirty="0">
                <a:latin typeface="Times New Roman" panose="02020603050405020304" pitchFamily="18" charset="0"/>
                <a:cs typeface="Times New Roman" panose="02020603050405020304" pitchFamily="18" charset="0"/>
              </a:rPr>
              <a:t>Mal-absorption syndromes or</a:t>
            </a:r>
          </a:p>
          <a:p>
            <a:pPr lvl="1" algn="just"/>
            <a:r>
              <a:rPr lang="en-US" dirty="0">
                <a:latin typeface="Times New Roman" panose="02020603050405020304" pitchFamily="18" charset="0"/>
                <a:cs typeface="Times New Roman" panose="02020603050405020304" pitchFamily="18" charset="0"/>
              </a:rPr>
              <a:t>Inability to swallow</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616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30778"/>
            <a:ext cx="7543800" cy="798022"/>
          </a:xfrm>
        </p:spPr>
        <p:txBody>
          <a:bodyPr/>
          <a:lstStyle/>
          <a:p>
            <a:r>
              <a:rPr lang="en-US" sz="3200" dirty="0" smtClean="0"/>
              <a:t/>
            </a:r>
            <a:br>
              <a:rPr lang="en-US" sz="3200" dirty="0" smtClean="0"/>
            </a:br>
            <a:r>
              <a:rPr lang="en-US" sz="3200" dirty="0" smtClean="0"/>
              <a:t>The Role….</a:t>
            </a:r>
            <a:br>
              <a:rPr lang="en-US" sz="3200" dirty="0" smtClean="0"/>
            </a:br>
            <a:r>
              <a:rPr lang="en-US" sz="2800" dirty="0" smtClean="0"/>
              <a:t>Prescribers </a:t>
            </a:r>
            <a:r>
              <a:rPr lang="en-US" sz="2800" dirty="0"/>
              <a:t>and Service providers should also:</a:t>
            </a:r>
            <a:br>
              <a:rPr lang="en-US" sz="2800" dirty="0"/>
            </a:br>
            <a:endParaRPr lang="en-US" sz="3200" dirty="0"/>
          </a:p>
        </p:txBody>
      </p:sp>
      <p:sp>
        <p:nvSpPr>
          <p:cNvPr id="3" name="Content Placeholder 2"/>
          <p:cNvSpPr>
            <a:spLocks noGrp="1"/>
          </p:cNvSpPr>
          <p:nvPr>
            <p:ph idx="1"/>
          </p:nvPr>
        </p:nvSpPr>
        <p:spPr>
          <a:xfrm>
            <a:off x="685800" y="1981201"/>
            <a:ext cx="7772399" cy="4267200"/>
          </a:xfrm>
        </p:spPr>
        <p:txBody>
          <a:bodyPr>
            <a:normAutofit fontScale="92500" lnSpcReduction="10000"/>
          </a:bodyPr>
          <a:lstStyle/>
          <a:p>
            <a:pPr lvl="1" algn="just"/>
            <a:endParaRPr lang="en-US" b="1" dirty="0" smtClean="0"/>
          </a:p>
          <a:p>
            <a:pPr lvl="1" algn="just"/>
            <a:r>
              <a:rPr lang="en-US" b="1" dirty="0" smtClean="0"/>
              <a:t>Encourage </a:t>
            </a:r>
            <a:r>
              <a:rPr lang="en-US" b="1" dirty="0"/>
              <a:t>patients to accept oral medications when possible.</a:t>
            </a:r>
          </a:p>
          <a:p>
            <a:pPr lvl="1" algn="just"/>
            <a:r>
              <a:rPr lang="en-US" b="1" dirty="0"/>
              <a:t>Injections should be given only when necessary.</a:t>
            </a:r>
          </a:p>
          <a:p>
            <a:pPr lvl="1" algn="just"/>
            <a:r>
              <a:rPr lang="en-US" b="1" dirty="0"/>
              <a:t>Explain the </a:t>
            </a:r>
            <a:r>
              <a:rPr lang="en-US" b="1" dirty="0" smtClean="0"/>
              <a:t>risks/ SE </a:t>
            </a:r>
            <a:r>
              <a:rPr lang="en-US" b="1" dirty="0"/>
              <a:t>associated with injections</a:t>
            </a:r>
          </a:p>
          <a:p>
            <a:pPr lvl="1" algn="just"/>
            <a:r>
              <a:rPr lang="en-US" b="1" dirty="0"/>
              <a:t>Explain </a:t>
            </a:r>
            <a:r>
              <a:rPr lang="en-US" b="1" dirty="0" smtClean="0"/>
              <a:t>the </a:t>
            </a:r>
            <a:r>
              <a:rPr lang="en-US" b="1" dirty="0"/>
              <a:t>need to take oral drugs as prescribed and review these instructions with them</a:t>
            </a:r>
            <a:r>
              <a:rPr lang="en-US" b="1" dirty="0" smtClean="0"/>
              <a:t>.</a:t>
            </a:r>
            <a:endParaRPr lang="en-US" b="1" dirty="0"/>
          </a:p>
          <a:p>
            <a:pPr lvl="1" algn="just"/>
            <a:r>
              <a:rPr lang="en-US" b="1" dirty="0"/>
              <a:t>Explore why patients prefer injections</a:t>
            </a:r>
          </a:p>
          <a:p>
            <a:pPr algn="just"/>
            <a:endParaRPr lang="en-US" dirty="0"/>
          </a:p>
        </p:txBody>
      </p:sp>
    </p:spTree>
    <p:extLst>
      <p:ext uri="{BB962C8B-B14F-4D97-AF65-F5344CB8AC3E}">
        <p14:creationId xmlns:p14="http://schemas.microsoft.com/office/powerpoint/2010/main" val="3871252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8465" y="1295400"/>
            <a:ext cx="6595534" cy="2168527"/>
          </a:xfrm>
        </p:spPr>
        <p:txBody>
          <a:bodyPr>
            <a:noAutofit/>
          </a:bodyPr>
          <a:lstStyle/>
          <a:p>
            <a:pPr lvl="0"/>
            <a:r>
              <a:rPr lang="en-US" sz="4800" b="1" dirty="0"/>
              <a:t>PPP 6.8: </a:t>
            </a:r>
            <a:r>
              <a:rPr lang="en-US" sz="4800" b="1" dirty="0" smtClean="0"/>
              <a:t/>
            </a:r>
            <a:br>
              <a:rPr lang="en-US" sz="4800" b="1" dirty="0" smtClean="0"/>
            </a:br>
            <a:r>
              <a:rPr lang="en-US" sz="4800" b="1" dirty="0" smtClean="0"/>
              <a:t>Principles </a:t>
            </a:r>
            <a:r>
              <a:rPr lang="en-US" sz="4800" b="1" dirty="0"/>
              <a:t>in </a:t>
            </a:r>
            <a:r>
              <a:rPr lang="en-US" sz="4800" b="1" dirty="0" smtClean="0"/>
              <a:t>Safe Injection </a:t>
            </a:r>
            <a:r>
              <a:rPr lang="en-US" sz="4800" b="1" dirty="0"/>
              <a:t>P</a:t>
            </a:r>
            <a:r>
              <a:rPr lang="en-US" sz="4800" b="1" dirty="0" smtClean="0"/>
              <a:t>ractice</a:t>
            </a:r>
            <a:endParaRPr lang="en-US" sz="48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37538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Principles of Safe Injection </a:t>
            </a:r>
            <a:r>
              <a:rPr lang="en-US" dirty="0" smtClean="0"/>
              <a:t>Practice</a:t>
            </a:r>
            <a:endParaRPr lang="en-US" dirty="0"/>
          </a:p>
        </p:txBody>
      </p:sp>
      <p:sp>
        <p:nvSpPr>
          <p:cNvPr id="3" name="Content Placeholder 2"/>
          <p:cNvSpPr>
            <a:spLocks noGrp="1"/>
          </p:cNvSpPr>
          <p:nvPr>
            <p:ph idx="1"/>
          </p:nvPr>
        </p:nvSpPr>
        <p:spPr>
          <a:xfrm>
            <a:off x="762000" y="2490135"/>
            <a:ext cx="7619999" cy="3682065"/>
          </a:xfrm>
        </p:spPr>
        <p:txBody>
          <a:bodyPr>
            <a:normAutofit/>
          </a:bodyPr>
          <a:lstStyle/>
          <a:p>
            <a:pPr algn="just"/>
            <a:r>
              <a:rPr lang="en-US" dirty="0"/>
              <a:t>Use Sterile Injection Equipment</a:t>
            </a:r>
          </a:p>
          <a:p>
            <a:pPr algn="just"/>
            <a:r>
              <a:rPr lang="en-US" dirty="0"/>
              <a:t>Prevent Contamination of Injection Equipment and Medication</a:t>
            </a:r>
          </a:p>
          <a:p>
            <a:pPr algn="just"/>
            <a:r>
              <a:rPr lang="en-US" dirty="0"/>
              <a:t>Prevent Injuries to the Provider</a:t>
            </a:r>
          </a:p>
          <a:p>
            <a:pPr algn="just"/>
            <a:r>
              <a:rPr lang="en-US" dirty="0"/>
              <a:t>Prevent Access to Used Needles and Syringes</a:t>
            </a:r>
          </a:p>
          <a:p>
            <a:pPr algn="just"/>
            <a:endParaRPr lang="en-US" dirty="0"/>
          </a:p>
        </p:txBody>
      </p:sp>
    </p:spTree>
    <p:extLst>
      <p:ext uri="{BB962C8B-B14F-4D97-AF65-F5344CB8AC3E}">
        <p14:creationId xmlns:p14="http://schemas.microsoft.com/office/powerpoint/2010/main" val="2781035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7848600" cy="838200"/>
          </a:xfrm>
        </p:spPr>
        <p:txBody>
          <a:bodyPr/>
          <a:lstStyle/>
          <a:p>
            <a:r>
              <a:rPr lang="en-US" sz="3600" dirty="0"/>
              <a:t>Best Practices for Administering Injection</a:t>
            </a:r>
          </a:p>
        </p:txBody>
      </p:sp>
      <p:sp>
        <p:nvSpPr>
          <p:cNvPr id="3" name="Content Placeholder 2"/>
          <p:cNvSpPr>
            <a:spLocks noGrp="1"/>
          </p:cNvSpPr>
          <p:nvPr>
            <p:ph idx="1"/>
          </p:nvPr>
        </p:nvSpPr>
        <p:spPr>
          <a:xfrm>
            <a:off x="914400" y="1828801"/>
            <a:ext cx="7315200" cy="4267200"/>
          </a:xfrm>
        </p:spPr>
        <p:txBody>
          <a:bodyPr>
            <a:normAutofit fontScale="92500" lnSpcReduction="20000"/>
          </a:bodyPr>
          <a:lstStyle/>
          <a:p>
            <a:pPr algn="just"/>
            <a:r>
              <a:rPr lang="en-US" dirty="0"/>
              <a:t>Select safe medicines </a:t>
            </a:r>
          </a:p>
          <a:p>
            <a:pPr algn="just"/>
            <a:r>
              <a:rPr lang="en-US" dirty="0"/>
              <a:t>Use of sterile equipment </a:t>
            </a:r>
          </a:p>
          <a:p>
            <a:pPr algn="just"/>
            <a:r>
              <a:rPr lang="en-US" dirty="0"/>
              <a:t>Avoid contamination (Adhere to principles of Aseptic Technique)</a:t>
            </a:r>
          </a:p>
          <a:p>
            <a:pPr algn="just"/>
            <a:r>
              <a:rPr lang="en-US" dirty="0"/>
              <a:t>Re-constitute drugs or vaccines safely </a:t>
            </a:r>
          </a:p>
          <a:p>
            <a:pPr algn="just"/>
            <a:r>
              <a:rPr lang="en-US" dirty="0"/>
              <a:t>Disposal of injection wastes and sharps properly </a:t>
            </a:r>
          </a:p>
          <a:p>
            <a:pPr algn="just"/>
            <a:r>
              <a:rPr lang="en-US" dirty="0"/>
              <a:t>Disseminate public health education and information</a:t>
            </a:r>
          </a:p>
        </p:txBody>
      </p:sp>
    </p:spTree>
    <p:extLst>
      <p:ext uri="{BB962C8B-B14F-4D97-AF65-F5344CB8AC3E}">
        <p14:creationId xmlns:p14="http://schemas.microsoft.com/office/powerpoint/2010/main" val="1628787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lvl="0"/>
            <a:r>
              <a:rPr lang="en-US" sz="4800" b="1" dirty="0"/>
              <a:t>PPP 6.9: </a:t>
            </a:r>
            <a:r>
              <a:rPr lang="en-US" sz="4800" b="1" dirty="0" smtClean="0"/>
              <a:t/>
            </a:r>
            <a:br>
              <a:rPr lang="en-US" sz="4800" b="1" dirty="0" smtClean="0"/>
            </a:br>
            <a:r>
              <a:rPr lang="en-US" sz="4800" b="1" dirty="0" smtClean="0"/>
              <a:t>Injection Devices </a:t>
            </a:r>
            <a:r>
              <a:rPr lang="en-US" sz="4800" b="1" dirty="0"/>
              <a:t>and </a:t>
            </a:r>
            <a:r>
              <a:rPr lang="en-US" sz="4800" b="1" dirty="0" smtClean="0"/>
              <a:t>Their Safety </a:t>
            </a:r>
            <a:r>
              <a:rPr lang="en-US" sz="4800" b="1" dirty="0"/>
              <a:t>F</a:t>
            </a:r>
            <a:r>
              <a:rPr lang="en-US" sz="4800" b="1" dirty="0" smtClean="0"/>
              <a:t>eatures</a:t>
            </a:r>
            <a:endParaRPr lang="en-US" sz="48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917634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1295400"/>
            <a:ext cx="7772400" cy="2168527"/>
          </a:xfrm>
        </p:spPr>
        <p:txBody>
          <a:bodyPr>
            <a:noAutofit/>
          </a:bodyPr>
          <a:lstStyle/>
          <a:p>
            <a:r>
              <a:rPr lang="en-US" b="1" dirty="0" smtClean="0"/>
              <a:t>PPP 6.10:</a:t>
            </a:r>
            <a:br>
              <a:rPr lang="en-US" b="1" dirty="0" smtClean="0"/>
            </a:br>
            <a:r>
              <a:rPr lang="en-US" b="1" dirty="0" smtClean="0"/>
              <a:t>Safe </a:t>
            </a:r>
            <a:r>
              <a:rPr lang="en-US" b="1" dirty="0"/>
              <a:t>Handling of Vilas Containing Medication (Single and Multi-dose Vials)</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8025664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762001"/>
            <a:ext cx="7772401" cy="914399"/>
          </a:xfrm>
        </p:spPr>
        <p:txBody>
          <a:bodyPr>
            <a:normAutofit fontScale="90000"/>
          </a:bodyPr>
          <a:lstStyle/>
          <a:p>
            <a:r>
              <a:rPr lang="en-US" sz="3600" b="1" dirty="0"/>
              <a:t>Practical guidance on use of safe injection devices </a:t>
            </a:r>
          </a:p>
        </p:txBody>
      </p:sp>
      <p:sp>
        <p:nvSpPr>
          <p:cNvPr id="5" name="Content Placeholder 4"/>
          <p:cNvSpPr>
            <a:spLocks noGrp="1"/>
          </p:cNvSpPr>
          <p:nvPr>
            <p:ph sz="half" idx="1"/>
          </p:nvPr>
        </p:nvSpPr>
        <p:spPr>
          <a:xfrm>
            <a:off x="685800" y="1676400"/>
            <a:ext cx="3886200" cy="4495800"/>
          </a:xfrm>
        </p:spPr>
        <p:txBody>
          <a:bodyPr>
            <a:normAutofit fontScale="92500" lnSpcReduction="20000"/>
          </a:bodyPr>
          <a:lstStyle/>
          <a:p>
            <a:pPr algn="just"/>
            <a:r>
              <a:rPr lang="en-US" dirty="0"/>
              <a:t>When using a </a:t>
            </a:r>
            <a:r>
              <a:rPr lang="en-US" dirty="0" smtClean="0"/>
              <a:t>sterile</a:t>
            </a:r>
            <a:r>
              <a:rPr lang="en-US" dirty="0"/>
              <a:t>, single-use device </a:t>
            </a:r>
            <a:endParaRPr lang="en-US" dirty="0" smtClean="0"/>
          </a:p>
          <a:p>
            <a:pPr algn="just"/>
            <a:r>
              <a:rPr lang="en-US" dirty="0"/>
              <a:t>Use a new device for every patient, including for withdrawing medication</a:t>
            </a:r>
            <a:r>
              <a:rPr lang="en-US" dirty="0" smtClean="0"/>
              <a:t>.</a:t>
            </a:r>
          </a:p>
          <a:p>
            <a:pPr lvl="0" algn="just"/>
            <a:r>
              <a:rPr lang="en-US" dirty="0"/>
              <a:t>Inspect the packaging of the device to ensure that the protective barrier has not been breached. </a:t>
            </a:r>
            <a:endParaRPr lang="en-US" dirty="0" smtClean="0"/>
          </a:p>
          <a:p>
            <a:pPr lvl="0" algn="just"/>
            <a:r>
              <a:rPr lang="en-US" dirty="0"/>
              <a:t>Discard the device if the package has been punctured, torn, or damaged by exposure to moisture, or if the expiry date has passed</a:t>
            </a:r>
          </a:p>
          <a:p>
            <a:pPr algn="just"/>
            <a:endParaRPr lang="en-US" dirty="0"/>
          </a:p>
        </p:txBody>
      </p:sp>
      <p:pic>
        <p:nvPicPr>
          <p:cNvPr id="7" name="Content Placeholder 6" descr="http://www.nyacp.org/images/one%20and%20only%20one%20campaign.JPG"/>
          <p:cNvPicPr>
            <a:picLocks noGrp="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4876799" y="1905000"/>
            <a:ext cx="3429001" cy="4114800"/>
          </a:xfrm>
          <a:prstGeom prst="rect">
            <a:avLst/>
          </a:prstGeom>
          <a:noFill/>
          <a:ln>
            <a:noFill/>
          </a:ln>
        </p:spPr>
      </p:pic>
    </p:spTree>
    <p:extLst>
      <p:ext uri="{BB962C8B-B14F-4D97-AF65-F5344CB8AC3E}">
        <p14:creationId xmlns:p14="http://schemas.microsoft.com/office/powerpoint/2010/main" val="22853468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1641413"/>
            <a:ext cx="7772399" cy="1822514"/>
          </a:xfrm>
        </p:spPr>
        <p:txBody>
          <a:bodyPr>
            <a:noAutofit/>
          </a:bodyPr>
          <a:lstStyle/>
          <a:p>
            <a:r>
              <a:rPr lang="en-US" sz="4400" b="1" dirty="0" smtClean="0"/>
              <a:t>PPP 6.11: </a:t>
            </a:r>
            <a:br>
              <a:rPr lang="en-US" sz="4400" b="1" dirty="0" smtClean="0"/>
            </a:br>
            <a:r>
              <a:rPr lang="en-US" sz="4400" b="1" dirty="0" smtClean="0"/>
              <a:t>Practical guidance on Handling </a:t>
            </a:r>
            <a:r>
              <a:rPr lang="en-US" sz="4400" b="1" dirty="0"/>
              <a:t>P</a:t>
            </a:r>
            <a:r>
              <a:rPr lang="en-US" sz="4400" b="1" dirty="0" smtClean="0"/>
              <a:t>arenteral </a:t>
            </a:r>
            <a:r>
              <a:rPr lang="en-US" sz="4400" b="1" dirty="0"/>
              <a:t>M</a:t>
            </a:r>
            <a:r>
              <a:rPr lang="en-US" sz="4400" b="1" dirty="0" smtClean="0"/>
              <a:t>edication</a:t>
            </a:r>
            <a:endParaRPr lang="en-US" sz="4400" dirty="0"/>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10618501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z="3600" dirty="0"/>
              <a:t>Safe Preparation of Parenteral </a:t>
            </a:r>
            <a:r>
              <a:rPr lang="en-US" sz="3600" dirty="0" smtClean="0"/>
              <a:t>Medication</a:t>
            </a:r>
            <a:endParaRPr lang="en-US" sz="3600" dirty="0"/>
          </a:p>
        </p:txBody>
      </p:sp>
      <p:sp>
        <p:nvSpPr>
          <p:cNvPr id="3" name="Content Placeholder 2"/>
          <p:cNvSpPr>
            <a:spLocks noGrp="1"/>
          </p:cNvSpPr>
          <p:nvPr>
            <p:ph idx="1"/>
          </p:nvPr>
        </p:nvSpPr>
        <p:spPr>
          <a:xfrm>
            <a:off x="838200" y="1752600"/>
            <a:ext cx="7391400" cy="4419599"/>
          </a:xfrm>
        </p:spPr>
        <p:txBody>
          <a:bodyPr/>
          <a:lstStyle/>
          <a:p>
            <a:pPr algn="just"/>
            <a:endParaRPr lang="en-US" i="1" dirty="0" smtClean="0"/>
          </a:p>
          <a:p>
            <a:pPr algn="just"/>
            <a:r>
              <a:rPr lang="en-US" i="1" dirty="0" smtClean="0"/>
              <a:t>Injections </a:t>
            </a:r>
            <a:r>
              <a:rPr lang="en-US" i="1" dirty="0"/>
              <a:t>should be prepared in a </a:t>
            </a:r>
            <a:r>
              <a:rPr lang="en-US" b="1" i="1" dirty="0"/>
              <a:t>designated clean </a:t>
            </a:r>
            <a:r>
              <a:rPr lang="en-US" b="1" i="1" dirty="0" smtClean="0"/>
              <a:t>area</a:t>
            </a:r>
            <a:r>
              <a:rPr lang="en-US" i="1" dirty="0"/>
              <a:t> </a:t>
            </a:r>
            <a:r>
              <a:rPr lang="en-US" i="1" dirty="0" smtClean="0"/>
              <a:t>to avoid contamination</a:t>
            </a:r>
            <a:r>
              <a:rPr lang="en-US" i="1" dirty="0" smtClean="0"/>
              <a:t>. </a:t>
            </a:r>
            <a:endParaRPr lang="en-US" i="1" dirty="0"/>
          </a:p>
          <a:p>
            <a:pPr marL="0" indent="0">
              <a:buNone/>
            </a:pPr>
            <a:endParaRPr lang="en-US" dirty="0"/>
          </a:p>
        </p:txBody>
      </p:sp>
    </p:spTree>
    <p:extLst>
      <p:ext uri="{BB962C8B-B14F-4D97-AF65-F5344CB8AC3E}">
        <p14:creationId xmlns:p14="http://schemas.microsoft.com/office/powerpoint/2010/main" val="317607700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6" y="1097574"/>
            <a:ext cx="6798734" cy="1188426"/>
          </a:xfrm>
        </p:spPr>
        <p:txBody>
          <a:bodyPr/>
          <a:lstStyle/>
          <a:p>
            <a:pPr lvl="1" algn="ctr" defTabSz="457200" rtl="0">
              <a:spcBef>
                <a:spcPct val="0"/>
              </a:spcBef>
            </a:pPr>
            <a:r>
              <a:rPr lang="en-US" sz="4000" b="1" dirty="0">
                <a:latin typeface="+mj-lt"/>
              </a:rPr>
              <a:t>Practical guidance on setting up for preparing injections </a:t>
            </a:r>
            <a:r>
              <a:rPr lang="en-US" sz="3600" b="1" dirty="0">
                <a:latin typeface="+mj-lt"/>
              </a:rPr>
              <a:t/>
            </a:r>
            <a:br>
              <a:rPr lang="en-US" sz="3600" b="1" dirty="0">
                <a:latin typeface="+mj-lt"/>
              </a:rPr>
            </a:br>
            <a:endParaRPr lang="en-US" b="1" dirty="0">
              <a:latin typeface="+mj-lt"/>
            </a:endParaRPr>
          </a:p>
        </p:txBody>
      </p:sp>
      <p:sp>
        <p:nvSpPr>
          <p:cNvPr id="3" name="Content Placeholder 2"/>
          <p:cNvSpPr>
            <a:spLocks noGrp="1"/>
          </p:cNvSpPr>
          <p:nvPr>
            <p:ph idx="1"/>
          </p:nvPr>
        </p:nvSpPr>
        <p:spPr>
          <a:xfrm>
            <a:off x="685800" y="2490135"/>
            <a:ext cx="7772400" cy="3758265"/>
          </a:xfrm>
        </p:spPr>
        <p:txBody>
          <a:bodyPr>
            <a:normAutofit/>
          </a:bodyPr>
          <a:lstStyle/>
          <a:p>
            <a:pPr lvl="0" algn="just"/>
            <a:r>
              <a:rPr lang="en-US" dirty="0"/>
              <a:t>Keep the injection preparation area free of clutter so </a:t>
            </a:r>
            <a:r>
              <a:rPr lang="en-US" b="1" dirty="0"/>
              <a:t>all surfaces </a:t>
            </a:r>
            <a:r>
              <a:rPr lang="en-US" dirty="0"/>
              <a:t>can be </a:t>
            </a:r>
            <a:r>
              <a:rPr lang="en-US" b="1" dirty="0"/>
              <a:t>easily cleaned</a:t>
            </a:r>
            <a:r>
              <a:rPr lang="en-US" dirty="0"/>
              <a:t>.</a:t>
            </a:r>
          </a:p>
          <a:p>
            <a:pPr lvl="0" algn="just"/>
            <a:r>
              <a:rPr lang="en-US" b="1" dirty="0" smtClean="0"/>
              <a:t>Clean </a:t>
            </a:r>
            <a:r>
              <a:rPr lang="en-US" b="1" dirty="0"/>
              <a:t>the preparation surfaces </a:t>
            </a:r>
            <a:r>
              <a:rPr lang="en-US" dirty="0"/>
              <a:t>with a surface antiseptic such as 0.5% sodium hypochlorite solution, 70% alcohol </a:t>
            </a:r>
            <a:r>
              <a:rPr lang="en-US" dirty="0"/>
              <a:t>&amp;</a:t>
            </a:r>
            <a:r>
              <a:rPr lang="en-US" dirty="0" smtClean="0"/>
              <a:t> </a:t>
            </a:r>
            <a:r>
              <a:rPr lang="en-US" dirty="0"/>
              <a:t>allow </a:t>
            </a:r>
            <a:r>
              <a:rPr lang="en-US" dirty="0" smtClean="0"/>
              <a:t>to </a:t>
            </a:r>
            <a:r>
              <a:rPr lang="en-US" dirty="0" smtClean="0"/>
              <a:t>dry. </a:t>
            </a:r>
            <a:endParaRPr lang="en-US" i="1" dirty="0"/>
          </a:p>
          <a:p>
            <a:pPr algn="just"/>
            <a:endParaRPr lang="en-US" dirty="0"/>
          </a:p>
        </p:txBody>
      </p:sp>
    </p:spTree>
    <p:extLst>
      <p:ext uri="{BB962C8B-B14F-4D97-AF65-F5344CB8AC3E}">
        <p14:creationId xmlns:p14="http://schemas.microsoft.com/office/powerpoint/2010/main" val="21165457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7772400" cy="838200"/>
          </a:xfrm>
        </p:spPr>
        <p:txBody>
          <a:bodyPr/>
          <a:lstStyle/>
          <a:p>
            <a:r>
              <a:rPr lang="en-US" dirty="0"/>
              <a:t>preparing injections </a:t>
            </a:r>
            <a:r>
              <a:rPr lang="en-US" dirty="0" smtClean="0"/>
              <a:t>..</a:t>
            </a:r>
            <a:endParaRPr lang="en-US" dirty="0"/>
          </a:p>
        </p:txBody>
      </p:sp>
      <p:sp>
        <p:nvSpPr>
          <p:cNvPr id="3" name="Content Placeholder 2"/>
          <p:cNvSpPr>
            <a:spLocks noGrp="1"/>
          </p:cNvSpPr>
          <p:nvPr>
            <p:ph idx="1"/>
          </p:nvPr>
        </p:nvSpPr>
        <p:spPr>
          <a:xfrm>
            <a:off x="685800" y="1752600"/>
            <a:ext cx="7620000" cy="4419599"/>
          </a:xfrm>
        </p:spPr>
        <p:txBody>
          <a:bodyPr>
            <a:normAutofit/>
          </a:bodyPr>
          <a:lstStyle/>
          <a:p>
            <a:pPr algn="just"/>
            <a:r>
              <a:rPr lang="en-US" dirty="0">
                <a:latin typeface="Times New Roman" panose="02020603050405020304" pitchFamily="18" charset="0"/>
                <a:cs typeface="Times New Roman" panose="02020603050405020304" pitchFamily="18" charset="0"/>
              </a:rPr>
              <a:t>Perform </a:t>
            </a:r>
            <a:r>
              <a:rPr lang="en-US" b="1" dirty="0">
                <a:latin typeface="Times New Roman" panose="02020603050405020304" pitchFamily="18" charset="0"/>
                <a:cs typeface="Times New Roman" panose="02020603050405020304" pitchFamily="18" charset="0"/>
              </a:rPr>
              <a:t>hand hygiene </a:t>
            </a:r>
            <a:r>
              <a:rPr lang="en-US" dirty="0">
                <a:latin typeface="Times New Roman" panose="02020603050405020304" pitchFamily="18" charset="0"/>
                <a:cs typeface="Times New Roman" panose="02020603050405020304" pitchFamily="18" charset="0"/>
              </a:rPr>
              <a:t>and </a:t>
            </a:r>
            <a:r>
              <a:rPr lang="en-US" dirty="0" smtClean="0">
                <a:latin typeface="Times New Roman" panose="02020603050405020304" pitchFamily="18" charset="0"/>
                <a:cs typeface="Times New Roman" panose="02020603050405020304" pitchFamily="18" charset="0"/>
              </a:rPr>
              <a:t>then assemble </a:t>
            </a:r>
            <a:r>
              <a:rPr lang="en-US" dirty="0">
                <a:latin typeface="Times New Roman" panose="02020603050405020304" pitchFamily="18" charset="0"/>
                <a:cs typeface="Times New Roman" panose="02020603050405020304" pitchFamily="18" charset="0"/>
              </a:rPr>
              <a:t>all equipment needed for the injection: sterile, single-use needles and syringes; reconstitution solution, such as sterile water or a specific diluent; alcohol swab or cotton wool; and a sharps </a:t>
            </a:r>
            <a:r>
              <a:rPr lang="en-US" dirty="0" smtClean="0">
                <a:latin typeface="Times New Roman" panose="02020603050405020304" pitchFamily="18" charset="0"/>
                <a:cs typeface="Times New Roman" panose="02020603050405020304" pitchFamily="18" charset="0"/>
              </a:rPr>
              <a:t>container.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26912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696200" cy="838200"/>
          </a:xfrm>
        </p:spPr>
        <p:txBody>
          <a:bodyPr/>
          <a:lstStyle/>
          <a:p>
            <a:r>
              <a:rPr lang="en-US" sz="3200" dirty="0">
                <a:latin typeface="Times New Roman" panose="02020603050405020304" pitchFamily="18" charset="0"/>
                <a:cs typeface="Times New Roman" panose="02020603050405020304" pitchFamily="18" charset="0"/>
              </a:rPr>
              <a:t>Procedure for vials with a rubber septum </a:t>
            </a:r>
          </a:p>
        </p:txBody>
      </p:sp>
      <p:sp>
        <p:nvSpPr>
          <p:cNvPr id="3" name="Content Placeholder 2"/>
          <p:cNvSpPr>
            <a:spLocks noGrp="1"/>
          </p:cNvSpPr>
          <p:nvPr>
            <p:ph idx="1"/>
          </p:nvPr>
        </p:nvSpPr>
        <p:spPr>
          <a:xfrm>
            <a:off x="762000" y="1524000"/>
            <a:ext cx="7696200" cy="4724401"/>
          </a:xfrm>
        </p:spPr>
        <p:txBody>
          <a:bodyPr>
            <a:normAutofit/>
          </a:bodyPr>
          <a:lstStyle/>
          <a:p>
            <a:pPr marL="283464" lvl="1" algn="just"/>
            <a:r>
              <a:rPr lang="en-US" dirty="0">
                <a:latin typeface="Times New Roman" panose="02020603050405020304" pitchFamily="18" charset="0"/>
                <a:cs typeface="Times New Roman" panose="02020603050405020304" pitchFamily="18" charset="0"/>
              </a:rPr>
              <a:t>Wipe the access rubber septum with 70% alcohol </a:t>
            </a:r>
            <a:r>
              <a:rPr lang="en-US" dirty="0" smtClean="0">
                <a:latin typeface="Times New Roman" panose="02020603050405020304" pitchFamily="18" charset="0"/>
                <a:cs typeface="Times New Roman" panose="02020603050405020304" pitchFamily="18" charset="0"/>
              </a:rPr>
              <a:t>swab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allow it to dry before piercing the </a:t>
            </a:r>
            <a:r>
              <a:rPr lang="en-US" dirty="0" smtClean="0">
                <a:latin typeface="Times New Roman" panose="02020603050405020304" pitchFamily="18" charset="0"/>
                <a:cs typeface="Times New Roman" panose="02020603050405020304" pitchFamily="18" charset="0"/>
              </a:rPr>
              <a:t>vial.</a:t>
            </a:r>
            <a:endParaRPr lang="en-US" dirty="0">
              <a:latin typeface="Times New Roman" panose="02020603050405020304" pitchFamily="18" charset="0"/>
              <a:cs typeface="Times New Roman" panose="02020603050405020304" pitchFamily="18" charset="0"/>
            </a:endParaRPr>
          </a:p>
          <a:p>
            <a:pPr marL="283464" lvl="1" algn="just"/>
            <a:r>
              <a:rPr lang="en-US" dirty="0">
                <a:latin typeface="Times New Roman" panose="02020603050405020304" pitchFamily="18" charset="0"/>
                <a:cs typeface="Times New Roman" panose="02020603050405020304" pitchFamily="18" charset="0"/>
              </a:rPr>
              <a:t>Use a </a:t>
            </a:r>
            <a:r>
              <a:rPr lang="en-US" dirty="0" smtClean="0">
                <a:latin typeface="Times New Roman" panose="02020603050405020304" pitchFamily="18" charset="0"/>
                <a:cs typeface="Times New Roman" panose="02020603050405020304" pitchFamily="18" charset="0"/>
              </a:rPr>
              <a:t>NEW, SINGLE-USE, DISPOSABLE, STERILE SYRINGE and </a:t>
            </a:r>
            <a:r>
              <a:rPr lang="en-US" dirty="0">
                <a:latin typeface="Times New Roman" panose="02020603050405020304" pitchFamily="18" charset="0"/>
                <a:cs typeface="Times New Roman" panose="02020603050405020304" pitchFamily="18" charset="0"/>
              </a:rPr>
              <a:t>needle for each insertion into a vial.</a:t>
            </a:r>
          </a:p>
          <a:p>
            <a:pPr marL="283464" lvl="1" algn="just"/>
            <a:r>
              <a:rPr lang="en-US" dirty="0">
                <a:latin typeface="Times New Roman" panose="02020603050405020304" pitchFamily="18" charset="0"/>
                <a:cs typeface="Times New Roman" panose="02020603050405020304" pitchFamily="18" charset="0"/>
              </a:rPr>
              <a:t>Never leave a needle in a multi-dose vial. </a:t>
            </a:r>
          </a:p>
          <a:p>
            <a:pPr marL="283464" lvl="1" algn="just"/>
            <a:r>
              <a:rPr lang="en-US" dirty="0">
                <a:latin typeface="Times New Roman" panose="02020603050405020304" pitchFamily="18" charset="0"/>
                <a:cs typeface="Times New Roman" panose="02020603050405020304" pitchFamily="18" charset="0"/>
              </a:rPr>
              <a:t>Once the loaded syringe and needle have been withdrawn from a multi-dose vial, administer the injection as soon as possible. </a:t>
            </a:r>
          </a:p>
          <a:p>
            <a:pPr marL="0"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5918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600200"/>
            <a:ext cx="7619999" cy="4648201"/>
          </a:xfrm>
        </p:spPr>
        <p:txBody>
          <a:bodyPr>
            <a:normAutofit fontScale="92500" lnSpcReduction="20000"/>
          </a:bodyPr>
          <a:lstStyle/>
          <a:p>
            <a:pPr lvl="0" algn="just"/>
            <a:r>
              <a:rPr lang="en-US" dirty="0"/>
              <a:t>Always use a sterile syringe and a sterile needle to withdraw the reconstitution solution from an ampoule or a vial, insert the needle into the rubber septum in the single- or multi-dose vial, and inject the necessary amount of reconstitution fluid. </a:t>
            </a:r>
          </a:p>
          <a:p>
            <a:pPr lvl="0" algn="just"/>
            <a:r>
              <a:rPr lang="en-US" dirty="0"/>
              <a:t>Remove the needle and syringe and discard them immediately as a single unit into a sharps container. </a:t>
            </a:r>
          </a:p>
          <a:p>
            <a:pPr lvl="0" algn="just"/>
            <a:r>
              <a:rPr lang="en-US" dirty="0"/>
              <a:t>Mix the contents of the vial thoroughly until all visible particles have dissolved.</a:t>
            </a:r>
          </a:p>
          <a:p>
            <a:pPr algn="just"/>
            <a:endParaRPr lang="en-US" dirty="0"/>
          </a:p>
        </p:txBody>
      </p:sp>
      <p:sp>
        <p:nvSpPr>
          <p:cNvPr id="4" name="Title 3"/>
          <p:cNvSpPr>
            <a:spLocks noGrp="1"/>
          </p:cNvSpPr>
          <p:nvPr>
            <p:ph type="title"/>
          </p:nvPr>
        </p:nvSpPr>
        <p:spPr>
          <a:xfrm>
            <a:off x="761999" y="762000"/>
            <a:ext cx="7619999" cy="609600"/>
          </a:xfrm>
        </p:spPr>
        <p:txBody>
          <a:bodyPr/>
          <a:lstStyle/>
          <a:p>
            <a:r>
              <a:rPr lang="en-US" dirty="0" smtClean="0"/>
              <a:t>Reconstitution</a:t>
            </a:r>
            <a:endParaRPr lang="en-US" dirty="0"/>
          </a:p>
        </p:txBody>
      </p:sp>
    </p:spTree>
    <p:extLst>
      <p:ext uri="{BB962C8B-B14F-4D97-AF65-F5344CB8AC3E}">
        <p14:creationId xmlns:p14="http://schemas.microsoft.com/office/powerpoint/2010/main" val="10088049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0"/>
            <a:ext cx="7848600" cy="685800"/>
          </a:xfrm>
        </p:spPr>
        <p:txBody>
          <a:bodyPr/>
          <a:lstStyle/>
          <a:p>
            <a:r>
              <a:rPr lang="en-US" dirty="0"/>
              <a:t>Delay in administration </a:t>
            </a:r>
          </a:p>
        </p:txBody>
      </p:sp>
      <p:sp>
        <p:nvSpPr>
          <p:cNvPr id="3" name="Content Placeholder 2"/>
          <p:cNvSpPr>
            <a:spLocks noGrp="1"/>
          </p:cNvSpPr>
          <p:nvPr>
            <p:ph idx="1"/>
          </p:nvPr>
        </p:nvSpPr>
        <p:spPr>
          <a:xfrm>
            <a:off x="685800" y="1447800"/>
            <a:ext cx="7696200" cy="4724400"/>
          </a:xfrm>
        </p:spPr>
        <p:txBody>
          <a:bodyPr>
            <a:normAutofit lnSpcReduction="10000"/>
          </a:bodyPr>
          <a:lstStyle/>
          <a:p>
            <a:pPr algn="just"/>
            <a:r>
              <a:rPr lang="en-US" dirty="0"/>
              <a:t>If a dose has been withdrawn into a syringe and cannot be administered immediately for any reason, cover the needle with the cap using a one-handed scoop technique. </a:t>
            </a:r>
            <a:endParaRPr lang="en-US" dirty="0" smtClean="0"/>
          </a:p>
          <a:p>
            <a:pPr algn="just"/>
            <a:r>
              <a:rPr lang="en-US" dirty="0" smtClean="0"/>
              <a:t>Do </a:t>
            </a:r>
            <a:r>
              <a:rPr lang="en-US" dirty="0"/>
              <a:t>not keep the medication </a:t>
            </a:r>
            <a:r>
              <a:rPr lang="en-US" dirty="0" smtClean="0"/>
              <a:t>longer </a:t>
            </a:r>
            <a:r>
              <a:rPr lang="en-US" dirty="0"/>
              <a:t>than 24 hours unless a shorter or longer time frame is otherwise specified by the manufacturer. </a:t>
            </a:r>
            <a:endParaRPr lang="en-US" dirty="0" smtClean="0"/>
          </a:p>
          <a:p>
            <a:pPr algn="just"/>
            <a:r>
              <a:rPr lang="en-US" dirty="0" smtClean="0"/>
              <a:t>Inject </a:t>
            </a:r>
            <a:r>
              <a:rPr lang="en-US" dirty="0"/>
              <a:t>the medication as soon as possible after withdrawing from the vial.</a:t>
            </a:r>
          </a:p>
        </p:txBody>
      </p:sp>
    </p:spTree>
    <p:extLst>
      <p:ext uri="{BB962C8B-B14F-4D97-AF65-F5344CB8AC3E}">
        <p14:creationId xmlns:p14="http://schemas.microsoft.com/office/powerpoint/2010/main" val="17905785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6865" y="915337"/>
            <a:ext cx="6798735" cy="761063"/>
          </a:xfrm>
        </p:spPr>
        <p:txBody>
          <a:bodyPr/>
          <a:lstStyle/>
          <a:p>
            <a:r>
              <a:rPr lang="en-US" b="1" dirty="0"/>
              <a:t>One Handed Recap Method</a:t>
            </a:r>
            <a:endParaRPr lang="en-US" dirty="0"/>
          </a:p>
        </p:txBody>
      </p:sp>
      <p:grpSp>
        <p:nvGrpSpPr>
          <p:cNvPr id="10" name="Group 9"/>
          <p:cNvGrpSpPr/>
          <p:nvPr/>
        </p:nvGrpSpPr>
        <p:grpSpPr>
          <a:xfrm>
            <a:off x="1571307" y="2606993"/>
            <a:ext cx="6001385" cy="3260407"/>
            <a:chOff x="1571307" y="2606993"/>
            <a:chExt cx="6001385" cy="1644015"/>
          </a:xfrm>
        </p:grpSpPr>
        <p:sp>
          <p:nvSpPr>
            <p:cNvPr id="5" name="Text Box 15"/>
            <p:cNvSpPr txBox="1">
              <a:spLocks/>
            </p:cNvSpPr>
            <p:nvPr/>
          </p:nvSpPr>
          <p:spPr>
            <a:xfrm>
              <a:off x="3457892" y="2606993"/>
              <a:ext cx="4114800" cy="721868"/>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8600" marR="0" indent="-228600" algn="just">
                <a:lnSpc>
                  <a:spcPct val="115000"/>
                </a:lnSpc>
                <a:spcBef>
                  <a:spcPts val="0"/>
                </a:spcBef>
                <a:spcAft>
                  <a:spcPts val="1000"/>
                </a:spcAft>
                <a:buFont typeface="+mj-lt"/>
                <a:buAutoNum type="arabicPeriod"/>
              </a:pPr>
              <a:r>
                <a:rPr lang="en-US" dirty="0" smtClean="0">
                  <a:latin typeface="Times New Roman"/>
                  <a:ea typeface="Calibri"/>
                  <a:cs typeface="Times New Roman"/>
                </a:rPr>
                <a:t>Place </a:t>
              </a:r>
              <a:r>
                <a:rPr lang="en-US" dirty="0">
                  <a:latin typeface="Times New Roman"/>
                  <a:ea typeface="Calibri"/>
                  <a:cs typeface="Times New Roman"/>
                </a:rPr>
                <a:t>the cap on a flat surface, and then remove your hand from the cap. With one hand, hold the syringe and use the needle to scoop up the cap.</a:t>
              </a:r>
            </a:p>
          </p:txBody>
        </p:sp>
        <p:sp>
          <p:nvSpPr>
            <p:cNvPr id="6" name="Text Box 14"/>
            <p:cNvSpPr txBox="1">
              <a:spLocks/>
            </p:cNvSpPr>
            <p:nvPr/>
          </p:nvSpPr>
          <p:spPr>
            <a:xfrm>
              <a:off x="3449002" y="3431857"/>
              <a:ext cx="4114800" cy="81915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342900" marR="0" lvl="0" indent="-342900" algn="just">
                <a:lnSpc>
                  <a:spcPct val="115000"/>
                </a:lnSpc>
                <a:spcBef>
                  <a:spcPts val="0"/>
                </a:spcBef>
                <a:spcAft>
                  <a:spcPts val="1000"/>
                </a:spcAft>
                <a:buFont typeface="+mj-lt"/>
                <a:buAutoNum type="arabicPeriod" startAt="2"/>
              </a:pPr>
              <a:r>
                <a:rPr lang="en-US" dirty="0">
                  <a:effectLst/>
                  <a:latin typeface="Times New Roman"/>
                  <a:ea typeface="Calibri"/>
                  <a:cs typeface="Times New Roman"/>
                </a:rPr>
                <a:t>When the cap covers the needle completely, use your other hand to secure the cap on the needle hub. Handle the cap at the bottom, near the hub</a:t>
              </a:r>
              <a:r>
                <a:rPr lang="en-US" sz="1100" dirty="0">
                  <a:effectLst/>
                  <a:latin typeface="Times New Roman"/>
                  <a:ea typeface="Calibri"/>
                  <a:cs typeface="Times New Roman"/>
                </a:rPr>
                <a:t>.</a:t>
              </a:r>
              <a:endParaRPr lang="en-US" sz="1100" dirty="0">
                <a:effectLst/>
                <a:ea typeface="Calibri"/>
                <a:cs typeface="Times New Roman"/>
              </a:endParaRPr>
            </a:p>
          </p:txBody>
        </p:sp>
        <p:pic>
          <p:nvPicPr>
            <p:cNvPr id="7" name="Picture 6"/>
            <p:cNvPicPr/>
            <p:nvPr/>
          </p:nvPicPr>
          <p:blipFill rotWithShape="1">
            <a:blip r:embed="rId2">
              <a:extLst>
                <a:ext uri="{28A0092B-C50C-407E-A947-70E740481C1C}">
                  <a14:useLocalDpi xmlns:a14="http://schemas.microsoft.com/office/drawing/2010/main" val="0"/>
                </a:ext>
              </a:extLst>
            </a:blip>
            <a:srcRect b="60254"/>
            <a:stretch/>
          </p:blipFill>
          <p:spPr bwMode="auto">
            <a:xfrm>
              <a:off x="1571307" y="2636838"/>
              <a:ext cx="1633855" cy="692023"/>
            </a:xfrm>
            <a:prstGeom prst="rect">
              <a:avLst/>
            </a:prstGeom>
            <a:noFill/>
            <a:ln>
              <a:noFill/>
            </a:ln>
            <a:extLst>
              <a:ext uri="{53640926-AAD7-44D8-BBD7-CCE9431645EC}">
                <a14:shadowObscured xmlns:a14="http://schemas.microsoft.com/office/drawing/2010/main"/>
              </a:ext>
            </a:extLst>
          </p:spPr>
        </p:pic>
        <p:pic>
          <p:nvPicPr>
            <p:cNvPr id="8" name="Picture 7"/>
            <p:cNvPicPr/>
            <p:nvPr/>
          </p:nvPicPr>
          <p:blipFill rotWithShape="1">
            <a:blip r:embed="rId3">
              <a:extLst>
                <a:ext uri="{28A0092B-C50C-407E-A947-70E740481C1C}">
                  <a14:useLocalDpi xmlns:a14="http://schemas.microsoft.com/office/drawing/2010/main" val="0"/>
                </a:ext>
              </a:extLst>
            </a:blip>
            <a:srcRect t="38665"/>
            <a:stretch/>
          </p:blipFill>
          <p:spPr bwMode="auto">
            <a:xfrm>
              <a:off x="1637982" y="3438843"/>
              <a:ext cx="1636395" cy="812165"/>
            </a:xfrm>
            <a:prstGeom prst="rect">
              <a:avLst/>
            </a:prstGeom>
            <a:noFill/>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25737703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0"/>
            <a:ext cx="7772400" cy="762000"/>
          </a:xfrm>
        </p:spPr>
        <p:txBody>
          <a:bodyPr>
            <a:normAutofit fontScale="90000"/>
          </a:bodyPr>
          <a:lstStyle/>
          <a:p>
            <a:r>
              <a:rPr lang="en-US" b="1" dirty="0"/>
              <a:t>Labeling </a:t>
            </a:r>
            <a:endParaRPr lang="en-US" dirty="0"/>
          </a:p>
        </p:txBody>
      </p:sp>
      <p:sp>
        <p:nvSpPr>
          <p:cNvPr id="3" name="Content Placeholder 2"/>
          <p:cNvSpPr>
            <a:spLocks noGrp="1"/>
          </p:cNvSpPr>
          <p:nvPr>
            <p:ph idx="1"/>
          </p:nvPr>
        </p:nvSpPr>
        <p:spPr>
          <a:xfrm>
            <a:off x="685800" y="1524001"/>
            <a:ext cx="7620000" cy="4724399"/>
          </a:xfrm>
        </p:spPr>
        <p:txBody>
          <a:bodyPr>
            <a:normAutofit fontScale="92500" lnSpcReduction="20000"/>
          </a:bodyPr>
          <a:lstStyle/>
          <a:p>
            <a:r>
              <a:rPr lang="en-US" dirty="0"/>
              <a:t>After reconstitution of </a:t>
            </a:r>
            <a:r>
              <a:rPr lang="en-US" dirty="0" smtClean="0"/>
              <a:t>medication </a:t>
            </a:r>
            <a:r>
              <a:rPr lang="en-US" dirty="0"/>
              <a:t>in a multi-dose vial (e.g., BCG vaccine), label the vial and the final medication container with: </a:t>
            </a:r>
          </a:p>
          <a:p>
            <a:pPr lvl="1"/>
            <a:r>
              <a:rPr lang="en-US" sz="3300" dirty="0"/>
              <a:t>Date and time of preparation</a:t>
            </a:r>
          </a:p>
          <a:p>
            <a:pPr lvl="1"/>
            <a:r>
              <a:rPr lang="en-US" sz="3300" dirty="0"/>
              <a:t>Type and volume of diluent (if applicable)</a:t>
            </a:r>
          </a:p>
          <a:p>
            <a:pPr lvl="1"/>
            <a:r>
              <a:rPr lang="en-US" sz="3300" dirty="0"/>
              <a:t>Final concentration</a:t>
            </a:r>
          </a:p>
          <a:p>
            <a:pPr lvl="1"/>
            <a:r>
              <a:rPr lang="en-US" sz="3300" dirty="0"/>
              <a:t>Expiry date and time after reconstitution</a:t>
            </a:r>
          </a:p>
          <a:p>
            <a:pPr lvl="1"/>
            <a:r>
              <a:rPr lang="en-US" sz="3300" dirty="0"/>
              <a:t>Name and signature of the person reconstituting the drug</a:t>
            </a:r>
          </a:p>
          <a:p>
            <a:endParaRPr lang="en-US" dirty="0"/>
          </a:p>
        </p:txBody>
      </p:sp>
    </p:spTree>
    <p:extLst>
      <p:ext uri="{BB962C8B-B14F-4D97-AF65-F5344CB8AC3E}">
        <p14:creationId xmlns:p14="http://schemas.microsoft.com/office/powerpoint/2010/main" val="40183716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7772400" cy="685800"/>
          </a:xfrm>
        </p:spPr>
        <p:txBody>
          <a:bodyPr/>
          <a:lstStyle/>
          <a:p>
            <a:r>
              <a:rPr lang="en-US" dirty="0" smtClean="0"/>
              <a:t>Cont…</a:t>
            </a:r>
            <a:endParaRPr lang="en-US" dirty="0"/>
          </a:p>
        </p:txBody>
      </p:sp>
      <p:sp>
        <p:nvSpPr>
          <p:cNvPr id="3" name="Content Placeholder 2"/>
          <p:cNvSpPr>
            <a:spLocks noGrp="1"/>
          </p:cNvSpPr>
          <p:nvPr>
            <p:ph idx="1"/>
          </p:nvPr>
        </p:nvSpPr>
        <p:spPr>
          <a:xfrm>
            <a:off x="762000" y="1524000"/>
            <a:ext cx="7543800" cy="4648199"/>
          </a:xfrm>
        </p:spPr>
        <p:txBody>
          <a:bodyPr>
            <a:normAutofit lnSpcReduction="10000"/>
          </a:bodyPr>
          <a:lstStyle/>
          <a:p>
            <a:r>
              <a:rPr lang="en-US" dirty="0"/>
              <a:t>For multi-dose medications that DO NOT require reconstitution (e.g., lignocaine), label the container with:</a:t>
            </a:r>
          </a:p>
          <a:p>
            <a:pPr lvl="1"/>
            <a:r>
              <a:rPr lang="en-US" sz="3300" dirty="0"/>
              <a:t>Date and time of first piercing of the vial</a:t>
            </a:r>
          </a:p>
          <a:p>
            <a:pPr lvl="1"/>
            <a:r>
              <a:rPr lang="en-US" sz="3300" dirty="0"/>
              <a:t>Expiry date and time after reconstitution</a:t>
            </a:r>
          </a:p>
          <a:p>
            <a:pPr lvl="1"/>
            <a:r>
              <a:rPr lang="en-US" sz="3300" dirty="0"/>
              <a:t>Name and signature of the person first piercing the vial</a:t>
            </a:r>
          </a:p>
          <a:p>
            <a:endParaRPr lang="en-US" dirty="0"/>
          </a:p>
        </p:txBody>
      </p:sp>
    </p:spTree>
    <p:extLst>
      <p:ext uri="{BB962C8B-B14F-4D97-AF65-F5344CB8AC3E}">
        <p14:creationId xmlns:p14="http://schemas.microsoft.com/office/powerpoint/2010/main" val="2005669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762000"/>
            <a:ext cx="7772400" cy="762000"/>
          </a:xfrm>
        </p:spPr>
        <p:txBody>
          <a:bodyPr/>
          <a:lstStyle/>
          <a:p>
            <a:pPr lvl="1" algn="ctr" defTabSz="457200" rtl="0">
              <a:spcBef>
                <a:spcPct val="0"/>
              </a:spcBef>
            </a:pPr>
            <a:r>
              <a:rPr lang="en-US" sz="3600" b="1" dirty="0">
                <a:latin typeface="+mj-lt"/>
              </a:rPr>
              <a:t>When giving medication</a:t>
            </a:r>
            <a:r>
              <a:rPr lang="en-US" sz="3600" b="1" dirty="0" smtClean="0">
                <a:latin typeface="+mj-lt"/>
              </a:rPr>
              <a:t>:</a:t>
            </a:r>
            <a:endParaRPr lang="en-US" sz="3600" dirty="0">
              <a:latin typeface="+mj-lt"/>
            </a:endParaRPr>
          </a:p>
        </p:txBody>
      </p:sp>
      <p:sp>
        <p:nvSpPr>
          <p:cNvPr id="6" name="Content Placeholder 5"/>
          <p:cNvSpPr>
            <a:spLocks noGrp="1"/>
          </p:cNvSpPr>
          <p:nvPr>
            <p:ph idx="1"/>
          </p:nvPr>
        </p:nvSpPr>
        <p:spPr>
          <a:xfrm>
            <a:off x="685800" y="1524000"/>
            <a:ext cx="7772400" cy="4724399"/>
          </a:xfrm>
        </p:spPr>
        <p:txBody>
          <a:bodyPr>
            <a:normAutofit fontScale="85000" lnSpcReduction="20000"/>
          </a:bodyPr>
          <a:lstStyle/>
          <a:p>
            <a:pPr marL="285750" lvl="1"/>
            <a:r>
              <a:rPr lang="en-US" sz="3800" dirty="0"/>
              <a:t>DO NOT use a single-loaded syringe to administer medication to several patients even if you change the needle every time between patients. </a:t>
            </a:r>
          </a:p>
          <a:p>
            <a:pPr marL="285750" lvl="1"/>
            <a:r>
              <a:rPr lang="en-US" sz="3800" dirty="0"/>
              <a:t>DO NOT use the same mixing syringe and needle to reconstitute several vials. </a:t>
            </a:r>
          </a:p>
          <a:p>
            <a:pPr marL="285750" lvl="1"/>
            <a:r>
              <a:rPr lang="en-US" sz="3800" dirty="0"/>
              <a:t>DO NOT combine leftover medications for later use.</a:t>
            </a:r>
          </a:p>
          <a:p>
            <a:pPr marL="285750" lvl="1"/>
            <a:r>
              <a:rPr lang="en-US" sz="3800" dirty="0"/>
              <a:t>DO NOT use single-use vials for multiple patients, if at all possible.</a:t>
            </a:r>
          </a:p>
          <a:p>
            <a:endParaRPr lang="en-US" dirty="0"/>
          </a:p>
        </p:txBody>
      </p:sp>
    </p:spTree>
    <p:extLst>
      <p:ext uri="{BB962C8B-B14F-4D97-AF65-F5344CB8AC3E}">
        <p14:creationId xmlns:p14="http://schemas.microsoft.com/office/powerpoint/2010/main" val="35913432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When administering an injection</a:t>
            </a:r>
            <a:r>
              <a:rPr lang="en-US" dirty="0" smtClean="0"/>
              <a:t>:</a:t>
            </a:r>
            <a:endParaRPr lang="en-US" dirty="0"/>
          </a:p>
        </p:txBody>
      </p:sp>
      <p:sp>
        <p:nvSpPr>
          <p:cNvPr id="3" name="Content Placeholder 2"/>
          <p:cNvSpPr>
            <a:spLocks noGrp="1"/>
          </p:cNvSpPr>
          <p:nvPr>
            <p:ph idx="1"/>
          </p:nvPr>
        </p:nvSpPr>
        <p:spPr>
          <a:xfrm>
            <a:off x="685800" y="2490135"/>
            <a:ext cx="7772400" cy="3910665"/>
          </a:xfrm>
        </p:spPr>
        <p:txBody>
          <a:bodyPr>
            <a:normAutofit fontScale="70000" lnSpcReduction="20000"/>
          </a:bodyPr>
          <a:lstStyle/>
          <a:p>
            <a:pPr marL="283464" lvl="1" algn="just"/>
            <a:r>
              <a:rPr lang="en-US" dirty="0"/>
              <a:t>Ensure that the patient is adequately prepared for and informed about the procedure.</a:t>
            </a:r>
            <a:endParaRPr lang="en-US" sz="2400" dirty="0"/>
          </a:p>
          <a:p>
            <a:pPr marL="283464" lvl="1" algn="just"/>
            <a:r>
              <a:rPr lang="en-US" dirty="0"/>
              <a:t>Check the drug chart or prescription for the medication and the five “rights”: right patient, right drug, right dose, right route, right time. </a:t>
            </a:r>
            <a:endParaRPr lang="en-US" sz="2400" dirty="0"/>
          </a:p>
          <a:p>
            <a:pPr marL="283464" lvl="1" algn="just"/>
            <a:r>
              <a:rPr lang="en-US" dirty="0"/>
              <a:t>Perform hand hygiene.</a:t>
            </a:r>
            <a:endParaRPr lang="en-US" sz="2400" dirty="0"/>
          </a:p>
          <a:p>
            <a:pPr marL="283464" lvl="1" algn="just"/>
            <a:r>
              <a:rPr lang="en-US" dirty="0"/>
              <a:t>Wipe the top of the vial with 70% alcohol (isopropyl alcohol or ethanol) using a swab or cotton-wool ball. Allow it to dry.</a:t>
            </a:r>
            <a:endParaRPr lang="en-US" sz="2400" dirty="0"/>
          </a:p>
          <a:p>
            <a:pPr marL="283464" lvl="1" algn="just"/>
            <a:r>
              <a:rPr lang="en-US" dirty="0"/>
              <a:t>Open the package in front of the patient to reassure the person that the syringe and needle have not been used previously.</a:t>
            </a:r>
            <a:endParaRPr lang="en-US" sz="2400" dirty="0"/>
          </a:p>
          <a:p>
            <a:pPr marL="283464" lvl="1" algn="just"/>
            <a:r>
              <a:rPr lang="en-US" dirty="0"/>
              <a:t>Use a sterile syringe and needle to withdraw the medication from the ampoule or vial. </a:t>
            </a:r>
            <a:endParaRPr lang="en-US" sz="2400" dirty="0"/>
          </a:p>
        </p:txBody>
      </p:sp>
    </p:spTree>
    <p:extLst>
      <p:ext uri="{BB962C8B-B14F-4D97-AF65-F5344CB8AC3E}">
        <p14:creationId xmlns:p14="http://schemas.microsoft.com/office/powerpoint/2010/main" val="113360964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Important points </a:t>
            </a:r>
            <a:r>
              <a:rPr lang="en-US" dirty="0" smtClean="0"/>
              <a:t>…</a:t>
            </a:r>
            <a:endParaRPr lang="en-US" dirty="0"/>
          </a:p>
        </p:txBody>
      </p:sp>
      <p:sp>
        <p:nvSpPr>
          <p:cNvPr id="3" name="Content Placeholder 2"/>
          <p:cNvSpPr>
            <a:spLocks noGrp="1"/>
          </p:cNvSpPr>
          <p:nvPr>
            <p:ph idx="1"/>
          </p:nvPr>
        </p:nvSpPr>
        <p:spPr>
          <a:xfrm>
            <a:off x="685800" y="2438400"/>
            <a:ext cx="7772400" cy="4114799"/>
          </a:xfrm>
        </p:spPr>
        <p:txBody>
          <a:bodyPr>
            <a:normAutofit fontScale="62500" lnSpcReduction="20000"/>
          </a:bodyPr>
          <a:lstStyle/>
          <a:p>
            <a:pPr lvl="0" algn="just"/>
            <a:r>
              <a:rPr lang="en-US" dirty="0"/>
              <a:t>DO NOT allow the needle to touch any contaminated surface. </a:t>
            </a:r>
          </a:p>
          <a:p>
            <a:pPr lvl="0" algn="just"/>
            <a:r>
              <a:rPr lang="en-US" dirty="0"/>
              <a:t>DO NOT </a:t>
            </a:r>
            <a:r>
              <a:rPr lang="en-US" b="1" dirty="0"/>
              <a:t>reuse a syringe</a:t>
            </a:r>
            <a:r>
              <a:rPr lang="en-US" dirty="0"/>
              <a:t>, even if the needle has been changed. </a:t>
            </a:r>
          </a:p>
          <a:p>
            <a:pPr lvl="0" algn="just"/>
            <a:r>
              <a:rPr lang="en-US" dirty="0"/>
              <a:t>DO NOT touch </a:t>
            </a:r>
            <a:r>
              <a:rPr lang="en-US" b="1" dirty="0"/>
              <a:t>the rubber septum after disinfection with the 70% alcohol</a:t>
            </a:r>
            <a:r>
              <a:rPr lang="en-US" dirty="0"/>
              <a:t> (isopropyl alcohol or ethanol). </a:t>
            </a:r>
          </a:p>
          <a:p>
            <a:pPr lvl="0" algn="just"/>
            <a:r>
              <a:rPr lang="en-US" dirty="0"/>
              <a:t>DO NOT re-enter a multi-dose vial </a:t>
            </a:r>
            <a:r>
              <a:rPr lang="en-US" b="1" dirty="0"/>
              <a:t>with the same needle </a:t>
            </a:r>
            <a:r>
              <a:rPr lang="en-US" dirty="0"/>
              <a:t>used for mixing or reconstituting medications. </a:t>
            </a:r>
          </a:p>
          <a:p>
            <a:pPr lvl="0" algn="just"/>
            <a:r>
              <a:rPr lang="en-US" dirty="0"/>
              <a:t>DO NOT re-enter </a:t>
            </a:r>
            <a:r>
              <a:rPr lang="en-US" b="1" dirty="0"/>
              <a:t>a vial with a needle or syringe used </a:t>
            </a:r>
            <a:r>
              <a:rPr lang="en-US" dirty="0"/>
              <a:t>on a patient if that vial will be used to withdraw medication again (whether it is for the same patient or for another patient).</a:t>
            </a:r>
          </a:p>
          <a:p>
            <a:pPr lvl="0" algn="just"/>
            <a:r>
              <a:rPr lang="en-US" dirty="0"/>
              <a:t>DO NOT use bags or bottles of intravenous solution as a common source of supply for injections (e.g., normal saline flushes) </a:t>
            </a:r>
            <a:r>
              <a:rPr lang="en-US" b="1" dirty="0"/>
              <a:t>for multiple patients</a:t>
            </a:r>
            <a:r>
              <a:rPr lang="en-US" dirty="0"/>
              <a:t>. These are not manufactured as multi-dose and do not have any preservative.</a:t>
            </a:r>
          </a:p>
          <a:p>
            <a:pPr algn="just"/>
            <a:endParaRPr lang="en-US" dirty="0"/>
          </a:p>
        </p:txBody>
      </p:sp>
    </p:spTree>
    <p:extLst>
      <p:ext uri="{BB962C8B-B14F-4D97-AF65-F5344CB8AC3E}">
        <p14:creationId xmlns:p14="http://schemas.microsoft.com/office/powerpoint/2010/main" val="30028128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0778"/>
            <a:ext cx="7543800" cy="1188426"/>
          </a:xfrm>
        </p:spPr>
        <p:txBody>
          <a:bodyPr/>
          <a:lstStyle/>
          <a:p>
            <a:pPr lvl="0"/>
            <a:r>
              <a:rPr lang="en-US" dirty="0"/>
              <a:t>When using single-use vials: </a:t>
            </a:r>
          </a:p>
        </p:txBody>
      </p:sp>
      <p:sp>
        <p:nvSpPr>
          <p:cNvPr id="3" name="Content Placeholder 2"/>
          <p:cNvSpPr>
            <a:spLocks noGrp="1"/>
          </p:cNvSpPr>
          <p:nvPr>
            <p:ph idx="1"/>
          </p:nvPr>
        </p:nvSpPr>
        <p:spPr>
          <a:xfrm>
            <a:off x="685800" y="2490135"/>
            <a:ext cx="7772400" cy="3910665"/>
          </a:xfrm>
        </p:spPr>
        <p:txBody>
          <a:bodyPr>
            <a:normAutofit fontScale="85000" lnSpcReduction="20000"/>
          </a:bodyPr>
          <a:lstStyle/>
          <a:p>
            <a:pPr marL="285750" lvl="1" algn="just"/>
            <a:r>
              <a:rPr lang="en-US" dirty="0"/>
              <a:t>Vials labeled by the manufacturer as “single-dose,” “single-use,” or “preservative-free” should be used only for a single patient.</a:t>
            </a:r>
            <a:endParaRPr lang="en-US" sz="2400" dirty="0"/>
          </a:p>
          <a:p>
            <a:pPr marL="742950" lvl="2" algn="just"/>
            <a:r>
              <a:rPr lang="en-US" dirty="0"/>
              <a:t>There may be circumstances when the contents of single-use vials must be used for multiple patients. </a:t>
            </a:r>
            <a:endParaRPr lang="en-US" dirty="0" smtClean="0"/>
          </a:p>
          <a:p>
            <a:pPr marL="742950" lvl="2" algn="just"/>
            <a:r>
              <a:rPr lang="en-US" dirty="0" smtClean="0"/>
              <a:t>In </a:t>
            </a:r>
            <a:r>
              <a:rPr lang="en-US" dirty="0"/>
              <a:t>this situation, contents from an unopened single-use vial can be repackaged one time into multiple single-use syringes for multiple patients. </a:t>
            </a:r>
            <a:endParaRPr lang="en-US" dirty="0" smtClean="0"/>
          </a:p>
          <a:p>
            <a:pPr marL="742950" lvl="2" algn="just"/>
            <a:r>
              <a:rPr lang="en-US" dirty="0" smtClean="0"/>
              <a:t>However</a:t>
            </a:r>
            <a:r>
              <a:rPr lang="en-US" dirty="0"/>
              <a:t>, this should be performed only by a trained HCW in an area away from patient care and in accordance with strict IPC standards. </a:t>
            </a:r>
            <a:endParaRPr lang="en-US" dirty="0" smtClean="0"/>
          </a:p>
          <a:p>
            <a:pPr marL="742950" lvl="2" algn="just"/>
            <a:r>
              <a:rPr lang="en-US" dirty="0" smtClean="0"/>
              <a:t>Label </a:t>
            </a:r>
            <a:r>
              <a:rPr lang="en-US" dirty="0"/>
              <a:t>as described below. Store for only 24 hours.</a:t>
            </a:r>
            <a:endParaRPr lang="en-US" sz="2000" dirty="0"/>
          </a:p>
          <a:p>
            <a:pPr algn="just"/>
            <a:endParaRPr lang="en-US" dirty="0"/>
          </a:p>
        </p:txBody>
      </p:sp>
    </p:spTree>
    <p:extLst>
      <p:ext uri="{BB962C8B-B14F-4D97-AF65-F5344CB8AC3E}">
        <p14:creationId xmlns:p14="http://schemas.microsoft.com/office/powerpoint/2010/main" val="18525305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838200" y="2490135"/>
            <a:ext cx="7543800" cy="3758265"/>
          </a:xfrm>
        </p:spPr>
        <p:txBody>
          <a:bodyPr>
            <a:normAutofit fontScale="70000" lnSpcReduction="20000"/>
          </a:bodyPr>
          <a:lstStyle/>
          <a:p>
            <a:pPr marL="344488" lvl="1" algn="just"/>
            <a:r>
              <a:rPr lang="en-US" sz="3700" dirty="0"/>
              <a:t>Check that you have the right medication vial for the patient’s prescription.</a:t>
            </a:r>
          </a:p>
          <a:p>
            <a:pPr marL="344488" lvl="1" algn="just"/>
            <a:r>
              <a:rPr lang="en-US" sz="3700" dirty="0"/>
              <a:t>Double-check the expiration date and if the vial has previously been opened, the current date is within 24 hours of opening (unless a shorter or longer time frame is otherwise specified by the manufacturer). </a:t>
            </a:r>
          </a:p>
          <a:p>
            <a:pPr marL="344488" lvl="1" algn="just"/>
            <a:r>
              <a:rPr lang="en-US" sz="3700" dirty="0"/>
              <a:t>Follow the principle of “ONE SYRINGE, ONE NEEDLE, ONLY ONE TIME”. </a:t>
            </a:r>
          </a:p>
          <a:p>
            <a:pPr marL="344488" lvl="1" algn="just"/>
            <a:r>
              <a:rPr lang="en-US" sz="3700" dirty="0"/>
              <a:t>Discard the single-use vial after use. </a:t>
            </a:r>
          </a:p>
          <a:p>
            <a:pPr algn="just"/>
            <a:endParaRPr lang="en-US" dirty="0"/>
          </a:p>
        </p:txBody>
      </p:sp>
    </p:spTree>
    <p:extLst>
      <p:ext uri="{BB962C8B-B14F-4D97-AF65-F5344CB8AC3E}">
        <p14:creationId xmlns:p14="http://schemas.microsoft.com/office/powerpoint/2010/main" val="327755932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Discard a single-use vial</a:t>
            </a:r>
            <a:r>
              <a:rPr lang="en-US" dirty="0" smtClean="0"/>
              <a:t>:</a:t>
            </a:r>
            <a:endParaRPr lang="en-US" dirty="0"/>
          </a:p>
        </p:txBody>
      </p:sp>
      <p:sp>
        <p:nvSpPr>
          <p:cNvPr id="3" name="Content Placeholder 2"/>
          <p:cNvSpPr>
            <a:spLocks noGrp="1"/>
          </p:cNvSpPr>
          <p:nvPr>
            <p:ph idx="1"/>
          </p:nvPr>
        </p:nvSpPr>
        <p:spPr>
          <a:xfrm>
            <a:off x="1176865" y="2490135"/>
            <a:ext cx="6798736" cy="3605865"/>
          </a:xfrm>
        </p:spPr>
        <p:txBody>
          <a:bodyPr/>
          <a:lstStyle/>
          <a:p>
            <a:pPr marL="285750" lvl="1"/>
            <a:r>
              <a:rPr lang="en-US" dirty="0"/>
              <a:t>If sterility or content is compromised</a:t>
            </a:r>
            <a:endParaRPr lang="en-US" sz="2400" dirty="0"/>
          </a:p>
          <a:p>
            <a:pPr marL="285750" lvl="1"/>
            <a:r>
              <a:rPr lang="en-US" dirty="0"/>
              <a:t>If the expiry date or time has passed</a:t>
            </a:r>
            <a:endParaRPr lang="en-US" sz="2400" dirty="0"/>
          </a:p>
          <a:p>
            <a:pPr marL="285750" lvl="1"/>
            <a:r>
              <a:rPr lang="en-US" dirty="0"/>
              <a:t>If found to be undated, improperly stored, inadvertently contaminated, perceived to be contaminated, or already punctured, regardless of expiration date</a:t>
            </a:r>
            <a:endParaRPr lang="en-US" sz="2400" dirty="0"/>
          </a:p>
        </p:txBody>
      </p:sp>
    </p:spTree>
    <p:extLst>
      <p:ext uri="{BB962C8B-B14F-4D97-AF65-F5344CB8AC3E}">
        <p14:creationId xmlns:p14="http://schemas.microsoft.com/office/powerpoint/2010/main" val="31450849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0778"/>
            <a:ext cx="7315200" cy="1188426"/>
          </a:xfrm>
        </p:spPr>
        <p:txBody>
          <a:bodyPr/>
          <a:lstStyle/>
          <a:p>
            <a:pPr lvl="0"/>
            <a:r>
              <a:rPr lang="en-US" dirty="0"/>
              <a:t>When using multi-dose vials: </a:t>
            </a:r>
          </a:p>
        </p:txBody>
      </p:sp>
      <p:sp>
        <p:nvSpPr>
          <p:cNvPr id="3" name="Content Placeholder 2"/>
          <p:cNvSpPr>
            <a:spLocks noGrp="1"/>
          </p:cNvSpPr>
          <p:nvPr>
            <p:ph idx="1"/>
          </p:nvPr>
        </p:nvSpPr>
        <p:spPr>
          <a:xfrm>
            <a:off x="685800" y="2490135"/>
            <a:ext cx="7848600" cy="3986865"/>
          </a:xfrm>
        </p:spPr>
        <p:txBody>
          <a:bodyPr>
            <a:normAutofit fontScale="85000" lnSpcReduction="20000"/>
          </a:bodyPr>
          <a:lstStyle/>
          <a:p>
            <a:pPr marL="280988" lvl="1" indent="-280988"/>
            <a:r>
              <a:rPr lang="en-US" dirty="0"/>
              <a:t>If a multi-dose vial is assigned to a single patient (e.g., insulin pen), check that you have the right vial for the patient.</a:t>
            </a:r>
            <a:endParaRPr lang="en-US" sz="2400" dirty="0"/>
          </a:p>
          <a:p>
            <a:pPr marL="280988" lvl="1" indent="-280988"/>
            <a:r>
              <a:rPr lang="en-US" dirty="0"/>
              <a:t>Double-check the expiration date and if previously opened, check that the vial is labeled by the manufacturer as a multi-dose vial and the current date is within 28 days of opening, unless a shorter or longer time frame is otherwise specified by the manufacturer. </a:t>
            </a:r>
            <a:endParaRPr lang="en-US" sz="2400" dirty="0"/>
          </a:p>
          <a:p>
            <a:pPr marL="280988" lvl="1" indent="-280988"/>
            <a:r>
              <a:rPr lang="en-US" dirty="0"/>
              <a:t>Follow the principle of “ONE SYRINGE, ONE NEEDLE, ONLY ONE TIME”. </a:t>
            </a:r>
            <a:endParaRPr lang="en-US" sz="2400" dirty="0"/>
          </a:p>
          <a:p>
            <a:pPr marL="280988" lvl="1" indent="-280988"/>
            <a:r>
              <a:rPr lang="en-US" dirty="0"/>
              <a:t>Remove the needle cap and insert the needle tip until it touches the bottom of the bottle</a:t>
            </a:r>
            <a:r>
              <a:rPr lang="en-US" dirty="0" smtClean="0"/>
              <a:t>.</a:t>
            </a:r>
            <a:endParaRPr lang="en-US" sz="2400" dirty="0"/>
          </a:p>
        </p:txBody>
      </p:sp>
    </p:spTree>
    <p:extLst>
      <p:ext uri="{BB962C8B-B14F-4D97-AF65-F5344CB8AC3E}">
        <p14:creationId xmlns:p14="http://schemas.microsoft.com/office/powerpoint/2010/main" val="356571129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0778"/>
            <a:ext cx="7315200" cy="1188426"/>
          </a:xfrm>
        </p:spPr>
        <p:txBody>
          <a:bodyPr/>
          <a:lstStyle/>
          <a:p>
            <a:pPr lvl="0"/>
            <a:r>
              <a:rPr lang="en-US" dirty="0" smtClean="0"/>
              <a:t>Cont’d…</a:t>
            </a:r>
            <a:endParaRPr lang="en-US" dirty="0"/>
          </a:p>
        </p:txBody>
      </p:sp>
      <p:sp>
        <p:nvSpPr>
          <p:cNvPr id="3" name="Content Placeholder 2"/>
          <p:cNvSpPr>
            <a:spLocks noGrp="1"/>
          </p:cNvSpPr>
          <p:nvPr>
            <p:ph idx="1"/>
          </p:nvPr>
        </p:nvSpPr>
        <p:spPr>
          <a:xfrm>
            <a:off x="685800" y="2490135"/>
            <a:ext cx="7848600" cy="3986865"/>
          </a:xfrm>
        </p:spPr>
        <p:txBody>
          <a:bodyPr>
            <a:normAutofit lnSpcReduction="10000"/>
          </a:bodyPr>
          <a:lstStyle/>
          <a:p>
            <a:pPr marL="280988" lvl="1" indent="-280988"/>
            <a:r>
              <a:rPr lang="en-US" dirty="0" smtClean="0"/>
              <a:t>When </a:t>
            </a:r>
            <a:r>
              <a:rPr lang="en-US" dirty="0"/>
              <a:t>withdrawing medication from a multi-dose vial, avoid double dipping, this may contaminate the contents of the vial and transmit infection to subsequent patients. See the Needles and Syringes section in this chapter.</a:t>
            </a:r>
            <a:endParaRPr lang="en-US" sz="2400" dirty="0"/>
          </a:p>
          <a:p>
            <a:pPr marL="280988" lvl="1" indent="-280988"/>
            <a:r>
              <a:rPr lang="en-US" dirty="0"/>
              <a:t>If newly opened, label the multi-dose vial. See the Labeling section in this chapter. </a:t>
            </a:r>
            <a:endParaRPr lang="en-US" sz="2400" dirty="0"/>
          </a:p>
          <a:p>
            <a:pPr marL="280988" lvl="1" indent="-280988"/>
            <a:r>
              <a:rPr lang="en-US" dirty="0"/>
              <a:t>DO NOT store multi-dose vials in patient care areas, where they could be inadvertently contaminated.</a:t>
            </a:r>
            <a:endParaRPr lang="en-US" sz="2400" dirty="0"/>
          </a:p>
          <a:p>
            <a:pPr marL="280988" indent="-280988"/>
            <a:endParaRPr lang="en-US" dirty="0"/>
          </a:p>
        </p:txBody>
      </p:sp>
    </p:spTree>
    <p:extLst>
      <p:ext uri="{BB962C8B-B14F-4D97-AF65-F5344CB8AC3E}">
        <p14:creationId xmlns:p14="http://schemas.microsoft.com/office/powerpoint/2010/main" val="35657112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Discard a multi-dose vial</a:t>
            </a:r>
            <a:r>
              <a:rPr lang="en-US" dirty="0" smtClean="0"/>
              <a:t>:</a:t>
            </a:r>
            <a:endParaRPr lang="en-US" dirty="0"/>
          </a:p>
        </p:txBody>
      </p:sp>
      <p:sp>
        <p:nvSpPr>
          <p:cNvPr id="3" name="Content Placeholder 2"/>
          <p:cNvSpPr>
            <a:spLocks noGrp="1"/>
          </p:cNvSpPr>
          <p:nvPr>
            <p:ph idx="1"/>
          </p:nvPr>
        </p:nvSpPr>
        <p:spPr>
          <a:xfrm>
            <a:off x="685800" y="2490135"/>
            <a:ext cx="7772399" cy="3834465"/>
          </a:xfrm>
        </p:spPr>
        <p:txBody>
          <a:bodyPr>
            <a:normAutofit fontScale="85000" lnSpcReduction="20000"/>
          </a:bodyPr>
          <a:lstStyle/>
          <a:p>
            <a:pPr marL="285750" lvl="1" algn="just"/>
            <a:r>
              <a:rPr lang="en-US" dirty="0"/>
              <a:t>If sterility or content is compromised</a:t>
            </a:r>
            <a:endParaRPr lang="en-US" sz="2400" dirty="0"/>
          </a:p>
          <a:p>
            <a:pPr marL="285750" lvl="1" algn="just"/>
            <a:r>
              <a:rPr lang="en-US" dirty="0"/>
              <a:t>If the expiry date or time has passed (even if the vial contains antimicrobial preservatives)</a:t>
            </a:r>
            <a:endParaRPr lang="en-US" sz="2400" dirty="0"/>
          </a:p>
          <a:p>
            <a:pPr marL="285750" lvl="1" algn="just"/>
            <a:r>
              <a:rPr lang="en-US" dirty="0"/>
              <a:t>If it is not properly stored after opening, or within 28 days of opening, unless a shorter or longer time frame is otherwise specified by the manufacturer, or follow the manufacturer’s instructions for the time the vial can be used once opened </a:t>
            </a:r>
            <a:endParaRPr lang="en-US" sz="2400" dirty="0"/>
          </a:p>
          <a:p>
            <a:pPr marL="285750" lvl="1" algn="just"/>
            <a:r>
              <a:rPr lang="en-US" dirty="0"/>
              <a:t>If found to be undated, improperly stored, inadvertently contaminated, perceived to be contaminated, or has a visible hole in the rubber septum, regardless of expiration date, if thought to be a single-use rather than multi-dose </a:t>
            </a:r>
            <a:r>
              <a:rPr lang="en-US" dirty="0" smtClean="0"/>
              <a:t>vial</a:t>
            </a:r>
            <a:endParaRPr lang="en-US" sz="2400" dirty="0"/>
          </a:p>
        </p:txBody>
      </p:sp>
    </p:spTree>
    <p:extLst>
      <p:ext uri="{BB962C8B-B14F-4D97-AF65-F5344CB8AC3E}">
        <p14:creationId xmlns:p14="http://schemas.microsoft.com/office/powerpoint/2010/main" val="293498801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Sharps containers-dos</a:t>
            </a:r>
            <a:endParaRPr lang="en-US" dirty="0"/>
          </a:p>
        </p:txBody>
      </p:sp>
      <p:sp>
        <p:nvSpPr>
          <p:cNvPr id="3" name="Content Placeholder 2"/>
          <p:cNvSpPr>
            <a:spLocks noGrp="1"/>
          </p:cNvSpPr>
          <p:nvPr>
            <p:ph idx="1"/>
          </p:nvPr>
        </p:nvSpPr>
        <p:spPr>
          <a:xfrm>
            <a:off x="685800" y="2490135"/>
            <a:ext cx="7772400" cy="3834465"/>
          </a:xfrm>
        </p:spPr>
        <p:txBody>
          <a:bodyPr>
            <a:normAutofit fontScale="77500" lnSpcReduction="20000"/>
          </a:bodyPr>
          <a:lstStyle/>
          <a:p>
            <a:pPr marL="283464" lvl="1" algn="just"/>
            <a:r>
              <a:rPr lang="en-US" dirty="0"/>
              <a:t>Don’t place containers in high traffic areas where people could bump into them or be stuck by someone carrying sharps to be disposed of.</a:t>
            </a:r>
            <a:endParaRPr lang="en-US" sz="2400" dirty="0"/>
          </a:p>
          <a:p>
            <a:pPr marL="283464" lvl="1" algn="just"/>
            <a:r>
              <a:rPr lang="en-US" dirty="0"/>
              <a:t>Don’t place containers on the floor or anywhere they could be knocked over or easily reached by a child.</a:t>
            </a:r>
            <a:endParaRPr lang="en-US" sz="2400" dirty="0"/>
          </a:p>
          <a:p>
            <a:pPr marL="283464" lvl="1" algn="just"/>
            <a:r>
              <a:rPr lang="en-US" dirty="0"/>
              <a:t>Don’t place containers near light switches, overhead fans or thermostat controls where people might accidentally put their hand into them.</a:t>
            </a:r>
            <a:endParaRPr lang="en-US" sz="2400" dirty="0"/>
          </a:p>
          <a:p>
            <a:pPr marL="283464" lvl="1" algn="just"/>
            <a:r>
              <a:rPr lang="en-US" dirty="0"/>
              <a:t>Do not put the following items on the sharp box: latex gloves, IV bags or extension tubes, dressing materials (like adhesive tape and gauze), compresses, cotton pads, empty vials and ampoule broken thermometers</a:t>
            </a:r>
            <a:endParaRPr lang="en-US" sz="2400" dirty="0"/>
          </a:p>
          <a:p>
            <a:pPr marL="283464" algn="just"/>
            <a:endParaRPr lang="en-US" dirty="0"/>
          </a:p>
        </p:txBody>
      </p:sp>
    </p:spTree>
    <p:extLst>
      <p:ext uri="{BB962C8B-B14F-4D97-AF65-F5344CB8AC3E}">
        <p14:creationId xmlns:p14="http://schemas.microsoft.com/office/powerpoint/2010/main" val="15931753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8400" y="1030778"/>
            <a:ext cx="6908800" cy="1188426"/>
          </a:xfrm>
        </p:spPr>
        <p:txBody>
          <a:bodyPr/>
          <a:lstStyle/>
          <a:p>
            <a:r>
              <a:rPr lang="en-US" dirty="0"/>
              <a:t>Sharps containers-</a:t>
            </a:r>
            <a:r>
              <a:rPr lang="en-US" dirty="0" smtClean="0"/>
              <a:t> </a:t>
            </a:r>
            <a:r>
              <a:rPr lang="en-US" dirty="0"/>
              <a:t>don’ts</a:t>
            </a:r>
            <a:r>
              <a:rPr lang="en-US" dirty="0" smtClean="0"/>
              <a:t>:</a:t>
            </a:r>
            <a:endParaRPr lang="en-US" dirty="0"/>
          </a:p>
        </p:txBody>
      </p:sp>
      <p:sp>
        <p:nvSpPr>
          <p:cNvPr id="3" name="Content Placeholder 2"/>
          <p:cNvSpPr>
            <a:spLocks noGrp="1"/>
          </p:cNvSpPr>
          <p:nvPr>
            <p:ph idx="1"/>
          </p:nvPr>
        </p:nvSpPr>
        <p:spPr>
          <a:xfrm>
            <a:off x="685800" y="2490135"/>
            <a:ext cx="7772400" cy="3758265"/>
          </a:xfrm>
        </p:spPr>
        <p:txBody>
          <a:bodyPr>
            <a:normAutofit fontScale="77500" lnSpcReduction="20000"/>
          </a:bodyPr>
          <a:lstStyle/>
          <a:p>
            <a:pPr marL="283464" lvl="1" algn="just"/>
            <a:r>
              <a:rPr lang="en-US" dirty="0"/>
              <a:t>Do put sharps containers as close to the point of use as possible, ideally within arm’s reach.</a:t>
            </a:r>
            <a:endParaRPr lang="en-US" sz="2400" dirty="0"/>
          </a:p>
          <a:p>
            <a:pPr marL="283464" lvl="1" algn="just"/>
            <a:r>
              <a:rPr lang="en-US" dirty="0"/>
              <a:t>Do attach containers to walls or other surfaces if at all possible.</a:t>
            </a:r>
            <a:endParaRPr lang="en-US" sz="2400" dirty="0"/>
          </a:p>
          <a:p>
            <a:pPr marL="283464" lvl="1" algn="just"/>
            <a:r>
              <a:rPr lang="en-US" dirty="0"/>
              <a:t>Do mark them clearly so that people will not unknowingly use them as for discarding other items.</a:t>
            </a:r>
            <a:endParaRPr lang="en-US" sz="2400" dirty="0"/>
          </a:p>
          <a:p>
            <a:pPr marL="283464" lvl="1" algn="just"/>
            <a:r>
              <a:rPr lang="en-US" dirty="0"/>
              <a:t>Do place them at a convenient height so staff can use and replace them easily.</a:t>
            </a:r>
            <a:endParaRPr lang="en-US" sz="2400" dirty="0"/>
          </a:p>
          <a:p>
            <a:pPr marL="283464" lvl="1" algn="just"/>
            <a:r>
              <a:rPr lang="en-US" dirty="0"/>
              <a:t>Do mark the fill line at the three quarters full level.</a:t>
            </a:r>
            <a:endParaRPr lang="en-US" sz="2400" dirty="0"/>
          </a:p>
          <a:p>
            <a:pPr marL="283464" lvl="1" algn="just"/>
            <a:r>
              <a:rPr lang="en-US" dirty="0"/>
              <a:t>Don’t shake a container to settle its contents and make room for more sharps.</a:t>
            </a:r>
            <a:endParaRPr lang="en-US" sz="2400" dirty="0"/>
          </a:p>
          <a:p>
            <a:pPr algn="just"/>
            <a:endParaRPr lang="en-US" dirty="0"/>
          </a:p>
        </p:txBody>
      </p:sp>
    </p:spTree>
    <p:extLst>
      <p:ext uri="{BB962C8B-B14F-4D97-AF65-F5344CB8AC3E}">
        <p14:creationId xmlns:p14="http://schemas.microsoft.com/office/powerpoint/2010/main" val="302103561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620000" cy="685800"/>
          </a:xfrm>
        </p:spPr>
        <p:txBody>
          <a:bodyPr/>
          <a:lstStyle/>
          <a:p>
            <a:r>
              <a:rPr lang="en-US" dirty="0" smtClean="0"/>
              <a:t>Summary</a:t>
            </a:r>
            <a:endParaRPr lang="en-US" dirty="0"/>
          </a:p>
        </p:txBody>
      </p:sp>
      <p:sp>
        <p:nvSpPr>
          <p:cNvPr id="3" name="Content Placeholder 2"/>
          <p:cNvSpPr>
            <a:spLocks noGrp="1"/>
          </p:cNvSpPr>
          <p:nvPr>
            <p:ph idx="1"/>
          </p:nvPr>
        </p:nvSpPr>
        <p:spPr>
          <a:xfrm>
            <a:off x="685800" y="1371600"/>
            <a:ext cx="7696200" cy="4876799"/>
          </a:xfrm>
        </p:spPr>
        <p:txBody>
          <a:bodyPr>
            <a:normAutofit fontScale="92500"/>
          </a:bodyPr>
          <a:lstStyle/>
          <a:p>
            <a:pPr algn="just"/>
            <a:r>
              <a:rPr lang="en-US" dirty="0"/>
              <a:t>Injections present risks to patients, HCWs, and the community and should be limited where alternative </a:t>
            </a:r>
            <a:r>
              <a:rPr lang="en-US" dirty="0" smtClean="0"/>
              <a:t>administration </a:t>
            </a:r>
            <a:r>
              <a:rPr lang="en-US" dirty="0"/>
              <a:t>routes are available</a:t>
            </a:r>
            <a:r>
              <a:rPr lang="en-US" dirty="0" smtClean="0"/>
              <a:t>.</a:t>
            </a:r>
          </a:p>
          <a:p>
            <a:pPr algn="just"/>
            <a:r>
              <a:rPr lang="en-US" dirty="0"/>
              <a:t>Injection safety </a:t>
            </a:r>
            <a:r>
              <a:rPr lang="en-US" dirty="0" smtClean="0"/>
              <a:t>is:</a:t>
            </a:r>
            <a:endParaRPr lang="en-US" sz="2800" dirty="0"/>
          </a:p>
          <a:p>
            <a:pPr lvl="1" algn="just"/>
            <a:r>
              <a:rPr lang="en-US" dirty="0"/>
              <a:t>An integral component of infection prevention and control,</a:t>
            </a:r>
            <a:endParaRPr lang="en-US" sz="2400" dirty="0"/>
          </a:p>
          <a:p>
            <a:pPr lvl="1" algn="just"/>
            <a:r>
              <a:rPr lang="en-US" dirty="0"/>
              <a:t>An element of Standard Precautions,</a:t>
            </a:r>
            <a:endParaRPr lang="en-US" sz="2400" dirty="0"/>
          </a:p>
          <a:p>
            <a:pPr lvl="1" algn="just"/>
            <a:r>
              <a:rPr lang="en-US" dirty="0"/>
              <a:t>Key element of patient and healthcare workers </a:t>
            </a:r>
            <a:r>
              <a:rPr lang="en-US" dirty="0" smtClean="0"/>
              <a:t>safety</a:t>
            </a:r>
            <a:r>
              <a:rPr lang="en-US" dirty="0"/>
              <a:t>.</a:t>
            </a:r>
            <a:endParaRPr lang="en-US" sz="2400" dirty="0"/>
          </a:p>
          <a:p>
            <a:pPr algn="just"/>
            <a:endParaRPr lang="en-US" dirty="0"/>
          </a:p>
        </p:txBody>
      </p:sp>
    </p:spTree>
    <p:extLst>
      <p:ext uri="{BB962C8B-B14F-4D97-AF65-F5344CB8AC3E}">
        <p14:creationId xmlns:p14="http://schemas.microsoft.com/office/powerpoint/2010/main" val="137026030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Theme5</Template>
  <TotalTime>647</TotalTime>
  <Words>2612</Words>
  <Application>Microsoft Office PowerPoint</Application>
  <PresentationFormat>On-screen Show (4:3)</PresentationFormat>
  <Paragraphs>253</Paragraphs>
  <Slides>56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Britannic Bold</vt:lpstr>
      <vt:lpstr>Calibri</vt:lpstr>
      <vt:lpstr>Garamond</vt:lpstr>
      <vt:lpstr>Times New Roman</vt:lpstr>
      <vt:lpstr>Theme5</vt:lpstr>
      <vt:lpstr>Volume 1_Section 1  Chapter 5: Sharps and Injection Safety</vt:lpstr>
      <vt:lpstr>Chapter Outline</vt:lpstr>
      <vt:lpstr>Chapter Outline cont’d</vt:lpstr>
      <vt:lpstr>Learning Objective</vt:lpstr>
      <vt:lpstr>Learning Objective cont’d</vt:lpstr>
      <vt:lpstr>PPP 6.1:  Overview </vt:lpstr>
      <vt:lpstr>Definition of Terms</vt:lpstr>
      <vt:lpstr>PPP 6.2:  Magnitude of Unsafe Injection</vt:lpstr>
      <vt:lpstr>Magnitude of Unsafe injection</vt:lpstr>
      <vt:lpstr>Magnitude of Unsafe injection cont’d</vt:lpstr>
      <vt:lpstr>PPP 6.3:  What are the risks and impacts associated with unsafe injection practices? </vt:lpstr>
      <vt:lpstr>Risk of Unsafe Injection</vt:lpstr>
      <vt:lpstr>Risk of Unsafe Injection cont’d…</vt:lpstr>
      <vt:lpstr>Risk of Unsafe Injection cont’d…</vt:lpstr>
      <vt:lpstr>Impacts of Unsafe Injection</vt:lpstr>
      <vt:lpstr>PPP 6.4:  what are common reasons/factors contributing to for providing unnecessary and unsafe injection? </vt:lpstr>
      <vt:lpstr>Common Reasons</vt:lpstr>
      <vt:lpstr>Common Reasons cont’d..</vt:lpstr>
      <vt:lpstr>PPP 6.5:  Unsafe injection Practice: Transmission pathways</vt:lpstr>
      <vt:lpstr>Unsafe Injection Practice: Transmission Pathways </vt:lpstr>
      <vt:lpstr>Unsafe Injection Practices and Disease Transmission</vt:lpstr>
      <vt:lpstr>PPP 6.6:  What are the Best Practices to make Injection Safer ?</vt:lpstr>
      <vt:lpstr>Best Practices in Injection Safety</vt:lpstr>
      <vt:lpstr>Standards for Administering Injections </vt:lpstr>
      <vt:lpstr>Cont’d…</vt:lpstr>
      <vt:lpstr>PPP 6.7:  What is the role of Prescriber/provider in Injection Safety ?</vt:lpstr>
      <vt:lpstr>The Role of Prescribers and Providers in Injection Safety</vt:lpstr>
      <vt:lpstr> The Role…. Prescribers and Service providers should also: </vt:lpstr>
      <vt:lpstr>PPP 6.8:  Principles in Safe Injection Practice</vt:lpstr>
      <vt:lpstr>Principles of Safe Injection Practice</vt:lpstr>
      <vt:lpstr>Best Practices for Administering Injection</vt:lpstr>
      <vt:lpstr>PPP 6.9:  Injection Devices and Their Safety Features</vt:lpstr>
      <vt:lpstr>PPP 6.10: Safe Handling of Vilas Containing Medication (Single and Multi-dose Vials)</vt:lpstr>
      <vt:lpstr>Practical guidance on use of safe injection devices </vt:lpstr>
      <vt:lpstr>PPP 6.11:  Practical guidance on Handling Parenteral Medication</vt:lpstr>
      <vt:lpstr>Safe Preparation of Parenteral Medication</vt:lpstr>
      <vt:lpstr>Practical guidance on setting up for preparing injections  </vt:lpstr>
      <vt:lpstr>preparing injections ..</vt:lpstr>
      <vt:lpstr>Procedure for vials with a rubber septum </vt:lpstr>
      <vt:lpstr>Reconstitution</vt:lpstr>
      <vt:lpstr>Delay in administration </vt:lpstr>
      <vt:lpstr>One Handed Recap Method</vt:lpstr>
      <vt:lpstr>Labeling </vt:lpstr>
      <vt:lpstr>Cont…</vt:lpstr>
      <vt:lpstr>When giving medication:</vt:lpstr>
      <vt:lpstr>When administering an injection:</vt:lpstr>
      <vt:lpstr>Important points …</vt:lpstr>
      <vt:lpstr>When using single-use vials: </vt:lpstr>
      <vt:lpstr>Cont’d…</vt:lpstr>
      <vt:lpstr>Discard a single-use vial:</vt:lpstr>
      <vt:lpstr>When using multi-dose vials: </vt:lpstr>
      <vt:lpstr>Cont’d…</vt:lpstr>
      <vt:lpstr>Discard a multi-dose vial:</vt:lpstr>
      <vt:lpstr>Sharps containers-dos</vt:lpstr>
      <vt:lpstr>Sharps containers- don’ts:</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1_Section 1  Chapter 5: Sharps and Injection Safety</dc:title>
  <dc:creator>user</dc:creator>
  <cp:lastModifiedBy>BEMINET</cp:lastModifiedBy>
  <cp:revision>52</cp:revision>
  <dcterms:created xsi:type="dcterms:W3CDTF">2018-12-22T15:02:44Z</dcterms:created>
  <dcterms:modified xsi:type="dcterms:W3CDTF">2020-12-15T09:29:28Z</dcterms:modified>
</cp:coreProperties>
</file>