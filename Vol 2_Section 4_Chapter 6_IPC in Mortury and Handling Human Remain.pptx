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0" r:id="rId1"/>
  </p:sldMasterIdLst>
  <p:notesMasterIdLst>
    <p:notesMasterId r:id="rId28"/>
  </p:notesMasterIdLst>
  <p:sldIdLst>
    <p:sldId id="272" r:id="rId2"/>
    <p:sldId id="257" r:id="rId3"/>
    <p:sldId id="256" r:id="rId4"/>
    <p:sldId id="280" r:id="rId5"/>
    <p:sldId id="258" r:id="rId6"/>
    <p:sldId id="278" r:id="rId7"/>
    <p:sldId id="281" r:id="rId8"/>
    <p:sldId id="279" r:id="rId9"/>
    <p:sldId id="282" r:id="rId10"/>
    <p:sldId id="259" r:id="rId11"/>
    <p:sldId id="260" r:id="rId12"/>
    <p:sldId id="261" r:id="rId13"/>
    <p:sldId id="262" r:id="rId14"/>
    <p:sldId id="273" r:id="rId15"/>
    <p:sldId id="263" r:id="rId16"/>
    <p:sldId id="264" r:id="rId17"/>
    <p:sldId id="274" r:id="rId18"/>
    <p:sldId id="265" r:id="rId19"/>
    <p:sldId id="266" r:id="rId20"/>
    <p:sldId id="275" r:id="rId21"/>
    <p:sldId id="267" r:id="rId22"/>
    <p:sldId id="276" r:id="rId23"/>
    <p:sldId id="268" r:id="rId24"/>
    <p:sldId id="269" r:id="rId25"/>
    <p:sldId id="277"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60"/>
  </p:normalViewPr>
  <p:slideViewPr>
    <p:cSldViewPr snapToGrid="0">
      <p:cViewPr>
        <p:scale>
          <a:sx n="81" d="100"/>
          <a:sy n="81" d="100"/>
        </p:scale>
        <p:origin x="-300" y="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098434-ADA5-49F1-ACC4-E49E03BD88F9}" type="doc">
      <dgm:prSet loTypeId="urn:microsoft.com/office/officeart/2005/8/layout/hProcess9" loCatId="process" qsTypeId="urn:microsoft.com/office/officeart/2005/8/quickstyle/simple1" qsCatId="simple" csTypeId="urn:microsoft.com/office/officeart/2005/8/colors/accent1_2" csCatId="accent1" phldr="1"/>
      <dgm:spPr/>
    </dgm:pt>
    <dgm:pt modelId="{7A42F15D-0C55-487C-8128-0842B2132A7F}">
      <dgm:prSet phldrT="[Text]" custT="1"/>
      <dgm:spPr/>
      <dgm:t>
        <a:bodyPr/>
        <a:lstStyle/>
        <a:p>
          <a:r>
            <a:rPr lang="en-US" sz="2000" b="1" dirty="0" smtClean="0"/>
            <a:t>Pronouncement of death at bedside</a:t>
          </a:r>
          <a:endParaRPr lang="en-US" sz="2000" b="1" dirty="0"/>
        </a:p>
      </dgm:t>
    </dgm:pt>
    <dgm:pt modelId="{BD575286-4BB3-4582-BA58-3C0E8AB411BA}" type="parTrans" cxnId="{C42D1304-4048-4BFE-97DA-78F91D144784}">
      <dgm:prSet/>
      <dgm:spPr/>
      <dgm:t>
        <a:bodyPr/>
        <a:lstStyle/>
        <a:p>
          <a:endParaRPr lang="en-US"/>
        </a:p>
      </dgm:t>
    </dgm:pt>
    <dgm:pt modelId="{0982816F-BD3D-49D8-A3AE-FF78227D7335}" type="sibTrans" cxnId="{C42D1304-4048-4BFE-97DA-78F91D144784}">
      <dgm:prSet/>
      <dgm:spPr/>
      <dgm:t>
        <a:bodyPr/>
        <a:lstStyle/>
        <a:p>
          <a:endParaRPr lang="en-US"/>
        </a:p>
      </dgm:t>
    </dgm:pt>
    <dgm:pt modelId="{5C26CF1F-8929-4EC7-923C-37BCD257423F}">
      <dgm:prSet phldrT="[Text]" custT="1"/>
      <dgm:spPr/>
      <dgm:t>
        <a:bodyPr/>
        <a:lstStyle/>
        <a:p>
          <a:r>
            <a:rPr lang="en-US" sz="2400" b="1" dirty="0" smtClean="0"/>
            <a:t>Preparing the body for transport to morgue</a:t>
          </a:r>
          <a:endParaRPr lang="en-US" sz="2400" b="1" dirty="0"/>
        </a:p>
      </dgm:t>
    </dgm:pt>
    <dgm:pt modelId="{866E9759-D35D-4C30-B805-6C7A21FD6567}" type="parTrans" cxnId="{9CAE7461-5C81-427F-B09F-026AFAE546B9}">
      <dgm:prSet/>
      <dgm:spPr/>
      <dgm:t>
        <a:bodyPr/>
        <a:lstStyle/>
        <a:p>
          <a:endParaRPr lang="en-US"/>
        </a:p>
      </dgm:t>
    </dgm:pt>
    <dgm:pt modelId="{DE8A9D4D-D779-45DC-B5A0-27276753F26F}" type="sibTrans" cxnId="{9CAE7461-5C81-427F-B09F-026AFAE546B9}">
      <dgm:prSet/>
      <dgm:spPr/>
      <dgm:t>
        <a:bodyPr/>
        <a:lstStyle/>
        <a:p>
          <a:endParaRPr lang="en-US"/>
        </a:p>
      </dgm:t>
    </dgm:pt>
    <dgm:pt modelId="{2A34BDA7-1D93-480F-9CCD-AD335525A478}">
      <dgm:prSet phldrT="[Text]" custT="1"/>
      <dgm:spPr/>
      <dgm:t>
        <a:bodyPr/>
        <a:lstStyle/>
        <a:p>
          <a:r>
            <a:rPr lang="en-US" sz="2800" b="1" dirty="0" smtClean="0"/>
            <a:t>Storage in morgue</a:t>
          </a:r>
          <a:endParaRPr lang="en-US" sz="2800" b="1" dirty="0"/>
        </a:p>
      </dgm:t>
    </dgm:pt>
    <dgm:pt modelId="{D7F14DE2-F3F5-4CAF-A3A5-810CED070927}" type="parTrans" cxnId="{3D10684C-C535-46BD-9777-BE479AF1F147}">
      <dgm:prSet/>
      <dgm:spPr/>
      <dgm:t>
        <a:bodyPr/>
        <a:lstStyle/>
        <a:p>
          <a:endParaRPr lang="en-US"/>
        </a:p>
      </dgm:t>
    </dgm:pt>
    <dgm:pt modelId="{697E4DBF-F9A0-4004-8039-8C4F2F5D9EC1}" type="sibTrans" cxnId="{3D10684C-C535-46BD-9777-BE479AF1F147}">
      <dgm:prSet/>
      <dgm:spPr/>
      <dgm:t>
        <a:bodyPr/>
        <a:lstStyle/>
        <a:p>
          <a:endParaRPr lang="en-US"/>
        </a:p>
      </dgm:t>
    </dgm:pt>
    <dgm:pt modelId="{6C47055E-3E4D-4419-86F5-1EE3C72ECE6C}">
      <dgm:prSet phldrT="[Text]" custT="1"/>
      <dgm:spPr/>
      <dgm:t>
        <a:bodyPr/>
        <a:lstStyle/>
        <a:p>
          <a:r>
            <a:rPr lang="en-US" sz="2400" b="1" dirty="0" smtClean="0"/>
            <a:t>Post- mortem (If Indicated)</a:t>
          </a:r>
          <a:endParaRPr lang="en-US" sz="2400" b="1" dirty="0"/>
        </a:p>
      </dgm:t>
    </dgm:pt>
    <dgm:pt modelId="{72096463-C09E-4EDF-A84D-38CCB3EF85EC}" type="parTrans" cxnId="{0AF070A5-E91A-4BF9-915B-86F63565046E}">
      <dgm:prSet/>
      <dgm:spPr/>
      <dgm:t>
        <a:bodyPr/>
        <a:lstStyle/>
        <a:p>
          <a:endParaRPr lang="en-US"/>
        </a:p>
      </dgm:t>
    </dgm:pt>
    <dgm:pt modelId="{1FE59A0C-E028-42DF-B1A4-B39AF2693BE3}" type="sibTrans" cxnId="{0AF070A5-E91A-4BF9-915B-86F63565046E}">
      <dgm:prSet/>
      <dgm:spPr/>
      <dgm:t>
        <a:bodyPr/>
        <a:lstStyle/>
        <a:p>
          <a:endParaRPr lang="en-US"/>
        </a:p>
      </dgm:t>
    </dgm:pt>
    <dgm:pt modelId="{2196326E-FF41-4864-8184-1B900A08F667}">
      <dgm:prSet phldrT="[Text]" custT="1"/>
      <dgm:spPr/>
      <dgm:t>
        <a:bodyPr/>
        <a:lstStyle/>
        <a:p>
          <a:r>
            <a:rPr lang="en-US" sz="2000" b="1" dirty="0" smtClean="0"/>
            <a:t>Transport to final destination (Burial or Cremation)</a:t>
          </a:r>
          <a:endParaRPr lang="en-US" sz="2000" b="1" dirty="0"/>
        </a:p>
      </dgm:t>
    </dgm:pt>
    <dgm:pt modelId="{31EBCCA1-C136-4D88-8AE6-BA281362C261}" type="parTrans" cxnId="{B85C756E-2121-444D-A2FE-35C5094C38F9}">
      <dgm:prSet/>
      <dgm:spPr/>
      <dgm:t>
        <a:bodyPr/>
        <a:lstStyle/>
        <a:p>
          <a:endParaRPr lang="en-US"/>
        </a:p>
      </dgm:t>
    </dgm:pt>
    <dgm:pt modelId="{8503FFAD-0DF1-45CF-925D-BC36FC5F6D61}" type="sibTrans" cxnId="{B85C756E-2121-444D-A2FE-35C5094C38F9}">
      <dgm:prSet/>
      <dgm:spPr/>
      <dgm:t>
        <a:bodyPr/>
        <a:lstStyle/>
        <a:p>
          <a:endParaRPr lang="en-US"/>
        </a:p>
      </dgm:t>
    </dgm:pt>
    <dgm:pt modelId="{46E36756-1792-424E-8CED-41318789D840}" type="pres">
      <dgm:prSet presAssocID="{43098434-ADA5-49F1-ACC4-E49E03BD88F9}" presName="CompostProcess" presStyleCnt="0">
        <dgm:presLayoutVars>
          <dgm:dir/>
          <dgm:resizeHandles val="exact"/>
        </dgm:presLayoutVars>
      </dgm:prSet>
      <dgm:spPr/>
    </dgm:pt>
    <dgm:pt modelId="{6B7B63FF-E68E-4D5F-B04D-E3E07322544C}" type="pres">
      <dgm:prSet presAssocID="{43098434-ADA5-49F1-ACC4-E49E03BD88F9}" presName="arrow" presStyleLbl="bgShp" presStyleIdx="0" presStyleCnt="1" custScaleX="117647"/>
      <dgm:spPr>
        <a:solidFill>
          <a:schemeClr val="bg2">
            <a:lumMod val="50000"/>
          </a:schemeClr>
        </a:solidFill>
      </dgm:spPr>
    </dgm:pt>
    <dgm:pt modelId="{9B5FA1FD-AEA3-450E-8414-4E80FF4DD5CB}" type="pres">
      <dgm:prSet presAssocID="{43098434-ADA5-49F1-ACC4-E49E03BD88F9}" presName="linearProcess" presStyleCnt="0"/>
      <dgm:spPr/>
    </dgm:pt>
    <dgm:pt modelId="{8581F519-6070-49C1-9A54-BF30EF28B747}" type="pres">
      <dgm:prSet presAssocID="{7A42F15D-0C55-487C-8128-0842B2132A7F}" presName="textNode" presStyleLbl="node1" presStyleIdx="0" presStyleCnt="5" custScaleX="66380" custScaleY="94737" custLinFactNeighborX="39939">
        <dgm:presLayoutVars>
          <dgm:bulletEnabled val="1"/>
        </dgm:presLayoutVars>
      </dgm:prSet>
      <dgm:spPr/>
      <dgm:t>
        <a:bodyPr/>
        <a:lstStyle/>
        <a:p>
          <a:endParaRPr lang="en-US"/>
        </a:p>
      </dgm:t>
    </dgm:pt>
    <dgm:pt modelId="{EA90D445-3758-4878-839B-DB3162EC18FE}" type="pres">
      <dgm:prSet presAssocID="{0982816F-BD3D-49D8-A3AE-FF78227D7335}" presName="sibTrans" presStyleCnt="0"/>
      <dgm:spPr/>
    </dgm:pt>
    <dgm:pt modelId="{E6B0442D-4B0D-480C-A29F-CECF54533514}" type="pres">
      <dgm:prSet presAssocID="{5C26CF1F-8929-4EC7-923C-37BCD257423F}" presName="textNode" presStyleLbl="node1" presStyleIdx="1" presStyleCnt="5" custScaleX="60669" custScaleY="94737" custLinFactNeighborX="25350">
        <dgm:presLayoutVars>
          <dgm:bulletEnabled val="1"/>
        </dgm:presLayoutVars>
      </dgm:prSet>
      <dgm:spPr/>
      <dgm:t>
        <a:bodyPr/>
        <a:lstStyle/>
        <a:p>
          <a:endParaRPr lang="en-US"/>
        </a:p>
      </dgm:t>
    </dgm:pt>
    <dgm:pt modelId="{B216BC24-D815-4838-82C3-98312CF2532A}" type="pres">
      <dgm:prSet presAssocID="{DE8A9D4D-D779-45DC-B5A0-27276753F26F}" presName="sibTrans" presStyleCnt="0"/>
      <dgm:spPr/>
    </dgm:pt>
    <dgm:pt modelId="{5139D9AD-FE31-4369-871D-C26D7E6EE861}" type="pres">
      <dgm:prSet presAssocID="{2A34BDA7-1D93-480F-9CCD-AD335525A478}" presName="textNode" presStyleLbl="node1" presStyleIdx="2" presStyleCnt="5" custScaleX="58414" custScaleY="94737">
        <dgm:presLayoutVars>
          <dgm:bulletEnabled val="1"/>
        </dgm:presLayoutVars>
      </dgm:prSet>
      <dgm:spPr/>
      <dgm:t>
        <a:bodyPr/>
        <a:lstStyle/>
        <a:p>
          <a:endParaRPr lang="en-US"/>
        </a:p>
      </dgm:t>
    </dgm:pt>
    <dgm:pt modelId="{0CDE2647-6304-4F0A-A095-7FFD41422A0C}" type="pres">
      <dgm:prSet presAssocID="{697E4DBF-F9A0-4004-8039-8C4F2F5D9EC1}" presName="sibTrans" presStyleCnt="0"/>
      <dgm:spPr/>
    </dgm:pt>
    <dgm:pt modelId="{9084B57F-57DF-4D8F-8D49-0E4006A90C09}" type="pres">
      <dgm:prSet presAssocID="{6C47055E-3E4D-4419-86F5-1EE3C72ECE6C}" presName="textNode" presStyleLbl="node1" presStyleIdx="3" presStyleCnt="5" custScaleX="55345" custScaleY="97369" custLinFactNeighborX="-25350">
        <dgm:presLayoutVars>
          <dgm:bulletEnabled val="1"/>
        </dgm:presLayoutVars>
      </dgm:prSet>
      <dgm:spPr/>
      <dgm:t>
        <a:bodyPr/>
        <a:lstStyle/>
        <a:p>
          <a:endParaRPr lang="en-US"/>
        </a:p>
      </dgm:t>
    </dgm:pt>
    <dgm:pt modelId="{ECA07005-2F76-4FF0-BA51-DE038BEAC3FC}" type="pres">
      <dgm:prSet presAssocID="{1FE59A0C-E028-42DF-B1A4-B39AF2693BE3}" presName="sibTrans" presStyleCnt="0"/>
      <dgm:spPr/>
    </dgm:pt>
    <dgm:pt modelId="{C7522C60-37CE-4C49-A416-7E2016ABBE1C}" type="pres">
      <dgm:prSet presAssocID="{2196326E-FF41-4864-8184-1B900A08F667}" presName="textNode" presStyleLbl="node1" presStyleIdx="4" presStyleCnt="5" custScaleX="58006" custScaleY="92105" custLinFactNeighborX="-53252">
        <dgm:presLayoutVars>
          <dgm:bulletEnabled val="1"/>
        </dgm:presLayoutVars>
      </dgm:prSet>
      <dgm:spPr/>
      <dgm:t>
        <a:bodyPr/>
        <a:lstStyle/>
        <a:p>
          <a:endParaRPr lang="en-US"/>
        </a:p>
      </dgm:t>
    </dgm:pt>
  </dgm:ptLst>
  <dgm:cxnLst>
    <dgm:cxn modelId="{9CAE7461-5C81-427F-B09F-026AFAE546B9}" srcId="{43098434-ADA5-49F1-ACC4-E49E03BD88F9}" destId="{5C26CF1F-8929-4EC7-923C-37BCD257423F}" srcOrd="1" destOrd="0" parTransId="{866E9759-D35D-4C30-B805-6C7A21FD6567}" sibTransId="{DE8A9D4D-D779-45DC-B5A0-27276753F26F}"/>
    <dgm:cxn modelId="{3D10684C-C535-46BD-9777-BE479AF1F147}" srcId="{43098434-ADA5-49F1-ACC4-E49E03BD88F9}" destId="{2A34BDA7-1D93-480F-9CCD-AD335525A478}" srcOrd="2" destOrd="0" parTransId="{D7F14DE2-F3F5-4CAF-A3A5-810CED070927}" sibTransId="{697E4DBF-F9A0-4004-8039-8C4F2F5D9EC1}"/>
    <dgm:cxn modelId="{0AF070A5-E91A-4BF9-915B-86F63565046E}" srcId="{43098434-ADA5-49F1-ACC4-E49E03BD88F9}" destId="{6C47055E-3E4D-4419-86F5-1EE3C72ECE6C}" srcOrd="3" destOrd="0" parTransId="{72096463-C09E-4EDF-A84D-38CCB3EF85EC}" sibTransId="{1FE59A0C-E028-42DF-B1A4-B39AF2693BE3}"/>
    <dgm:cxn modelId="{CB9C9208-FD9E-4B29-A3F9-0265E67A23ED}" type="presOf" srcId="{6C47055E-3E4D-4419-86F5-1EE3C72ECE6C}" destId="{9084B57F-57DF-4D8F-8D49-0E4006A90C09}" srcOrd="0" destOrd="0" presId="urn:microsoft.com/office/officeart/2005/8/layout/hProcess9"/>
    <dgm:cxn modelId="{6E0B0BE3-9DD2-41FA-A344-59FAD4871A73}" type="presOf" srcId="{2A34BDA7-1D93-480F-9CCD-AD335525A478}" destId="{5139D9AD-FE31-4369-871D-C26D7E6EE861}" srcOrd="0" destOrd="0" presId="urn:microsoft.com/office/officeart/2005/8/layout/hProcess9"/>
    <dgm:cxn modelId="{B85C756E-2121-444D-A2FE-35C5094C38F9}" srcId="{43098434-ADA5-49F1-ACC4-E49E03BD88F9}" destId="{2196326E-FF41-4864-8184-1B900A08F667}" srcOrd="4" destOrd="0" parTransId="{31EBCCA1-C136-4D88-8AE6-BA281362C261}" sibTransId="{8503FFAD-0DF1-45CF-925D-BC36FC5F6D61}"/>
    <dgm:cxn modelId="{7BE771B5-C81D-4B54-A120-D33993F98AD7}" type="presOf" srcId="{2196326E-FF41-4864-8184-1B900A08F667}" destId="{C7522C60-37CE-4C49-A416-7E2016ABBE1C}" srcOrd="0" destOrd="0" presId="urn:microsoft.com/office/officeart/2005/8/layout/hProcess9"/>
    <dgm:cxn modelId="{2524CF22-A02A-496C-9F88-9D8FE12864EF}" type="presOf" srcId="{7A42F15D-0C55-487C-8128-0842B2132A7F}" destId="{8581F519-6070-49C1-9A54-BF30EF28B747}" srcOrd="0" destOrd="0" presId="urn:microsoft.com/office/officeart/2005/8/layout/hProcess9"/>
    <dgm:cxn modelId="{A2987333-A685-44B7-A435-A8196BD3FAEF}" type="presOf" srcId="{5C26CF1F-8929-4EC7-923C-37BCD257423F}" destId="{E6B0442D-4B0D-480C-A29F-CECF54533514}" srcOrd="0" destOrd="0" presId="urn:microsoft.com/office/officeart/2005/8/layout/hProcess9"/>
    <dgm:cxn modelId="{C42D1304-4048-4BFE-97DA-78F91D144784}" srcId="{43098434-ADA5-49F1-ACC4-E49E03BD88F9}" destId="{7A42F15D-0C55-487C-8128-0842B2132A7F}" srcOrd="0" destOrd="0" parTransId="{BD575286-4BB3-4582-BA58-3C0E8AB411BA}" sibTransId="{0982816F-BD3D-49D8-A3AE-FF78227D7335}"/>
    <dgm:cxn modelId="{EB32460C-F3C0-4E51-8E97-5949C91F9A7B}" type="presOf" srcId="{43098434-ADA5-49F1-ACC4-E49E03BD88F9}" destId="{46E36756-1792-424E-8CED-41318789D840}" srcOrd="0" destOrd="0" presId="urn:microsoft.com/office/officeart/2005/8/layout/hProcess9"/>
    <dgm:cxn modelId="{7E1DE285-EFA6-443A-9BB1-A1C97F8F4D65}" type="presParOf" srcId="{46E36756-1792-424E-8CED-41318789D840}" destId="{6B7B63FF-E68E-4D5F-B04D-E3E07322544C}" srcOrd="0" destOrd="0" presId="urn:microsoft.com/office/officeart/2005/8/layout/hProcess9"/>
    <dgm:cxn modelId="{836ECA9E-AD1C-45C6-A6F9-8345BCB3AA81}" type="presParOf" srcId="{46E36756-1792-424E-8CED-41318789D840}" destId="{9B5FA1FD-AEA3-450E-8414-4E80FF4DD5CB}" srcOrd="1" destOrd="0" presId="urn:microsoft.com/office/officeart/2005/8/layout/hProcess9"/>
    <dgm:cxn modelId="{A58A5550-50E6-4E5B-9E17-A794FF41253E}" type="presParOf" srcId="{9B5FA1FD-AEA3-450E-8414-4E80FF4DD5CB}" destId="{8581F519-6070-49C1-9A54-BF30EF28B747}" srcOrd="0" destOrd="0" presId="urn:microsoft.com/office/officeart/2005/8/layout/hProcess9"/>
    <dgm:cxn modelId="{79D846EF-002B-4B90-902E-C1D821F38072}" type="presParOf" srcId="{9B5FA1FD-AEA3-450E-8414-4E80FF4DD5CB}" destId="{EA90D445-3758-4878-839B-DB3162EC18FE}" srcOrd="1" destOrd="0" presId="urn:microsoft.com/office/officeart/2005/8/layout/hProcess9"/>
    <dgm:cxn modelId="{056362A7-723F-4E84-8039-0B2A0C2DA6D1}" type="presParOf" srcId="{9B5FA1FD-AEA3-450E-8414-4E80FF4DD5CB}" destId="{E6B0442D-4B0D-480C-A29F-CECF54533514}" srcOrd="2" destOrd="0" presId="urn:microsoft.com/office/officeart/2005/8/layout/hProcess9"/>
    <dgm:cxn modelId="{38905780-5058-4FA6-848D-2A7B86A4A89B}" type="presParOf" srcId="{9B5FA1FD-AEA3-450E-8414-4E80FF4DD5CB}" destId="{B216BC24-D815-4838-82C3-98312CF2532A}" srcOrd="3" destOrd="0" presId="urn:microsoft.com/office/officeart/2005/8/layout/hProcess9"/>
    <dgm:cxn modelId="{A2557F56-7AD8-4703-AC07-0D4BA4C351B4}" type="presParOf" srcId="{9B5FA1FD-AEA3-450E-8414-4E80FF4DD5CB}" destId="{5139D9AD-FE31-4369-871D-C26D7E6EE861}" srcOrd="4" destOrd="0" presId="urn:microsoft.com/office/officeart/2005/8/layout/hProcess9"/>
    <dgm:cxn modelId="{4CA7F080-5184-4408-BD44-A10081198DC5}" type="presParOf" srcId="{9B5FA1FD-AEA3-450E-8414-4E80FF4DD5CB}" destId="{0CDE2647-6304-4F0A-A095-7FFD41422A0C}" srcOrd="5" destOrd="0" presId="urn:microsoft.com/office/officeart/2005/8/layout/hProcess9"/>
    <dgm:cxn modelId="{5F3287A0-00B0-4804-A437-B456AAD29990}" type="presParOf" srcId="{9B5FA1FD-AEA3-450E-8414-4E80FF4DD5CB}" destId="{9084B57F-57DF-4D8F-8D49-0E4006A90C09}" srcOrd="6" destOrd="0" presId="urn:microsoft.com/office/officeart/2005/8/layout/hProcess9"/>
    <dgm:cxn modelId="{76E609E2-7AC0-4F19-A289-CA725BF17340}" type="presParOf" srcId="{9B5FA1FD-AEA3-450E-8414-4E80FF4DD5CB}" destId="{ECA07005-2F76-4FF0-BA51-DE038BEAC3FC}" srcOrd="7" destOrd="0" presId="urn:microsoft.com/office/officeart/2005/8/layout/hProcess9"/>
    <dgm:cxn modelId="{06623709-4D6A-4150-A301-390154852C0E}" type="presParOf" srcId="{9B5FA1FD-AEA3-450E-8414-4E80FF4DD5CB}" destId="{C7522C60-37CE-4C49-A416-7E2016ABBE1C}"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B63FF-E68E-4D5F-B04D-E3E07322544C}">
      <dsp:nvSpPr>
        <dsp:cNvPr id="0" name=""/>
        <dsp:cNvSpPr/>
      </dsp:nvSpPr>
      <dsp:spPr>
        <a:xfrm>
          <a:off x="2" y="0"/>
          <a:ext cx="10416205" cy="3776869"/>
        </a:xfrm>
        <a:prstGeom prst="rightArrow">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8581F519-6070-49C1-9A54-BF30EF28B747}">
      <dsp:nvSpPr>
        <dsp:cNvPr id="0" name=""/>
        <dsp:cNvSpPr/>
      </dsp:nvSpPr>
      <dsp:spPr>
        <a:xfrm>
          <a:off x="111241" y="1172816"/>
          <a:ext cx="2068538" cy="143123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Pronouncement of death at bedside</a:t>
          </a:r>
          <a:endParaRPr lang="en-US" sz="2000" b="1" kern="1200" dirty="0"/>
        </a:p>
      </dsp:txBody>
      <dsp:txXfrm>
        <a:off x="181108" y="1242683"/>
        <a:ext cx="1928804" cy="1291502"/>
      </dsp:txXfrm>
    </dsp:sp>
    <dsp:sp modelId="{E6B0442D-4B0D-480C-A29F-CECF54533514}">
      <dsp:nvSpPr>
        <dsp:cNvPr id="0" name=""/>
        <dsp:cNvSpPr/>
      </dsp:nvSpPr>
      <dsp:spPr>
        <a:xfrm>
          <a:off x="2415121" y="1172816"/>
          <a:ext cx="1890571" cy="143123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t>Preparing the body for transport to morgue</a:t>
          </a:r>
          <a:endParaRPr lang="en-US" sz="2400" b="1" kern="1200" dirty="0"/>
        </a:p>
      </dsp:txBody>
      <dsp:txXfrm>
        <a:off x="2484988" y="1242683"/>
        <a:ext cx="1750837" cy="1291502"/>
      </dsp:txXfrm>
    </dsp:sp>
    <dsp:sp modelId="{5139D9AD-FE31-4369-871D-C26D7E6EE861}">
      <dsp:nvSpPr>
        <dsp:cNvPr id="0" name=""/>
        <dsp:cNvSpPr/>
      </dsp:nvSpPr>
      <dsp:spPr>
        <a:xfrm>
          <a:off x="4511383" y="1172816"/>
          <a:ext cx="1820301" cy="143123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t>Storage in morgue</a:t>
          </a:r>
          <a:endParaRPr lang="en-US" sz="2800" b="1" kern="1200" dirty="0"/>
        </a:p>
      </dsp:txBody>
      <dsp:txXfrm>
        <a:off x="4581250" y="1242683"/>
        <a:ext cx="1680567" cy="1291502"/>
      </dsp:txXfrm>
    </dsp:sp>
    <dsp:sp modelId="{9084B57F-57DF-4D8F-8D49-0E4006A90C09}">
      <dsp:nvSpPr>
        <dsp:cNvPr id="0" name=""/>
        <dsp:cNvSpPr/>
      </dsp:nvSpPr>
      <dsp:spPr>
        <a:xfrm>
          <a:off x="6537376" y="1152934"/>
          <a:ext cx="1724664" cy="147099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t>Post- mortem (If Indicated)</a:t>
          </a:r>
          <a:endParaRPr lang="en-US" sz="2400" b="1" kern="1200" dirty="0"/>
        </a:p>
      </dsp:txBody>
      <dsp:txXfrm>
        <a:off x="6609184" y="1224742"/>
        <a:ext cx="1581048" cy="1327383"/>
      </dsp:txXfrm>
    </dsp:sp>
    <dsp:sp modelId="{C7522C60-37CE-4C49-A416-7E2016ABBE1C}">
      <dsp:nvSpPr>
        <dsp:cNvPr id="0" name=""/>
        <dsp:cNvSpPr/>
      </dsp:nvSpPr>
      <dsp:spPr>
        <a:xfrm>
          <a:off x="8460699" y="1192697"/>
          <a:ext cx="1807587" cy="139147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Transport to final destination (Burial or Cremation)</a:t>
          </a:r>
          <a:endParaRPr lang="en-US" sz="2000" b="1" kern="1200" dirty="0"/>
        </a:p>
      </dsp:txBody>
      <dsp:txXfrm>
        <a:off x="8528625" y="1260623"/>
        <a:ext cx="1671735" cy="125562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038E0A-9D95-4334-AB32-073E2B9AF374}" type="datetimeFigureOut">
              <a:rPr lang="en-US" smtClean="0"/>
              <a:t>9/23/2019</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A777BA-099D-4B43-81B4-EB0296B1E668}" type="slidenum">
              <a:rPr lang="en-US" smtClean="0"/>
              <a:t>‹#›</a:t>
            </a:fld>
            <a:endParaRPr lang="en-US"/>
          </a:p>
        </p:txBody>
      </p:sp>
    </p:spTree>
    <p:extLst>
      <p:ext uri="{BB962C8B-B14F-4D97-AF65-F5344CB8AC3E}">
        <p14:creationId xmlns:p14="http://schemas.microsoft.com/office/powerpoint/2010/main" val="2183513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66172" cy="6598881"/>
            <a:chOff x="0" y="211434"/>
            <a:chExt cx="9278874" cy="6958648"/>
          </a:xfrm>
          <a:noFill/>
        </p:grpSpPr>
        <p:pic>
          <p:nvPicPr>
            <p:cNvPr id="8" name="Picture 7" descr="SD-PanelTitle-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8884" y="1879926"/>
            <a:ext cx="7760513"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10204" y="3597481"/>
            <a:ext cx="5971593"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61655" y="4972192"/>
            <a:ext cx="1296208" cy="361810"/>
          </a:xfrm>
        </p:spPr>
        <p:txBody>
          <a:bodyPr/>
          <a:lstStyle/>
          <a:p>
            <a:fld id="{FE73E289-8B84-4590-B9E5-0E68BC0606CA}" type="datetime1">
              <a:rPr lang="en-US" smtClean="0"/>
              <a:t>9/23/2019</a:t>
            </a:fld>
            <a:endParaRPr lang="en-US"/>
          </a:p>
        </p:txBody>
      </p:sp>
      <p:sp>
        <p:nvSpPr>
          <p:cNvPr id="5" name="Footer Placeholder 4"/>
          <p:cNvSpPr>
            <a:spLocks noGrp="1"/>
          </p:cNvSpPr>
          <p:nvPr>
            <p:ph type="ftr" sz="quarter" idx="11"/>
          </p:nvPr>
        </p:nvSpPr>
        <p:spPr>
          <a:xfrm>
            <a:off x="2562579" y="4972194"/>
            <a:ext cx="4999075" cy="361809"/>
          </a:xfrm>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a:xfrm>
            <a:off x="9081797" y="4972193"/>
            <a:ext cx="968201" cy="361809"/>
          </a:xfrm>
        </p:spPr>
        <p:txBody>
          <a:bodyPr/>
          <a:lstStyle/>
          <a:p>
            <a:fld id="{152743B3-639B-4115-8757-963852785863}" type="slidenum">
              <a:rPr lang="en-US" smtClean="0"/>
              <a:pPr/>
              <a:t>‹#›</a:t>
            </a:fld>
            <a:endParaRPr lang="en-US"/>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72920" y="76751"/>
            <a:ext cx="4038801"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1030778"/>
            <a:ext cx="9064979"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75561" y="5960533"/>
            <a:ext cx="1133600" cy="279400"/>
          </a:xfrm>
        </p:spPr>
        <p:txBody>
          <a:bodyPr/>
          <a:lstStyle/>
          <a:p>
            <a:fld id="{A9D794E8-947C-4E05-A97A-A89EF71D60C3}"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a:xfrm>
            <a:off x="9609161" y="5960533"/>
            <a:ext cx="965539" cy="279400"/>
          </a:xfrm>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FD4972-01F2-455E-A9C7-3148400C456F}"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a:xfrm>
            <a:off x="10106788" y="5960533"/>
            <a:ext cx="1154187" cy="279400"/>
          </a:xfrm>
        </p:spPr>
        <p:txBody>
          <a:bodyPr/>
          <a:lstStyle/>
          <a:p>
            <a:fld id="{152743B3-639B-4115-8757-963852785863}" type="slidenum">
              <a:rPr lang="en-US" smtClean="0"/>
              <a:pPr/>
              <a:t>‹#›</a:t>
            </a:fld>
            <a:endParaRPr lang="en-US"/>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3" y="1052394"/>
            <a:ext cx="9064979"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FAB78B0-DC9F-4F33-9DBB-2A3D023BB778}" type="datetime1">
              <a:rPr lang="en-US" smtClean="0"/>
              <a:t>9/23/2019</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
        <p:nvSpPr>
          <p:cNvPr id="7" name="Slide Number Placeholder 6"/>
          <p:cNvSpPr>
            <a:spLocks noGrp="1"/>
          </p:cNvSpPr>
          <p:nvPr>
            <p:ph type="sldNum" sz="quarter" idx="12"/>
          </p:nvPr>
        </p:nvSpPr>
        <p:spPr>
          <a:xfrm>
            <a:off x="10106788" y="5934457"/>
            <a:ext cx="1021184" cy="305477"/>
          </a:xfrm>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42C236A-92C9-43A3-8846-8E8F07E5B553}" type="datetime1">
              <a:rPr lang="en-US" smtClean="0"/>
              <a:t>9/23/2019</a:t>
            </a:fld>
            <a:endParaRPr lang="en-US"/>
          </a:p>
        </p:txBody>
      </p:sp>
      <p:sp>
        <p:nvSpPr>
          <p:cNvPr id="8" name="Footer Placeholder 7"/>
          <p:cNvSpPr>
            <a:spLocks noGrp="1"/>
          </p:cNvSpPr>
          <p:nvPr>
            <p:ph type="ftr" sz="quarter" idx="11"/>
          </p:nvPr>
        </p:nvSpPr>
        <p:spPr/>
        <p:txBody>
          <a:bodyPr/>
          <a:lstStyle/>
          <a:p>
            <a:r>
              <a:rPr lang="en-US" smtClean="0"/>
              <a:t>Vol.2, Sec. 4, Chapter 6: Mortuary IPC for Handling Human Remains</a:t>
            </a:r>
            <a:endParaRPr lang="en-US"/>
          </a:p>
        </p:txBody>
      </p:sp>
      <p:sp>
        <p:nvSpPr>
          <p:cNvPr id="9" name="Slide Number Placeholder 8"/>
          <p:cNvSpPr>
            <a:spLocks noGrp="1"/>
          </p:cNvSpPr>
          <p:nvPr>
            <p:ph type="sldNum" sz="quarter" idx="12"/>
          </p:nvPr>
        </p:nvSpPr>
        <p:spPr/>
        <p:txBody>
          <a:bodyPr/>
          <a:lstStyle/>
          <a:p>
            <a:fld id="{152743B3-639B-4115-8757-963852785863}" type="slidenum">
              <a:rPr lang="en-US" smtClean="0"/>
              <a:pPr/>
              <a:t>‹#›</a:t>
            </a:fld>
            <a:endParaRPr lang="en-US"/>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CFB5F7D-6BC9-4EF6-9F50-4463FD02EF0A}" type="datetime1">
              <a:rPr lang="en-US" smtClean="0"/>
              <a:t>9/23/2019</a:t>
            </a:fld>
            <a:endParaRPr lang="en-US"/>
          </a:p>
        </p:txBody>
      </p:sp>
      <p:sp>
        <p:nvSpPr>
          <p:cNvPr id="4" name="Footer Placeholder 3"/>
          <p:cNvSpPr>
            <a:spLocks noGrp="1"/>
          </p:cNvSpPr>
          <p:nvPr>
            <p:ph type="ftr" sz="quarter" idx="11"/>
          </p:nvPr>
        </p:nvSpPr>
        <p:spPr/>
        <p:txBody>
          <a:bodyPr/>
          <a:lstStyle/>
          <a:p>
            <a:r>
              <a:rPr lang="en-US" smtClean="0"/>
              <a:t>Vol.2, Sec. 4, Chapter 6: Mortuary IPC for Handling Human Remains</a:t>
            </a:r>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037FA9-F0F8-4171-A037-FB9DCEED0380}" type="datetime1">
              <a:rPr lang="en-US" smtClean="0"/>
              <a:t>9/23/2019</a:t>
            </a:fld>
            <a:endParaRPr lang="en-US"/>
          </a:p>
        </p:txBody>
      </p:sp>
      <p:sp>
        <p:nvSpPr>
          <p:cNvPr id="3" name="Footer Placeholder 2"/>
          <p:cNvSpPr>
            <a:spLocks noGrp="1"/>
          </p:cNvSpPr>
          <p:nvPr>
            <p:ph type="ftr" sz="quarter" idx="11"/>
          </p:nvPr>
        </p:nvSpPr>
        <p:spPr/>
        <p:txBody>
          <a:bodyPr/>
          <a:lstStyle/>
          <a:p>
            <a:r>
              <a:rPr lang="en-US" smtClean="0"/>
              <a:t>Vol.2, Sec. 4, Chapter 6: Mortuary IPC for Handling Human Remains</a:t>
            </a:r>
            <a:endParaRPr lang="en-US"/>
          </a:p>
        </p:txBody>
      </p:sp>
      <p:sp>
        <p:nvSpPr>
          <p:cNvPr id="4" name="Slide Number Placeholder 3"/>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02334D-0322-49FA-9E93-9D9539947FB4}" type="datetime1">
              <a:rPr lang="en-US" smtClean="0"/>
              <a:t>9/23/2019</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A0A0B3-7D4A-4A96-A1F6-7A83B5A5464D}" type="datetime1">
              <a:rPr lang="en-US" smtClean="0"/>
              <a:t>9/23/2019</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278EE9-F6BE-41CF-AEF7-63E4746ECB83}" type="datetime1">
              <a:rPr lang="en-US" smtClean="0"/>
              <a:t>9/23/2019</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1CADD4-EA3E-457F-9CF3-E31C39403737}"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3207DB-1BBB-4616-88BD-0AD87F5F720A}"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0D5266-9DF3-4A12-AF67-C5303A2DDAF5}"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0C4B7F-78B0-40BE-91EF-5258E85E8879}"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1887CC-1DA3-416A-9BCF-A7F55165830A}"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8492244-2531-4344-ADCE-1324F214C6F0}"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4C6195-040E-47B4-95F8-0A0FAA575E19}" type="datetime1">
              <a:rPr lang="en-US" smtClean="0"/>
              <a:t>9/23/2019</a:t>
            </a:fld>
            <a:endParaRPr lang="en-US"/>
          </a:p>
        </p:txBody>
      </p:sp>
      <p:sp>
        <p:nvSpPr>
          <p:cNvPr id="5" name="Footer Placeholder 4"/>
          <p:cNvSpPr>
            <a:spLocks noGrp="1"/>
          </p:cNvSpPr>
          <p:nvPr>
            <p:ph type="ftr" sz="quarter" idx="11"/>
          </p:nvPr>
        </p:nvSpPr>
        <p:spPr/>
        <p:txBody>
          <a:bodyPr/>
          <a:lstStyle/>
          <a:p>
            <a:r>
              <a:rPr lang="en-US" smtClean="0"/>
              <a:t>Vol.2, Sec. 4, Chapter 6: Mortuary IPC for Handling Human Remains</a:t>
            </a:r>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a:t>
            </a:fld>
            <a:endParaRPr lang="en-US"/>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75561" y="5935133"/>
            <a:ext cx="897447"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6E2C8F9-9CEC-4D00-BDD9-2C49A93D7422}" type="datetime1">
              <a:rPr lang="en-US" smtClean="0"/>
              <a:t>9/23/2019</a:t>
            </a:fld>
            <a:endParaRPr lang="en-US"/>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smtClean="0"/>
              <a:t>Vol.2, Sec. 4, Chapter 6: Mortuary IPC for Handling Human Remains</a:t>
            </a:r>
            <a:endParaRPr lang="en-US"/>
          </a:p>
        </p:txBody>
      </p:sp>
      <p:sp>
        <p:nvSpPr>
          <p:cNvPr id="6" name="Slide Number Placeholder 5"/>
          <p:cNvSpPr>
            <a:spLocks noGrp="1"/>
          </p:cNvSpPr>
          <p:nvPr>
            <p:ph type="sldNum" sz="quarter" idx="4"/>
          </p:nvPr>
        </p:nvSpPr>
        <p:spPr>
          <a:xfrm>
            <a:off x="9373007" y="5960533"/>
            <a:ext cx="126112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52743B3-639B-4115-8757-963852785863}" type="slidenum">
              <a:rPr lang="en-US" smtClean="0"/>
              <a:pPr/>
              <a:t>‹#›</a:t>
            </a:fld>
            <a:endParaRPr lang="en-US"/>
          </a:p>
        </p:txBody>
      </p:sp>
      <p:grpSp>
        <p:nvGrpSpPr>
          <p:cNvPr id="12" name="Group 11"/>
          <p:cNvGrpSpPr/>
          <p:nvPr/>
        </p:nvGrpSpPr>
        <p:grpSpPr>
          <a:xfrm>
            <a:off x="4496777" y="4072"/>
            <a:ext cx="3209731"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hdr="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8884" y="1530627"/>
            <a:ext cx="7760513" cy="1877628"/>
          </a:xfrm>
        </p:spPr>
        <p:txBody>
          <a:bodyPr/>
          <a:lstStyle/>
          <a:p>
            <a:r>
              <a:rPr lang="en-US" sz="3200" dirty="0"/>
              <a:t>Volume </a:t>
            </a:r>
            <a:r>
              <a:rPr lang="en-US" sz="3200" dirty="0" smtClean="0"/>
              <a:t>2_Section 4</a:t>
            </a:r>
            <a:br>
              <a:rPr lang="en-US" sz="3200" dirty="0" smtClean="0"/>
            </a:br>
            <a:r>
              <a:rPr lang="en-US" sz="3200" dirty="0"/>
              <a:t/>
            </a:r>
            <a:br>
              <a:rPr lang="en-US" sz="3200" dirty="0"/>
            </a:br>
            <a:r>
              <a:rPr lang="en-US" sz="2800" dirty="0"/>
              <a:t>Chapter 6</a:t>
            </a:r>
            <a:r>
              <a:rPr lang="en-US" sz="2800" dirty="0" smtClean="0"/>
              <a:t>: </a:t>
            </a:r>
            <a:br>
              <a:rPr lang="en-US" sz="2800" dirty="0" smtClean="0"/>
            </a:br>
            <a:r>
              <a:rPr lang="en-US" sz="2800" dirty="0" smtClean="0"/>
              <a:t>Mortuary IPC for Handling Human Remains</a:t>
            </a:r>
            <a:endParaRPr lang="en-US" sz="2800" dirty="0"/>
          </a:p>
        </p:txBody>
      </p:sp>
      <p:sp>
        <p:nvSpPr>
          <p:cNvPr id="3" name="Content Placeholder 2"/>
          <p:cNvSpPr>
            <a:spLocks noGrp="1"/>
          </p:cNvSpPr>
          <p:nvPr>
            <p:ph type="subTitle" idx="1"/>
          </p:nvPr>
        </p:nvSpPr>
        <p:spPr/>
        <p:txBody>
          <a:bodyPr>
            <a:normAutofit fontScale="70000" lnSpcReduction="20000"/>
          </a:bodyPr>
          <a:lstStyle/>
          <a:p>
            <a:pPr marL="0" indent="0">
              <a:buNone/>
            </a:pPr>
            <a:r>
              <a:rPr lang="en-US" dirty="0" smtClean="0"/>
              <a:t>                                         </a:t>
            </a:r>
            <a:r>
              <a:rPr lang="en-US" dirty="0"/>
              <a:t/>
            </a:r>
            <a:br>
              <a:rPr lang="en-US" dirty="0"/>
            </a:br>
            <a:r>
              <a:rPr lang="en-US" dirty="0"/>
              <a:t>      </a:t>
            </a:r>
            <a:r>
              <a:rPr lang="en-US" sz="3600" b="1" dirty="0">
                <a:ln w="3175" cmpd="sng">
                  <a:noFill/>
                </a:ln>
                <a:solidFill>
                  <a:schemeClr val="tx1">
                    <a:lumMod val="85000"/>
                    <a:lumOff val="15000"/>
                  </a:schemeClr>
                </a:solidFill>
                <a:latin typeface="+mj-lt"/>
                <a:ea typeface="+mj-ea"/>
                <a:cs typeface="+mj-cs"/>
              </a:rPr>
              <a:t>Infection Prevention and Control </a:t>
            </a:r>
            <a:r>
              <a:rPr lang="en-US" sz="3600" b="1" dirty="0" smtClean="0">
                <a:ln w="3175" cmpd="sng">
                  <a:noFill/>
                </a:ln>
                <a:solidFill>
                  <a:schemeClr val="tx1">
                    <a:lumMod val="85000"/>
                    <a:lumOff val="15000"/>
                  </a:schemeClr>
                </a:solidFill>
                <a:latin typeface="+mj-lt"/>
                <a:ea typeface="+mj-ea"/>
                <a:cs typeface="+mj-cs"/>
              </a:rPr>
              <a:t>in special </a:t>
            </a:r>
            <a:r>
              <a:rPr lang="en-US" sz="3600" b="1" dirty="0">
                <a:ln w="3175" cmpd="sng">
                  <a:noFill/>
                </a:ln>
                <a:solidFill>
                  <a:schemeClr val="tx1">
                    <a:lumMod val="85000"/>
                    <a:lumOff val="15000"/>
                  </a:schemeClr>
                </a:solidFill>
                <a:latin typeface="+mj-lt"/>
                <a:ea typeface="+mj-ea"/>
                <a:cs typeface="+mj-cs"/>
              </a:rPr>
              <a:t>setting</a:t>
            </a:r>
          </a:p>
        </p:txBody>
      </p:sp>
    </p:spTree>
    <p:extLst>
      <p:ext uri="{BB962C8B-B14F-4D97-AF65-F5344CB8AC3E}">
        <p14:creationId xmlns:p14="http://schemas.microsoft.com/office/powerpoint/2010/main" val="35065840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Chapter Outline</a:t>
            </a:r>
            <a:endParaRPr lang="en-US" dirty="0"/>
          </a:p>
        </p:txBody>
      </p:sp>
      <p:sp>
        <p:nvSpPr>
          <p:cNvPr id="3" name="Content Placeholder 2"/>
          <p:cNvSpPr>
            <a:spLocks noGrp="1"/>
          </p:cNvSpPr>
          <p:nvPr>
            <p:ph idx="1"/>
          </p:nvPr>
        </p:nvSpPr>
        <p:spPr>
          <a:xfrm>
            <a:off x="1079770" y="2324760"/>
            <a:ext cx="10077856" cy="3930542"/>
          </a:xfrm>
        </p:spPr>
        <p:txBody>
          <a:bodyPr>
            <a:normAutofit fontScale="85000" lnSpcReduction="10000"/>
          </a:bodyPr>
          <a:lstStyle/>
          <a:p>
            <a:pPr marL="514350" indent="-514350" algn="just">
              <a:buFont typeface="+mj-lt"/>
              <a:buAutoNum type="arabicPeriod"/>
            </a:pPr>
            <a:r>
              <a:rPr lang="en-US" sz="3200" dirty="0" smtClean="0"/>
              <a:t>Infection </a:t>
            </a:r>
            <a:r>
              <a:rPr lang="en-US" sz="3200" dirty="0"/>
              <a:t>Prevention and Control Practices for Handling Human Remains</a:t>
            </a:r>
          </a:p>
          <a:p>
            <a:pPr marL="514350" indent="-514350" algn="just">
              <a:buFont typeface="+mj-lt"/>
              <a:buAutoNum type="arabicPeriod"/>
            </a:pPr>
            <a:r>
              <a:rPr lang="en-US" sz="3200" dirty="0"/>
              <a:t>Preparing the Dead Body and Transporting Human Remains to the Morgue</a:t>
            </a:r>
          </a:p>
          <a:p>
            <a:pPr marL="514350" indent="-514350" algn="just">
              <a:buFont typeface="+mj-lt"/>
              <a:buAutoNum type="arabicPeriod"/>
            </a:pPr>
            <a:r>
              <a:rPr lang="en-US" sz="3200" dirty="0"/>
              <a:t>IPC Practices for Post-Mortem Examinations</a:t>
            </a:r>
          </a:p>
          <a:p>
            <a:pPr marL="514350" indent="-514350" algn="just">
              <a:buFont typeface="+mj-lt"/>
              <a:buAutoNum type="arabicPeriod"/>
            </a:pPr>
            <a:r>
              <a:rPr lang="en-US" sz="3200" dirty="0"/>
              <a:t>IPC Practices for Handling Remains of Patients with Highly Infectious Diseases </a:t>
            </a:r>
          </a:p>
          <a:p>
            <a:pPr marL="514350" indent="-514350" algn="just">
              <a:buFont typeface="+mj-lt"/>
              <a:buAutoNum type="arabicPeriod"/>
            </a:pPr>
            <a:r>
              <a:rPr lang="en-US" sz="3200" dirty="0"/>
              <a:t>IPC Practices for Handling Human Remains during Natural Disasters </a:t>
            </a:r>
          </a:p>
          <a:p>
            <a:pPr algn="just"/>
            <a:endParaRPr lang="en-US" dirty="0"/>
          </a:p>
        </p:txBody>
      </p:sp>
      <p:sp>
        <p:nvSpPr>
          <p:cNvPr id="4" name="Date Placeholder 3"/>
          <p:cNvSpPr>
            <a:spLocks noGrp="1"/>
          </p:cNvSpPr>
          <p:nvPr>
            <p:ph type="dt" sz="half" idx="10"/>
          </p:nvPr>
        </p:nvSpPr>
        <p:spPr/>
        <p:txBody>
          <a:bodyPr/>
          <a:lstStyle/>
          <a:p>
            <a:fld id="{0F1A2F76-049D-4077-8A51-8509BEDEDF96}"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284842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9155" y="875488"/>
            <a:ext cx="9064979" cy="623843"/>
          </a:xfrm>
        </p:spPr>
        <p:txBody>
          <a:bodyPr>
            <a:normAutofit fontScale="90000"/>
          </a:bodyPr>
          <a:lstStyle/>
          <a:p>
            <a:r>
              <a:rPr lang="en-US" sz="4000" dirty="0" smtClean="0"/>
              <a:t>Learning </a:t>
            </a:r>
            <a:r>
              <a:rPr lang="en-US" sz="4000" dirty="0"/>
              <a:t>Objectives:</a:t>
            </a:r>
          </a:p>
        </p:txBody>
      </p:sp>
      <p:sp>
        <p:nvSpPr>
          <p:cNvPr id="3" name="Subtitle 2"/>
          <p:cNvSpPr>
            <a:spLocks noGrp="1"/>
          </p:cNvSpPr>
          <p:nvPr>
            <p:ph idx="1"/>
          </p:nvPr>
        </p:nvSpPr>
        <p:spPr>
          <a:xfrm>
            <a:off x="856034" y="1760707"/>
            <a:ext cx="10408596" cy="4410000"/>
          </a:xfrm>
        </p:spPr>
        <p:txBody>
          <a:bodyPr>
            <a:normAutofit fontScale="77500" lnSpcReduction="20000"/>
          </a:bodyPr>
          <a:lstStyle/>
          <a:p>
            <a:pPr marL="457200" lvl="0" indent="-457200" algn="just">
              <a:buFont typeface="Arial" panose="020B0604020202020204" pitchFamily="34" charset="0"/>
              <a:buChar char="•"/>
            </a:pPr>
            <a:r>
              <a:rPr lang="en-US" sz="3800" dirty="0" smtClean="0"/>
              <a:t>Explain Infection prevention and control for handling human remains</a:t>
            </a:r>
          </a:p>
          <a:p>
            <a:pPr marL="457200" lvl="0" indent="-457200" algn="just">
              <a:buFont typeface="Arial" panose="020B0604020202020204" pitchFamily="34" charset="0"/>
              <a:buChar char="•"/>
            </a:pPr>
            <a:r>
              <a:rPr lang="en-US" sz="3800" dirty="0" smtClean="0"/>
              <a:t>Explain Preparing the dead body and transporting the human remains to morgue</a:t>
            </a:r>
          </a:p>
          <a:p>
            <a:pPr marL="457200" lvl="0" indent="-457200" algn="just">
              <a:buFont typeface="Arial" panose="020B0604020202020204" pitchFamily="34" charset="0"/>
              <a:buChar char="•"/>
            </a:pPr>
            <a:r>
              <a:rPr lang="en-US" sz="3800" dirty="0" smtClean="0"/>
              <a:t>Identify Infection prevention and control practice for post mortem examination</a:t>
            </a:r>
            <a:endParaRPr lang="en-US" sz="3800" dirty="0"/>
          </a:p>
          <a:p>
            <a:pPr marL="457200" lvl="0" indent="-457200" algn="just">
              <a:buFont typeface="Arial" panose="020B0604020202020204" pitchFamily="34" charset="0"/>
              <a:buChar char="•"/>
            </a:pPr>
            <a:r>
              <a:rPr lang="en-US" sz="3800" dirty="0" smtClean="0"/>
              <a:t>Explain </a:t>
            </a:r>
            <a:r>
              <a:rPr lang="en-US" sz="3800" dirty="0"/>
              <a:t>Infection prevention and control practice for handling remains of patients with highly infectious </a:t>
            </a:r>
            <a:r>
              <a:rPr lang="en-US" sz="3800" dirty="0" smtClean="0"/>
              <a:t>disease.</a:t>
            </a:r>
          </a:p>
          <a:p>
            <a:pPr marL="457200" lvl="0" indent="-457200" algn="just">
              <a:buFont typeface="Arial" panose="020B0604020202020204" pitchFamily="34" charset="0"/>
              <a:buChar char="•"/>
            </a:pPr>
            <a:r>
              <a:rPr lang="en-US" sz="3800" dirty="0" smtClean="0"/>
              <a:t>Identify </a:t>
            </a:r>
            <a:r>
              <a:rPr lang="en-US" sz="3800" dirty="0"/>
              <a:t>Infection prevention and control practice for handling Human Remains during natural disaster</a:t>
            </a:r>
          </a:p>
          <a:p>
            <a:pPr algn="just"/>
            <a:endParaRPr lang="en-US" dirty="0"/>
          </a:p>
        </p:txBody>
      </p:sp>
      <p:sp>
        <p:nvSpPr>
          <p:cNvPr id="4" name="Date Placeholder 3"/>
          <p:cNvSpPr>
            <a:spLocks noGrp="1"/>
          </p:cNvSpPr>
          <p:nvPr>
            <p:ph type="dt" sz="half" idx="10"/>
          </p:nvPr>
        </p:nvSpPr>
        <p:spPr/>
        <p:txBody>
          <a:bodyPr/>
          <a:lstStyle/>
          <a:p>
            <a:fld id="{9904B9D6-0791-40D4-9905-3F6E543CC4AB}"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10500743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400" b="1" dirty="0" smtClean="0"/>
              <a:t>PPP </a:t>
            </a:r>
            <a:r>
              <a:rPr lang="en-US" sz="5400" b="1" dirty="0"/>
              <a:t>6</a:t>
            </a:r>
            <a:r>
              <a:rPr lang="en-US" sz="5400" b="1" dirty="0" smtClean="0"/>
              <a:t>.1: </a:t>
            </a:r>
            <a:br>
              <a:rPr lang="en-US" sz="5400" b="1" dirty="0" smtClean="0"/>
            </a:br>
            <a:r>
              <a:rPr lang="en-US" sz="5400" b="1" dirty="0" smtClean="0"/>
              <a:t>Overview</a:t>
            </a:r>
            <a:endParaRPr lang="en-US" sz="5400" b="1" dirty="0"/>
          </a:p>
        </p:txBody>
      </p:sp>
      <p:sp>
        <p:nvSpPr>
          <p:cNvPr id="5" name="Text Placeholder 4"/>
          <p:cNvSpPr>
            <a:spLocks noGrp="1"/>
          </p:cNvSpPr>
          <p:nvPr>
            <p:ph type="body" idx="1"/>
          </p:nvPr>
        </p:nvSpPr>
        <p:spPr/>
        <p:txBody>
          <a:bodyPr/>
          <a:lstStyle/>
          <a:p>
            <a:endParaRPr lang="en-US"/>
          </a:p>
        </p:txBody>
      </p:sp>
      <p:sp>
        <p:nvSpPr>
          <p:cNvPr id="6" name="Date Placeholder 5"/>
          <p:cNvSpPr>
            <a:spLocks noGrp="1"/>
          </p:cNvSpPr>
          <p:nvPr>
            <p:ph type="dt" sz="half" idx="10"/>
          </p:nvPr>
        </p:nvSpPr>
        <p:spPr/>
        <p:txBody>
          <a:bodyPr/>
          <a:lstStyle/>
          <a:p>
            <a:fld id="{1306F122-20C7-4D0C-A88C-6A1CC644D3E0}" type="datetime1">
              <a:rPr lang="en-US" smtClean="0"/>
              <a:t>9/23/2019</a:t>
            </a:fld>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4</a:t>
            </a:fld>
            <a:endParaRPr lang="en-US"/>
          </a:p>
        </p:txBody>
      </p:sp>
      <p:sp>
        <p:nvSpPr>
          <p:cNvPr id="8" name="Footer Placeholder 7"/>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52160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9155" y="651386"/>
            <a:ext cx="9064979" cy="1188426"/>
          </a:xfrm>
        </p:spPr>
        <p:txBody>
          <a:bodyPr/>
          <a:lstStyle/>
          <a:p>
            <a:r>
              <a:rPr lang="en-US" b="1" dirty="0" smtClean="0"/>
              <a:t>Overview </a:t>
            </a:r>
            <a:endParaRPr lang="en-US" dirty="0"/>
          </a:p>
        </p:txBody>
      </p:sp>
      <p:sp>
        <p:nvSpPr>
          <p:cNvPr id="3" name="Content Placeholder 2"/>
          <p:cNvSpPr>
            <a:spLocks noGrp="1"/>
          </p:cNvSpPr>
          <p:nvPr>
            <p:ph idx="1"/>
          </p:nvPr>
        </p:nvSpPr>
        <p:spPr>
          <a:xfrm>
            <a:off x="1070044" y="1860079"/>
            <a:ext cx="10107038" cy="4075044"/>
          </a:xfrm>
        </p:spPr>
        <p:txBody>
          <a:bodyPr>
            <a:normAutofit lnSpcReduction="10000"/>
          </a:bodyPr>
          <a:lstStyle/>
          <a:p>
            <a:pPr algn="just">
              <a:lnSpc>
                <a:spcPct val="100000"/>
              </a:lnSpc>
            </a:pPr>
            <a:r>
              <a:rPr lang="en-US" sz="2800" dirty="0" smtClean="0"/>
              <a:t>Managing </a:t>
            </a:r>
            <a:r>
              <a:rPr lang="en-US" sz="2800" dirty="0"/>
              <a:t>human remains begins </a:t>
            </a:r>
            <a:r>
              <a:rPr lang="en-US" sz="2800" dirty="0">
                <a:solidFill>
                  <a:srgbClr val="0070C0"/>
                </a:solidFill>
              </a:rPr>
              <a:t>immediately after pronouncement of death</a:t>
            </a:r>
            <a:r>
              <a:rPr lang="en-US" sz="2800" dirty="0"/>
              <a:t>. </a:t>
            </a:r>
            <a:endParaRPr lang="en-US" sz="2800" dirty="0" smtClean="0"/>
          </a:p>
          <a:p>
            <a:pPr algn="just">
              <a:lnSpc>
                <a:spcPct val="100000"/>
              </a:lnSpc>
            </a:pPr>
            <a:r>
              <a:rPr lang="en-US" sz="2800" dirty="0" smtClean="0"/>
              <a:t>It </a:t>
            </a:r>
            <a:r>
              <a:rPr lang="en-US" sz="2800" dirty="0"/>
              <a:t>includes </a:t>
            </a:r>
            <a:r>
              <a:rPr lang="en-US" sz="2800" b="1" dirty="0"/>
              <a:t>hygienically preparing </a:t>
            </a:r>
            <a:r>
              <a:rPr lang="en-US" sz="2800" dirty="0"/>
              <a:t>the body for </a:t>
            </a:r>
            <a:endParaRPr lang="en-US" sz="2800" dirty="0" smtClean="0"/>
          </a:p>
          <a:p>
            <a:pPr lvl="1" algn="just"/>
            <a:r>
              <a:rPr lang="en-US" sz="2400" b="1" dirty="0" smtClean="0"/>
              <a:t>Transport </a:t>
            </a:r>
            <a:r>
              <a:rPr lang="en-US" sz="2400" dirty="0" smtClean="0"/>
              <a:t>to the mortuary, </a:t>
            </a:r>
          </a:p>
          <a:p>
            <a:pPr lvl="1" algn="just"/>
            <a:r>
              <a:rPr lang="en-US" sz="2400" b="1" dirty="0" smtClean="0"/>
              <a:t>Storing</a:t>
            </a:r>
            <a:r>
              <a:rPr lang="en-US" sz="2400" dirty="0" smtClean="0"/>
              <a:t> in the mortuary, </a:t>
            </a:r>
          </a:p>
          <a:p>
            <a:pPr lvl="1" algn="just"/>
            <a:r>
              <a:rPr lang="en-US" sz="2400" b="1" dirty="0" smtClean="0"/>
              <a:t>Conducting</a:t>
            </a:r>
            <a:r>
              <a:rPr lang="en-US" sz="2400" dirty="0" smtClean="0"/>
              <a:t> the post-mortem examination </a:t>
            </a:r>
            <a:r>
              <a:rPr lang="en-US" sz="2400" i="1" dirty="0" smtClean="0"/>
              <a:t>(if needed)</a:t>
            </a:r>
            <a:r>
              <a:rPr lang="en-US" sz="2400" dirty="0" smtClean="0"/>
              <a:t>, and </a:t>
            </a:r>
          </a:p>
          <a:p>
            <a:pPr lvl="1" algn="just"/>
            <a:r>
              <a:rPr lang="en-US" sz="2400" b="1" dirty="0" smtClean="0"/>
              <a:t>Handing</a:t>
            </a:r>
            <a:r>
              <a:rPr lang="en-US" sz="2400" dirty="0" smtClean="0"/>
              <a:t> over the body to the family or </a:t>
            </a:r>
          </a:p>
          <a:p>
            <a:pPr lvl="1" algn="just"/>
            <a:r>
              <a:rPr lang="en-US" sz="2400" b="1" dirty="0" smtClean="0"/>
              <a:t>Transporting</a:t>
            </a:r>
            <a:r>
              <a:rPr lang="en-US" sz="2400" dirty="0" smtClean="0"/>
              <a:t> the body for cremation or burial. </a:t>
            </a:r>
          </a:p>
          <a:p>
            <a:pPr>
              <a:lnSpc>
                <a:spcPct val="100000"/>
              </a:lnSpc>
            </a:pPr>
            <a:endParaRPr lang="en-US" sz="2800" dirty="0"/>
          </a:p>
        </p:txBody>
      </p:sp>
      <p:sp>
        <p:nvSpPr>
          <p:cNvPr id="4" name="Date Placeholder 3"/>
          <p:cNvSpPr>
            <a:spLocks noGrp="1"/>
          </p:cNvSpPr>
          <p:nvPr>
            <p:ph type="dt" sz="half" idx="10"/>
          </p:nvPr>
        </p:nvSpPr>
        <p:spPr/>
        <p:txBody>
          <a:bodyPr/>
          <a:lstStyle/>
          <a:p>
            <a:fld id="{5194FCBA-C821-4BCA-A4EE-6B76CAA9AE80}"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0387658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a:t>
            </a:r>
            <a:r>
              <a:rPr lang="en-US" dirty="0" smtClean="0"/>
              <a:t> cont’d…</a:t>
            </a:r>
            <a:endParaRPr lang="en-US" dirty="0"/>
          </a:p>
        </p:txBody>
      </p:sp>
      <p:sp>
        <p:nvSpPr>
          <p:cNvPr id="3" name="Content Placeholder 2"/>
          <p:cNvSpPr>
            <a:spLocks noGrp="1"/>
          </p:cNvSpPr>
          <p:nvPr>
            <p:ph idx="1"/>
          </p:nvPr>
        </p:nvSpPr>
        <p:spPr>
          <a:xfrm>
            <a:off x="992221" y="2490136"/>
            <a:ext cx="10194587" cy="3444997"/>
          </a:xfrm>
        </p:spPr>
        <p:txBody>
          <a:bodyPr/>
          <a:lstStyle/>
          <a:p>
            <a:pPr algn="just">
              <a:lnSpc>
                <a:spcPct val="100000"/>
              </a:lnSpc>
            </a:pPr>
            <a:r>
              <a:rPr lang="en-US" dirty="0"/>
              <a:t>All human remains should be treated as potentially infectious. </a:t>
            </a:r>
          </a:p>
          <a:p>
            <a:pPr algn="just">
              <a:lnSpc>
                <a:spcPct val="100000"/>
              </a:lnSpc>
            </a:pPr>
            <a:r>
              <a:rPr lang="en-US" dirty="0"/>
              <a:t>Therefore, HCWs and others who handle dead bodies must follow recommended IPC practices to protect themselves from the risk of exposure to infectious microorganisms. </a:t>
            </a:r>
          </a:p>
          <a:p>
            <a:endParaRPr lang="en-US" dirty="0"/>
          </a:p>
        </p:txBody>
      </p:sp>
      <p:sp>
        <p:nvSpPr>
          <p:cNvPr id="4" name="Date Placeholder 3"/>
          <p:cNvSpPr>
            <a:spLocks noGrp="1"/>
          </p:cNvSpPr>
          <p:nvPr>
            <p:ph type="dt" sz="half" idx="10"/>
          </p:nvPr>
        </p:nvSpPr>
        <p:spPr/>
        <p:txBody>
          <a:bodyPr/>
          <a:lstStyle/>
          <a:p>
            <a:fld id="{84F27F34-1036-43A5-A04E-089971DFB260}"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17929176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smtClean="0"/>
              <a:t>PPP </a:t>
            </a:r>
            <a:r>
              <a:rPr lang="en-US" sz="4800" b="1" dirty="0"/>
              <a:t>6</a:t>
            </a:r>
            <a:r>
              <a:rPr lang="en-US" sz="4800" b="1" dirty="0" smtClean="0"/>
              <a:t>.2:</a:t>
            </a:r>
            <a:br>
              <a:rPr lang="en-US" sz="4800" b="1" dirty="0" smtClean="0"/>
            </a:br>
            <a:r>
              <a:rPr lang="en-US" sz="4800" b="1" dirty="0" smtClean="0"/>
              <a:t>Steps in the Post – Mortem Care  </a:t>
            </a:r>
            <a:endParaRPr lang="en-US" sz="4800" b="1" dirty="0"/>
          </a:p>
        </p:txBody>
      </p:sp>
      <p:sp>
        <p:nvSpPr>
          <p:cNvPr id="5" name="Text Placeholder 4"/>
          <p:cNvSpPr>
            <a:spLocks noGrp="1"/>
          </p:cNvSpPr>
          <p:nvPr>
            <p:ph type="body" idx="1"/>
          </p:nvPr>
        </p:nvSpPr>
        <p:spPr/>
        <p:txBody>
          <a:bodyPr/>
          <a:lstStyle/>
          <a:p>
            <a:endParaRPr lang="en-US" dirty="0"/>
          </a:p>
        </p:txBody>
      </p:sp>
      <p:sp>
        <p:nvSpPr>
          <p:cNvPr id="6" name="Date Placeholder 5"/>
          <p:cNvSpPr>
            <a:spLocks noGrp="1"/>
          </p:cNvSpPr>
          <p:nvPr>
            <p:ph type="dt" sz="half" idx="10"/>
          </p:nvPr>
        </p:nvSpPr>
        <p:spPr/>
        <p:txBody>
          <a:bodyPr/>
          <a:lstStyle/>
          <a:p>
            <a:fld id="{AFFC59DF-8C23-41BF-BD56-BC4A1A78456B}" type="datetime1">
              <a:rPr lang="en-US" smtClean="0"/>
              <a:t>9/23/2019</a:t>
            </a:fld>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7</a:t>
            </a:fld>
            <a:endParaRPr lang="en-US"/>
          </a:p>
        </p:txBody>
      </p:sp>
      <p:sp>
        <p:nvSpPr>
          <p:cNvPr id="8" name="Footer Placeholder 7"/>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597433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smtClean="0"/>
              <a:t>Steps in the Process of Post - Mortem care in Healthcare Facilities</a:t>
            </a:r>
            <a:endParaRPr lang="en-US" b="1"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4290166194"/>
              </p:ext>
            </p:extLst>
          </p:nvPr>
        </p:nvGraphicFramePr>
        <p:xfrm>
          <a:off x="894520" y="2425150"/>
          <a:ext cx="10416211" cy="3776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Date Placeholder 5"/>
          <p:cNvSpPr>
            <a:spLocks noGrp="1"/>
          </p:cNvSpPr>
          <p:nvPr>
            <p:ph type="dt" sz="half" idx="10"/>
          </p:nvPr>
        </p:nvSpPr>
        <p:spPr/>
        <p:txBody>
          <a:bodyPr/>
          <a:lstStyle/>
          <a:p>
            <a:fld id="{C2352F6C-115D-45EF-9F5F-67C5964BE9EF}" type="datetime1">
              <a:rPr lang="en-US" smtClean="0"/>
              <a:t>9/23/2019</a:t>
            </a:fld>
            <a:endParaRPr lang="en-US"/>
          </a:p>
        </p:txBody>
      </p:sp>
      <p:sp>
        <p:nvSpPr>
          <p:cNvPr id="7" name="Slide Number Placeholder 6"/>
          <p:cNvSpPr>
            <a:spLocks noGrp="1"/>
          </p:cNvSpPr>
          <p:nvPr>
            <p:ph type="sldNum" sz="quarter" idx="12"/>
          </p:nvPr>
        </p:nvSpPr>
        <p:spPr/>
        <p:txBody>
          <a:bodyPr/>
          <a:lstStyle/>
          <a:p>
            <a:fld id="{152743B3-639B-4115-8757-963852785863}" type="slidenum">
              <a:rPr lang="en-US" smtClean="0"/>
              <a:pPr/>
              <a:t>8</a:t>
            </a:fld>
            <a:endParaRPr lang="en-US"/>
          </a:p>
        </p:txBody>
      </p:sp>
      <p:sp>
        <p:nvSpPr>
          <p:cNvPr id="8" name="Footer Placeholder 7"/>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1334998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400" b="1" dirty="0" smtClean="0"/>
              <a:t>PPP </a:t>
            </a:r>
            <a:r>
              <a:rPr lang="en-US" sz="4400" b="1" dirty="0"/>
              <a:t>6</a:t>
            </a:r>
            <a:r>
              <a:rPr lang="en-US" sz="4400" b="1" dirty="0" smtClean="0"/>
              <a:t>.3:</a:t>
            </a:r>
            <a:br>
              <a:rPr lang="en-US" sz="4400" b="1" dirty="0" smtClean="0"/>
            </a:br>
            <a:r>
              <a:rPr lang="en-US" sz="4400" b="1" dirty="0" smtClean="0"/>
              <a:t>IPC for Handling Human Remains </a:t>
            </a:r>
            <a:endParaRPr lang="en-US" sz="4400" b="1" dirty="0"/>
          </a:p>
        </p:txBody>
      </p:sp>
      <p:sp>
        <p:nvSpPr>
          <p:cNvPr id="4" name="Text Placeholder 3"/>
          <p:cNvSpPr>
            <a:spLocks noGrp="1"/>
          </p:cNvSpPr>
          <p:nvPr>
            <p:ph type="body" idx="1"/>
          </p:nvPr>
        </p:nvSpPr>
        <p:spPr/>
        <p:txBody>
          <a:bodyPr/>
          <a:lstStyle/>
          <a:p>
            <a:endParaRPr lang="en-US"/>
          </a:p>
        </p:txBody>
      </p:sp>
      <p:sp>
        <p:nvSpPr>
          <p:cNvPr id="5" name="Date Placeholder 4"/>
          <p:cNvSpPr>
            <a:spLocks noGrp="1"/>
          </p:cNvSpPr>
          <p:nvPr>
            <p:ph type="dt" sz="half" idx="10"/>
          </p:nvPr>
        </p:nvSpPr>
        <p:spPr/>
        <p:txBody>
          <a:bodyPr/>
          <a:lstStyle/>
          <a:p>
            <a:fld id="{6DE1EB8D-77DF-4415-9E07-92D84F8D00EC}" type="datetime1">
              <a:rPr lang="en-US" smtClean="0"/>
              <a:t>9/23/2019</a:t>
            </a:fld>
            <a:endParaRPr lang="en-US"/>
          </a:p>
        </p:txBody>
      </p:sp>
      <p:sp>
        <p:nvSpPr>
          <p:cNvPr id="6" name="Slide Number Placeholder 5"/>
          <p:cNvSpPr>
            <a:spLocks noGrp="1"/>
          </p:cNvSpPr>
          <p:nvPr>
            <p:ph type="sldNum" sz="quarter" idx="12"/>
          </p:nvPr>
        </p:nvSpPr>
        <p:spPr/>
        <p:txBody>
          <a:bodyPr/>
          <a:lstStyle/>
          <a:p>
            <a:fld id="{152743B3-639B-4115-8757-963852785863}"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31109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941" y="777850"/>
            <a:ext cx="10447506" cy="1188426"/>
          </a:xfrm>
        </p:spPr>
        <p:txBody>
          <a:bodyPr/>
          <a:lstStyle/>
          <a:p>
            <a:r>
              <a:rPr lang="en-US" sz="4000" b="1" dirty="0"/>
              <a:t>Infection Prevention and </a:t>
            </a:r>
            <a:r>
              <a:rPr lang="en-US" sz="4000" b="1" dirty="0" smtClean="0"/>
              <a:t>Control Practices </a:t>
            </a:r>
            <a:r>
              <a:rPr lang="en-US" sz="4000" b="1" dirty="0"/>
              <a:t>for Handling Human Remains</a:t>
            </a:r>
            <a:endParaRPr lang="en-US" sz="4000" dirty="0"/>
          </a:p>
        </p:txBody>
      </p:sp>
      <p:sp>
        <p:nvSpPr>
          <p:cNvPr id="3" name="Content Placeholder 2"/>
          <p:cNvSpPr>
            <a:spLocks noGrp="1"/>
          </p:cNvSpPr>
          <p:nvPr>
            <p:ph idx="1"/>
          </p:nvPr>
        </p:nvSpPr>
        <p:spPr>
          <a:xfrm>
            <a:off x="836579" y="2074228"/>
            <a:ext cx="10476689" cy="4078615"/>
          </a:xfrm>
        </p:spPr>
        <p:txBody>
          <a:bodyPr>
            <a:normAutofit fontScale="92500" lnSpcReduction="20000"/>
          </a:bodyPr>
          <a:lstStyle/>
          <a:p>
            <a:pPr algn="just"/>
            <a:r>
              <a:rPr lang="en-US" b="1" dirty="0" smtClean="0"/>
              <a:t>General </a:t>
            </a:r>
            <a:r>
              <a:rPr lang="en-US" b="1" dirty="0"/>
              <a:t>recommendations for all HCWs who handle human remains</a:t>
            </a:r>
            <a:r>
              <a:rPr lang="en-US" dirty="0" smtClean="0"/>
              <a:t>:</a:t>
            </a:r>
          </a:p>
          <a:p>
            <a:pPr lvl="1" algn="just"/>
            <a:r>
              <a:rPr lang="en-US" dirty="0"/>
              <a:t>Be vaccinated against hepatitis B. </a:t>
            </a:r>
          </a:p>
          <a:p>
            <a:pPr lvl="1" algn="just"/>
            <a:r>
              <a:rPr lang="en-US" dirty="0"/>
              <a:t>Observe strict personal hygiene.</a:t>
            </a:r>
          </a:p>
          <a:p>
            <a:pPr lvl="1" algn="just"/>
            <a:r>
              <a:rPr lang="en-US" dirty="0"/>
              <a:t>Cover wounds, cuts, and abrasions with waterproof bandages.</a:t>
            </a:r>
          </a:p>
          <a:p>
            <a:pPr lvl="1" algn="just"/>
            <a:r>
              <a:rPr lang="en-US" dirty="0"/>
              <a:t>Treat all human remains as infectious: </a:t>
            </a:r>
            <a:endParaRPr lang="en-US" dirty="0" smtClean="0"/>
          </a:p>
          <a:p>
            <a:pPr lvl="1" algn="just"/>
            <a:r>
              <a:rPr lang="en-US" dirty="0" smtClean="0"/>
              <a:t>Use </a:t>
            </a:r>
            <a:r>
              <a:rPr lang="en-US" dirty="0"/>
              <a:t>Standard Precautions at all times, including:</a:t>
            </a:r>
          </a:p>
          <a:p>
            <a:pPr lvl="2" algn="just"/>
            <a:r>
              <a:rPr lang="en-US" dirty="0" smtClean="0"/>
              <a:t>Treat </a:t>
            </a:r>
            <a:r>
              <a:rPr lang="en-US" dirty="0"/>
              <a:t>and report accidental exposures to blood or body fluids </a:t>
            </a:r>
            <a:endParaRPr lang="en-US" dirty="0" smtClean="0"/>
          </a:p>
          <a:p>
            <a:pPr lvl="2" algn="just"/>
            <a:r>
              <a:rPr lang="en-US" dirty="0" smtClean="0"/>
              <a:t>Clean </a:t>
            </a:r>
            <a:r>
              <a:rPr lang="en-US" dirty="0"/>
              <a:t>spills of blood and body fluids immediately, using recommended protocols</a:t>
            </a:r>
            <a:r>
              <a:rPr lang="en-US" dirty="0" smtClean="0"/>
              <a:t>.</a:t>
            </a:r>
            <a:endParaRPr lang="en-US" dirty="0"/>
          </a:p>
        </p:txBody>
      </p:sp>
      <p:sp>
        <p:nvSpPr>
          <p:cNvPr id="4" name="Date Placeholder 3"/>
          <p:cNvSpPr>
            <a:spLocks noGrp="1"/>
          </p:cNvSpPr>
          <p:nvPr>
            <p:ph type="dt" sz="half" idx="10"/>
          </p:nvPr>
        </p:nvSpPr>
        <p:spPr/>
        <p:txBody>
          <a:bodyPr/>
          <a:lstStyle/>
          <a:p>
            <a:fld id="{8D145F01-3890-49F4-9751-5FBCB9858C74}"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8080949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Preparing the Dead Body and Transporting Human Remains to the Morgue</a:t>
            </a:r>
            <a:endParaRPr lang="en-US" sz="3600" dirty="0"/>
          </a:p>
        </p:txBody>
      </p:sp>
      <p:sp>
        <p:nvSpPr>
          <p:cNvPr id="3" name="Content Placeholder 2"/>
          <p:cNvSpPr>
            <a:spLocks noGrp="1"/>
          </p:cNvSpPr>
          <p:nvPr>
            <p:ph idx="1"/>
          </p:nvPr>
        </p:nvSpPr>
        <p:spPr>
          <a:xfrm>
            <a:off x="1569154" y="2490136"/>
            <a:ext cx="9064981" cy="3791394"/>
          </a:xfrm>
        </p:spPr>
        <p:txBody>
          <a:bodyPr/>
          <a:lstStyle/>
          <a:p>
            <a:pPr algn="just"/>
            <a:r>
              <a:rPr lang="en-US" dirty="0" smtClean="0"/>
              <a:t>Preparing </a:t>
            </a:r>
            <a:r>
              <a:rPr lang="en-US" dirty="0"/>
              <a:t>the body for the morgue always involves the handling of </a:t>
            </a:r>
            <a:r>
              <a:rPr lang="en-US" dirty="0">
                <a:solidFill>
                  <a:srgbClr val="0070C0"/>
                </a:solidFill>
              </a:rPr>
              <a:t>blood</a:t>
            </a:r>
            <a:r>
              <a:rPr lang="en-US" dirty="0"/>
              <a:t>, </a:t>
            </a:r>
            <a:r>
              <a:rPr lang="en-US" dirty="0">
                <a:solidFill>
                  <a:srgbClr val="0070C0"/>
                </a:solidFill>
              </a:rPr>
              <a:t>body fluids</a:t>
            </a:r>
            <a:r>
              <a:rPr lang="en-US" dirty="0"/>
              <a:t>, and </a:t>
            </a:r>
            <a:r>
              <a:rPr lang="en-US" dirty="0">
                <a:solidFill>
                  <a:srgbClr val="0070C0"/>
                </a:solidFill>
              </a:rPr>
              <a:t>biological agents</a:t>
            </a:r>
            <a:r>
              <a:rPr lang="en-US" dirty="0"/>
              <a:t>, and may also involve </a:t>
            </a:r>
            <a:r>
              <a:rPr lang="en-US" dirty="0">
                <a:solidFill>
                  <a:srgbClr val="0070C0"/>
                </a:solidFill>
              </a:rPr>
              <a:t>exposure to life-threatening </a:t>
            </a:r>
            <a:r>
              <a:rPr lang="en-US" dirty="0" smtClean="0">
                <a:solidFill>
                  <a:srgbClr val="0070C0"/>
                </a:solidFill>
              </a:rPr>
              <a:t>microorganisms</a:t>
            </a:r>
            <a:r>
              <a:rPr lang="en-US" dirty="0" smtClean="0"/>
              <a:t>. </a:t>
            </a:r>
            <a:endParaRPr lang="en-US" dirty="0"/>
          </a:p>
        </p:txBody>
      </p:sp>
      <p:sp>
        <p:nvSpPr>
          <p:cNvPr id="4" name="Date Placeholder 3"/>
          <p:cNvSpPr>
            <a:spLocks noGrp="1"/>
          </p:cNvSpPr>
          <p:nvPr>
            <p:ph type="dt" sz="half" idx="10"/>
          </p:nvPr>
        </p:nvSpPr>
        <p:spPr/>
        <p:txBody>
          <a:bodyPr/>
          <a:lstStyle/>
          <a:p>
            <a:fld id="{B7EAA5D0-2A53-43C3-ADB8-1A3BE94EA264}"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32267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IPC Practices for Post-Mortem Examinations</a:t>
            </a:r>
            <a:endParaRPr lang="en-US" dirty="0"/>
          </a:p>
        </p:txBody>
      </p:sp>
      <p:sp>
        <p:nvSpPr>
          <p:cNvPr id="3" name="Content Placeholder 2"/>
          <p:cNvSpPr>
            <a:spLocks noGrp="1"/>
          </p:cNvSpPr>
          <p:nvPr>
            <p:ph idx="1"/>
          </p:nvPr>
        </p:nvSpPr>
        <p:spPr>
          <a:xfrm>
            <a:off x="933855" y="2490136"/>
            <a:ext cx="10359957" cy="3711881"/>
          </a:xfrm>
        </p:spPr>
        <p:txBody>
          <a:bodyPr>
            <a:normAutofit/>
          </a:bodyPr>
          <a:lstStyle/>
          <a:p>
            <a:pPr algn="just"/>
            <a:r>
              <a:rPr lang="en-GB" dirty="0" smtClean="0"/>
              <a:t>Post-mortem </a:t>
            </a:r>
            <a:r>
              <a:rPr lang="en-GB" dirty="0"/>
              <a:t>examinations are </a:t>
            </a:r>
            <a:r>
              <a:rPr lang="en-GB" dirty="0">
                <a:solidFill>
                  <a:srgbClr val="0070C0"/>
                </a:solidFill>
              </a:rPr>
              <a:t>routinely performed </a:t>
            </a:r>
            <a:r>
              <a:rPr lang="en-GB" dirty="0"/>
              <a:t>in health facilities both for </a:t>
            </a:r>
            <a:r>
              <a:rPr lang="en-GB" b="1" dirty="0"/>
              <a:t>forensic purposes </a:t>
            </a:r>
            <a:r>
              <a:rPr lang="en-GB" dirty="0"/>
              <a:t>and to </a:t>
            </a:r>
            <a:r>
              <a:rPr lang="en-GB" b="1" dirty="0"/>
              <a:t>ascertain cause of death </a:t>
            </a:r>
            <a:r>
              <a:rPr lang="en-GB" dirty="0"/>
              <a:t>for public health reasons. </a:t>
            </a:r>
            <a:endParaRPr lang="en-GB" dirty="0" smtClean="0"/>
          </a:p>
          <a:p>
            <a:pPr algn="just"/>
            <a:r>
              <a:rPr lang="en-GB" dirty="0"/>
              <a:t>Performing the post-mortem examination is a </a:t>
            </a:r>
            <a:r>
              <a:rPr lang="en-GB" b="1" dirty="0"/>
              <a:t>high-risk procedure </a:t>
            </a:r>
            <a:r>
              <a:rPr lang="en-GB" dirty="0"/>
              <a:t>because it involves handling of human remains, placing the HCW at risk of acquiring </a:t>
            </a:r>
            <a:r>
              <a:rPr lang="en-GB" dirty="0" smtClean="0"/>
              <a:t>infections, </a:t>
            </a:r>
            <a:r>
              <a:rPr lang="en-GB" dirty="0"/>
              <a:t>if proper IPC and other safety measures are not in place. </a:t>
            </a:r>
            <a:endParaRPr lang="en-US" dirty="0"/>
          </a:p>
        </p:txBody>
      </p:sp>
      <p:sp>
        <p:nvSpPr>
          <p:cNvPr id="4" name="Date Placeholder 3"/>
          <p:cNvSpPr>
            <a:spLocks noGrp="1"/>
          </p:cNvSpPr>
          <p:nvPr>
            <p:ph type="dt" sz="half" idx="10"/>
          </p:nvPr>
        </p:nvSpPr>
        <p:spPr/>
        <p:txBody>
          <a:bodyPr/>
          <a:lstStyle/>
          <a:p>
            <a:fld id="{63DC9A8A-DF77-4D39-90FC-33213CE46CC9}"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4309407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Precautions for Staff who perform post-mortems </a:t>
            </a:r>
            <a:endParaRPr lang="en-US" dirty="0"/>
          </a:p>
        </p:txBody>
      </p:sp>
      <p:sp>
        <p:nvSpPr>
          <p:cNvPr id="3" name="Content Placeholder 2"/>
          <p:cNvSpPr>
            <a:spLocks noGrp="1"/>
          </p:cNvSpPr>
          <p:nvPr>
            <p:ph idx="1"/>
          </p:nvPr>
        </p:nvSpPr>
        <p:spPr>
          <a:xfrm>
            <a:off x="894946" y="2393004"/>
            <a:ext cx="10350228" cy="3542129"/>
          </a:xfrm>
        </p:spPr>
        <p:txBody>
          <a:bodyPr>
            <a:normAutofit fontScale="85000" lnSpcReduction="20000"/>
          </a:bodyPr>
          <a:lstStyle/>
          <a:p>
            <a:pPr lvl="0" algn="just"/>
            <a:r>
              <a:rPr lang="en-GB" dirty="0"/>
              <a:t>Work in a room </a:t>
            </a:r>
            <a:r>
              <a:rPr lang="en-GB" dirty="0">
                <a:solidFill>
                  <a:srgbClr val="0070C0"/>
                </a:solidFill>
              </a:rPr>
              <a:t>ventilated</a:t>
            </a:r>
            <a:r>
              <a:rPr lang="en-GB" dirty="0"/>
              <a:t> according to </a:t>
            </a:r>
            <a:r>
              <a:rPr lang="en-GB" dirty="0" smtClean="0"/>
              <a:t>recommendations</a:t>
            </a:r>
            <a:endParaRPr lang="en-US" dirty="0"/>
          </a:p>
          <a:p>
            <a:pPr lvl="0" algn="just"/>
            <a:r>
              <a:rPr lang="en-US" dirty="0"/>
              <a:t>Gather all the necessary </a:t>
            </a:r>
            <a:r>
              <a:rPr lang="en-US" dirty="0">
                <a:solidFill>
                  <a:srgbClr val="0070C0"/>
                </a:solidFill>
              </a:rPr>
              <a:t>supplies</a:t>
            </a:r>
            <a:r>
              <a:rPr lang="en-US" dirty="0"/>
              <a:t> before </a:t>
            </a:r>
            <a:r>
              <a:rPr lang="en-US" dirty="0" smtClean="0"/>
              <a:t>starting</a:t>
            </a:r>
            <a:endParaRPr lang="en-US" dirty="0"/>
          </a:p>
          <a:p>
            <a:pPr lvl="0" algn="just"/>
            <a:r>
              <a:rPr lang="en-US" dirty="0"/>
              <a:t>Perform all procedures with </a:t>
            </a:r>
            <a:r>
              <a:rPr lang="en-US" dirty="0">
                <a:solidFill>
                  <a:srgbClr val="0070C0"/>
                </a:solidFill>
              </a:rPr>
              <a:t>minimal distractions </a:t>
            </a:r>
            <a:r>
              <a:rPr lang="en-US" dirty="0"/>
              <a:t>and </a:t>
            </a:r>
            <a:r>
              <a:rPr lang="en-US" dirty="0">
                <a:solidFill>
                  <a:srgbClr val="0070C0"/>
                </a:solidFill>
              </a:rPr>
              <a:t>adequate</a:t>
            </a:r>
            <a:r>
              <a:rPr lang="en-US" dirty="0"/>
              <a:t> </a:t>
            </a:r>
            <a:r>
              <a:rPr lang="en-US" dirty="0">
                <a:solidFill>
                  <a:srgbClr val="0070C0"/>
                </a:solidFill>
              </a:rPr>
              <a:t>assistance</a:t>
            </a:r>
            <a:r>
              <a:rPr lang="en-US" dirty="0"/>
              <a:t> to prevent accidents and injuries.</a:t>
            </a:r>
          </a:p>
          <a:p>
            <a:pPr lvl="0" algn="just"/>
            <a:r>
              <a:rPr lang="en-US" dirty="0"/>
              <a:t>Operate as though the entire autopsy suite and its contents are an </a:t>
            </a:r>
            <a:r>
              <a:rPr lang="en-US" dirty="0">
                <a:solidFill>
                  <a:srgbClr val="0070C0"/>
                </a:solidFill>
              </a:rPr>
              <a:t>infectious </a:t>
            </a:r>
            <a:r>
              <a:rPr lang="en-US" dirty="0" smtClean="0">
                <a:solidFill>
                  <a:srgbClr val="0070C0"/>
                </a:solidFill>
              </a:rPr>
              <a:t>area</a:t>
            </a:r>
            <a:r>
              <a:rPr lang="en-US" dirty="0" smtClean="0"/>
              <a:t>.</a:t>
            </a:r>
            <a:endParaRPr lang="en-US" dirty="0"/>
          </a:p>
          <a:p>
            <a:pPr lvl="0" algn="just"/>
            <a:r>
              <a:rPr lang="en-GB" dirty="0" smtClean="0"/>
              <a:t>Ensure </a:t>
            </a:r>
            <a:r>
              <a:rPr lang="en-GB" dirty="0"/>
              <a:t>that all staff </a:t>
            </a:r>
            <a:r>
              <a:rPr lang="en-US" dirty="0"/>
              <a:t>performing or assisting in the procedures wear</a:t>
            </a:r>
            <a:r>
              <a:rPr lang="en-GB" dirty="0"/>
              <a:t> recommended </a:t>
            </a:r>
            <a:r>
              <a:rPr lang="en-GB" dirty="0">
                <a:solidFill>
                  <a:srgbClr val="0070C0"/>
                </a:solidFill>
              </a:rPr>
              <a:t>PPE</a:t>
            </a:r>
            <a:endParaRPr lang="en-US" dirty="0">
              <a:solidFill>
                <a:srgbClr val="0070C0"/>
              </a:solidFill>
            </a:endParaRPr>
          </a:p>
          <a:p>
            <a:pPr marL="0" indent="0">
              <a:buNone/>
            </a:pPr>
            <a:endParaRPr lang="en-US" dirty="0"/>
          </a:p>
        </p:txBody>
      </p:sp>
      <p:sp>
        <p:nvSpPr>
          <p:cNvPr id="4" name="Date Placeholder 3"/>
          <p:cNvSpPr>
            <a:spLocks noGrp="1"/>
          </p:cNvSpPr>
          <p:nvPr>
            <p:ph type="dt" sz="half" idx="10"/>
          </p:nvPr>
        </p:nvSpPr>
        <p:spPr/>
        <p:txBody>
          <a:bodyPr/>
          <a:lstStyle/>
          <a:p>
            <a:fld id="{385B3D78-004F-4932-B568-D2AE93B9D514}"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0250700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9398" y="1010900"/>
            <a:ext cx="9064979" cy="1188426"/>
          </a:xfrm>
        </p:spPr>
        <p:txBody>
          <a:bodyPr/>
          <a:lstStyle/>
          <a:p>
            <a:r>
              <a:rPr lang="en-GB" dirty="0"/>
              <a:t>Precautions for Staff who perform </a:t>
            </a:r>
            <a:r>
              <a:rPr lang="en-GB" dirty="0" smtClean="0"/>
              <a:t>post-mortems cont’d…</a:t>
            </a:r>
            <a:endParaRPr lang="en-US" dirty="0"/>
          </a:p>
        </p:txBody>
      </p:sp>
      <p:sp>
        <p:nvSpPr>
          <p:cNvPr id="3" name="Content Placeholder 2"/>
          <p:cNvSpPr>
            <a:spLocks noGrp="1"/>
          </p:cNvSpPr>
          <p:nvPr>
            <p:ph idx="1"/>
          </p:nvPr>
        </p:nvSpPr>
        <p:spPr>
          <a:xfrm>
            <a:off x="943583" y="2490136"/>
            <a:ext cx="10282135" cy="3632368"/>
          </a:xfrm>
        </p:spPr>
        <p:txBody>
          <a:bodyPr>
            <a:normAutofit fontScale="85000" lnSpcReduction="10000"/>
          </a:bodyPr>
          <a:lstStyle/>
          <a:p>
            <a:pPr lvl="0" algn="just"/>
            <a:r>
              <a:rPr lang="en-GB" dirty="0" smtClean="0"/>
              <a:t>Follow </a:t>
            </a:r>
            <a:r>
              <a:rPr lang="en-GB" dirty="0"/>
              <a:t>the </a:t>
            </a:r>
            <a:r>
              <a:rPr lang="en-GB" dirty="0">
                <a:solidFill>
                  <a:srgbClr val="0070C0"/>
                </a:solidFill>
              </a:rPr>
              <a:t>standard operating procedures </a:t>
            </a:r>
            <a:r>
              <a:rPr lang="en-GB" dirty="0"/>
              <a:t>for performing post-mortem examinations.</a:t>
            </a:r>
            <a:endParaRPr lang="en-US" dirty="0"/>
          </a:p>
          <a:p>
            <a:pPr lvl="0" algn="just"/>
            <a:r>
              <a:rPr lang="en-US" dirty="0"/>
              <a:t>Treat all </a:t>
            </a:r>
            <a:r>
              <a:rPr lang="en-US" dirty="0">
                <a:solidFill>
                  <a:srgbClr val="0070C0"/>
                </a:solidFill>
              </a:rPr>
              <a:t>specimens as infectious</a:t>
            </a:r>
            <a:r>
              <a:rPr lang="en-US" dirty="0"/>
              <a:t>.</a:t>
            </a:r>
          </a:p>
          <a:p>
            <a:pPr algn="just"/>
            <a:r>
              <a:rPr lang="en-US" dirty="0"/>
              <a:t>Where possible, use </a:t>
            </a:r>
            <a:r>
              <a:rPr lang="en-US" dirty="0">
                <a:solidFill>
                  <a:srgbClr val="0070C0"/>
                </a:solidFill>
              </a:rPr>
              <a:t>safe engineering designs </a:t>
            </a:r>
            <a:r>
              <a:rPr lang="en-US" dirty="0"/>
              <a:t>and work practice controls to </a:t>
            </a:r>
            <a:r>
              <a:rPr lang="en-US" dirty="0">
                <a:solidFill>
                  <a:srgbClr val="0070C0"/>
                </a:solidFill>
              </a:rPr>
              <a:t>avoid sharps </a:t>
            </a:r>
            <a:r>
              <a:rPr lang="en-US" dirty="0" smtClean="0">
                <a:solidFill>
                  <a:srgbClr val="0070C0"/>
                </a:solidFill>
              </a:rPr>
              <a:t>hazards</a:t>
            </a:r>
            <a:r>
              <a:rPr lang="en-US" dirty="0" smtClean="0"/>
              <a:t>. </a:t>
            </a:r>
          </a:p>
          <a:p>
            <a:pPr algn="just"/>
            <a:r>
              <a:rPr lang="en-US" dirty="0" smtClean="0"/>
              <a:t>At </a:t>
            </a:r>
            <a:r>
              <a:rPr lang="en-US" dirty="0"/>
              <a:t>the completion of the autopsy, </a:t>
            </a:r>
            <a:r>
              <a:rPr lang="en-US" dirty="0">
                <a:solidFill>
                  <a:srgbClr val="0070C0"/>
                </a:solidFill>
              </a:rPr>
              <a:t>suture incisions </a:t>
            </a:r>
            <a:r>
              <a:rPr lang="en-US" dirty="0"/>
              <a:t>with needle and forceps, wash the body with detergent followed by </a:t>
            </a:r>
            <a:r>
              <a:rPr lang="en-US" dirty="0">
                <a:solidFill>
                  <a:srgbClr val="0070C0"/>
                </a:solidFill>
              </a:rPr>
              <a:t>1:10</a:t>
            </a:r>
            <a:r>
              <a:rPr lang="en-US" dirty="0"/>
              <a:t> solution of 5.25 % </a:t>
            </a:r>
            <a:r>
              <a:rPr lang="en-US" dirty="0">
                <a:solidFill>
                  <a:srgbClr val="0070C0"/>
                </a:solidFill>
              </a:rPr>
              <a:t>sodium hypochlorite</a:t>
            </a:r>
            <a:r>
              <a:rPr lang="en-US" dirty="0"/>
              <a:t>, and enclose in a </a:t>
            </a:r>
            <a:r>
              <a:rPr lang="en-US" dirty="0">
                <a:solidFill>
                  <a:srgbClr val="0070C0"/>
                </a:solidFill>
              </a:rPr>
              <a:t>leak-proof body bag</a:t>
            </a:r>
            <a:r>
              <a:rPr lang="en-US" dirty="0"/>
              <a:t>.</a:t>
            </a:r>
          </a:p>
          <a:p>
            <a:pPr lvl="0" algn="just"/>
            <a:endParaRPr lang="en-US" dirty="0"/>
          </a:p>
          <a:p>
            <a:endParaRPr lang="en-US" dirty="0"/>
          </a:p>
        </p:txBody>
      </p:sp>
      <p:sp>
        <p:nvSpPr>
          <p:cNvPr id="4" name="Date Placeholder 3"/>
          <p:cNvSpPr>
            <a:spLocks noGrp="1"/>
          </p:cNvSpPr>
          <p:nvPr>
            <p:ph type="dt" sz="half" idx="10"/>
          </p:nvPr>
        </p:nvSpPr>
        <p:spPr/>
        <p:txBody>
          <a:bodyPr/>
          <a:lstStyle/>
          <a:p>
            <a:fld id="{F6EB7C15-E645-409C-A04D-C68FE520BBB8}"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5717981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dirty="0"/>
              <a:t>Precautions for Staff who perform post-mortems cont’d…</a:t>
            </a:r>
            <a:endParaRPr lang="en-US" dirty="0"/>
          </a:p>
        </p:txBody>
      </p:sp>
      <p:sp>
        <p:nvSpPr>
          <p:cNvPr id="3" name="Content Placeholder 2"/>
          <p:cNvSpPr>
            <a:spLocks noGrp="1"/>
          </p:cNvSpPr>
          <p:nvPr>
            <p:ph idx="1"/>
          </p:nvPr>
        </p:nvSpPr>
        <p:spPr>
          <a:xfrm>
            <a:off x="914400" y="2490136"/>
            <a:ext cx="10359957" cy="3791394"/>
          </a:xfrm>
        </p:spPr>
        <p:txBody>
          <a:bodyPr>
            <a:normAutofit fontScale="85000" lnSpcReduction="10000"/>
          </a:bodyPr>
          <a:lstStyle/>
          <a:p>
            <a:pPr lvl="0"/>
            <a:r>
              <a:rPr lang="en-GB" b="1" dirty="0" smtClean="0"/>
              <a:t>Remove</a:t>
            </a:r>
            <a:r>
              <a:rPr lang="en-GB" dirty="0" smtClean="0"/>
              <a:t> </a:t>
            </a:r>
            <a:r>
              <a:rPr lang="en-GB" dirty="0">
                <a:solidFill>
                  <a:srgbClr val="0070C0"/>
                </a:solidFill>
              </a:rPr>
              <a:t>PPE</a:t>
            </a:r>
            <a:r>
              <a:rPr lang="en-GB" dirty="0"/>
              <a:t> and perform </a:t>
            </a:r>
            <a:r>
              <a:rPr lang="en-GB" dirty="0">
                <a:solidFill>
                  <a:srgbClr val="0070C0"/>
                </a:solidFill>
              </a:rPr>
              <a:t>hand hygiene </a:t>
            </a:r>
            <a:r>
              <a:rPr lang="en-GB" dirty="0"/>
              <a:t>after removing PPE and </a:t>
            </a:r>
            <a:r>
              <a:rPr lang="en-GB" b="1" dirty="0"/>
              <a:t>before leaving the post-mortem room</a:t>
            </a:r>
            <a:r>
              <a:rPr lang="en-GB" dirty="0"/>
              <a:t>.</a:t>
            </a:r>
            <a:endParaRPr lang="en-US" dirty="0"/>
          </a:p>
          <a:p>
            <a:pPr lvl="0"/>
            <a:r>
              <a:rPr lang="en-US" dirty="0">
                <a:solidFill>
                  <a:srgbClr val="0070C0"/>
                </a:solidFill>
              </a:rPr>
              <a:t>Reprocess instruments </a:t>
            </a:r>
            <a:r>
              <a:rPr lang="en-US" dirty="0"/>
              <a:t>and </a:t>
            </a:r>
            <a:r>
              <a:rPr lang="en-US" dirty="0" smtClean="0">
                <a:solidFill>
                  <a:srgbClr val="0070C0"/>
                </a:solidFill>
              </a:rPr>
              <a:t>clean surfaces </a:t>
            </a:r>
            <a:r>
              <a:rPr lang="en-US" b="1" dirty="0"/>
              <a:t>contaminated</a:t>
            </a:r>
            <a:r>
              <a:rPr lang="en-US" dirty="0"/>
              <a:t> during post-mortem </a:t>
            </a:r>
            <a:endParaRPr lang="en-US" dirty="0" smtClean="0"/>
          </a:p>
          <a:p>
            <a:pPr lvl="0"/>
            <a:r>
              <a:rPr lang="en-GB" dirty="0" smtClean="0"/>
              <a:t>Appropriately </a:t>
            </a:r>
            <a:r>
              <a:rPr lang="en-GB" b="1" dirty="0"/>
              <a:t>segregate</a:t>
            </a:r>
            <a:r>
              <a:rPr lang="en-GB" dirty="0"/>
              <a:t>, </a:t>
            </a:r>
            <a:r>
              <a:rPr lang="en-GB" b="1" dirty="0"/>
              <a:t>collec</a:t>
            </a:r>
            <a:r>
              <a:rPr lang="en-GB" dirty="0"/>
              <a:t>t, </a:t>
            </a:r>
            <a:r>
              <a:rPr lang="en-GB" b="1" dirty="0"/>
              <a:t>transport</a:t>
            </a:r>
            <a:r>
              <a:rPr lang="en-GB" dirty="0"/>
              <a:t>, and </a:t>
            </a:r>
            <a:r>
              <a:rPr lang="en-GB" dirty="0">
                <a:solidFill>
                  <a:srgbClr val="0070C0"/>
                </a:solidFill>
              </a:rPr>
              <a:t>dispose of waste</a:t>
            </a:r>
            <a:r>
              <a:rPr lang="en-GB" dirty="0"/>
              <a:t>.</a:t>
            </a:r>
            <a:endParaRPr lang="en-US" dirty="0"/>
          </a:p>
          <a:p>
            <a:pPr lvl="0"/>
            <a:r>
              <a:rPr lang="en-GB" dirty="0"/>
              <a:t>Consider screening autopsy reports to identify exposures from unidentified infectious diseases or information on previously undiagnosed infections</a:t>
            </a:r>
            <a:r>
              <a:rPr lang="en-US" dirty="0"/>
              <a:t>. </a:t>
            </a:r>
            <a:endParaRPr lang="en-US" dirty="0" smtClean="0"/>
          </a:p>
        </p:txBody>
      </p:sp>
      <p:sp>
        <p:nvSpPr>
          <p:cNvPr id="4" name="Date Placeholder 3"/>
          <p:cNvSpPr>
            <a:spLocks noGrp="1"/>
          </p:cNvSpPr>
          <p:nvPr>
            <p:ph type="dt" sz="half" idx="10"/>
          </p:nvPr>
        </p:nvSpPr>
        <p:spPr/>
        <p:txBody>
          <a:bodyPr/>
          <a:lstStyle/>
          <a:p>
            <a:fld id="{03E66810-B1A9-413F-B2E3-DCB19E893662}"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43144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IPC Practices for Handling Remains of Patients with Highly Infectious Diseases</a:t>
            </a:r>
          </a:p>
        </p:txBody>
      </p:sp>
      <p:sp>
        <p:nvSpPr>
          <p:cNvPr id="3" name="Content Placeholder 2"/>
          <p:cNvSpPr>
            <a:spLocks noGrp="1"/>
          </p:cNvSpPr>
          <p:nvPr>
            <p:ph idx="1"/>
          </p:nvPr>
        </p:nvSpPr>
        <p:spPr>
          <a:xfrm>
            <a:off x="924128" y="2490136"/>
            <a:ext cx="10321046" cy="3851029"/>
          </a:xfrm>
        </p:spPr>
        <p:txBody>
          <a:bodyPr>
            <a:normAutofit/>
          </a:bodyPr>
          <a:lstStyle/>
          <a:p>
            <a:pPr algn="just"/>
            <a:r>
              <a:rPr lang="en-US" dirty="0"/>
              <a:t>P</a:t>
            </a:r>
            <a:r>
              <a:rPr lang="en-US" dirty="0" smtClean="0"/>
              <a:t>ractices </a:t>
            </a:r>
            <a:r>
              <a:rPr lang="en-US" dirty="0"/>
              <a:t>for reducing the risk from known or </a:t>
            </a:r>
            <a:r>
              <a:rPr lang="en-US" dirty="0" smtClean="0"/>
              <a:t>undiagnosed highly </a:t>
            </a:r>
            <a:r>
              <a:rPr lang="en-US" dirty="0"/>
              <a:t>infectious diseases will vary according to the </a:t>
            </a:r>
            <a:r>
              <a:rPr lang="en-US" dirty="0" smtClean="0"/>
              <a:t>disease</a:t>
            </a:r>
          </a:p>
          <a:p>
            <a:pPr algn="just"/>
            <a:r>
              <a:rPr lang="en-US" b="1" dirty="0" smtClean="0"/>
              <a:t>General </a:t>
            </a:r>
            <a:r>
              <a:rPr lang="en-US" b="1" dirty="0"/>
              <a:t>guidelines</a:t>
            </a:r>
            <a:r>
              <a:rPr lang="en-US" dirty="0" smtClean="0"/>
              <a:t>:</a:t>
            </a:r>
            <a:endParaRPr lang="en-US" dirty="0"/>
          </a:p>
          <a:p>
            <a:pPr lvl="1" algn="just"/>
            <a:r>
              <a:rPr lang="en-US" dirty="0"/>
              <a:t>Wear recommended PPE and follow IPC guidelines strictly. </a:t>
            </a:r>
          </a:p>
          <a:p>
            <a:pPr lvl="1" algn="just"/>
            <a:r>
              <a:rPr lang="en-US" dirty="0"/>
              <a:t>Handle the body as little as possible.</a:t>
            </a:r>
          </a:p>
          <a:p>
            <a:pPr lvl="1" algn="just"/>
            <a:r>
              <a:rPr lang="en-US" dirty="0"/>
              <a:t>Take recommended measures </a:t>
            </a:r>
            <a:r>
              <a:rPr lang="en-US" dirty="0" smtClean="0"/>
              <a:t>for</a:t>
            </a:r>
            <a:endParaRPr lang="en-US" dirty="0"/>
          </a:p>
          <a:p>
            <a:pPr marL="0" indent="0" algn="just">
              <a:buNone/>
            </a:pPr>
            <a:endParaRPr lang="en-US" dirty="0"/>
          </a:p>
        </p:txBody>
      </p:sp>
      <p:sp>
        <p:nvSpPr>
          <p:cNvPr id="4" name="Date Placeholder 3"/>
          <p:cNvSpPr>
            <a:spLocks noGrp="1"/>
          </p:cNvSpPr>
          <p:nvPr>
            <p:ph type="dt" sz="half" idx="10"/>
          </p:nvPr>
        </p:nvSpPr>
        <p:spPr/>
        <p:txBody>
          <a:bodyPr/>
          <a:lstStyle/>
          <a:p>
            <a:fld id="{4D3F4F8D-3489-44D7-B444-3CE64E0EF57D}"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150493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253" y="1030778"/>
            <a:ext cx="10634870" cy="1188426"/>
          </a:xfrm>
        </p:spPr>
        <p:txBody>
          <a:bodyPr/>
          <a:lstStyle/>
          <a:p>
            <a:r>
              <a:rPr lang="en-US" sz="4000" dirty="0"/>
              <a:t>IPC Practices for Handling Remains of Patients with Highly Infectious </a:t>
            </a:r>
            <a:r>
              <a:rPr lang="en-US" sz="4000" dirty="0" smtClean="0"/>
              <a:t>Diseases cont’d…</a:t>
            </a:r>
            <a:endParaRPr lang="en-US" sz="4000" dirty="0"/>
          </a:p>
        </p:txBody>
      </p:sp>
      <p:sp>
        <p:nvSpPr>
          <p:cNvPr id="3" name="Content Placeholder 2"/>
          <p:cNvSpPr>
            <a:spLocks noGrp="1"/>
          </p:cNvSpPr>
          <p:nvPr>
            <p:ph idx="1"/>
          </p:nvPr>
        </p:nvSpPr>
        <p:spPr>
          <a:xfrm>
            <a:off x="875489" y="2490135"/>
            <a:ext cx="10296095" cy="3870907"/>
          </a:xfrm>
        </p:spPr>
        <p:txBody>
          <a:bodyPr>
            <a:normAutofit fontScale="92500" lnSpcReduction="10000"/>
          </a:bodyPr>
          <a:lstStyle/>
          <a:p>
            <a:pPr lvl="1"/>
            <a:r>
              <a:rPr lang="en-US" dirty="0"/>
              <a:t>Plan the transport of the body and the work flow of staff carefully to minimize the potential for transmission of infection.</a:t>
            </a:r>
          </a:p>
          <a:p>
            <a:pPr lvl="1"/>
            <a:r>
              <a:rPr lang="en-US" dirty="0"/>
              <a:t>Seal bodies in water-tight body bags, if appropriate </a:t>
            </a:r>
            <a:r>
              <a:rPr lang="en-US" i="1" dirty="0"/>
              <a:t>(Table 1)</a:t>
            </a:r>
            <a:r>
              <a:rPr lang="en-US" dirty="0"/>
              <a:t>:</a:t>
            </a:r>
          </a:p>
          <a:p>
            <a:pPr lvl="1"/>
            <a:r>
              <a:rPr lang="en-US" dirty="0"/>
              <a:t>Communicate with community leaders and clergy to assist with educating the public if bodies cannot be released to the family or IPC recommendations are at odds with the religious/cultural practices of the family.</a:t>
            </a:r>
          </a:p>
          <a:p>
            <a:pPr lvl="1"/>
            <a:r>
              <a:rPr lang="en-US" dirty="0"/>
              <a:t>Have the burial take place close to the point of death, and restrict the number of people present at the burial.</a:t>
            </a:r>
          </a:p>
          <a:p>
            <a:endParaRPr lang="en-US" dirty="0"/>
          </a:p>
        </p:txBody>
      </p:sp>
      <p:sp>
        <p:nvSpPr>
          <p:cNvPr id="4" name="Date Placeholder 3"/>
          <p:cNvSpPr>
            <a:spLocks noGrp="1"/>
          </p:cNvSpPr>
          <p:nvPr>
            <p:ph type="dt" sz="half" idx="10"/>
          </p:nvPr>
        </p:nvSpPr>
        <p:spPr/>
        <p:txBody>
          <a:bodyPr/>
          <a:lstStyle/>
          <a:p>
            <a:fld id="{EBF428F5-A19D-4B68-846A-FE358AC0CDB6}"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965373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Ebola </a:t>
            </a:r>
            <a:endParaRPr lang="en-US" dirty="0"/>
          </a:p>
        </p:txBody>
      </p:sp>
      <p:sp>
        <p:nvSpPr>
          <p:cNvPr id="3" name="Content Placeholder 2"/>
          <p:cNvSpPr>
            <a:spLocks noGrp="1"/>
          </p:cNvSpPr>
          <p:nvPr>
            <p:ph idx="1"/>
          </p:nvPr>
        </p:nvSpPr>
        <p:spPr/>
        <p:txBody>
          <a:bodyPr>
            <a:normAutofit/>
          </a:bodyPr>
          <a:lstStyle/>
          <a:p>
            <a:pPr algn="just"/>
            <a:r>
              <a:rPr lang="en-US" dirty="0" smtClean="0"/>
              <a:t>Remains </a:t>
            </a:r>
            <a:r>
              <a:rPr lang="en-US" dirty="0"/>
              <a:t>of patients with Ebola continue to be infectious for up to a week after death. </a:t>
            </a:r>
            <a:endParaRPr lang="en-US" dirty="0" smtClean="0"/>
          </a:p>
          <a:p>
            <a:pPr algn="just"/>
            <a:r>
              <a:rPr lang="en-US" dirty="0" smtClean="0"/>
              <a:t>Only </a:t>
            </a:r>
            <a:r>
              <a:rPr lang="en-US" dirty="0"/>
              <a:t>personnel trained in handling infected human remains and wearing recommended PPE should touch or move any remains of a patient who died of Ebola. </a:t>
            </a:r>
          </a:p>
          <a:p>
            <a:pPr algn="just"/>
            <a:endParaRPr lang="en-US" dirty="0"/>
          </a:p>
        </p:txBody>
      </p:sp>
      <p:sp>
        <p:nvSpPr>
          <p:cNvPr id="4" name="Date Placeholder 3"/>
          <p:cNvSpPr>
            <a:spLocks noGrp="1"/>
          </p:cNvSpPr>
          <p:nvPr>
            <p:ph type="dt" sz="half" idx="10"/>
          </p:nvPr>
        </p:nvSpPr>
        <p:spPr/>
        <p:txBody>
          <a:bodyPr/>
          <a:lstStyle/>
          <a:p>
            <a:fld id="{0A88085D-C816-424D-868E-0720580A0885}"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381911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Cholera</a:t>
            </a:r>
            <a:endParaRPr lang="en-US" dirty="0"/>
          </a:p>
        </p:txBody>
      </p:sp>
      <p:sp>
        <p:nvSpPr>
          <p:cNvPr id="3" name="Content Placeholder 2"/>
          <p:cNvSpPr>
            <a:spLocks noGrp="1"/>
          </p:cNvSpPr>
          <p:nvPr>
            <p:ph idx="1"/>
          </p:nvPr>
        </p:nvSpPr>
        <p:spPr>
          <a:xfrm>
            <a:off x="865762" y="2275698"/>
            <a:ext cx="10466961" cy="3851029"/>
          </a:xfrm>
        </p:spPr>
        <p:txBody>
          <a:bodyPr>
            <a:normAutofit lnSpcReduction="10000"/>
          </a:bodyPr>
          <a:lstStyle/>
          <a:p>
            <a:pPr algn="just"/>
            <a:r>
              <a:rPr lang="en-US" dirty="0" smtClean="0"/>
              <a:t>The </a:t>
            </a:r>
            <a:r>
              <a:rPr lang="en-US" dirty="0"/>
              <a:t>bodies of people who have died from cholera may leak fluids that contain high concentrations of cholera bacteria and therefore pose a risk of transmission</a:t>
            </a:r>
            <a:r>
              <a:rPr lang="en-US" dirty="0" smtClean="0"/>
              <a:t>.</a:t>
            </a:r>
          </a:p>
          <a:p>
            <a:pPr algn="just"/>
            <a:r>
              <a:rPr lang="en-US" b="1" dirty="0" smtClean="0"/>
              <a:t>Key </a:t>
            </a:r>
            <a:r>
              <a:rPr lang="en-US" b="1" dirty="0"/>
              <a:t>points for handling patients with cholera include</a:t>
            </a:r>
            <a:r>
              <a:rPr lang="en-US" b="1" dirty="0" smtClean="0"/>
              <a:t>:</a:t>
            </a:r>
          </a:p>
          <a:p>
            <a:pPr lvl="1"/>
            <a:r>
              <a:rPr lang="en-US" dirty="0" smtClean="0"/>
              <a:t>Disinfect </a:t>
            </a:r>
            <a:r>
              <a:rPr lang="en-US" dirty="0"/>
              <a:t>bodies with 2% chlorine solution.</a:t>
            </a:r>
          </a:p>
          <a:p>
            <a:pPr lvl="1"/>
            <a:r>
              <a:rPr lang="en-US" dirty="0"/>
              <a:t>Plug all orifices with cotton soaked in 2% chlorine solution. </a:t>
            </a:r>
          </a:p>
          <a:p>
            <a:pPr lvl="1"/>
            <a:r>
              <a:rPr lang="en-US" dirty="0"/>
              <a:t>Place the body in a body bag after the steps above are completed. </a:t>
            </a:r>
          </a:p>
        </p:txBody>
      </p:sp>
      <p:sp>
        <p:nvSpPr>
          <p:cNvPr id="4" name="Date Placeholder 3"/>
          <p:cNvSpPr>
            <a:spLocks noGrp="1"/>
          </p:cNvSpPr>
          <p:nvPr>
            <p:ph type="dt" sz="half" idx="10"/>
          </p:nvPr>
        </p:nvSpPr>
        <p:spPr/>
        <p:txBody>
          <a:bodyPr/>
          <a:lstStyle/>
          <a:p>
            <a:fld id="{5185D17E-9555-4019-B1E6-F35BF4233E26}"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962457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Cholera cont’d…</a:t>
            </a:r>
            <a:endParaRPr lang="en-US" dirty="0"/>
          </a:p>
        </p:txBody>
      </p:sp>
      <p:sp>
        <p:nvSpPr>
          <p:cNvPr id="3" name="Content Placeholder 2"/>
          <p:cNvSpPr>
            <a:spLocks noGrp="1"/>
          </p:cNvSpPr>
          <p:nvPr>
            <p:ph idx="1"/>
          </p:nvPr>
        </p:nvSpPr>
        <p:spPr>
          <a:xfrm>
            <a:off x="933855" y="2490136"/>
            <a:ext cx="10476689" cy="3910664"/>
          </a:xfrm>
        </p:spPr>
        <p:txBody>
          <a:bodyPr>
            <a:normAutofit/>
          </a:bodyPr>
          <a:lstStyle/>
          <a:p>
            <a:pPr lvl="1" algn="just"/>
            <a:r>
              <a:rPr lang="en-US" dirty="0" smtClean="0"/>
              <a:t>Spray </a:t>
            </a:r>
            <a:r>
              <a:rPr lang="en-US" dirty="0"/>
              <a:t>the body and area where the body was, including the body bag, with a chlorine solution before and after moving the body. </a:t>
            </a:r>
          </a:p>
          <a:p>
            <a:pPr lvl="1" algn="just"/>
            <a:r>
              <a:rPr lang="en-US" dirty="0"/>
              <a:t>Ensure that staff handling the remains wear PPE to prevent transmission by contact and droplet </a:t>
            </a:r>
            <a:r>
              <a:rPr lang="en-US" i="1" dirty="0"/>
              <a:t>(splashes)</a:t>
            </a:r>
            <a:r>
              <a:rPr lang="en-US" dirty="0"/>
              <a:t> routes.</a:t>
            </a:r>
          </a:p>
          <a:p>
            <a:pPr lvl="1" algn="just"/>
            <a:r>
              <a:rPr lang="en-US" dirty="0"/>
              <a:t>Ensure that staff know how to use a sprayer and handle the body appropriately. </a:t>
            </a:r>
          </a:p>
          <a:p>
            <a:endParaRPr lang="en-US" dirty="0"/>
          </a:p>
        </p:txBody>
      </p:sp>
      <p:sp>
        <p:nvSpPr>
          <p:cNvPr id="4" name="Date Placeholder 3"/>
          <p:cNvSpPr>
            <a:spLocks noGrp="1"/>
          </p:cNvSpPr>
          <p:nvPr>
            <p:ph type="dt" sz="half" idx="10"/>
          </p:nvPr>
        </p:nvSpPr>
        <p:spPr/>
        <p:txBody>
          <a:bodyPr/>
          <a:lstStyle/>
          <a:p>
            <a:fld id="{529CC4A5-F920-4ED0-8F23-18B6EDB49454}"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20</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11996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Tuberculosis</a:t>
            </a:r>
            <a:br>
              <a:rPr lang="en-US" b="1" dirty="0" smtClean="0"/>
            </a:br>
            <a:endParaRPr lang="en-US" dirty="0"/>
          </a:p>
        </p:txBody>
      </p:sp>
      <p:sp>
        <p:nvSpPr>
          <p:cNvPr id="3" name="Content Placeholder 2"/>
          <p:cNvSpPr>
            <a:spLocks noGrp="1"/>
          </p:cNvSpPr>
          <p:nvPr>
            <p:ph idx="1"/>
          </p:nvPr>
        </p:nvSpPr>
        <p:spPr>
          <a:xfrm>
            <a:off x="817123" y="2490136"/>
            <a:ext cx="10525327" cy="3692003"/>
          </a:xfrm>
        </p:spPr>
        <p:txBody>
          <a:bodyPr>
            <a:normAutofit fontScale="92500" lnSpcReduction="10000"/>
          </a:bodyPr>
          <a:lstStyle/>
          <a:p>
            <a:pPr algn="just"/>
            <a:r>
              <a:rPr lang="en-US" dirty="0" smtClean="0"/>
              <a:t>Tuberculosis </a:t>
            </a:r>
            <a:r>
              <a:rPr lang="en-US" dirty="0"/>
              <a:t>can pose a hazard when HCWs handle the body of a patient who died with TB. Placing a cloth over the mouth of the body when it is being handled to prevent the escape of air and ensuring adequate ventilation in the area can reduce the risk of transmission. </a:t>
            </a:r>
            <a:endParaRPr lang="en-US" dirty="0" smtClean="0"/>
          </a:p>
          <a:p>
            <a:pPr algn="just"/>
            <a:r>
              <a:rPr lang="en-US" dirty="0" smtClean="0"/>
              <a:t>Performance </a:t>
            </a:r>
            <a:r>
              <a:rPr lang="en-US" dirty="0"/>
              <a:t>of an autopsy on a known or suspected case of TB is considered a high-hazard procedure requiring personnel to use approved respiratory protection. </a:t>
            </a:r>
          </a:p>
        </p:txBody>
      </p:sp>
      <p:sp>
        <p:nvSpPr>
          <p:cNvPr id="4" name="Date Placeholder 3"/>
          <p:cNvSpPr>
            <a:spLocks noGrp="1"/>
          </p:cNvSpPr>
          <p:nvPr>
            <p:ph type="dt" sz="half" idx="10"/>
          </p:nvPr>
        </p:nvSpPr>
        <p:spPr/>
        <p:txBody>
          <a:bodyPr/>
          <a:lstStyle/>
          <a:p>
            <a:fld id="{FEC4F67D-8446-4AA6-8002-00402534A798}"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21</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80047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Tuberculosis cont’d…</a:t>
            </a:r>
            <a:endParaRPr lang="en-US" dirty="0"/>
          </a:p>
        </p:txBody>
      </p:sp>
      <p:sp>
        <p:nvSpPr>
          <p:cNvPr id="3" name="Content Placeholder 2"/>
          <p:cNvSpPr>
            <a:spLocks noGrp="1"/>
          </p:cNvSpPr>
          <p:nvPr>
            <p:ph idx="1"/>
          </p:nvPr>
        </p:nvSpPr>
        <p:spPr>
          <a:xfrm>
            <a:off x="826852" y="2490136"/>
            <a:ext cx="10486416" cy="3711881"/>
          </a:xfrm>
        </p:spPr>
        <p:txBody>
          <a:bodyPr>
            <a:normAutofit/>
          </a:bodyPr>
          <a:lstStyle/>
          <a:p>
            <a:pPr algn="just"/>
            <a:r>
              <a:rPr lang="en-US" dirty="0" smtClean="0"/>
              <a:t>If </a:t>
            </a:r>
            <a:r>
              <a:rPr lang="en-US" dirty="0"/>
              <a:t>body bags are not available </a:t>
            </a:r>
          </a:p>
          <a:p>
            <a:pPr lvl="0" algn="just"/>
            <a:r>
              <a:rPr lang="en-US" dirty="0"/>
              <a:t>Conduct risk assessment to make sure that use of body bag is absolutely necessary.</a:t>
            </a:r>
          </a:p>
          <a:p>
            <a:pPr lvl="0" algn="just"/>
            <a:r>
              <a:rPr lang="en-US" dirty="0"/>
              <a:t>Use plastic sheets to wrap the body.</a:t>
            </a:r>
          </a:p>
          <a:p>
            <a:pPr lvl="0" algn="just"/>
            <a:r>
              <a:rPr lang="en-US" dirty="0"/>
              <a:t>Conduct immediate cremation or funeral to avoid the need for placing body in the body bag.</a:t>
            </a:r>
          </a:p>
        </p:txBody>
      </p:sp>
      <p:sp>
        <p:nvSpPr>
          <p:cNvPr id="4" name="Date Placeholder 3"/>
          <p:cNvSpPr>
            <a:spLocks noGrp="1"/>
          </p:cNvSpPr>
          <p:nvPr>
            <p:ph type="dt" sz="half" idx="10"/>
          </p:nvPr>
        </p:nvSpPr>
        <p:spPr/>
        <p:txBody>
          <a:bodyPr/>
          <a:lstStyle/>
          <a:p>
            <a:fld id="{BAAA1D27-5ED7-4B62-A1C8-6FAD55F95058}"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22</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534444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Additional Information</a:t>
            </a:r>
            <a:endParaRPr lang="en-US" dirty="0"/>
          </a:p>
        </p:txBody>
      </p:sp>
      <p:sp>
        <p:nvSpPr>
          <p:cNvPr id="3" name="Content Placeholder 2"/>
          <p:cNvSpPr>
            <a:spLocks noGrp="1"/>
          </p:cNvSpPr>
          <p:nvPr>
            <p:ph idx="1"/>
          </p:nvPr>
        </p:nvSpPr>
        <p:spPr>
          <a:xfrm>
            <a:off x="807396" y="2490136"/>
            <a:ext cx="10603149" cy="3444997"/>
          </a:xfrm>
        </p:spPr>
        <p:txBody>
          <a:bodyPr>
            <a:normAutofit/>
          </a:bodyPr>
          <a:lstStyle/>
          <a:p>
            <a:pPr algn="just"/>
            <a:r>
              <a:rPr lang="en-US" dirty="0" smtClean="0"/>
              <a:t>Healthcare </a:t>
            </a:r>
            <a:r>
              <a:rPr lang="en-US" dirty="0"/>
              <a:t>workers who handle and transport dead bodies should be trained on the risks of exposure and safe handling of human remains. </a:t>
            </a:r>
            <a:endParaRPr lang="en-US" dirty="0" smtClean="0"/>
          </a:p>
          <a:p>
            <a:pPr algn="just"/>
            <a:r>
              <a:rPr lang="en-US" dirty="0" smtClean="0"/>
              <a:t>Appoint </a:t>
            </a:r>
            <a:r>
              <a:rPr lang="en-US" dirty="0"/>
              <a:t>a designated employee/circulator who will facilitate adherence to infection prevention precautions by preparing the post-mortem/autopsy room and assisting with photography.</a:t>
            </a:r>
          </a:p>
          <a:p>
            <a:pPr algn="just"/>
            <a:endParaRPr lang="en-US" dirty="0"/>
          </a:p>
        </p:txBody>
      </p:sp>
      <p:sp>
        <p:nvSpPr>
          <p:cNvPr id="4" name="Date Placeholder 3"/>
          <p:cNvSpPr>
            <a:spLocks noGrp="1"/>
          </p:cNvSpPr>
          <p:nvPr>
            <p:ph type="dt" sz="half" idx="10"/>
          </p:nvPr>
        </p:nvSpPr>
        <p:spPr/>
        <p:txBody>
          <a:bodyPr/>
          <a:lstStyle/>
          <a:p>
            <a:fld id="{08544ACF-3C8C-4BE6-AC72-8BA8057FB79D}"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3531011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3600" b="1" dirty="0" smtClean="0">
                <a:latin typeface="+mj-lt"/>
              </a:rPr>
              <a:t>IPC Practices for Handling Human Remains during Natural Disasters </a:t>
            </a:r>
            <a:endParaRPr lang="en-US" sz="3600" dirty="0">
              <a:latin typeface="+mj-lt"/>
            </a:endParaRPr>
          </a:p>
        </p:txBody>
      </p:sp>
      <p:sp>
        <p:nvSpPr>
          <p:cNvPr id="3" name="Content Placeholder 2"/>
          <p:cNvSpPr>
            <a:spLocks noGrp="1"/>
          </p:cNvSpPr>
          <p:nvPr>
            <p:ph idx="1"/>
          </p:nvPr>
        </p:nvSpPr>
        <p:spPr>
          <a:xfrm>
            <a:off x="914400" y="2410622"/>
            <a:ext cx="10389140" cy="3930543"/>
          </a:xfrm>
        </p:spPr>
        <p:txBody>
          <a:bodyPr>
            <a:normAutofit fontScale="77500" lnSpcReduction="20000"/>
          </a:bodyPr>
          <a:lstStyle/>
          <a:p>
            <a:pPr algn="just"/>
            <a:r>
              <a:rPr lang="en-US" sz="3400" dirty="0" smtClean="0"/>
              <a:t>Managing </a:t>
            </a:r>
            <a:r>
              <a:rPr lang="en-US" sz="3400" dirty="0"/>
              <a:t>dead bodies is </a:t>
            </a:r>
            <a:r>
              <a:rPr lang="en-US" sz="3400" dirty="0">
                <a:solidFill>
                  <a:srgbClr val="0070C0"/>
                </a:solidFill>
              </a:rPr>
              <a:t>challenging during natural disasters</a:t>
            </a:r>
            <a:r>
              <a:rPr lang="en-US" sz="3400" dirty="0"/>
              <a:t>, due to the </a:t>
            </a:r>
            <a:r>
              <a:rPr lang="en-US" sz="3400" b="1" dirty="0"/>
              <a:t>large number of deaths </a:t>
            </a:r>
            <a:r>
              <a:rPr lang="en-US" sz="3400" dirty="0"/>
              <a:t>and </a:t>
            </a:r>
            <a:r>
              <a:rPr lang="en-US" sz="3400" b="1" dirty="0"/>
              <a:t>spread</a:t>
            </a:r>
            <a:r>
              <a:rPr lang="en-US" sz="3400" dirty="0"/>
              <a:t> of diseases. </a:t>
            </a:r>
            <a:endParaRPr lang="en-US" sz="3400" dirty="0" smtClean="0"/>
          </a:p>
          <a:p>
            <a:pPr algn="just"/>
            <a:r>
              <a:rPr lang="en-US" sz="3400" dirty="0" smtClean="0"/>
              <a:t>The </a:t>
            </a:r>
            <a:r>
              <a:rPr lang="en-US" sz="3400" b="1" dirty="0">
                <a:solidFill>
                  <a:schemeClr val="tx1"/>
                </a:solidFill>
              </a:rPr>
              <a:t>religious</a:t>
            </a:r>
            <a:r>
              <a:rPr lang="en-US" sz="3400" dirty="0"/>
              <a:t> and </a:t>
            </a:r>
            <a:r>
              <a:rPr lang="en-US" sz="3400" b="1" dirty="0"/>
              <a:t>cultural</a:t>
            </a:r>
            <a:r>
              <a:rPr lang="en-US" sz="3400" dirty="0"/>
              <a:t> practices should always be </a:t>
            </a:r>
            <a:r>
              <a:rPr lang="en-US" sz="3400" dirty="0">
                <a:solidFill>
                  <a:srgbClr val="0070C0"/>
                </a:solidFill>
              </a:rPr>
              <a:t>respected</a:t>
            </a:r>
            <a:r>
              <a:rPr lang="en-US" sz="3400" dirty="0"/>
              <a:t> as appropriate. </a:t>
            </a:r>
          </a:p>
          <a:p>
            <a:pPr marL="0" indent="0" algn="just">
              <a:buNone/>
            </a:pPr>
            <a:r>
              <a:rPr lang="en-US" b="1" dirty="0" smtClean="0"/>
              <a:t> The </a:t>
            </a:r>
            <a:r>
              <a:rPr lang="en-US" b="1" dirty="0"/>
              <a:t>key steps include</a:t>
            </a:r>
            <a:r>
              <a:rPr lang="en-US" dirty="0"/>
              <a:t>:</a:t>
            </a:r>
          </a:p>
          <a:p>
            <a:pPr lvl="0" algn="just"/>
            <a:r>
              <a:rPr lang="en-US" b="1" dirty="0"/>
              <a:t>Recover </a:t>
            </a:r>
            <a:r>
              <a:rPr lang="en-US" dirty="0"/>
              <a:t>all dead bodies as soon as possible and place them in body bags, plastic sheets, shrouds, or bed sheets.</a:t>
            </a:r>
          </a:p>
          <a:p>
            <a:pPr lvl="0" algn="just"/>
            <a:r>
              <a:rPr lang="en-US" dirty="0"/>
              <a:t>Follow </a:t>
            </a:r>
            <a:r>
              <a:rPr lang="en-US" dirty="0">
                <a:solidFill>
                  <a:srgbClr val="0070C0"/>
                </a:solidFill>
              </a:rPr>
              <a:t>Standards Precautions </a:t>
            </a:r>
            <a:r>
              <a:rPr lang="en-US" dirty="0"/>
              <a:t>including wearing appropriate </a:t>
            </a:r>
            <a:r>
              <a:rPr lang="en-US" b="1" dirty="0">
                <a:solidFill>
                  <a:schemeClr val="tx1"/>
                </a:solidFill>
              </a:rPr>
              <a:t>PPE</a:t>
            </a:r>
            <a:r>
              <a:rPr lang="en-US" dirty="0"/>
              <a:t> and practicing </a:t>
            </a:r>
            <a:r>
              <a:rPr lang="en-US" b="1" dirty="0"/>
              <a:t>hand hygiene </a:t>
            </a:r>
            <a:r>
              <a:rPr lang="en-US" dirty="0"/>
              <a:t>during transportation of bodies to mortuary or burial site. </a:t>
            </a:r>
          </a:p>
          <a:p>
            <a:pPr algn="just"/>
            <a:endParaRPr lang="en-US" dirty="0"/>
          </a:p>
        </p:txBody>
      </p:sp>
      <p:sp>
        <p:nvSpPr>
          <p:cNvPr id="4" name="Date Placeholder 3"/>
          <p:cNvSpPr>
            <a:spLocks noGrp="1"/>
          </p:cNvSpPr>
          <p:nvPr>
            <p:ph type="dt" sz="half" idx="10"/>
          </p:nvPr>
        </p:nvSpPr>
        <p:spPr/>
        <p:txBody>
          <a:bodyPr/>
          <a:lstStyle/>
          <a:p>
            <a:fld id="{B8F9B71D-4AB9-4198-8D7D-7FF91170321C}"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24</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1041261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09754"/>
            <a:ext cx="10233497" cy="1188426"/>
          </a:xfrm>
        </p:spPr>
        <p:txBody>
          <a:bodyPr>
            <a:noAutofit/>
          </a:bodyPr>
          <a:lstStyle/>
          <a:p>
            <a:r>
              <a:rPr lang="en-US" sz="4000" b="1" dirty="0"/>
              <a:t>IPC Practices for </a:t>
            </a:r>
            <a:r>
              <a:rPr lang="en-US" sz="4000" b="1" dirty="0" smtClean="0"/>
              <a:t>Natural </a:t>
            </a:r>
            <a:r>
              <a:rPr lang="en-US" sz="4000" b="1" dirty="0"/>
              <a:t>Disasters </a:t>
            </a:r>
            <a:r>
              <a:rPr lang="en-US" sz="4000" b="1" dirty="0" smtClean="0"/>
              <a:t> cont’d…</a:t>
            </a:r>
            <a:endParaRPr lang="en-US" sz="4000" dirty="0"/>
          </a:p>
        </p:txBody>
      </p:sp>
      <p:sp>
        <p:nvSpPr>
          <p:cNvPr id="3" name="Content Placeholder 2"/>
          <p:cNvSpPr>
            <a:spLocks noGrp="1"/>
          </p:cNvSpPr>
          <p:nvPr>
            <p:ph idx="1"/>
          </p:nvPr>
        </p:nvSpPr>
        <p:spPr>
          <a:xfrm>
            <a:off x="836579" y="1961447"/>
            <a:ext cx="10515599" cy="4367865"/>
          </a:xfrm>
        </p:spPr>
        <p:txBody>
          <a:bodyPr>
            <a:normAutofit fontScale="92500" lnSpcReduction="20000"/>
          </a:bodyPr>
          <a:lstStyle/>
          <a:p>
            <a:pPr lvl="0" algn="just"/>
            <a:r>
              <a:rPr lang="en-US" dirty="0"/>
              <a:t>Ensure that </a:t>
            </a:r>
            <a:r>
              <a:rPr lang="en-US" b="1" dirty="0"/>
              <a:t>transport vehicles </a:t>
            </a:r>
            <a:r>
              <a:rPr lang="en-US" dirty="0"/>
              <a:t>are </a:t>
            </a:r>
            <a:r>
              <a:rPr lang="en-US" b="1" dirty="0"/>
              <a:t>cleaned and disinfected</a:t>
            </a:r>
            <a:r>
              <a:rPr lang="en-US" dirty="0"/>
              <a:t> at the end of the day.</a:t>
            </a:r>
          </a:p>
          <a:p>
            <a:pPr lvl="0" algn="just"/>
            <a:r>
              <a:rPr lang="en-US" dirty="0"/>
              <a:t>Apply control measures including disinfection of body using </a:t>
            </a:r>
            <a:r>
              <a:rPr lang="en-US" b="1" dirty="0">
                <a:solidFill>
                  <a:srgbClr val="0070C0"/>
                </a:solidFill>
              </a:rPr>
              <a:t>0.5% chlorine</a:t>
            </a:r>
            <a:r>
              <a:rPr lang="en-US" dirty="0"/>
              <a:t>. </a:t>
            </a:r>
          </a:p>
          <a:p>
            <a:pPr lvl="0" algn="just"/>
            <a:r>
              <a:rPr lang="en-US" b="1" dirty="0"/>
              <a:t>Limit</a:t>
            </a:r>
            <a:r>
              <a:rPr lang="en-US" dirty="0"/>
              <a:t> </a:t>
            </a:r>
            <a:r>
              <a:rPr lang="en-US" b="1" dirty="0"/>
              <a:t>physical contact </a:t>
            </a:r>
            <a:r>
              <a:rPr lang="en-US" dirty="0"/>
              <a:t>by family members with remains.</a:t>
            </a:r>
          </a:p>
          <a:p>
            <a:pPr lvl="0" algn="just"/>
            <a:r>
              <a:rPr lang="en-US" dirty="0"/>
              <a:t>Store body in refrigerated storage facility at </a:t>
            </a:r>
            <a:r>
              <a:rPr lang="en-US" dirty="0">
                <a:solidFill>
                  <a:srgbClr val="0070C0"/>
                </a:solidFill>
              </a:rPr>
              <a:t>2-­4°C </a:t>
            </a:r>
            <a:r>
              <a:rPr lang="en-US" i="1" dirty="0"/>
              <a:t>(35-40°F)</a:t>
            </a:r>
            <a:r>
              <a:rPr lang="en-US" dirty="0"/>
              <a:t>. Keep bodies in original body bags or plastic wraps.</a:t>
            </a:r>
          </a:p>
          <a:p>
            <a:pPr lvl="0" algn="just"/>
            <a:r>
              <a:rPr lang="en-US" dirty="0"/>
              <a:t>Ensure that burial site is at least </a:t>
            </a:r>
            <a:r>
              <a:rPr lang="en-US" dirty="0">
                <a:solidFill>
                  <a:srgbClr val="0070C0"/>
                </a:solidFill>
              </a:rPr>
              <a:t>200 meters </a:t>
            </a:r>
            <a:r>
              <a:rPr lang="en-US" i="1" dirty="0"/>
              <a:t>(700 feet)</a:t>
            </a:r>
            <a:r>
              <a:rPr lang="en-US" dirty="0"/>
              <a:t> away from a </a:t>
            </a:r>
            <a:r>
              <a:rPr lang="en-US" b="1" dirty="0"/>
              <a:t>water source </a:t>
            </a:r>
            <a:r>
              <a:rPr lang="en-US" dirty="0"/>
              <a:t>such as lakes, streams, beaches, and the sea.</a:t>
            </a:r>
          </a:p>
          <a:p>
            <a:pPr algn="just"/>
            <a:endParaRPr lang="en-US" dirty="0"/>
          </a:p>
        </p:txBody>
      </p:sp>
      <p:sp>
        <p:nvSpPr>
          <p:cNvPr id="4" name="Date Placeholder 3"/>
          <p:cNvSpPr>
            <a:spLocks noGrp="1"/>
          </p:cNvSpPr>
          <p:nvPr>
            <p:ph type="dt" sz="half" idx="10"/>
          </p:nvPr>
        </p:nvSpPr>
        <p:spPr/>
        <p:txBody>
          <a:bodyPr/>
          <a:lstStyle/>
          <a:p>
            <a:fld id="{43173316-7134-4DF9-851A-D07EC3191863}"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25</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506454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Always apply standard precaution at mortuary service. </a:t>
            </a:r>
            <a:endParaRPr lang="en-US" dirty="0"/>
          </a:p>
        </p:txBody>
      </p:sp>
      <p:sp>
        <p:nvSpPr>
          <p:cNvPr id="4" name="Date Placeholder 3"/>
          <p:cNvSpPr>
            <a:spLocks noGrp="1"/>
          </p:cNvSpPr>
          <p:nvPr>
            <p:ph type="dt" sz="half" idx="10"/>
          </p:nvPr>
        </p:nvSpPr>
        <p:spPr/>
        <p:txBody>
          <a:bodyPr/>
          <a:lstStyle/>
          <a:p>
            <a:fld id="{3399B382-2628-48F7-9232-C931B4EC4E8D}" type="datetime1">
              <a:rPr lang="en-US" smtClean="0"/>
              <a:t>9/23/2019</a:t>
            </a:fld>
            <a:endParaRPr lang="en-US"/>
          </a:p>
        </p:txBody>
      </p:sp>
      <p:sp>
        <p:nvSpPr>
          <p:cNvPr id="5" name="Slide Number Placeholder 4"/>
          <p:cNvSpPr>
            <a:spLocks noGrp="1"/>
          </p:cNvSpPr>
          <p:nvPr>
            <p:ph type="sldNum" sz="quarter" idx="12"/>
          </p:nvPr>
        </p:nvSpPr>
        <p:spPr/>
        <p:txBody>
          <a:bodyPr/>
          <a:lstStyle/>
          <a:p>
            <a:fld id="{152743B3-639B-4115-8757-963852785863}" type="slidenum">
              <a:rPr lang="en-US" smtClean="0"/>
              <a:pPr/>
              <a:t>26</a:t>
            </a:fld>
            <a:endParaRPr lang="en-US"/>
          </a:p>
        </p:txBody>
      </p:sp>
      <p:sp>
        <p:nvSpPr>
          <p:cNvPr id="6" name="Footer Placeholder 5"/>
          <p:cNvSpPr>
            <a:spLocks noGrp="1"/>
          </p:cNvSpPr>
          <p:nvPr>
            <p:ph type="ftr" sz="quarter" idx="11"/>
          </p:nvPr>
        </p:nvSpPr>
        <p:spPr/>
        <p:txBody>
          <a:bodyPr/>
          <a:lstStyle/>
          <a:p>
            <a:r>
              <a:rPr lang="en-US" smtClean="0"/>
              <a:t>Vol.2, Sec. 4, Chapter 6: Mortuary IPC for Handling Human Remains</a:t>
            </a:r>
            <a:endParaRPr lang="en-US"/>
          </a:p>
        </p:txBody>
      </p:sp>
    </p:spTree>
    <p:extLst>
      <p:ext uri="{BB962C8B-B14F-4D97-AF65-F5344CB8AC3E}">
        <p14:creationId xmlns:p14="http://schemas.microsoft.com/office/powerpoint/2010/main" val="27438926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7">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Theme7</Template>
  <TotalTime>1486</TotalTime>
  <Words>1779</Words>
  <Application>Microsoft Office PowerPoint</Application>
  <PresentationFormat>Custom</PresentationFormat>
  <Paragraphs>188</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Theme7</vt:lpstr>
      <vt:lpstr>Volume 2_Section 4  Chapter 6:  Mortuary IPC for Handling Human Remains</vt:lpstr>
      <vt:lpstr>Chapter Outline</vt:lpstr>
      <vt:lpstr>Learning Objectives:</vt:lpstr>
      <vt:lpstr>PPP 6.1:  Overview</vt:lpstr>
      <vt:lpstr>Overview </vt:lpstr>
      <vt:lpstr>Overview  cont’d…</vt:lpstr>
      <vt:lpstr>PPP 6.2: Steps in the Post – Mortem Care  </vt:lpstr>
      <vt:lpstr>Steps in the Process of Post - Mortem care in Healthcare Facilities</vt:lpstr>
      <vt:lpstr>PPP 6.3: IPC for Handling Human Remains </vt:lpstr>
      <vt:lpstr>Infection Prevention and Control Practices for Handling Human Remains</vt:lpstr>
      <vt:lpstr>Preparing the Dead Body and Transporting Human Remains to the Morgue</vt:lpstr>
      <vt:lpstr>IPC Practices for Post-Mortem Examinations</vt:lpstr>
      <vt:lpstr>  Precautions for Staff who perform post-mortems </vt:lpstr>
      <vt:lpstr>Precautions for Staff who perform post-mortems cont’d…</vt:lpstr>
      <vt:lpstr>Precautions for Staff who perform post-mortems cont’d…</vt:lpstr>
      <vt:lpstr>IPC Practices for Handling Remains of Patients with Highly Infectious Diseases</vt:lpstr>
      <vt:lpstr>IPC Practices for Handling Remains of Patients with Highly Infectious Diseases cont’d…</vt:lpstr>
      <vt:lpstr>Ebola </vt:lpstr>
      <vt:lpstr>Cholera</vt:lpstr>
      <vt:lpstr>Cholera cont’d…</vt:lpstr>
      <vt:lpstr> Tuberculosis </vt:lpstr>
      <vt:lpstr>Tuberculosis cont’d…</vt:lpstr>
      <vt:lpstr>Additional Information</vt:lpstr>
      <vt:lpstr>IPC Practices for Handling Human Remains during Natural Disasters </vt:lpstr>
      <vt:lpstr>IPC Practices for Natural Disasters  cont’d…</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Mortuary IPC for Handling Human Remains</dc:title>
  <dc:creator>yayene Tad</dc:creator>
  <cp:lastModifiedBy>moh</cp:lastModifiedBy>
  <cp:revision>31</cp:revision>
  <dcterms:created xsi:type="dcterms:W3CDTF">2018-12-11T15:00:38Z</dcterms:created>
  <dcterms:modified xsi:type="dcterms:W3CDTF">2019-09-23T08:04:30Z</dcterms:modified>
</cp:coreProperties>
</file>