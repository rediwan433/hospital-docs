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9"/>
  </p:notesMasterIdLst>
  <p:sldIdLst>
    <p:sldId id="256" r:id="rId2"/>
    <p:sldId id="322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5" r:id="rId13"/>
    <p:sldId id="316" r:id="rId14"/>
    <p:sldId id="318" r:id="rId15"/>
    <p:sldId id="319" r:id="rId16"/>
    <p:sldId id="320" r:id="rId17"/>
    <p:sldId id="321" r:id="rId18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486" y="180"/>
      </p:cViewPr>
      <p:guideLst>
        <p:guide orient="horz" pos="2160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4FD2E-C0D3-40B5-8DD1-9D796D061956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3C637-F117-4624-A596-DF844667A7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30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35579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3419" y="1879926"/>
            <a:ext cx="7741314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597481"/>
            <a:ext cx="5956820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42948" y="4972192"/>
            <a:ext cx="1293001" cy="361810"/>
          </a:xfrm>
        </p:spPr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56239" y="4972194"/>
            <a:ext cx="4986707" cy="3618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9329" y="4972193"/>
            <a:ext cx="965806" cy="361809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86438" y="3471329"/>
            <a:ext cx="680057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63090" y="76751"/>
            <a:ext cx="4028810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54593" y="5960533"/>
            <a:ext cx="1130796" cy="279400"/>
          </a:xfrm>
        </p:spPr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85389" y="5960533"/>
            <a:ext cx="963150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403" y="1641413"/>
            <a:ext cx="8772290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403" y="3734860"/>
            <a:ext cx="8772290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81785" y="5960533"/>
            <a:ext cx="1151331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0405" y="3599392"/>
            <a:ext cx="877228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052394"/>
            <a:ext cx="9042553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5273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214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81784" y="5934457"/>
            <a:ext cx="1018658" cy="305477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5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5275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798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798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2" y="915338"/>
            <a:ext cx="904255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388534"/>
            <a:ext cx="3374030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826" y="982133"/>
            <a:ext cx="5128001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1" y="3031065"/>
            <a:ext cx="3374030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0404" y="2912533"/>
            <a:ext cx="31037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883832"/>
            <a:ext cx="48309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3663" y="1032933"/>
            <a:ext cx="3896288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2" y="3255432"/>
            <a:ext cx="4830954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4815415"/>
            <a:ext cx="9042553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4961" y="1032934"/>
            <a:ext cx="9431918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3" y="5382153"/>
            <a:ext cx="9042553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06873"/>
            <a:ext cx="9042553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275666"/>
            <a:ext cx="9042555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4" y="4140199"/>
            <a:ext cx="87867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09" y="982132"/>
            <a:ext cx="8512555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28322" y="3352800"/>
            <a:ext cx="7837626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69" y="4343401"/>
            <a:ext cx="904255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0489" y="905362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2825" y="2827870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0404" y="4140199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7" y="3308581"/>
            <a:ext cx="904254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6" y="4777381"/>
            <a:ext cx="904254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73" y="982132"/>
            <a:ext cx="8412693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639312"/>
            <a:ext cx="9042547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529667"/>
            <a:ext cx="904255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67851" y="896895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4495" y="2607728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0404" y="342900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982132"/>
            <a:ext cx="9042553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566160"/>
            <a:ext cx="9042547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3" y="4470401"/>
            <a:ext cx="90425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9" y="3429000"/>
            <a:ext cx="878677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2" y="2490136"/>
            <a:ext cx="9042555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867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4588" y="906874"/>
            <a:ext cx="215323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5" y="906874"/>
            <a:ext cx="6537798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06748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17309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5273" y="915338"/>
            <a:ext cx="9042553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2490136"/>
            <a:ext cx="9042555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4593" y="5935133"/>
            <a:ext cx="895226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5272" y="5960533"/>
            <a:ext cx="678938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19" y="5960533"/>
            <a:ext cx="125800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85653" y="4072"/>
            <a:ext cx="3201790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019" y="1676401"/>
            <a:ext cx="7499800" cy="16764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VOLUME 2 SECTION 2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CHAPTER 1: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PREVENTION OF SURGICAL SITE INFECTION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886200"/>
            <a:ext cx="5956820" cy="72418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PREVENTION OF COMMON HCAI’S</a:t>
            </a:r>
            <a:endParaRPr lang="en-US" sz="2400" b="1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905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295400"/>
            <a:ext cx="10438911" cy="99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Chapter Outline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35" y="2438400"/>
            <a:ext cx="9932168" cy="3810000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Chapter Contents </a:t>
            </a:r>
          </a:p>
          <a:p>
            <a:pPr lvl="0">
              <a:lnSpc>
                <a:spcPct val="17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PPP 1.1:Over view</a:t>
            </a:r>
          </a:p>
          <a:p>
            <a:pPr lvl="0">
              <a:lnSpc>
                <a:spcPct val="17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PPP 1.2:Basics and risks of SSI</a:t>
            </a:r>
          </a:p>
          <a:p>
            <a:pPr lvl="0">
              <a:lnSpc>
                <a:spcPct val="17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PPP 1.3:Prevention of SSI </a:t>
            </a:r>
          </a:p>
          <a:p>
            <a:pPr lvl="0">
              <a:lnSpc>
                <a:spcPct val="17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PPP 1.4:Monitoring and surveillance of SSIs</a:t>
            </a:r>
          </a:p>
          <a:p>
            <a:pPr>
              <a:lnSpc>
                <a:spcPct val="17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PPP 1.4:Quality improvement for prevention of SSIs</a:t>
            </a:r>
          </a:p>
          <a:p>
            <a:pPr>
              <a:lnSpc>
                <a:spcPct val="17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PPP 1.5: Summary</a:t>
            </a:r>
          </a:p>
          <a:p>
            <a:pPr lvl="0">
              <a:lnSpc>
                <a:spcPct val="160000"/>
              </a:lnSpc>
            </a:pPr>
            <a:endParaRPr lang="en-US" dirty="0" smtClean="0"/>
          </a:p>
          <a:p>
            <a:pPr>
              <a:lnSpc>
                <a:spcPct val="160000"/>
              </a:lnSpc>
            </a:pPr>
            <a:endParaRPr lang="en-US" dirty="0" smtClean="0"/>
          </a:p>
          <a:p>
            <a:pPr>
              <a:lnSpc>
                <a:spcPct val="16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92519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4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4000" dirty="0" smtClean="0">
                <a:latin typeface="Times New Roman" pitchFamily="18" charset="0"/>
                <a:cs typeface="Times New Roman" pitchFamily="18" charset="0"/>
              </a:rPr>
              <a:t>Chapter </a:t>
            </a:r>
            <a:r>
              <a:rPr lang="en-GB" sz="4000" dirty="0">
                <a:latin typeface="Times New Roman" pitchFamily="18" charset="0"/>
                <a:cs typeface="Times New Roman" pitchFamily="18" charset="0"/>
              </a:rPr>
              <a:t>content: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view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Basics and risks of SSI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Prevention of SSI 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Monitoring and surveillance of SSIs 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Quality improvement for prevention of SSIs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Summary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0052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Chapter Objective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70000"/>
              </a:lnSpc>
              <a:buNone/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By the end of this chapter, participants will be able to</a:t>
            </a:r>
            <a:endParaRPr lang="en-US" sz="4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70000"/>
              </a:lnSpc>
              <a:buFont typeface="Arial" pitchFamily="34" charset="0"/>
              <a:buChar char="•"/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      Understand 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Surgical site infection (SSI) basics: epidemiology and </a:t>
            </a: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  microbiology</a:t>
            </a:r>
            <a:r>
              <a:rPr lang="en-US" sz="4200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lnSpc>
                <a:spcPct val="170000"/>
              </a:lnSpc>
              <a:buFont typeface="Arial" pitchFamily="34" charset="0"/>
              <a:buChar char="•"/>
            </a:pP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Identify 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Major risk factors for SSI </a:t>
            </a:r>
            <a:endParaRPr lang="en-US" sz="4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70000"/>
              </a:lnSpc>
              <a:buFont typeface="Arial" pitchFamily="34" charset="0"/>
              <a:buChar char="•"/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     Understand 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Prevention of SSI </a:t>
            </a:r>
            <a:endParaRPr lang="en-US" sz="4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70000"/>
              </a:lnSpc>
              <a:buFont typeface="Arial" pitchFamily="34" charset="0"/>
              <a:buChar char="•"/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     Understand 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Monitoring and surveillance of SSIs </a:t>
            </a:r>
            <a:endParaRPr lang="en-US" sz="4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70000"/>
              </a:lnSpc>
              <a:buFont typeface="Arial" pitchFamily="34" charset="0"/>
              <a:buChar char="•"/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     Understand 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Process improvement for prevention of SSIs</a:t>
            </a:r>
            <a:endParaRPr lang="en-US" sz="4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1802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914400"/>
          </a:xfrm>
        </p:spPr>
        <p:txBody>
          <a:bodyPr/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519" y="1828800"/>
            <a:ext cx="10134599" cy="43434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development of postoperative infections following microorganism contamination depends on the following factors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Number of microorganisms entering the wound</a:t>
            </a:r>
          </a:p>
          <a:p>
            <a:pPr lvl="0"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Type and virulence (i.e., ability to cause disease) of the bacteria </a:t>
            </a:r>
          </a:p>
          <a:p>
            <a:pPr lvl="0"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Strength of the patient’s defense mechanisms (e.g., status of the immune system) </a:t>
            </a:r>
          </a:p>
          <a:p>
            <a:pPr lvl="0"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External factors, such as the patient’s preoperative length of stay at the health care facility or the duration of the surgery (more than 4 hours) </a:t>
            </a:r>
          </a:p>
        </p:txBody>
      </p:sp>
    </p:spTree>
    <p:extLst>
      <p:ext uri="{BB962C8B-B14F-4D97-AF65-F5344CB8AC3E}">
        <p14:creationId xmlns:p14="http://schemas.microsoft.com/office/powerpoint/2010/main" xmlns="" val="654008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Cont..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Sources of bacterial contamination may include</a:t>
            </a:r>
          </a:p>
          <a:p>
            <a:pPr>
              <a:lnSpc>
                <a:spcPct val="150000"/>
              </a:lnSpc>
              <a:spcBef>
                <a:spcPts val="599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The hands of the surgical HCWs</a:t>
            </a:r>
            <a:endParaRPr lang="en-US" sz="24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599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Contaminated instruments, drapes, surgical gloves, or other equipment used in the surgery</a:t>
            </a:r>
            <a:endParaRPr lang="en-US" sz="24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599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Contaminated surfaces and/or air in the OT</a:t>
            </a:r>
            <a:endParaRPr lang="en-US" sz="24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104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Risk factors for SSI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Risk factors can </a:t>
            </a:r>
            <a:r>
              <a:rPr lang="en-US" sz="8000" dirty="0" err="1" smtClean="0">
                <a:latin typeface="Times New Roman" pitchFamily="18" charset="0"/>
                <a:cs typeface="Times New Roman" pitchFamily="18" charset="0"/>
              </a:rPr>
              <a:t>be:Patient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Related or Procedure/practice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related</a:t>
            </a:r>
          </a:p>
          <a:p>
            <a:pPr lvl="0">
              <a:lnSpc>
                <a:spcPct val="170000"/>
              </a:lnSpc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Patient related include:</a:t>
            </a:r>
          </a:p>
          <a:p>
            <a:pPr lvl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Age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(e.g., elderly or &lt; 5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years)</a:t>
            </a:r>
          </a:p>
          <a:p>
            <a:pPr lvl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Poor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nutritional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status</a:t>
            </a:r>
          </a:p>
          <a:p>
            <a:pPr lvl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Uncontrolled </a:t>
            </a:r>
            <a:r>
              <a:rPr lang="en-US" sz="8000" dirty="0" err="1" smtClean="0">
                <a:latin typeface="Times New Roman" pitchFamily="18" charset="0"/>
                <a:cs typeface="Times New Roman" pitchFamily="18" charset="0"/>
              </a:rPr>
              <a:t>diabetes,Smoking,Obesity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Altered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immune </a:t>
            </a:r>
            <a:r>
              <a:rPr lang="en-US" sz="8000" dirty="0" err="1" smtClean="0">
                <a:latin typeface="Times New Roman" pitchFamily="18" charset="0"/>
                <a:cs typeface="Times New Roman" pitchFamily="18" charset="0"/>
              </a:rPr>
              <a:t>response,Length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of preoperative stay</a:t>
            </a:r>
          </a:p>
          <a:p>
            <a:pPr marL="0" indent="0">
              <a:lnSpc>
                <a:spcPct val="170000"/>
              </a:lnSpc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507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Preoperative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Lack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preoperative bathing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Inappropriate preoperative patient hair removal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Inappropriate preoperative patient skin preparation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Inadequate preoperative HCW hand and forearm antiseptic surgical scrub</a:t>
            </a:r>
          </a:p>
        </p:txBody>
      </p:sp>
    </p:spTree>
    <p:extLst>
      <p:ext uri="{BB962C8B-B14F-4D97-AF65-F5344CB8AC3E}">
        <p14:creationId xmlns:p14="http://schemas.microsoft.com/office/powerpoint/2010/main" xmlns="" val="1046058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Cont…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Postoperative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Lack of normal glucose levels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Poor wound care practices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6743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Prevention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of Surgical Site Infections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Patient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preparations:includes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Control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RBS,BP,body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weight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Stop smoking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Patient education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81681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3200" dirty="0" smtClean="0"/>
              <a:t> 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Skin Preparation Prior To Surgical Procedures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GB" sz="3400" b="1" dirty="0"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GB" sz="3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sz="3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800" dirty="0">
                <a:latin typeface="Times New Roman" pitchFamily="18" charset="0"/>
                <a:cs typeface="Times New Roman" pitchFamily="18" charset="0"/>
              </a:rPr>
              <a:t>Do not shave hair </a:t>
            </a:r>
            <a:r>
              <a:rPr lang="en-GB" sz="3800" dirty="0" smtClean="0">
                <a:latin typeface="Times New Roman" pitchFamily="18" charset="0"/>
                <a:cs typeface="Times New Roman" pitchFamily="18" charset="0"/>
              </a:rPr>
              <a:t>around </a:t>
            </a:r>
            <a:r>
              <a:rPr lang="en-GB" sz="3800" dirty="0">
                <a:latin typeface="Times New Roman" pitchFamily="18" charset="0"/>
                <a:cs typeface="Times New Roman" pitchFamily="18" charset="0"/>
              </a:rPr>
              <a:t>the operative </a:t>
            </a:r>
            <a:r>
              <a:rPr lang="en-GB" sz="3800" dirty="0" smtClean="0">
                <a:latin typeface="Times New Roman" pitchFamily="18" charset="0"/>
                <a:cs typeface="Times New Roman" pitchFamily="18" charset="0"/>
              </a:rPr>
              <a:t>site.</a:t>
            </a:r>
          </a:p>
          <a:p>
            <a:pPr>
              <a:lnSpc>
                <a:spcPct val="170000"/>
              </a:lnSpc>
            </a:pPr>
            <a:r>
              <a:rPr lang="en-GB" sz="3400" b="1" dirty="0"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GB" sz="3400" b="1" dirty="0" smtClean="0">
                <a:latin typeface="Times New Roman" pitchFamily="18" charset="0"/>
                <a:cs typeface="Times New Roman" pitchFamily="18" charset="0"/>
              </a:rPr>
              <a:t>2:</a:t>
            </a:r>
            <a:r>
              <a:rPr lang="en-GB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800" dirty="0">
                <a:latin typeface="Times New Roman" pitchFamily="18" charset="0"/>
                <a:cs typeface="Times New Roman" pitchFamily="18" charset="0"/>
              </a:rPr>
              <a:t>Ask the patient about previous allergic </a:t>
            </a:r>
            <a:r>
              <a:rPr lang="en-GB" sz="3800" dirty="0" smtClean="0">
                <a:latin typeface="Times New Roman" pitchFamily="18" charset="0"/>
                <a:cs typeface="Times New Roman" pitchFamily="18" charset="0"/>
              </a:rPr>
              <a:t>reactions</a:t>
            </a:r>
          </a:p>
          <a:p>
            <a:pPr>
              <a:lnSpc>
                <a:spcPct val="170000"/>
              </a:lnSpc>
            </a:pPr>
            <a:r>
              <a:rPr lang="en-GB" sz="3400" b="1" dirty="0"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GB" sz="3400" b="1" dirty="0" smtClean="0">
                <a:latin typeface="Times New Roman" pitchFamily="18" charset="0"/>
                <a:cs typeface="Times New Roman" pitchFamily="18" charset="0"/>
              </a:rPr>
              <a:t>3:</a:t>
            </a:r>
            <a:r>
              <a:rPr lang="en-GB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800" dirty="0">
                <a:latin typeface="Times New Roman" pitchFamily="18" charset="0"/>
                <a:cs typeface="Times New Roman" pitchFamily="18" charset="0"/>
              </a:rPr>
              <a:t>Gently wash it with soap and clean water and dry the area </a:t>
            </a:r>
          </a:p>
          <a:p>
            <a:pPr>
              <a:lnSpc>
                <a:spcPct val="170000"/>
              </a:lnSpc>
            </a:pPr>
            <a:r>
              <a:rPr lang="en-GB" sz="3800" b="1" dirty="0">
                <a:latin typeface="Times New Roman" pitchFamily="18" charset="0"/>
                <a:cs typeface="Times New Roman" pitchFamily="18" charset="0"/>
              </a:rPr>
              <a:t>STEP 4</a:t>
            </a:r>
            <a:r>
              <a:rPr lang="en-GB" sz="3800" dirty="0">
                <a:latin typeface="Times New Roman" pitchFamily="18" charset="0"/>
                <a:cs typeface="Times New Roman" pitchFamily="18" charset="0"/>
              </a:rPr>
              <a:t> Using dry, high-level disinfected forceps and new cotton or gauze squares soaked in antiseptic to thoroughly cleanse the </a:t>
            </a:r>
            <a:r>
              <a:rPr lang="en-GB" sz="3800" dirty="0" smtClean="0">
                <a:latin typeface="Times New Roman" pitchFamily="18" charset="0"/>
                <a:cs typeface="Times New Roman" pitchFamily="18" charset="0"/>
              </a:rPr>
              <a:t>skin.3</a:t>
            </a:r>
          </a:p>
          <a:p>
            <a:pPr>
              <a:lnSpc>
                <a:spcPct val="170000"/>
              </a:lnSpc>
            </a:pPr>
            <a:r>
              <a:rPr lang="en-GB" sz="3400" b="1" dirty="0">
                <a:latin typeface="Times New Roman" pitchFamily="18" charset="0"/>
                <a:cs typeface="Times New Roman" pitchFamily="18" charset="0"/>
              </a:rPr>
              <a:t>STEP 5</a:t>
            </a:r>
            <a:r>
              <a:rPr lang="en-GB" sz="3400" dirty="0">
                <a:latin typeface="Times New Roman" pitchFamily="18" charset="0"/>
                <a:cs typeface="Times New Roman" pitchFamily="18" charset="0"/>
              </a:rPr>
              <a:t> :</a:t>
            </a:r>
            <a:r>
              <a:rPr lang="en-GB" sz="3800" dirty="0">
                <a:latin typeface="Times New Roman" pitchFamily="18" charset="0"/>
                <a:cs typeface="Times New Roman" pitchFamily="18" charset="0"/>
              </a:rPr>
              <a:t>Allow the antiseptic enough time for better effect before beginning the procedure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479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Operating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theater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Ventilation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Environmental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cleaning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Sterile instruments</a:t>
            </a:r>
          </a:p>
        </p:txBody>
      </p:sp>
    </p:spTree>
    <p:extLst>
      <p:ext uri="{BB962C8B-B14F-4D97-AF65-F5344CB8AC3E}">
        <p14:creationId xmlns:p14="http://schemas.microsoft.com/office/powerpoint/2010/main" xmlns="" val="398335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Preoperative Measures to Prevent SSIs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Preoperative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bathing</a:t>
            </a:r>
          </a:p>
          <a:p>
            <a:pPr>
              <a:lnSpc>
                <a:spcPct val="17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Decolonization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Preoperative surgical antibiotic prophylaxis (SAP):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bowel preparation and the use of oral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antibiotics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 removal</a:t>
            </a:r>
          </a:p>
        </p:txBody>
      </p:sp>
    </p:spTree>
    <p:extLst>
      <p:ext uri="{BB962C8B-B14F-4D97-AF65-F5344CB8AC3E}">
        <p14:creationId xmlns:p14="http://schemas.microsoft.com/office/powerpoint/2010/main" xmlns="" val="1323596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Intraoperative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Measures to Prevent SSIs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Surgical techniques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absorbable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sutures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Perioperative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oxygenation</a:t>
            </a:r>
          </a:p>
        </p:txBody>
      </p:sp>
    </p:spTree>
    <p:extLst>
      <p:ext uri="{BB962C8B-B14F-4D97-AF65-F5344CB8AC3E}">
        <p14:creationId xmlns:p14="http://schemas.microsoft.com/office/powerpoint/2010/main" xmlns="" val="2994368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Surgical site Infection Prevention and Control Practice Bundle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Patient preoperative bathing with plain or antiseptic soap 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Appropriate hair removal (avoid removal or use clippers) 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Optimize patient skin preparation with alcohol-based and </a:t>
            </a:r>
            <a:r>
              <a:rPr lang="en-US" sz="7200" dirty="0" err="1">
                <a:latin typeface="Times New Roman" pitchFamily="18" charset="0"/>
                <a:cs typeface="Times New Roman" pitchFamily="18" charset="0"/>
              </a:rPr>
              <a:t>chlorhexidine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-based skin disinfection products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Optimize surgical hand 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preparation.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Appropriate antibiotic 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prophylaxis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Improved OT 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discipline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9670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Surveillance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of Surgical Site Infections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7200" b="1" dirty="0">
                <a:latin typeface="Times New Roman" pitchFamily="18" charset="0"/>
                <a:cs typeface="Times New Roman" pitchFamily="18" charset="0"/>
              </a:rPr>
              <a:t>Steps in the SSI surveillance process: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Decide which procedures to monitor </a:t>
            </a:r>
            <a:endParaRPr lang="en-US" sz="7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Define the numerator and 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denominator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Use the definition from a credible source.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Develop a process to identify cases </a:t>
            </a:r>
            <a:endParaRPr lang="en-US" sz="7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Collate data and prepare 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reports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Initiate quality improvement activities as necessary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593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Summary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Surgical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site infections are a major cause of HAIs. Basic, lifesaving operations (e.g., appendectomies and C-sections) are associated with high infection and mortality rates in limited-resource settings. Relatively simple and inexpensive steps can be taken to reduce the risk; however, success requires commitment at all levels of the health care system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63830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6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696</TotalTime>
  <Words>600</Words>
  <Application>Microsoft Office PowerPoint</Application>
  <PresentationFormat>Custom</PresentationFormat>
  <Paragraphs>95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Theme6</vt:lpstr>
      <vt:lpstr>VOLUME 2 SECTION 2 CHAPTER 1:PREVENTION OF SURGICAL SITE INFECTION </vt:lpstr>
      <vt:lpstr>Chapter Outline</vt:lpstr>
      <vt:lpstr> Chapter content: </vt:lpstr>
      <vt:lpstr>Chapter Objective</vt:lpstr>
      <vt:lpstr>Overview</vt:lpstr>
      <vt:lpstr>Cont..</vt:lpstr>
      <vt:lpstr> Risk factors for SSI </vt:lpstr>
      <vt:lpstr>Preoperative</vt:lpstr>
      <vt:lpstr>Cont…</vt:lpstr>
      <vt:lpstr>  Prevention of Surgical Site Infections </vt:lpstr>
      <vt:lpstr> Skin Preparation Prior To Surgical Procedures   </vt:lpstr>
      <vt:lpstr>Operating theater preparation</vt:lpstr>
      <vt:lpstr> Preoperative Measures to Prevent SSIs</vt:lpstr>
      <vt:lpstr> Intraoperative Measures to Prevent SSIs </vt:lpstr>
      <vt:lpstr> Surgical site Infection Prevention and Control Practice Bundle </vt:lpstr>
      <vt:lpstr>Surveillance of Surgical Site Infections</vt:lpstr>
      <vt:lpstr> Summary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Infection Prevention and Patient Safety</dc:title>
  <dc:creator>user</dc:creator>
  <cp:lastModifiedBy>N</cp:lastModifiedBy>
  <cp:revision>86</cp:revision>
  <dcterms:created xsi:type="dcterms:W3CDTF">2018-12-17T08:49:22Z</dcterms:created>
  <dcterms:modified xsi:type="dcterms:W3CDTF">2020-01-01T17:05:05Z</dcterms:modified>
</cp:coreProperties>
</file>