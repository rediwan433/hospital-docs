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91" d="100"/>
          <a:sy n="91" d="100"/>
        </p:scale>
        <p:origin x="-1210" y="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3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7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10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688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36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60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85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200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237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661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2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BD9A1A-E38D-4E70-9390-5452C16186F0}" type="datetimeFigureOut">
              <a:rPr lang="en-US" smtClean="0"/>
              <a:t>12/29/2018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70481-6BE3-48BB-AD41-9D6ADD605F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963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Chapter 11</a:t>
            </a:r>
            <a:r>
              <a:rPr lang="en-US" sz="4800" b="1" dirty="0" smtClean="0"/>
              <a:t>:</a:t>
            </a:r>
            <a:endParaRPr lang="en-US" sz="48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800" b="1" dirty="0">
                <a:solidFill>
                  <a:srgbClr val="00B050"/>
                </a:solidFill>
              </a:rPr>
              <a:t>Food </a:t>
            </a:r>
            <a:r>
              <a:rPr lang="en-US" sz="4800" b="1" dirty="0">
                <a:solidFill>
                  <a:schemeClr val="tx1"/>
                </a:solidFill>
              </a:rPr>
              <a:t>and</a:t>
            </a:r>
            <a:r>
              <a:rPr lang="en-US" sz="4800" b="1" dirty="0">
                <a:solidFill>
                  <a:srgbClr val="00B050"/>
                </a:solidFill>
              </a:rPr>
              <a:t> </a:t>
            </a:r>
            <a:r>
              <a:rPr lang="en-US" sz="4800" b="1" dirty="0">
                <a:solidFill>
                  <a:srgbClr val="00B0F0"/>
                </a:solidFill>
              </a:rPr>
              <a:t>water</a:t>
            </a:r>
            <a:r>
              <a:rPr lang="en-US" sz="4800" b="1" dirty="0">
                <a:solidFill>
                  <a:srgbClr val="00B050"/>
                </a:solidFill>
              </a:rPr>
              <a:t> safety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141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imes New Roman"/>
                <a:ea typeface="Calibri"/>
              </a:rPr>
              <a:t>B</a:t>
            </a:r>
            <a:r>
              <a:rPr lang="en-US" b="1" dirty="0" smtClean="0">
                <a:effectLst/>
                <a:latin typeface="Times New Roman"/>
                <a:ea typeface="Calibri"/>
              </a:rPr>
              <a:t>asic principles of food safety at health facilities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Hygiene of Food Service Staff</a:t>
            </a:r>
          </a:p>
          <a:p>
            <a:pPr marL="514350" indent="-514350">
              <a:buAutoNum type="arabicPeriod"/>
            </a:pPr>
            <a:r>
              <a:rPr lang="en-US" dirty="0" smtClean="0"/>
              <a:t>Food Holding temperatures</a:t>
            </a:r>
          </a:p>
          <a:p>
            <a:pPr marL="514350" indent="-514350">
              <a:buAutoNum type="arabicPeriod"/>
            </a:pPr>
            <a:r>
              <a:rPr lang="en-US" dirty="0" smtClean="0"/>
              <a:t>Cooking of food</a:t>
            </a:r>
          </a:p>
          <a:p>
            <a:pPr marL="514350" indent="-514350">
              <a:buAutoNum type="arabicPeriod"/>
            </a:pPr>
            <a:r>
              <a:rPr lang="en-US" dirty="0" smtClean="0"/>
              <a:t>Cleanliness of kitchen and equipment </a:t>
            </a:r>
          </a:p>
          <a:p>
            <a:pPr marL="514350" indent="-514350">
              <a:buAutoNum type="arabicPeriod"/>
            </a:pPr>
            <a:r>
              <a:rPr lang="en-US" dirty="0" smtClean="0"/>
              <a:t>purchasing, transportation and storage of food</a:t>
            </a:r>
          </a:p>
          <a:p>
            <a:pPr marL="514350" indent="-514350">
              <a:buAutoNum type="arabicPeriod"/>
            </a:pPr>
            <a:r>
              <a:rPr lang="en-US" dirty="0" smtClean="0"/>
              <a:t>Educate or assist the hospitalized patients and care takers- on hand washing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84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smtClean="0"/>
              <a:t>1. Hygiene of Food Service Staff</a:t>
            </a:r>
            <a:br>
              <a:rPr lang="en-US" b="1" dirty="0" smtClean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 fontScale="70000" lnSpcReduction="20000"/>
          </a:bodyPr>
          <a:lstStyle/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b="1" dirty="0">
                <a:latin typeface="Times New Roman"/>
                <a:ea typeface="TimesNewRomanPSMT"/>
                <a:cs typeface="Times New Roman"/>
              </a:rPr>
              <a:t>S</a:t>
            </a:r>
            <a:r>
              <a:rPr lang="en-US" b="1" dirty="0" smtClean="0">
                <a:effectLst/>
                <a:latin typeface="Times New Roman"/>
                <a:ea typeface="TimesNewRomanPSMT"/>
                <a:cs typeface="Times New Roman"/>
              </a:rPr>
              <a:t>taff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Supervised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by a knowledgeable person. </a:t>
            </a:r>
            <a:endParaRPr lang="en-US" sz="2800" dirty="0">
              <a:ea typeface="Calibri"/>
              <a:cs typeface="Times New Roman"/>
            </a:endParaRPr>
          </a:p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Hand hygiene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(hand washing or alcohol based hand rub at critical times) </a:t>
            </a:r>
          </a:p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Report</a:t>
            </a:r>
            <a:r>
              <a:rPr lang="en-US" b="1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any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gastrointestinal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proble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skin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lesions, </a:t>
            </a:r>
            <a:r>
              <a:rPr lang="en-US" dirty="0" smtClean="0">
                <a:effectLst/>
                <a:latin typeface="Times New Roman"/>
                <a:ea typeface="TimesNewRomanPSMT"/>
                <a:cs typeface="Times New Roman"/>
              </a:rPr>
              <a:t>and  undergo </a:t>
            </a:r>
            <a:r>
              <a:rPr lang="en-US" b="1" dirty="0" smtClean="0">
                <a:effectLst/>
                <a:latin typeface="Times New Roman"/>
                <a:ea typeface="TimesNewRomanPSMT"/>
                <a:cs typeface="Times New Roman"/>
              </a:rPr>
              <a:t>quarterly medical checkup</a:t>
            </a:r>
            <a:r>
              <a:rPr lang="en-US" dirty="0" smtClean="0">
                <a:effectLst/>
                <a:latin typeface="Times New Roman"/>
                <a:ea typeface="TimesNewRomanPSMT"/>
                <a:cs typeface="Times New Roman"/>
              </a:rPr>
              <a:t>.</a:t>
            </a:r>
            <a:endParaRPr lang="en-US" sz="2800" dirty="0">
              <a:ea typeface="Calibri"/>
              <a:cs typeface="Times New Roman"/>
            </a:endParaRPr>
          </a:p>
          <a:p>
            <a:pPr marL="36576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b="1" dirty="0" smtClean="0">
                <a:effectLst/>
                <a:latin typeface="Times New Roman"/>
                <a:ea typeface="Calibri"/>
                <a:cs typeface="Times New Roman"/>
              </a:rPr>
              <a:t>Food handlers with diarrhea should be immediately removed </a:t>
            </a:r>
          </a:p>
          <a:p>
            <a:pPr marL="36576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They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n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eed to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know how to inspect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properly; prepare and store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foods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they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handle;</a:t>
            </a:r>
            <a:endParaRPr lang="en-US" sz="2800" dirty="0">
              <a:ea typeface="Calibri"/>
              <a:cs typeface="Times New Roman"/>
            </a:endParaRPr>
          </a:p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Know how to</a:t>
            </a:r>
            <a:r>
              <a:rPr lang="en-US" b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clean</a:t>
            </a:r>
            <a:r>
              <a:rPr lang="en-US" b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b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operate</a:t>
            </a:r>
            <a:r>
              <a:rPr lang="en-US" b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equip</a:t>
            </a:r>
            <a:r>
              <a:rPr lang="en-US" b="1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ent</a:t>
            </a:r>
            <a:r>
              <a:rPr lang="en-US" b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they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use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such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as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knives and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dishwashers </a:t>
            </a:r>
            <a:endParaRPr lang="en-US" sz="2800" dirty="0">
              <a:ea typeface="Calibri"/>
              <a:cs typeface="Times New Roman"/>
            </a:endParaRPr>
          </a:p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dirty="0" smtClean="0">
                <a:effectLst/>
                <a:latin typeface="Times New Roman"/>
                <a:ea typeface="Calibri"/>
                <a:cs typeface="Times New Roman"/>
              </a:rPr>
              <a:t>Kitchen staff should </a:t>
            </a:r>
            <a:r>
              <a:rPr lang="en-US" b="1" dirty="0" smtClean="0">
                <a:effectLst/>
                <a:latin typeface="Times New Roman"/>
                <a:ea typeface="Calibri"/>
                <a:cs typeface="Times New Roman"/>
              </a:rPr>
              <a:t>have access to PPE </a:t>
            </a:r>
            <a:r>
              <a:rPr lang="en-US" dirty="0" smtClean="0">
                <a:effectLst/>
                <a:latin typeface="Times New Roman"/>
                <a:ea typeface="Calibri"/>
                <a:cs typeface="Times New Roman"/>
              </a:rPr>
              <a:t>(face masks, hair covers, and plastic aprons at a minimum). </a:t>
            </a:r>
          </a:p>
          <a:p>
            <a:pPr marL="365760" marR="49530" lvl="0" algn="just">
              <a:lnSpc>
                <a:spcPct val="115000"/>
              </a:lnSpc>
              <a:spcBef>
                <a:spcPts val="0"/>
              </a:spcBef>
              <a:buFont typeface="+mj-lt"/>
              <a:buAutoNum type="alphaLcPeriod"/>
              <a:tabLst>
                <a:tab pos="520700" algn="l"/>
              </a:tabLst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Able to plan and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conduct </a:t>
            </a:r>
            <a:r>
              <a:rPr lang="en-US" b="1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anage</a:t>
            </a:r>
            <a:r>
              <a:rPr lang="en-US" b="1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ent of wastes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.</a:t>
            </a:r>
            <a:endParaRPr lang="en-US" sz="2800" dirty="0">
              <a:ea typeface="Calibri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60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172200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2800" b="1" dirty="0" smtClean="0">
                <a:effectLst/>
                <a:latin typeface="Times New Roman"/>
                <a:ea typeface="TimesNewRomanPSMT"/>
              </a:rPr>
              <a:t>2. Food Holding temperatures </a:t>
            </a:r>
            <a:endParaRPr lang="en-US" dirty="0" smtClean="0">
              <a:effectLst/>
            </a:endParaRPr>
          </a:p>
          <a:p>
            <a:pPr marL="400050" lvl="1" indent="0" algn="just">
              <a:buNone/>
            </a:pPr>
            <a:r>
              <a:rPr lang="en-US" sz="2000" dirty="0" err="1" smtClean="0">
                <a:effectLst/>
                <a:latin typeface="Times New Roman"/>
                <a:ea typeface="TimesNewRomanPSMT"/>
              </a:rPr>
              <a:t>i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. Food should be hold above 60</a:t>
            </a:r>
            <a:r>
              <a:rPr lang="en-US" sz="2000" baseline="30000" dirty="0" smtClean="0">
                <a:effectLst/>
                <a:latin typeface="Times New Roman"/>
                <a:ea typeface="TimesNewRomanPSMT"/>
              </a:rPr>
              <a:t>o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C/40oF or below 7 </a:t>
            </a:r>
            <a:r>
              <a:rPr lang="en-US" sz="2000" baseline="30000" dirty="0" smtClean="0">
                <a:effectLst/>
                <a:latin typeface="Times New Roman"/>
                <a:ea typeface="TimesNewRomanPSMT"/>
              </a:rPr>
              <a:t>0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C/45</a:t>
            </a:r>
            <a:r>
              <a:rPr lang="en-US" sz="2000" baseline="30000" dirty="0" smtClean="0">
                <a:effectLst/>
                <a:latin typeface="Times New Roman"/>
                <a:ea typeface="TimesNewRomanPSMT"/>
              </a:rPr>
              <a:t>o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F</a:t>
            </a:r>
            <a:endParaRPr lang="en-US" sz="2000" dirty="0" smtClean="0">
              <a:effectLst/>
            </a:endParaRPr>
          </a:p>
          <a:p>
            <a:pPr marL="400050" lvl="1" indent="0" algn="just">
              <a:buNone/>
            </a:pPr>
            <a:r>
              <a:rPr lang="en-US" sz="2000" dirty="0" smtClean="0">
                <a:effectLst/>
                <a:latin typeface="Times New Roman"/>
                <a:ea typeface="TimesNewRomanPSMT"/>
              </a:rPr>
              <a:t>j. Thermometers should be checked periodically. </a:t>
            </a:r>
            <a:endParaRPr lang="en-US" sz="2000" dirty="0" smtClean="0">
              <a:effectLst/>
            </a:endParaRPr>
          </a:p>
          <a:p>
            <a:pPr marL="400050" lvl="1" indent="0" algn="just">
              <a:buNone/>
            </a:pPr>
            <a:r>
              <a:rPr lang="en-US" sz="2000" dirty="0" smtClean="0">
                <a:effectLst/>
                <a:latin typeface="Times New Roman"/>
                <a:ea typeface="TimesNewRomanPSMT"/>
              </a:rPr>
              <a:t>k. Warm, perishable foods should be cooled before being stored.</a:t>
            </a:r>
          </a:p>
          <a:p>
            <a:pPr marL="400050" lvl="1" indent="0" algn="just">
              <a:buNone/>
            </a:pPr>
            <a:endParaRPr lang="en-US" sz="1100" dirty="0" smtClean="0">
              <a:effectLst/>
            </a:endParaRPr>
          </a:p>
          <a:p>
            <a:pPr marL="0" lvl="0" indent="0" algn="just">
              <a:buNone/>
            </a:pPr>
            <a:r>
              <a:rPr lang="en-US" sz="2800" b="1" dirty="0" smtClean="0">
                <a:effectLst/>
                <a:latin typeface="Times New Roman"/>
                <a:ea typeface="TimesNewRomanPSMT"/>
              </a:rPr>
              <a:t>3. Cooking of food</a:t>
            </a:r>
            <a:endParaRPr lang="en-US" sz="2800" dirty="0" smtClean="0">
              <a:effectLst/>
            </a:endParaRPr>
          </a:p>
          <a:p>
            <a:pPr marL="400050" lvl="1" indent="0" algn="just">
              <a:buNone/>
            </a:pPr>
            <a:r>
              <a:rPr lang="en-US" sz="2100" dirty="0" smtClean="0">
                <a:latin typeface="Times New Roman"/>
                <a:ea typeface="TimesNewRomanPSMT"/>
              </a:rPr>
              <a:t>L. 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Food should be cooked thoroughly </a:t>
            </a:r>
          </a:p>
          <a:p>
            <a:pPr marL="400050" lvl="1" indent="0" algn="just">
              <a:buNone/>
            </a:pPr>
            <a:r>
              <a:rPr lang="en-US" sz="2000" dirty="0" smtClean="0">
                <a:latin typeface="Times New Roman"/>
                <a:ea typeface="TimesNewRomanPSMT"/>
              </a:rPr>
              <a:t>M. </a:t>
            </a:r>
            <a:r>
              <a:rPr lang="en-US" sz="2000" dirty="0" smtClean="0">
                <a:effectLst/>
                <a:latin typeface="Times New Roman"/>
                <a:ea typeface="TimesNewRomanPSMT"/>
              </a:rPr>
              <a:t>Frozen food items should be thawed before cooking   </a:t>
            </a:r>
            <a:r>
              <a:rPr lang="en-US" sz="2000" i="1" dirty="0" smtClean="0">
                <a:effectLst/>
                <a:latin typeface="Times New Roman"/>
                <a:ea typeface="TimesNewRomanPSMT"/>
              </a:rPr>
              <a:t>(why?)</a:t>
            </a:r>
          </a:p>
          <a:p>
            <a:pPr marL="400050" lvl="1" indent="0" algn="just">
              <a:buNone/>
            </a:pPr>
            <a:endParaRPr lang="en-US" sz="1000" i="1" dirty="0">
              <a:latin typeface="Times New Roman"/>
            </a:endParaRPr>
          </a:p>
          <a:p>
            <a:pPr marL="0" lvl="0" indent="0" algn="just">
              <a:buNone/>
            </a:pPr>
            <a:r>
              <a:rPr lang="en-US" sz="2800" b="1" dirty="0" smtClean="0">
                <a:effectLst/>
                <a:latin typeface="Times New Roman"/>
                <a:ea typeface="TimesNewRomanPSMT"/>
              </a:rPr>
              <a:t>4. Cleanliness of kitchen and equipment </a:t>
            </a:r>
            <a:endParaRPr lang="en-US" sz="2800" dirty="0" smtClean="0">
              <a:effectLst/>
            </a:endParaRPr>
          </a:p>
          <a:p>
            <a:pPr marL="400050" lvl="1" indent="0" algn="just">
              <a:buNone/>
            </a:pPr>
            <a:r>
              <a:rPr lang="en-US" sz="2000" dirty="0" smtClean="0">
                <a:effectLst/>
                <a:latin typeface="Times New Roman"/>
                <a:ea typeface="TimesNewRomanPSMT"/>
              </a:rPr>
              <a:t>N</a:t>
            </a:r>
            <a:r>
              <a:rPr lang="en-US" sz="2000" b="1" i="1" dirty="0" smtClean="0">
                <a:effectLst/>
                <a:latin typeface="Times New Roman"/>
                <a:ea typeface="TimesNewRomanPSMT"/>
              </a:rPr>
              <a:t>. </a:t>
            </a:r>
            <a:r>
              <a:rPr lang="en-US" sz="2000" dirty="0">
                <a:latin typeface="Times New Roman"/>
                <a:ea typeface="TimesNewRomanPSMT"/>
              </a:rPr>
              <a:t>Cleanliness of the kitchen has to be done on daily basis (at end of day).</a:t>
            </a:r>
          </a:p>
          <a:p>
            <a:pPr marL="400050" lvl="1" indent="0" algn="just">
              <a:buNone/>
            </a:pPr>
            <a:r>
              <a:rPr lang="en-US" sz="2000" dirty="0">
                <a:latin typeface="Times New Roman"/>
                <a:ea typeface="TimesNewRomanPSMT"/>
              </a:rPr>
              <a:t>O. Ensure equipment cleaning and disinfection, </a:t>
            </a:r>
          </a:p>
          <a:p>
            <a:pPr marL="400050" lvl="1" indent="0" algn="just">
              <a:buNone/>
            </a:pPr>
            <a:r>
              <a:rPr lang="en-US" sz="2000" dirty="0">
                <a:latin typeface="Times New Roman"/>
                <a:ea typeface="TimesNewRomanPSMT"/>
              </a:rPr>
              <a:t>P.  Utensils and cups be properly washed/ sanitized using the proper dish </a:t>
            </a:r>
          </a:p>
          <a:p>
            <a:pPr marL="400050" lvl="1" indent="0" algn="just">
              <a:buNone/>
            </a:pPr>
            <a:r>
              <a:rPr lang="en-US" sz="2000" dirty="0">
                <a:latin typeface="Times New Roman"/>
                <a:ea typeface="TimesNewRomanPSMT"/>
              </a:rPr>
              <a:t>     washing methods. </a:t>
            </a:r>
          </a:p>
          <a:p>
            <a:pPr marL="400050" lvl="1" indent="0" algn="just">
              <a:buNone/>
            </a:pPr>
            <a:r>
              <a:rPr lang="en-US" sz="2000" dirty="0">
                <a:latin typeface="Times New Roman"/>
                <a:ea typeface="TimesNewRomanPSMT"/>
              </a:rPr>
              <a:t>Q. Food utensils should be washed with three compartment washing </a:t>
            </a:r>
          </a:p>
          <a:p>
            <a:pPr marL="400050" lvl="1" indent="0" algn="just">
              <a:buNone/>
            </a:pPr>
            <a:r>
              <a:rPr lang="en-US" sz="2000" dirty="0">
                <a:latin typeface="Times New Roman"/>
                <a:ea typeface="TimesNewRomanPSMT"/>
              </a:rPr>
              <a:t>     system. </a:t>
            </a:r>
          </a:p>
        </p:txBody>
      </p:sp>
    </p:spTree>
    <p:extLst>
      <p:ext uri="{BB962C8B-B14F-4D97-AF65-F5344CB8AC3E}">
        <p14:creationId xmlns:p14="http://schemas.microsoft.com/office/powerpoint/2010/main" val="2927460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"/>
            <a:ext cx="8229600" cy="5973763"/>
          </a:xfrm>
        </p:spPr>
        <p:txBody>
          <a:bodyPr>
            <a:normAutofit fontScale="92500"/>
          </a:bodyPr>
          <a:lstStyle/>
          <a:p>
            <a:pPr marL="0" lvl="0" indent="0" algn="just">
              <a:spcBef>
                <a:spcPts val="0"/>
              </a:spcBef>
              <a:buNone/>
            </a:pPr>
            <a:r>
              <a:rPr lang="en-US" sz="3000" b="1" dirty="0" smtClean="0">
                <a:effectLst/>
                <a:latin typeface="Times New Roman"/>
                <a:ea typeface="TimesNewRomanPSMT"/>
              </a:rPr>
              <a:t>5. Purchasing, transportation and storage of food</a:t>
            </a:r>
          </a:p>
          <a:p>
            <a:pPr marL="0" lvl="0" indent="0" algn="just">
              <a:spcBef>
                <a:spcPts val="0"/>
              </a:spcBef>
              <a:buNone/>
            </a:pPr>
            <a:endParaRPr lang="en-US" sz="900" dirty="0" smtClean="0">
              <a:effectLst/>
            </a:endParaRP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 smtClean="0">
                <a:effectLst/>
                <a:latin typeface="Times New Roman"/>
                <a:ea typeface="TimesNewRomanPSMT"/>
              </a:rPr>
              <a:t>R. Purchase raw food from known vendors that meet local inspection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>
                <a:latin typeface="Times New Roman"/>
                <a:ea typeface="TimesNewRomanPSMT"/>
              </a:rPr>
              <a:t> </a:t>
            </a:r>
            <a:r>
              <a:rPr lang="en-US" sz="2200" dirty="0" smtClean="0">
                <a:latin typeface="Times New Roman"/>
                <a:ea typeface="TimesNewRomanPSMT"/>
              </a:rPr>
              <a:t>    </a:t>
            </a:r>
            <a:r>
              <a:rPr lang="en-US" sz="2200" dirty="0" smtClean="0">
                <a:effectLst/>
                <a:latin typeface="Times New Roman"/>
                <a:ea typeface="TimesNewRomanPSMT"/>
              </a:rPr>
              <a:t>standards,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 smtClean="0">
                <a:effectLst/>
                <a:latin typeface="Times New Roman"/>
                <a:ea typeface="TimesNewRomanPSMT"/>
              </a:rPr>
              <a:t>S. Foods prepared at homes should not be shared with other hospitalized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>
                <a:latin typeface="Times New Roman"/>
                <a:ea typeface="TimesNewRomanPSMT"/>
              </a:rPr>
              <a:t> </a:t>
            </a:r>
            <a:r>
              <a:rPr lang="en-US" sz="2200" dirty="0" smtClean="0">
                <a:latin typeface="Times New Roman"/>
                <a:ea typeface="TimesNewRomanPSMT"/>
              </a:rPr>
              <a:t>    </a:t>
            </a:r>
            <a:r>
              <a:rPr lang="en-US" sz="2200" dirty="0" smtClean="0">
                <a:effectLst/>
                <a:latin typeface="Times New Roman"/>
                <a:ea typeface="TimesNewRomanPSMT"/>
              </a:rPr>
              <a:t>patients.</a:t>
            </a:r>
            <a:endParaRPr lang="en-US" sz="2200" dirty="0" smtClean="0">
              <a:effectLst/>
            </a:endParaRP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 smtClean="0">
                <a:effectLst/>
                <a:latin typeface="Times New Roman"/>
                <a:ea typeface="TimesNewRomanPSMT"/>
              </a:rPr>
              <a:t>T. Transporting purchased food with transportation free from biological and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>
                <a:latin typeface="Times New Roman"/>
                <a:ea typeface="TimesNewRomanPSMT"/>
              </a:rPr>
              <a:t> </a:t>
            </a:r>
            <a:r>
              <a:rPr lang="en-US" sz="2200" dirty="0" smtClean="0">
                <a:latin typeface="Times New Roman"/>
                <a:ea typeface="TimesNewRomanPSMT"/>
              </a:rPr>
              <a:t>    </a:t>
            </a:r>
            <a:r>
              <a:rPr lang="en-US" sz="2200" dirty="0" smtClean="0">
                <a:effectLst/>
                <a:latin typeface="Times New Roman"/>
                <a:ea typeface="TimesNewRomanPSMT"/>
              </a:rPr>
              <a:t>chemical contaminants. </a:t>
            </a:r>
            <a:endParaRPr lang="en-US" sz="2200" dirty="0" smtClean="0">
              <a:effectLst/>
            </a:endParaRP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 smtClean="0">
                <a:effectLst/>
                <a:latin typeface="Times New Roman"/>
                <a:ea typeface="TimesNewRomanPSMT"/>
              </a:rPr>
              <a:t>U. Storage of row and cooked food should be separate and with recommended </a:t>
            </a: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2200" dirty="0">
                <a:latin typeface="Times New Roman"/>
                <a:ea typeface="TimesNewRomanPSMT"/>
              </a:rPr>
              <a:t> </a:t>
            </a:r>
            <a:r>
              <a:rPr lang="en-US" sz="2200" dirty="0" smtClean="0">
                <a:latin typeface="Times New Roman"/>
                <a:ea typeface="TimesNewRomanPSMT"/>
              </a:rPr>
              <a:t>    </a:t>
            </a:r>
            <a:r>
              <a:rPr lang="en-US" sz="2200" dirty="0" smtClean="0">
                <a:effectLst/>
                <a:latin typeface="Times New Roman"/>
                <a:ea typeface="TimesNewRomanPSMT"/>
              </a:rPr>
              <a:t>temperature and be monitored on daily basis</a:t>
            </a:r>
            <a:endParaRPr lang="en-US" sz="2200" dirty="0" smtClean="0">
              <a:effectLst/>
            </a:endParaRPr>
          </a:p>
          <a:p>
            <a:pPr marL="571500" marR="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>
                <a:effectLst/>
                <a:latin typeface="Times New Roman"/>
                <a:ea typeface="TimesNewRomanPSMT"/>
              </a:rPr>
              <a:t> </a:t>
            </a:r>
            <a:endParaRPr lang="en-US" dirty="0" smtClean="0">
              <a:effectLst/>
            </a:endParaRPr>
          </a:p>
          <a:p>
            <a:pPr marL="0" lvl="0" indent="0" algn="just">
              <a:spcBef>
                <a:spcPts val="0"/>
              </a:spcBef>
              <a:buNone/>
            </a:pPr>
            <a:r>
              <a:rPr lang="en-US" sz="3000" b="1" dirty="0" smtClean="0">
                <a:effectLst/>
                <a:latin typeface="Times New Roman"/>
                <a:ea typeface="TimesNewRomanPSMT"/>
              </a:rPr>
              <a:t>6. Educate or assist the hospitalized patients and care takers</a:t>
            </a:r>
            <a:r>
              <a:rPr lang="en-US" sz="3000" dirty="0" smtClean="0">
                <a:effectLst/>
                <a:latin typeface="Times New Roman"/>
                <a:ea typeface="TimesNewRomanPSMT"/>
              </a:rPr>
              <a:t>: </a:t>
            </a:r>
            <a:endParaRPr lang="en-US" sz="3000" dirty="0" smtClean="0">
              <a:effectLst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200" dirty="0" smtClean="0">
                <a:latin typeface="Times New Roman"/>
                <a:ea typeface="TimesNewRomanPSMT"/>
              </a:rPr>
              <a:t>V. Educate </a:t>
            </a:r>
            <a:r>
              <a:rPr lang="en-US" sz="2200" dirty="0">
                <a:latin typeface="Times New Roman"/>
                <a:ea typeface="TimesNewRomanPSMT"/>
              </a:rPr>
              <a:t>about hand washing during critical times(before preparing food, </a:t>
            </a:r>
            <a:endParaRPr lang="en-US" sz="2200" dirty="0" smtClean="0">
              <a:latin typeface="Times New Roman"/>
              <a:ea typeface="TimesNewRomanPSMT"/>
            </a:endParaRPr>
          </a:p>
          <a:p>
            <a:pPr marL="0" indent="0" algn="just">
              <a:spcBef>
                <a:spcPts val="0"/>
              </a:spcBef>
              <a:buNone/>
            </a:pPr>
            <a:r>
              <a:rPr lang="en-US" sz="2200" dirty="0">
                <a:latin typeface="Times New Roman"/>
                <a:ea typeface="TimesNewRomanPSMT"/>
              </a:rPr>
              <a:t> </a:t>
            </a:r>
            <a:r>
              <a:rPr lang="en-US" sz="2200" dirty="0" smtClean="0">
                <a:latin typeface="Times New Roman"/>
                <a:ea typeface="TimesNewRomanPSMT"/>
              </a:rPr>
              <a:t>    before </a:t>
            </a:r>
            <a:r>
              <a:rPr lang="en-US" sz="2200" dirty="0">
                <a:latin typeface="Times New Roman"/>
                <a:ea typeface="TimesNewRomanPSMT"/>
              </a:rPr>
              <a:t>eating, after toilet)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54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/>
          </a:bodyPr>
          <a:lstStyle/>
          <a:p>
            <a:r>
              <a:rPr lang="en-US" sz="4800" b="1" dirty="0" smtClean="0"/>
              <a:t>Water Safety</a:t>
            </a:r>
            <a:endParaRPr lang="en-US" sz="48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What is the relationship of WATER, HEALTH and QUALITY OF DRINKING WATER?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What do we mean by drinking water quality surveillance (DWQS) 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Do you know four components DWQS 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75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3562"/>
          </a:xfrm>
        </p:spPr>
        <p:txBody>
          <a:bodyPr>
            <a:normAutofit fontScale="90000"/>
          </a:bodyPr>
          <a:lstStyle/>
          <a:p>
            <a:r>
              <a:rPr lang="en-US" b="1" cap="all" dirty="0" smtClean="0">
                <a:effectLst/>
                <a:latin typeface="Times New Roman"/>
                <a:ea typeface="Times New Roman"/>
                <a:cs typeface="Times New Roman"/>
              </a:rPr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211763"/>
          </a:xfrm>
        </p:spPr>
        <p:txBody>
          <a:bodyPr>
            <a:normAutofit fontScale="47500" lnSpcReduction="20000"/>
          </a:bodyPr>
          <a:lstStyle/>
          <a:p>
            <a:pPr marR="48260" algn="just">
              <a:lnSpc>
                <a:spcPct val="115000"/>
              </a:lnSpc>
              <a:spcBef>
                <a:spcPts val="340"/>
              </a:spcBef>
              <a:tabLst>
                <a:tab pos="304800" algn="l"/>
              </a:tabLst>
            </a:pPr>
            <a:r>
              <a:rPr lang="en-US" b="1" cap="all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Educate</a:t>
            </a:r>
            <a:r>
              <a:rPr lang="en-US" b="1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h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ospit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li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z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ed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p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atie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t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c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are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kers</a:t>
            </a:r>
            <a:r>
              <a:rPr lang="en-US" spc="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on need of hand washing </a:t>
            </a:r>
          </a:p>
          <a:p>
            <a:pPr marL="514350" marR="48895" indent="-457200" algn="just">
              <a:lnSpc>
                <a:spcPct val="115000"/>
              </a:lnSpc>
              <a:spcBef>
                <a:spcPts val="340"/>
              </a:spcBef>
              <a:tabLst>
                <a:tab pos="304800" algn="l"/>
                <a:tab pos="3429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Medical</a:t>
            </a:r>
            <a:r>
              <a:rPr lang="en-US" b="1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Checkup</a:t>
            </a:r>
            <a:r>
              <a:rPr lang="en-US" b="1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of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food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handlers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should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be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done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quarterly.</a:t>
            </a:r>
            <a:endParaRPr lang="en-US" sz="2800" dirty="0">
              <a:ea typeface="Calibri"/>
              <a:cs typeface="Times New Roman"/>
            </a:endParaRPr>
          </a:p>
          <a:p>
            <a:pPr marL="514350" marR="48895" indent="-457200" algn="just">
              <a:lnSpc>
                <a:spcPct val="115000"/>
              </a:lnSpc>
              <a:spcBef>
                <a:spcPts val="340"/>
              </a:spcBef>
              <a:tabLst>
                <a:tab pos="304800" algn="l"/>
                <a:tab pos="342900" algn="l"/>
              </a:tabLst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Cleanliness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of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kitchen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has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done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daily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endParaRPr lang="en-US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marL="533400" marR="48895" indent="-457200" algn="just">
              <a:lnSpc>
                <a:spcPct val="115000"/>
              </a:lnSpc>
              <a:spcBef>
                <a:spcPts val="345"/>
              </a:spcBef>
              <a:tabLst>
                <a:tab pos="3048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Ensure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Equipment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Cleaning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Disinfection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: </a:t>
            </a:r>
            <a:endParaRPr lang="en-US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marL="76200" marR="0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Purchase</a:t>
            </a:r>
            <a:r>
              <a:rPr lang="en-US" b="1" spc="19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raw</a:t>
            </a:r>
            <a:r>
              <a:rPr lang="en-US" b="1" spc="19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food</a:t>
            </a:r>
            <a:r>
              <a:rPr lang="en-US" b="1" spc="19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from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known</a:t>
            </a:r>
            <a:r>
              <a:rPr lang="en-US" spc="19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vendors</a:t>
            </a:r>
            <a:r>
              <a:rPr lang="en-US" spc="19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that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eet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local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inspection</a:t>
            </a:r>
            <a:r>
              <a:rPr lang="en-US" spc="20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standards.</a:t>
            </a:r>
            <a:endParaRPr lang="en-US" sz="2800" dirty="0">
              <a:ea typeface="Calibri"/>
              <a:cs typeface="Times New Roman"/>
            </a:endParaRPr>
          </a:p>
          <a:p>
            <a:pPr marL="30480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Foods prepared at ho</a:t>
            </a:r>
            <a:r>
              <a:rPr lang="en-US" b="1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e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should not be shared with other hospitalized patients.</a:t>
            </a:r>
            <a:endParaRPr lang="en-US" sz="2800" dirty="0">
              <a:ea typeface="Calibri"/>
              <a:cs typeface="Times New Roman"/>
            </a:endParaRPr>
          </a:p>
          <a:p>
            <a:pPr marL="304800" marR="49530" indent="-228600" algn="just">
              <a:lnSpc>
                <a:spcPct val="115000"/>
              </a:lnSpc>
              <a:spcBef>
                <a:spcPts val="345"/>
              </a:spcBef>
              <a:spcAft>
                <a:spcPts val="0"/>
              </a:spcAft>
              <a:tabLst>
                <a:tab pos="3048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Transportation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Storage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of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Row</a:t>
            </a:r>
            <a:r>
              <a:rPr lang="en-US" b="1" spc="22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Cooked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Food</a:t>
            </a:r>
            <a:r>
              <a:rPr lang="en-US" b="1" spc="23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</a:p>
          <a:p>
            <a:pPr marL="704850" marR="49530" lvl="1" indent="-228600" algn="just">
              <a:lnSpc>
                <a:spcPct val="115000"/>
              </a:lnSpc>
              <a:spcBef>
                <a:spcPts val="345"/>
              </a:spcBef>
              <a:tabLst>
                <a:tab pos="304800" algn="l"/>
              </a:tabLst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purchased</a:t>
            </a:r>
            <a:r>
              <a:rPr lang="en-US" spc="22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row</a:t>
            </a:r>
            <a:r>
              <a:rPr lang="en-US" spc="22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food</a:t>
            </a:r>
            <a:r>
              <a:rPr lang="en-US" spc="22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pc="22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22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be transp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o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rted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he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lt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h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care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f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c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iliti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e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with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transportation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free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from biological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che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ical conta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inants. </a:t>
            </a:r>
          </a:p>
          <a:p>
            <a:pPr marL="704850" marR="49530" lvl="1" indent="-228600" algn="just">
              <a:lnSpc>
                <a:spcPct val="115000"/>
              </a:lnSpc>
              <a:spcBef>
                <a:spcPts val="345"/>
              </a:spcBef>
              <a:tabLst>
                <a:tab pos="304800" algn="l"/>
              </a:tabLst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Storage of row and 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c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ooked food should be separate and done in line with the recom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ended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te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perature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each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type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of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food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stored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endParaRPr lang="en-US" sz="2400" dirty="0">
              <a:ea typeface="Calibri"/>
              <a:cs typeface="Times New Roman"/>
            </a:endParaRPr>
          </a:p>
          <a:p>
            <a:pPr marL="304800" marR="48895" indent="-228600" algn="just">
              <a:lnSpc>
                <a:spcPct val="115000"/>
              </a:lnSpc>
              <a:spcBef>
                <a:spcPts val="340"/>
              </a:spcBef>
              <a:spcAft>
                <a:spcPts val="0"/>
              </a:spcAft>
              <a:tabLst>
                <a:tab pos="3048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Apply Water</a:t>
            </a:r>
            <a:r>
              <a:rPr lang="en-US" b="1" spc="8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Safety</a:t>
            </a:r>
            <a:r>
              <a:rPr lang="en-US" b="1" spc="8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Principle: </a:t>
            </a:r>
          </a:p>
          <a:p>
            <a:pPr marL="704850" marR="48895" lvl="1" indent="-228600" algn="just">
              <a:lnSpc>
                <a:spcPct val="115000"/>
              </a:lnSpc>
              <a:spcBef>
                <a:spcPts val="340"/>
              </a:spcBef>
              <a:tabLst>
                <a:tab pos="304800" algn="l"/>
              </a:tabLst>
            </a:pPr>
            <a:r>
              <a:rPr lang="en-US" b="1" spc="70" dirty="0" smtClean="0">
                <a:effectLst/>
                <a:latin typeface="Times New Roman"/>
                <a:ea typeface="Times New Roman"/>
                <a:cs typeface="Times New Roman"/>
              </a:rPr>
              <a:t> Examine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biological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quality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of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the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source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(Total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Coliform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E.coli</a:t>
            </a:r>
            <a:r>
              <a:rPr lang="en-US" i="1" spc="1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count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based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on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WHO</a:t>
            </a:r>
            <a:r>
              <a:rPr lang="en-US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guideline value or country water quality sta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n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dard if available). </a:t>
            </a:r>
          </a:p>
          <a:p>
            <a:pPr marL="704850" marR="48895" lvl="1" indent="-228600" algn="just">
              <a:lnSpc>
                <a:spcPct val="115000"/>
              </a:lnSpc>
              <a:spcBef>
                <a:spcPts val="340"/>
              </a:spcBef>
              <a:tabLst>
                <a:tab pos="304800" algn="l"/>
              </a:tabLst>
            </a:pP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If it is feasible, exa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ine the che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ical quality as 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w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ell. In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f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ected patie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t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 sh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o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uld be restricted from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u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ing com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unal baths</a:t>
            </a:r>
            <a:endParaRPr lang="en-US" sz="2400" dirty="0">
              <a:ea typeface="Calibri"/>
              <a:cs typeface="Times New Roman"/>
            </a:endParaRPr>
          </a:p>
          <a:p>
            <a:pPr marL="304800" marR="48260" indent="-228600" algn="just">
              <a:lnSpc>
                <a:spcPct val="115000"/>
              </a:lnSpc>
              <a:spcBef>
                <a:spcPts val="345"/>
              </a:spcBef>
              <a:spcAft>
                <a:spcPts val="0"/>
              </a:spcAft>
              <a:tabLst>
                <a:tab pos="3048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Water</a:t>
            </a:r>
            <a:r>
              <a:rPr lang="en-US" b="1" spc="180" dirty="0" smtClean="0">
                <a:effectLst/>
                <a:latin typeface="Times New Roman"/>
                <a:ea typeface="Times New Roman"/>
                <a:cs typeface="Times New Roman"/>
              </a:rPr>
              <a:t> for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healthcare</a:t>
            </a:r>
            <a:r>
              <a:rPr lang="en-US" b="1" spc="18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facilities</a:t>
            </a:r>
            <a:r>
              <a:rPr lang="en-US" b="1" spc="18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has</a:t>
            </a:r>
            <a:r>
              <a:rPr lang="en-US" spc="18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 be collected,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tra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n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sported,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t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ored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handled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with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p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reca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u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tion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avoid </a:t>
            </a:r>
            <a:r>
              <a:rPr lang="en-US" spc="4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risk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o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 conta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ination, </a:t>
            </a:r>
          </a:p>
          <a:p>
            <a:pPr marL="304800" marR="48260" indent="-228600" algn="just">
              <a:lnSpc>
                <a:spcPct val="115000"/>
              </a:lnSpc>
              <a:spcBef>
                <a:spcPts val="345"/>
              </a:spcBef>
              <a:spcAft>
                <a:spcPts val="0"/>
              </a:spcAft>
              <a:tabLst>
                <a:tab pos="304800" algn="l"/>
              </a:tabLst>
            </a:pP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Making</a:t>
            </a:r>
            <a:r>
              <a:rPr lang="en-US" b="1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Water </a:t>
            </a:r>
            <a:r>
              <a:rPr lang="en-US" b="1" spc="1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Collected</a:t>
            </a:r>
            <a:r>
              <a:rPr lang="en-US" b="1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from</a:t>
            </a:r>
            <a:r>
              <a:rPr lang="en-US" b="1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Unsafe</a:t>
            </a:r>
            <a:r>
              <a:rPr lang="en-US" b="1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Source</a:t>
            </a:r>
            <a:r>
              <a:rPr lang="en-US" b="1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b="1" dirty="0" smtClean="0">
                <a:effectLst/>
                <a:latin typeface="Times New Roman"/>
                <a:ea typeface="Times New Roman"/>
                <a:cs typeface="Times New Roman"/>
              </a:rPr>
              <a:t>Safe</a:t>
            </a:r>
            <a:r>
              <a:rPr lang="en-US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water</a:t>
            </a:r>
            <a:r>
              <a:rPr lang="en-US" spc="5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boiled for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1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5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minutes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is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considered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safe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to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drink while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water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boiled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for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20 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i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nutes is labeled as high-level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disinfected</a:t>
            </a:r>
            <a:endParaRPr lang="en-US" spc="5" dirty="0" smtClean="0">
              <a:effectLst/>
              <a:latin typeface="Times New Roman"/>
              <a:ea typeface="Times New Roman"/>
              <a:cs typeface="Times New Roman"/>
            </a:endParaRPr>
          </a:p>
          <a:p>
            <a:pPr marL="704850" marR="48260" lvl="1" indent="-228600" algn="just">
              <a:lnSpc>
                <a:spcPct val="115000"/>
              </a:lnSpc>
              <a:spcBef>
                <a:spcPts val="345"/>
              </a:spcBef>
              <a:tabLst>
                <a:tab pos="304800" algn="l"/>
              </a:tabLst>
            </a:pP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A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lt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e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rnatively,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w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ater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5" dirty="0" smtClean="0">
                <a:effectLst/>
                <a:latin typeface="Times New Roman"/>
                <a:ea typeface="Times New Roman"/>
                <a:cs typeface="Times New Roman"/>
              </a:rPr>
              <a:t>c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be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disinfected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and</a:t>
            </a:r>
            <a:r>
              <a:rPr lang="en-US" spc="5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spc="-10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dirty="0" smtClean="0">
                <a:effectLst/>
                <a:latin typeface="Times New Roman"/>
                <a:ea typeface="Times New Roman"/>
                <a:cs typeface="Times New Roman"/>
              </a:rPr>
              <a:t>ade safe for drinking by adding 3-5PPM Chlorine </a:t>
            </a:r>
          </a:p>
          <a:p>
            <a:pPr marL="704850" marR="48260" lvl="1" indent="-228600" algn="just">
              <a:lnSpc>
                <a:spcPct val="115000"/>
              </a:lnSpc>
              <a:spcBef>
                <a:spcPts val="345"/>
              </a:spcBef>
              <a:tabLst>
                <a:tab pos="304800" algn="l"/>
              </a:tabLst>
            </a:pP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The fo</a:t>
            </a:r>
            <a:r>
              <a:rPr lang="en-US" i="1" spc="10" dirty="0" smtClean="0">
                <a:effectLst/>
                <a:latin typeface="Times New Roman"/>
                <a:ea typeface="Times New Roman"/>
                <a:cs typeface="Times New Roman"/>
              </a:rPr>
              <a:t>r</a:t>
            </a:r>
            <a:r>
              <a:rPr lang="en-US" i="1" spc="-5" dirty="0" smtClean="0">
                <a:effectLst/>
                <a:latin typeface="Times New Roman"/>
                <a:ea typeface="Times New Roman"/>
                <a:cs typeface="Times New Roman"/>
              </a:rPr>
              <a:t>m</a:t>
            </a: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ula</a:t>
            </a:r>
            <a:r>
              <a:rPr lang="en-US" i="1" spc="10" dirty="0" smtClean="0">
                <a:effectLst/>
                <a:latin typeface="Times New Roman"/>
                <a:ea typeface="Times New Roman"/>
                <a:cs typeface="Times New Roman"/>
              </a:rPr>
              <a:t> </a:t>
            </a: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for preparing 0.001% of Chlorine solut</a:t>
            </a:r>
            <a:r>
              <a:rPr lang="en-US" i="1" spc="5" dirty="0" smtClean="0">
                <a:effectLst/>
                <a:latin typeface="Times New Roman"/>
                <a:ea typeface="Times New Roman"/>
                <a:cs typeface="Times New Roman"/>
              </a:rPr>
              <a:t>i</a:t>
            </a:r>
            <a:r>
              <a:rPr lang="en-US" i="1" dirty="0" smtClean="0">
                <a:effectLst/>
                <a:latin typeface="Times New Roman"/>
                <a:ea typeface="Times New Roman"/>
                <a:cs typeface="Times New Roman"/>
              </a:rPr>
              <a:t>on is given in reference manual</a:t>
            </a:r>
            <a:endParaRPr lang="en-US" sz="2400" dirty="0">
              <a:ea typeface="Calibri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567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646</Words>
  <Application>Microsoft Office PowerPoint</Application>
  <PresentationFormat>On-screen Show (4:3)</PresentationFormat>
  <Paragraphs>71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Chapter 11:</vt:lpstr>
      <vt:lpstr>Basic principles of food safety at health facilities</vt:lpstr>
      <vt:lpstr> 1. Hygiene of Food Service Staff </vt:lpstr>
      <vt:lpstr>PowerPoint Presentation</vt:lpstr>
      <vt:lpstr>PowerPoint Presentation</vt:lpstr>
      <vt:lpstr>Water Safety</vt:lpstr>
      <vt:lpstr>Summary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11: Food and water safety</dc:title>
  <dc:creator>Fahmi Mohammed (Dr.)</dc:creator>
  <cp:lastModifiedBy>Fahmi Mohammed (Dr.)</cp:lastModifiedBy>
  <cp:revision>13</cp:revision>
  <dcterms:created xsi:type="dcterms:W3CDTF">2018-12-07T05:52:03Z</dcterms:created>
  <dcterms:modified xsi:type="dcterms:W3CDTF">2018-12-29T06:45:17Z</dcterms:modified>
</cp:coreProperties>
</file>