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58" r:id="rId4"/>
    <p:sldId id="259" r:id="rId5"/>
    <p:sldId id="307" r:id="rId6"/>
    <p:sldId id="298" r:id="rId7"/>
    <p:sldId id="260" r:id="rId8"/>
    <p:sldId id="261" r:id="rId9"/>
    <p:sldId id="262" r:id="rId10"/>
    <p:sldId id="267" r:id="rId11"/>
    <p:sldId id="268" r:id="rId12"/>
    <p:sldId id="269" r:id="rId13"/>
    <p:sldId id="270" r:id="rId14"/>
    <p:sldId id="271" r:id="rId15"/>
    <p:sldId id="277" r:id="rId16"/>
    <p:sldId id="276" r:id="rId17"/>
    <p:sldId id="272" r:id="rId18"/>
    <p:sldId id="273" r:id="rId19"/>
    <p:sldId id="274" r:id="rId20"/>
    <p:sldId id="275" r:id="rId21"/>
    <p:sldId id="301" r:id="rId22"/>
    <p:sldId id="265" r:id="rId23"/>
    <p:sldId id="266" r:id="rId24"/>
    <p:sldId id="263" r:id="rId25"/>
    <p:sldId id="264" r:id="rId26"/>
    <p:sldId id="278" r:id="rId27"/>
    <p:sldId id="279" r:id="rId28"/>
    <p:sldId id="280" r:id="rId29"/>
    <p:sldId id="282" r:id="rId30"/>
    <p:sldId id="286" r:id="rId31"/>
    <p:sldId id="288" r:id="rId32"/>
    <p:sldId id="291" r:id="rId33"/>
    <p:sldId id="292" r:id="rId34"/>
    <p:sldId id="293" r:id="rId35"/>
    <p:sldId id="294" r:id="rId36"/>
    <p:sldId id="302" r:id="rId37"/>
    <p:sldId id="303" r:id="rId38"/>
    <p:sldId id="295" r:id="rId39"/>
    <p:sldId id="304" r:id="rId40"/>
    <p:sldId id="296" r:id="rId41"/>
    <p:sldId id="297" r:id="rId42"/>
    <p:sldId id="299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4" autoAdjust="0"/>
    <p:restoredTop sz="94660"/>
  </p:normalViewPr>
  <p:slideViewPr>
    <p:cSldViewPr>
      <p:cViewPr varScale="1">
        <p:scale>
          <a:sx n="70" d="100"/>
          <a:sy n="70" d="100"/>
        </p:scale>
        <p:origin x="1608" y="-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7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40DA3-E808-48CF-BCFE-542B161703E9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F8129-9961-4C2B-B976-2D1CEB9F3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81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7192CE-A6AE-458A-BF01-8DA01E4192A9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E3638-8327-43C3-AA15-2E7B01EF6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6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CBD-27C0-463D-8BB6-FBBCA8316490}" type="datetime1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09E17-54AD-4287-BC9D-1EFA1FC8C069}" type="datetime1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4CAF-8C2A-4C0A-83EB-20B83D8C9FCE}" type="datetime1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95A6-5C52-43F5-B148-7268B85F3F6C}" type="datetime1">
              <a:rPr lang="en-US" smtClean="0"/>
              <a:t>15-Dec-20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ADC-3E28-42D8-87F9-C16B755D57A6}" type="datetime1">
              <a:rPr lang="en-US" smtClean="0"/>
              <a:t>15-Dec-20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AE310-2BF6-45BC-84D2-9EA5576D2BE5}" type="datetime1">
              <a:rPr lang="en-US" smtClean="0"/>
              <a:t>15-Dec-20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9D0-4D27-48C1-ADBC-012D34D63276}" type="datetime1">
              <a:rPr lang="en-US" smtClean="0"/>
              <a:t>15-Dec-20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8D7B0-EFB2-4E3F-A2BF-DFA769E7B7B9}" type="datetime1">
              <a:rPr lang="en-US" smtClean="0"/>
              <a:t>15-Dec-20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A979-2E45-477C-A003-9CA38233D9D6}" type="datetime1">
              <a:rPr lang="en-US" smtClean="0"/>
              <a:t>15-Dec-20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348F-C974-4D23-BB5C-770678941F70}" type="datetime1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81AF9-D1EB-4970-BC46-C79D533051BE}" type="datetime1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88423-9D1C-49B3-9D15-7AFE0CF82499}" type="datetime1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BF109-9C49-494C-B2C5-1D275EAA5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OCCUPATIONAL HEALTH AND SAFETY IN HEALTH CARE SETTINGS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IPC and Patient Safety Training </a:t>
            </a:r>
            <a:endParaRPr lang="en-US" dirty="0"/>
          </a:p>
          <a:p>
            <a:r>
              <a:rPr lang="en-US" dirty="0" smtClean="0"/>
              <a:t>Ethiopia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153400" cy="5029199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 smtClean="0"/>
              <a:t>Outline </a:t>
            </a:r>
            <a:r>
              <a:rPr lang="en-US" dirty="0" smtClean="0"/>
              <a:t>considerations for specific groups of HCW</a:t>
            </a:r>
          </a:p>
          <a:p>
            <a:pPr lvl="0"/>
            <a:r>
              <a:rPr lang="en-US" dirty="0" smtClean="0"/>
              <a:t>Elaborate how to manage  occupational  exposure</a:t>
            </a:r>
          </a:p>
          <a:p>
            <a:pPr lvl="0"/>
            <a:r>
              <a:rPr lang="en-US" dirty="0" smtClean="0"/>
              <a:t>Explain  Post  Exposure Prophylaxis for HIV and HBV</a:t>
            </a:r>
          </a:p>
          <a:p>
            <a:pPr lvl="0"/>
            <a:r>
              <a:rPr lang="en-US" dirty="0" smtClean="0"/>
              <a:t>Explain risks and work restrictions for HCWs infected with HIV/Hepatitis</a:t>
            </a:r>
          </a:p>
          <a:p>
            <a:r>
              <a:rPr lang="en-US" dirty="0" smtClean="0"/>
              <a:t>Outline occupational health monitoring activities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03488" y="5379602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dirty="0"/>
              <a:t>Outline key elements of an occupational health program in healthcare facilities </a:t>
            </a:r>
          </a:p>
          <a:p>
            <a:pPr lvl="0"/>
            <a:r>
              <a:rPr lang="en-US" dirty="0"/>
              <a:t>Explain  Hazard Identification, Risk Assessment and Risk Control </a:t>
            </a:r>
          </a:p>
          <a:p>
            <a:pPr lvl="0"/>
            <a:r>
              <a:rPr lang="en-US" dirty="0"/>
              <a:t>Elaborate on prevention and management of infections in HCWs</a:t>
            </a:r>
          </a:p>
          <a:p>
            <a:pPr lvl="0"/>
            <a:r>
              <a:rPr lang="en-US" dirty="0"/>
              <a:t>Explain management of Job-related Illnesses and Occupational exposures</a:t>
            </a:r>
          </a:p>
          <a:p>
            <a:pPr lvl="0"/>
            <a:r>
              <a:rPr lang="en-US"/>
              <a:t>List Prevention Strategies for occupational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Presentation 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5257800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dirty="0" smtClean="0"/>
              <a:t>Key elements of Occupational health program</a:t>
            </a:r>
          </a:p>
          <a:p>
            <a:pPr lvl="0"/>
            <a:r>
              <a:rPr lang="en-US" dirty="0" smtClean="0"/>
              <a:t>Hazard </a:t>
            </a:r>
            <a:r>
              <a:rPr lang="en-US" dirty="0"/>
              <a:t>Identification, Risk Assessment and Risk Control </a:t>
            </a:r>
          </a:p>
          <a:p>
            <a:pPr lvl="0"/>
            <a:r>
              <a:rPr lang="en-US" dirty="0" smtClean="0"/>
              <a:t>Prevention </a:t>
            </a:r>
            <a:r>
              <a:rPr lang="en-US" dirty="0"/>
              <a:t>and management of infections in HCWs</a:t>
            </a:r>
          </a:p>
          <a:p>
            <a:pPr lvl="0"/>
            <a:r>
              <a:rPr lang="en-US" dirty="0" smtClean="0"/>
              <a:t>Management of job-related illnesses and occupational exposures</a:t>
            </a:r>
            <a:endParaRPr lang="en-US" dirty="0"/>
          </a:p>
          <a:p>
            <a:pPr lvl="0"/>
            <a:r>
              <a:rPr lang="en-US" dirty="0"/>
              <a:t>Prevention </a:t>
            </a:r>
            <a:r>
              <a:rPr lang="en-US" dirty="0" smtClean="0"/>
              <a:t>strategies for Occupational infections</a:t>
            </a:r>
            <a:endParaRPr lang="en-US" dirty="0"/>
          </a:p>
          <a:p>
            <a:pPr lvl="0"/>
            <a:r>
              <a:rPr lang="en-US" dirty="0"/>
              <a:t>Occupational </a:t>
            </a:r>
            <a:r>
              <a:rPr lang="en-US" dirty="0" smtClean="0"/>
              <a:t>health activities for specific groups of HCWs</a:t>
            </a:r>
            <a:endParaRPr lang="en-US" dirty="0"/>
          </a:p>
          <a:p>
            <a:pPr lvl="0"/>
            <a:r>
              <a:rPr lang="en-US" dirty="0"/>
              <a:t>Post Exposure Prophylaxis for HIV and HBV</a:t>
            </a:r>
          </a:p>
          <a:p>
            <a:pPr lvl="0"/>
            <a:r>
              <a:rPr lang="en-US" dirty="0"/>
              <a:t>Monitoring of occupational health activities </a:t>
            </a:r>
          </a:p>
          <a:p>
            <a:pPr lvl="0"/>
            <a:r>
              <a:rPr lang="en-US" dirty="0"/>
              <a:t>Risks and work restrictions for HCWs exposed to or infected with infectious diseases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Introduction 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5626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O</a:t>
            </a:r>
            <a:r>
              <a:rPr lang="en-US" sz="2400" dirty="0" smtClean="0"/>
              <a:t>ccupational health deals with all aspects of </a:t>
            </a:r>
            <a:r>
              <a:rPr lang="en-US" sz="2400" b="1" dirty="0" smtClean="0"/>
              <a:t>work-related</a:t>
            </a:r>
            <a:r>
              <a:rPr lang="en-US" sz="2400" dirty="0" smtClean="0"/>
              <a:t> health and safety and has a strong focus on </a:t>
            </a:r>
            <a:r>
              <a:rPr lang="en-US" sz="2400" b="1" dirty="0" smtClean="0"/>
              <a:t>prevention</a:t>
            </a:r>
            <a:r>
              <a:rPr lang="en-US" sz="2400" dirty="0" smtClean="0"/>
              <a:t>, especially for </a:t>
            </a:r>
            <a:r>
              <a:rPr lang="en-US" sz="2400" b="1" dirty="0" smtClean="0"/>
              <a:t>infectious</a:t>
            </a:r>
            <a:r>
              <a:rPr lang="en-US" sz="2400" dirty="0" smtClean="0"/>
              <a:t> (such as disease exposures) and </a:t>
            </a:r>
            <a:r>
              <a:rPr lang="en-US" sz="2400" b="1" dirty="0" smtClean="0"/>
              <a:t>non-infectious </a:t>
            </a:r>
            <a:r>
              <a:rPr lang="en-US" sz="2400" dirty="0" smtClean="0"/>
              <a:t>risks (such as injury)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IPC and Occupational Health goals are interlinked in preventing and addressing infectious hazards 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IPC staff should be involved in occupational health activities and occupational health staff should be knowledgeable about IPC</a:t>
            </a:r>
          </a:p>
          <a:p>
            <a:endParaRPr lang="en-US" sz="2400" dirty="0" smtClean="0"/>
          </a:p>
          <a:p>
            <a:r>
              <a:rPr lang="en-US" sz="2400" dirty="0" smtClean="0"/>
              <a:t>IPC elements of an occupational health program include </a:t>
            </a:r>
          </a:p>
          <a:p>
            <a:pPr lvl="1"/>
            <a:r>
              <a:rPr lang="en-US" sz="2400" dirty="0" smtClean="0"/>
              <a:t>Surveillance, Education, Immunization, exposure prevention and response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Introduction</a:t>
            </a:r>
            <a:r>
              <a:rPr lang="en-US" sz="3600" b="1" i="1" dirty="0" smtClean="0"/>
              <a:t> (contd.)</a:t>
            </a:r>
            <a:endParaRPr lang="en-US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Autofit/>
          </a:bodyPr>
          <a:lstStyle/>
          <a:p>
            <a:pPr lvl="0"/>
            <a:r>
              <a:rPr lang="en-US" sz="2800" dirty="0" smtClean="0"/>
              <a:t>Risk of acquiring or transmitting infections increases with patients, body fluids, or specimens contact</a:t>
            </a:r>
          </a:p>
          <a:p>
            <a:pPr lvl="0">
              <a:buNone/>
            </a:pPr>
            <a:endParaRPr lang="en-US" sz="2800" dirty="0" smtClean="0"/>
          </a:p>
          <a:p>
            <a:pPr lvl="0"/>
            <a:r>
              <a:rPr lang="en-US" sz="2800" dirty="0" smtClean="0"/>
              <a:t>Worldwide, occupational exposure to sharps injuries causes an estimated;</a:t>
            </a:r>
          </a:p>
          <a:p>
            <a:pPr lvl="1"/>
            <a:r>
              <a:rPr lang="en-US" sz="2400" dirty="0" smtClean="0"/>
              <a:t>39% of hepatitis C virus (HCV)</a:t>
            </a:r>
          </a:p>
          <a:p>
            <a:pPr lvl="1"/>
            <a:r>
              <a:rPr lang="en-US" sz="2400" dirty="0" smtClean="0"/>
              <a:t>37% of hepatitis B virus (HBV)</a:t>
            </a:r>
          </a:p>
          <a:p>
            <a:pPr lvl="1"/>
            <a:r>
              <a:rPr lang="en-US" sz="2400" dirty="0" smtClean="0"/>
              <a:t>4.4% of HIV infections among HCWs worldwide</a:t>
            </a:r>
          </a:p>
          <a:p>
            <a:pPr lvl="1">
              <a:buNone/>
            </a:pPr>
            <a:endParaRPr lang="en-US" sz="2400" dirty="0" smtClean="0"/>
          </a:p>
          <a:p>
            <a:pPr lvl="0"/>
            <a:r>
              <a:rPr lang="en-US" sz="2800" dirty="0" smtClean="0"/>
              <a:t>HBV is 95% preventable with immunization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763000" cy="10668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Key elements of occupational health programs in health care facilities</a:t>
            </a:r>
            <a:br>
              <a:rPr lang="en-US" sz="3200" b="1" dirty="0" smtClean="0"/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/>
              <a:t>•	</a:t>
            </a:r>
            <a:r>
              <a:rPr lang="en-US" sz="2800" dirty="0" smtClean="0"/>
              <a:t>Oversight by a qualified healthcare professional/team</a:t>
            </a:r>
          </a:p>
          <a:p>
            <a:pPr>
              <a:buNone/>
            </a:pPr>
            <a:r>
              <a:rPr lang="en-US" sz="2800" dirty="0" smtClean="0"/>
              <a:t>•	Coordination among multiple hospital departments</a:t>
            </a:r>
          </a:p>
          <a:p>
            <a:pPr>
              <a:buNone/>
            </a:pPr>
            <a:r>
              <a:rPr lang="en-US" sz="2800" dirty="0" smtClean="0"/>
              <a:t>•	Medical evaluation at the start of employment</a:t>
            </a:r>
          </a:p>
          <a:p>
            <a:pPr>
              <a:buNone/>
            </a:pPr>
            <a:r>
              <a:rPr lang="en-US" sz="2800" dirty="0" smtClean="0"/>
              <a:t>•	Health and safety education/training of all staff </a:t>
            </a:r>
          </a:p>
          <a:p>
            <a:pPr>
              <a:buNone/>
            </a:pPr>
            <a:r>
              <a:rPr lang="en-US" sz="2800" dirty="0" smtClean="0"/>
              <a:t>•	Immunization programs</a:t>
            </a:r>
          </a:p>
          <a:p>
            <a:pPr>
              <a:buNone/>
            </a:pPr>
            <a:r>
              <a:rPr lang="en-US" sz="2800" dirty="0" smtClean="0"/>
              <a:t>•	Management of work restrictions and post-exposure treatment for occupational illnesses and exposures </a:t>
            </a:r>
          </a:p>
          <a:p>
            <a:pPr>
              <a:buNone/>
            </a:pPr>
            <a:r>
              <a:rPr lang="en-US" sz="2800" dirty="0" smtClean="0"/>
              <a:t>•	Counseling on protection from and management of accidental exposure to blood-borne and other infectious pathogens</a:t>
            </a:r>
          </a:p>
          <a:p>
            <a:pPr>
              <a:buNone/>
            </a:pPr>
            <a:r>
              <a:rPr lang="en-US" sz="2800" dirty="0" smtClean="0"/>
              <a:t>•	Maintenance of personnel health records</a:t>
            </a:r>
          </a:p>
          <a:p>
            <a:pPr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800" b="1" dirty="0" smtClean="0"/>
              <a:t>Hazard  Identification, Risk Assessment and Risk control </a:t>
            </a:r>
            <a:r>
              <a:rPr lang="en-US" sz="2400" dirty="0"/>
              <a:t/>
            </a:r>
            <a:br>
              <a:rPr lang="en-US" sz="24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2578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When?</a:t>
            </a:r>
          </a:p>
          <a:p>
            <a:r>
              <a:rPr lang="en-US" dirty="0" smtClean="0"/>
              <a:t>Workplace </a:t>
            </a:r>
            <a:r>
              <a:rPr lang="en-US" dirty="0"/>
              <a:t>hazard identification, assessment and control are </a:t>
            </a:r>
            <a:r>
              <a:rPr lang="en-US" b="1" dirty="0"/>
              <a:t>on-going </a:t>
            </a:r>
            <a:r>
              <a:rPr lang="en-US" b="1" dirty="0" smtClean="0"/>
              <a:t>processes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Specific times include when;</a:t>
            </a:r>
            <a:endParaRPr lang="en-US" b="1" dirty="0"/>
          </a:p>
          <a:p>
            <a:pPr lvl="1"/>
            <a:r>
              <a:rPr lang="en-US" dirty="0" smtClean="0"/>
              <a:t>its not been done before</a:t>
            </a:r>
            <a:endParaRPr lang="en-US" dirty="0"/>
          </a:p>
          <a:p>
            <a:pPr lvl="1"/>
            <a:r>
              <a:rPr lang="en-US" dirty="0" smtClean="0"/>
              <a:t>hazard </a:t>
            </a:r>
            <a:r>
              <a:rPr lang="en-US" dirty="0"/>
              <a:t>has been identified</a:t>
            </a:r>
          </a:p>
          <a:p>
            <a:pPr lvl="1"/>
            <a:r>
              <a:rPr lang="en-US" dirty="0" smtClean="0"/>
              <a:t>a change </a:t>
            </a:r>
            <a:r>
              <a:rPr lang="en-US" dirty="0"/>
              <a:t>to the workplace may introduce a </a:t>
            </a:r>
            <a:r>
              <a:rPr lang="en-US" dirty="0" smtClean="0"/>
              <a:t>hazard</a:t>
            </a:r>
            <a:endParaRPr lang="en-US" dirty="0"/>
          </a:p>
          <a:p>
            <a:pPr lvl="1"/>
            <a:r>
              <a:rPr lang="en-US" dirty="0" smtClean="0"/>
              <a:t>responding to a workplace incident</a:t>
            </a:r>
          </a:p>
          <a:p>
            <a:pPr lvl="1"/>
            <a:r>
              <a:rPr lang="en-US" dirty="0" smtClean="0"/>
              <a:t>new </a:t>
            </a:r>
            <a:r>
              <a:rPr lang="en-US" dirty="0"/>
              <a:t>information about a risk </a:t>
            </a:r>
            <a:r>
              <a:rPr lang="en-US" dirty="0" smtClean="0"/>
              <a:t>becomes available</a:t>
            </a:r>
          </a:p>
          <a:p>
            <a:pPr lvl="1"/>
            <a:r>
              <a:rPr lang="en-US" dirty="0" smtClean="0"/>
              <a:t>concerns are raised </a:t>
            </a:r>
            <a:r>
              <a:rPr lang="en-US" dirty="0"/>
              <a:t>by workers</a:t>
            </a:r>
          </a:p>
          <a:p>
            <a:pPr lvl="1"/>
            <a:r>
              <a:rPr lang="en-US" dirty="0" smtClean="0"/>
              <a:t>scheduled  at regular intervals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pPr lvl="0"/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>Hazard </a:t>
            </a:r>
            <a:r>
              <a:rPr lang="en-US" sz="3600" b="1" dirty="0"/>
              <a:t>Identification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is the </a:t>
            </a:r>
            <a:r>
              <a:rPr lang="en-US" b="1" dirty="0"/>
              <a:t>process </a:t>
            </a:r>
            <a:r>
              <a:rPr lang="en-US" dirty="0"/>
              <a:t>of examining each </a:t>
            </a:r>
            <a:r>
              <a:rPr lang="en-US" b="1" i="1" dirty="0"/>
              <a:t>work area</a:t>
            </a:r>
            <a:r>
              <a:rPr lang="en-US" dirty="0"/>
              <a:t> and work</a:t>
            </a:r>
            <a:r>
              <a:rPr lang="en-US" b="1" i="1" dirty="0"/>
              <a:t> task</a:t>
            </a:r>
            <a:r>
              <a:rPr lang="en-US" dirty="0"/>
              <a:t> for the purpose of identifying all the hazards which are “inherent in the job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/>
          </a:p>
          <a:p>
            <a:r>
              <a:rPr lang="en-US" b="1" dirty="0" smtClean="0"/>
              <a:t>Work area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Wards, laboratories</a:t>
            </a:r>
            <a:r>
              <a:rPr lang="en-US" dirty="0"/>
              <a:t>, </a:t>
            </a:r>
            <a:r>
              <a:rPr lang="en-US" dirty="0" smtClean="0"/>
              <a:t>offices, stores, teaching spaces etc</a:t>
            </a:r>
            <a:endParaRPr lang="en-US" dirty="0"/>
          </a:p>
          <a:p>
            <a:r>
              <a:rPr lang="en-US" b="1" dirty="0"/>
              <a:t>Tasks: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Assessment, diagnostic, treatment procedures; dealing </a:t>
            </a:r>
            <a:r>
              <a:rPr lang="en-US" dirty="0"/>
              <a:t>with </a:t>
            </a:r>
            <a:r>
              <a:rPr lang="en-US" dirty="0" smtClean="0"/>
              <a:t>people, hazardous substances, emergencies  etc</a:t>
            </a:r>
            <a:endParaRPr lang="en-US" dirty="0"/>
          </a:p>
          <a:p>
            <a:r>
              <a:rPr lang="en-US" b="1" dirty="0" smtClean="0"/>
              <a:t>Process</a:t>
            </a:r>
          </a:p>
          <a:p>
            <a:pPr lvl="1"/>
            <a:r>
              <a:rPr lang="en-US" dirty="0" smtClean="0"/>
              <a:t>Finding what </a:t>
            </a:r>
            <a:r>
              <a:rPr lang="en-US" dirty="0"/>
              <a:t>could cause harm in </a:t>
            </a:r>
            <a:r>
              <a:rPr lang="en-US" dirty="0" smtClean="0"/>
              <a:t>work, </a:t>
            </a:r>
            <a:r>
              <a:rPr lang="en-US" dirty="0"/>
              <a:t>task or </a:t>
            </a:r>
            <a:r>
              <a:rPr lang="en-US" dirty="0" smtClean="0"/>
              <a:t>area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600" b="1" dirty="0"/>
              <a:t>Risk Assessment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181600"/>
          </a:xfrm>
        </p:spPr>
        <p:txBody>
          <a:bodyPr>
            <a:normAutofit/>
          </a:bodyPr>
          <a:lstStyle/>
          <a:p>
            <a:r>
              <a:rPr lang="en-US" b="1" dirty="0" smtClean="0"/>
              <a:t>Defined </a:t>
            </a:r>
            <a:r>
              <a:rPr lang="en-US" dirty="0"/>
              <a:t>as the process of assessing the risks associated with each </a:t>
            </a:r>
            <a:r>
              <a:rPr lang="en-US" dirty="0" smtClean="0"/>
              <a:t>hazard identified, </a:t>
            </a:r>
            <a:r>
              <a:rPr lang="en-US" dirty="0"/>
              <a:t>so the nature of the risk can be </a:t>
            </a:r>
            <a:r>
              <a:rPr lang="en-US" dirty="0" smtClean="0"/>
              <a:t>understood; 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To Understand ;</a:t>
            </a:r>
          </a:p>
          <a:p>
            <a:pPr lvl="1"/>
            <a:r>
              <a:rPr lang="en-US" dirty="0" smtClean="0"/>
              <a:t>The nature of </a:t>
            </a:r>
            <a:r>
              <a:rPr lang="en-US" dirty="0"/>
              <a:t>harm that may result from the </a:t>
            </a:r>
            <a:r>
              <a:rPr lang="en-US" dirty="0" smtClean="0"/>
              <a:t>hazard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severity of that harm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likelihood of this occurring.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Risk Control 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txBody>
          <a:bodyPr>
            <a:normAutofit/>
          </a:bodyPr>
          <a:lstStyle/>
          <a:p>
            <a:r>
              <a:rPr lang="en-US" b="1" dirty="0" smtClean="0"/>
              <a:t>Definition- </a:t>
            </a:r>
            <a:r>
              <a:rPr lang="en-US" dirty="0" smtClean="0"/>
              <a:t>Reasonable, practicable actions </a:t>
            </a:r>
            <a:r>
              <a:rPr lang="en-US" dirty="0"/>
              <a:t>to </a:t>
            </a:r>
            <a:r>
              <a:rPr lang="en-US" dirty="0" smtClean="0"/>
              <a:t>eliminate health </a:t>
            </a:r>
            <a:r>
              <a:rPr lang="en-US" dirty="0"/>
              <a:t>and safety </a:t>
            </a:r>
            <a:r>
              <a:rPr lang="en-US" dirty="0" smtClean="0"/>
              <a:t>risks</a:t>
            </a:r>
          </a:p>
          <a:p>
            <a:r>
              <a:rPr lang="en-US" b="1" dirty="0" smtClean="0"/>
              <a:t>Where </a:t>
            </a:r>
            <a:r>
              <a:rPr lang="en-US" b="1" dirty="0"/>
              <a:t>risks cannot be </a:t>
            </a:r>
            <a:r>
              <a:rPr lang="en-US" b="1" dirty="0" smtClean="0"/>
              <a:t>eliminated</a:t>
            </a:r>
          </a:p>
          <a:p>
            <a:pPr lvl="1"/>
            <a:r>
              <a:rPr lang="en-US" dirty="0" smtClean="0"/>
              <a:t>implementation </a:t>
            </a:r>
            <a:r>
              <a:rPr lang="en-US" dirty="0"/>
              <a:t>of control </a:t>
            </a:r>
            <a:r>
              <a:rPr lang="en-US" dirty="0" smtClean="0"/>
              <a:t>measures </a:t>
            </a:r>
            <a:r>
              <a:rPr lang="en-US" dirty="0"/>
              <a:t>to minimize </a:t>
            </a:r>
            <a:r>
              <a:rPr lang="en-US" dirty="0" smtClean="0"/>
              <a:t>risks</a:t>
            </a:r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Class discussion</a:t>
            </a:r>
          </a:p>
          <a:p>
            <a:pPr lvl="1"/>
            <a:r>
              <a:rPr lang="en-US" dirty="0" smtClean="0"/>
              <a:t>Give examples of situations where risk cannot be eliminated and how to minimize the risks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Monitoring and Review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Involves </a:t>
            </a:r>
            <a:r>
              <a:rPr lang="en-US" dirty="0"/>
              <a:t>ongoing monitoring of the hazards identified, risks assessed and risk control processes and reviewing them to make sure they are working effectively.</a:t>
            </a:r>
          </a:p>
          <a:p>
            <a:pPr>
              <a:buNone/>
            </a:pPr>
            <a:endParaRPr lang="en-US" dirty="0"/>
          </a:p>
          <a:p>
            <a:pPr lvl="0"/>
            <a:r>
              <a:rPr lang="en-US" dirty="0" smtClean="0"/>
              <a:t>Check effectiveness </a:t>
            </a:r>
            <a:r>
              <a:rPr lang="en-US" dirty="0"/>
              <a:t>of control measures </a:t>
            </a:r>
            <a:r>
              <a:rPr lang="en-US" dirty="0" smtClean="0"/>
              <a:t>through </a:t>
            </a:r>
            <a:r>
              <a:rPr lang="en-US" dirty="0"/>
              <a:t>regular </a:t>
            </a:r>
            <a:r>
              <a:rPr lang="en-US" dirty="0" smtClean="0"/>
              <a:t>reviews and consultation </a:t>
            </a:r>
            <a:r>
              <a:rPr lang="en-US" dirty="0"/>
              <a:t>with </a:t>
            </a:r>
            <a:r>
              <a:rPr lang="en-US" dirty="0" smtClean="0"/>
              <a:t>workers</a:t>
            </a:r>
            <a:endParaRPr lang="en-US" dirty="0"/>
          </a:p>
          <a:p>
            <a:pPr lvl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sz="4000" b="1" dirty="0" smtClean="0"/>
              <a:t>Preventing Occupational Infections</a:t>
            </a:r>
            <a:r>
              <a:rPr lang="en-US" sz="5300" dirty="0" smtClean="0"/>
              <a:t/>
            </a:r>
            <a:br>
              <a:rPr lang="en-US" sz="53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/>
              <a:t>Remember! </a:t>
            </a:r>
          </a:p>
          <a:p>
            <a:pPr lvl="1"/>
            <a:r>
              <a:rPr lang="en-US" sz="2400" i="1" dirty="0" smtClean="0"/>
              <a:t>The goal is to protect HCWs, thereby their patients from acquiring an infection or any other hazard while working in a healthcare facility </a:t>
            </a:r>
          </a:p>
          <a:p>
            <a:pPr>
              <a:buNone/>
            </a:pPr>
            <a:r>
              <a:rPr lang="en-US" b="1" dirty="0" smtClean="0"/>
              <a:t>How?</a:t>
            </a:r>
          </a:p>
          <a:p>
            <a:r>
              <a:rPr lang="en-US" sz="2800" dirty="0" smtClean="0"/>
              <a:t>Identifying/preventing work-related </a:t>
            </a:r>
            <a:r>
              <a:rPr lang="en-US" sz="2800" dirty="0"/>
              <a:t>infection risks </a:t>
            </a:r>
          </a:p>
          <a:p>
            <a:r>
              <a:rPr lang="en-US" sz="2800" dirty="0" smtClean="0"/>
              <a:t>Ensuring prompt </a:t>
            </a:r>
            <a:r>
              <a:rPr lang="en-US" sz="2800" dirty="0"/>
              <a:t>and appropriate management of </a:t>
            </a:r>
            <a:r>
              <a:rPr lang="en-US" sz="2800" dirty="0" smtClean="0"/>
              <a:t>occupational exposures</a:t>
            </a:r>
          </a:p>
          <a:p>
            <a:r>
              <a:rPr lang="en-US" sz="2800" dirty="0" smtClean="0"/>
              <a:t>Training HCWs </a:t>
            </a:r>
            <a:r>
              <a:rPr lang="en-US" sz="2800" dirty="0"/>
              <a:t>on IPC and patient safety </a:t>
            </a:r>
            <a:r>
              <a:rPr lang="en-US" sz="2800" dirty="0" smtClean="0"/>
              <a:t>practices </a:t>
            </a:r>
            <a:endParaRPr lang="en-US" sz="2800" dirty="0"/>
          </a:p>
          <a:p>
            <a:r>
              <a:rPr lang="en-US" sz="2800" dirty="0" smtClean="0"/>
              <a:t>Monitoring and investigating </a:t>
            </a:r>
            <a:r>
              <a:rPr lang="en-US" sz="2800" dirty="0"/>
              <a:t>potentially harmful exposures and outbreaks among </a:t>
            </a:r>
            <a:r>
              <a:rPr lang="en-US" sz="2800" dirty="0" smtClean="0"/>
              <a:t>HCWs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86800" cy="11430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Management of Job-related Illnesses &amp; Exposures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The occupational health team should </a:t>
            </a:r>
            <a:r>
              <a:rPr lang="en-US" sz="2800" b="1" dirty="0" smtClean="0"/>
              <a:t>;</a:t>
            </a:r>
          </a:p>
          <a:p>
            <a:pPr lvl="1"/>
            <a:r>
              <a:rPr lang="en-US" dirty="0" smtClean="0"/>
              <a:t>respond </a:t>
            </a:r>
            <a:r>
              <a:rPr lang="en-US" dirty="0"/>
              <a:t>to all potential and confirmed exposures to blood-borne pathogens and other infectious diseases </a:t>
            </a:r>
            <a:r>
              <a:rPr lang="en-US" dirty="0" smtClean="0"/>
              <a:t>immediately</a:t>
            </a:r>
          </a:p>
          <a:p>
            <a:pPr lvl="1"/>
            <a:r>
              <a:rPr lang="en-US" dirty="0" smtClean="0"/>
              <a:t>collaborate </a:t>
            </a:r>
            <a:r>
              <a:rPr lang="en-US" dirty="0"/>
              <a:t>with IPC staff for follow-up as </a:t>
            </a:r>
            <a:r>
              <a:rPr lang="en-US" dirty="0" smtClean="0"/>
              <a:t>necessary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sz="2800" i="1" dirty="0" smtClean="0"/>
              <a:t>Health </a:t>
            </a:r>
            <a:r>
              <a:rPr lang="en-US" sz="2800" i="1" dirty="0"/>
              <a:t>care facilities should have systems in place for </a:t>
            </a:r>
            <a:r>
              <a:rPr lang="en-US" sz="2800" i="1" dirty="0" smtClean="0"/>
              <a:t>HCWs </a:t>
            </a:r>
            <a:r>
              <a:rPr lang="en-US" sz="2800" i="1" dirty="0"/>
              <a:t>to report sharps injuries and blood-borne pathogen exposures with prompt evaluation and </a:t>
            </a:r>
            <a:r>
              <a:rPr lang="en-US" sz="2800" i="1" dirty="0" smtClean="0"/>
              <a:t>follow-up</a:t>
            </a:r>
            <a:endParaRPr lang="en-US" sz="2800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1430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Management of Job-Related Illnesses &amp; Exposures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Infectious </a:t>
            </a:r>
            <a:r>
              <a:rPr lang="en-US" sz="2800" b="1" dirty="0"/>
              <a:t>disease in </a:t>
            </a:r>
            <a:r>
              <a:rPr lang="en-US" sz="2800" b="1" dirty="0" smtClean="0"/>
              <a:t>HCWs;</a:t>
            </a:r>
            <a:endParaRPr lang="en-US" sz="2800" dirty="0"/>
          </a:p>
          <a:p>
            <a:pPr lvl="0"/>
            <a:r>
              <a:rPr lang="en-US" sz="3000" dirty="0"/>
              <a:t>Identify infections in </a:t>
            </a:r>
            <a:r>
              <a:rPr lang="en-US" sz="3000" dirty="0" smtClean="0"/>
              <a:t>HWs (community-acquired </a:t>
            </a:r>
            <a:r>
              <a:rPr lang="en-US" sz="3000" dirty="0"/>
              <a:t>or </a:t>
            </a:r>
            <a:r>
              <a:rPr lang="en-US" sz="3000" dirty="0" smtClean="0"/>
              <a:t>job-related) </a:t>
            </a:r>
          </a:p>
          <a:p>
            <a:pPr lvl="0">
              <a:buNone/>
            </a:pPr>
            <a:endParaRPr lang="en-US" sz="3000" dirty="0"/>
          </a:p>
          <a:p>
            <a:r>
              <a:rPr lang="en-US" sz="3000" dirty="0"/>
              <a:t>Make </a:t>
            </a:r>
            <a:r>
              <a:rPr lang="en-US" sz="3000" dirty="0" smtClean="0"/>
              <a:t>evidence-based decisions </a:t>
            </a:r>
            <a:r>
              <a:rPr lang="en-US" sz="3000" dirty="0"/>
              <a:t>about the </a:t>
            </a:r>
            <a:r>
              <a:rPr lang="en-US" sz="3000" b="1" dirty="0"/>
              <a:t>length and type of work </a:t>
            </a:r>
            <a:r>
              <a:rPr lang="en-US" sz="3000" b="1" dirty="0" smtClean="0"/>
              <a:t>restrictions</a:t>
            </a:r>
            <a:endParaRPr lang="en-US" sz="3000" dirty="0" smtClean="0"/>
          </a:p>
          <a:p>
            <a:pPr>
              <a:buNone/>
            </a:pPr>
            <a:endParaRPr lang="en-US" sz="3000" dirty="0"/>
          </a:p>
          <a:p>
            <a:r>
              <a:rPr lang="en-US" sz="3000" dirty="0"/>
              <a:t>Report to public health </a:t>
            </a:r>
            <a:r>
              <a:rPr lang="en-US" sz="3000" dirty="0" smtClean="0"/>
              <a:t>authorities, </a:t>
            </a:r>
            <a:r>
              <a:rPr lang="en-US" sz="3000" dirty="0"/>
              <a:t>if it is a </a:t>
            </a:r>
            <a:r>
              <a:rPr lang="en-US" sz="3000" dirty="0" err="1" smtClean="0"/>
              <a:t>notifiable</a:t>
            </a:r>
            <a:r>
              <a:rPr lang="en-US" sz="3000" dirty="0" smtClean="0"/>
              <a:t> </a:t>
            </a:r>
            <a:r>
              <a:rPr lang="en-US" sz="3000" dirty="0"/>
              <a:t>disease of public health </a:t>
            </a:r>
            <a:r>
              <a:rPr lang="en-US" sz="3000" dirty="0" smtClean="0"/>
              <a:t>interest</a:t>
            </a:r>
          </a:p>
          <a:p>
            <a:pPr>
              <a:buNone/>
            </a:pPr>
            <a:endParaRPr lang="en-US" sz="4000" dirty="0"/>
          </a:p>
          <a:p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8991600" cy="11430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Management of Job-Related Illnesses &amp; Exposures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/>
              <a:t>Sentinel infections in HCWs</a:t>
            </a:r>
            <a:endParaRPr lang="en-US" sz="2800" dirty="0" smtClean="0"/>
          </a:p>
          <a:p>
            <a:r>
              <a:rPr lang="en-US" sz="2400" dirty="0" smtClean="0"/>
              <a:t>Suspect a job-related infection in HCW with an infectious disease known to spread in health care facilities</a:t>
            </a:r>
          </a:p>
          <a:p>
            <a:r>
              <a:rPr lang="en-US" sz="2400" dirty="0" smtClean="0"/>
              <a:t>Manage by clinical guideline and apply necessary length/type of work restrictions  </a:t>
            </a:r>
          </a:p>
          <a:p>
            <a:r>
              <a:rPr lang="en-US" sz="2400" dirty="0" smtClean="0"/>
              <a:t>Prevent further spread of the infection through investigation of possible routes of transmission in the facility and correcting any IPC lapses</a:t>
            </a:r>
          </a:p>
          <a:p>
            <a:r>
              <a:rPr lang="en-US" sz="2400" dirty="0" smtClean="0"/>
              <a:t>Identify and facilitate clinical management of those exposed</a:t>
            </a:r>
          </a:p>
          <a:p>
            <a:r>
              <a:rPr lang="en-US" sz="2400" dirty="0" smtClean="0"/>
              <a:t>Monitor closely for additional cases (indicating a hospital or community outbreak).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7159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Management of Job-Related Illnesses &amp; Exposures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05800" cy="5105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Post-exposure follow-up</a:t>
            </a:r>
            <a:endParaRPr lang="en-US" dirty="0" smtClean="0"/>
          </a:p>
          <a:p>
            <a:r>
              <a:rPr lang="en-US" dirty="0" smtClean="0"/>
              <a:t>Define exposure</a:t>
            </a:r>
          </a:p>
          <a:p>
            <a:r>
              <a:rPr lang="en-US" dirty="0" smtClean="0"/>
              <a:t>Obtain list  of exposed  persons</a:t>
            </a:r>
          </a:p>
          <a:p>
            <a:r>
              <a:rPr lang="en-US" dirty="0" smtClean="0"/>
              <a:t>Counsel those exposed</a:t>
            </a:r>
          </a:p>
          <a:p>
            <a:r>
              <a:rPr lang="en-US" dirty="0" smtClean="0"/>
              <a:t>Offer PEP promptly when appropriate and available</a:t>
            </a:r>
          </a:p>
          <a:p>
            <a:r>
              <a:rPr lang="en-US" dirty="0" smtClean="0"/>
              <a:t>Determine any work restrictions</a:t>
            </a:r>
          </a:p>
          <a:p>
            <a:r>
              <a:rPr lang="en-US" dirty="0" smtClean="0"/>
              <a:t>Conduct medical surveillance for development of disease</a:t>
            </a:r>
          </a:p>
          <a:p>
            <a:r>
              <a:rPr lang="en-US" dirty="0" smtClean="0"/>
              <a:t>Determine when the HCW can return to work</a:t>
            </a:r>
          </a:p>
          <a:p>
            <a:r>
              <a:rPr lang="en-US" dirty="0" smtClean="0"/>
              <a:t>Maintain adequate and confidential documentation on the event</a:t>
            </a:r>
          </a:p>
          <a:p>
            <a:r>
              <a:rPr lang="en-US" dirty="0" smtClean="0"/>
              <a:t>Coordinate all of the above and any other activities such as ongoing monitoring or follow-up lab testing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7159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Occupational Infections; Prevention Strategies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86400"/>
          </a:xfrm>
        </p:spPr>
        <p:txBody>
          <a:bodyPr>
            <a:noAutofit/>
          </a:bodyPr>
          <a:lstStyle/>
          <a:p>
            <a:pPr lvl="0">
              <a:buNone/>
            </a:pPr>
            <a:r>
              <a:rPr lang="en-US" sz="2400" b="1" dirty="0"/>
              <a:t>Prevent occupational exposure of </a:t>
            </a:r>
            <a:r>
              <a:rPr lang="en-US" sz="2400" b="1" dirty="0" smtClean="0"/>
              <a:t>HWs </a:t>
            </a:r>
            <a:r>
              <a:rPr lang="en-US" sz="2400" b="1" dirty="0"/>
              <a:t>by </a:t>
            </a:r>
            <a:r>
              <a:rPr lang="en-US" sz="2400" b="1" dirty="0" smtClean="0"/>
              <a:t>application </a:t>
            </a:r>
            <a:r>
              <a:rPr lang="en-US" sz="2400" b="1" dirty="0"/>
              <a:t>of:</a:t>
            </a:r>
          </a:p>
          <a:p>
            <a:pPr lvl="0"/>
            <a:r>
              <a:rPr lang="en-US" sz="2000" dirty="0"/>
              <a:t>Standard Precautions for all patients, at all times </a:t>
            </a:r>
          </a:p>
          <a:p>
            <a:pPr lvl="0"/>
            <a:r>
              <a:rPr lang="en-US" sz="2000" dirty="0"/>
              <a:t>Disease-specific or Transmission-Based </a:t>
            </a:r>
            <a:r>
              <a:rPr lang="en-US" sz="2000" dirty="0" smtClean="0"/>
              <a:t>Precautions </a:t>
            </a:r>
            <a:endParaRPr lang="en-US" sz="2000" dirty="0"/>
          </a:p>
          <a:p>
            <a:pPr lvl="0">
              <a:buNone/>
            </a:pPr>
            <a:r>
              <a:rPr lang="en-US" sz="2400" b="1" dirty="0"/>
              <a:t>Protect against vaccine-preventable diseases: </a:t>
            </a:r>
            <a:endParaRPr lang="en-US" sz="2400" dirty="0"/>
          </a:p>
          <a:p>
            <a:pPr lvl="0"/>
            <a:r>
              <a:rPr lang="en-US" sz="2000" dirty="0" smtClean="0"/>
              <a:t>Provide </a:t>
            </a:r>
            <a:r>
              <a:rPr lang="en-US" sz="2000" dirty="0"/>
              <a:t>vaccines to </a:t>
            </a:r>
            <a:r>
              <a:rPr lang="en-US" sz="2000" dirty="0" smtClean="0"/>
              <a:t>HWs </a:t>
            </a:r>
            <a:r>
              <a:rPr lang="en-US" sz="2000" dirty="0"/>
              <a:t>to </a:t>
            </a:r>
            <a:r>
              <a:rPr lang="en-US" sz="2000" dirty="0" smtClean="0"/>
              <a:t>protect </a:t>
            </a:r>
            <a:r>
              <a:rPr lang="en-US" sz="2000" dirty="0"/>
              <a:t>against vaccine-preventable </a:t>
            </a:r>
            <a:r>
              <a:rPr lang="en-US" sz="2000" dirty="0" smtClean="0"/>
              <a:t>diseases</a:t>
            </a:r>
            <a:endParaRPr lang="en-US" sz="2000" dirty="0"/>
          </a:p>
          <a:p>
            <a:pPr lvl="0"/>
            <a:r>
              <a:rPr lang="en-US" sz="2000" dirty="0" smtClean="0"/>
              <a:t>Prioritize staff </a:t>
            </a:r>
            <a:r>
              <a:rPr lang="en-US" sz="2000" dirty="0"/>
              <a:t>that are at high risk of exposure </a:t>
            </a:r>
            <a:r>
              <a:rPr lang="en-US" sz="2000" dirty="0" smtClean="0"/>
              <a:t>&amp; those without immunity</a:t>
            </a:r>
          </a:p>
          <a:p>
            <a:pPr lvl="0"/>
            <a:r>
              <a:rPr lang="en-US" sz="2000" dirty="0" smtClean="0"/>
              <a:t>Select the vaccines that may provide the most protective effects</a:t>
            </a:r>
          </a:p>
          <a:p>
            <a:pPr lvl="0">
              <a:buNone/>
            </a:pPr>
            <a:r>
              <a:rPr lang="en-US" sz="2400" b="1" dirty="0" smtClean="0"/>
              <a:t>Manage occupational exposures:</a:t>
            </a:r>
            <a:endParaRPr lang="en-US" sz="2400" dirty="0" smtClean="0"/>
          </a:p>
          <a:p>
            <a:pPr lvl="0"/>
            <a:r>
              <a:rPr lang="en-US" sz="2000" dirty="0" smtClean="0"/>
              <a:t>Follow national guideline for post-exposure management e.g. HBV, HCV, and HIV</a:t>
            </a:r>
          </a:p>
          <a:p>
            <a:pPr lvl="0">
              <a:buNone/>
            </a:pPr>
            <a:r>
              <a:rPr lang="en-US" sz="2400" b="1" dirty="0" smtClean="0"/>
              <a:t>Keep up-to-date </a:t>
            </a:r>
            <a:endParaRPr lang="en-US" sz="2400" dirty="0" smtClean="0"/>
          </a:p>
          <a:p>
            <a:pPr lvl="0"/>
            <a:r>
              <a:rPr lang="en-US" sz="2000" dirty="0" smtClean="0"/>
              <a:t>Seek additional information on specific diseases and local epidemiology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868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Occupational Health Activity Considerations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Facility occupational health priorities depend on;</a:t>
            </a:r>
          </a:p>
          <a:p>
            <a:pPr lvl="1"/>
            <a:r>
              <a:rPr lang="en-US" sz="2000" dirty="0" smtClean="0"/>
              <a:t>type of facility, </a:t>
            </a:r>
          </a:p>
          <a:p>
            <a:pPr lvl="1"/>
            <a:r>
              <a:rPr lang="en-US" sz="2000" dirty="0" smtClean="0"/>
              <a:t>organizational structure </a:t>
            </a:r>
          </a:p>
          <a:p>
            <a:pPr lvl="1"/>
            <a:r>
              <a:rPr lang="en-US" sz="2000" dirty="0" smtClean="0"/>
              <a:t>services provided</a:t>
            </a:r>
          </a:p>
          <a:p>
            <a:pPr lvl="1"/>
            <a:r>
              <a:rPr lang="en-US" sz="2000" dirty="0" smtClean="0"/>
              <a:t>geographical location</a:t>
            </a:r>
          </a:p>
          <a:p>
            <a:pPr lvl="1"/>
            <a:r>
              <a:rPr lang="en-US" sz="2000" dirty="0" smtClean="0"/>
              <a:t>characteristics of the patients and HCWs</a:t>
            </a:r>
          </a:p>
          <a:p>
            <a:pPr lvl="1"/>
            <a:r>
              <a:rPr lang="en-US" sz="2000" dirty="0" smtClean="0"/>
              <a:t>diseases that are endemic in the community. </a:t>
            </a:r>
          </a:p>
          <a:p>
            <a:pPr>
              <a:buNone/>
            </a:pPr>
            <a:r>
              <a:rPr lang="en-US" sz="2400" b="1" dirty="0" smtClean="0"/>
              <a:t>Occupational health activities should include activities for; </a:t>
            </a:r>
            <a:endParaRPr lang="en-US" sz="2400" b="1" dirty="0"/>
          </a:p>
          <a:p>
            <a:pPr lvl="1"/>
            <a:r>
              <a:rPr lang="en-US" sz="2000" dirty="0" smtClean="0"/>
              <a:t>newly </a:t>
            </a:r>
            <a:r>
              <a:rPr lang="en-US" sz="2000" dirty="0"/>
              <a:t>employed HCWs </a:t>
            </a:r>
          </a:p>
          <a:p>
            <a:pPr lvl="1"/>
            <a:r>
              <a:rPr lang="en-US" sz="2000" dirty="0" smtClean="0"/>
              <a:t>HWs </a:t>
            </a:r>
            <a:r>
              <a:rPr lang="en-US" sz="2000" dirty="0"/>
              <a:t>on an ongoing basis </a:t>
            </a:r>
          </a:p>
          <a:p>
            <a:pPr lvl="1"/>
            <a:r>
              <a:rPr lang="en-US" sz="2000" dirty="0" smtClean="0"/>
              <a:t>entire facility  </a:t>
            </a:r>
            <a:endParaRPr lang="en-US" sz="2000" dirty="0"/>
          </a:p>
          <a:p>
            <a:pPr lvl="1"/>
            <a:r>
              <a:rPr lang="en-US" sz="2000" dirty="0" smtClean="0"/>
              <a:t>those that may need special attention; e.g. </a:t>
            </a:r>
            <a:r>
              <a:rPr lang="en-US" sz="2000" b="1" dirty="0" smtClean="0"/>
              <a:t>pregnant</a:t>
            </a:r>
            <a:r>
              <a:rPr lang="en-US" sz="2000" dirty="0" smtClean="0"/>
              <a:t> </a:t>
            </a:r>
            <a:r>
              <a:rPr lang="en-US" sz="2000" dirty="0"/>
              <a:t>staff, </a:t>
            </a:r>
            <a:r>
              <a:rPr lang="en-US" sz="2000" b="1" dirty="0"/>
              <a:t>laboratory</a:t>
            </a:r>
            <a:r>
              <a:rPr lang="en-US" sz="2000" dirty="0"/>
              <a:t> staff, </a:t>
            </a:r>
            <a:r>
              <a:rPr lang="en-US" sz="2000" b="1" dirty="0"/>
              <a:t>emergency response</a:t>
            </a:r>
            <a:r>
              <a:rPr lang="en-US" sz="2000" dirty="0"/>
              <a:t> staff, and </a:t>
            </a:r>
            <a:r>
              <a:rPr lang="en-US" sz="2000" b="1" dirty="0"/>
              <a:t>HCWs infected with</a:t>
            </a:r>
            <a:r>
              <a:rPr lang="en-US" sz="2000" dirty="0"/>
              <a:t> HIV, HBV, or HCV.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Pregnant HCWs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5181600"/>
          </a:xfrm>
        </p:spPr>
        <p:txBody>
          <a:bodyPr>
            <a:noAutofit/>
          </a:bodyPr>
          <a:lstStyle/>
          <a:p>
            <a:pPr lvl="0"/>
            <a:r>
              <a:rPr lang="en-US" sz="2800" dirty="0" smtClean="0"/>
              <a:t>Pregnancy </a:t>
            </a:r>
            <a:r>
              <a:rPr lang="en-US" sz="2800" dirty="0"/>
              <a:t>does not increase the risk </a:t>
            </a:r>
            <a:r>
              <a:rPr lang="en-US" sz="2800" dirty="0" smtClean="0"/>
              <a:t>of </a:t>
            </a:r>
            <a:r>
              <a:rPr lang="en-US" sz="2800" dirty="0"/>
              <a:t>infection for most occupationally acquired </a:t>
            </a:r>
            <a:r>
              <a:rPr lang="en-US" sz="2800" dirty="0" smtClean="0"/>
              <a:t>infections </a:t>
            </a:r>
            <a:r>
              <a:rPr lang="en-US" sz="2800" dirty="0"/>
              <a:t>(APIC 2014b</a:t>
            </a:r>
            <a:r>
              <a:rPr lang="en-US" sz="2800" dirty="0" smtClean="0"/>
              <a:t>) </a:t>
            </a:r>
            <a:endParaRPr lang="en-US" sz="2800" dirty="0"/>
          </a:p>
          <a:p>
            <a:pPr lvl="0"/>
            <a:r>
              <a:rPr lang="en-US" sz="2800" dirty="0" smtClean="0"/>
              <a:t>OH staff </a:t>
            </a:r>
            <a:r>
              <a:rPr lang="en-US" sz="2800" dirty="0"/>
              <a:t>should address any </a:t>
            </a:r>
            <a:r>
              <a:rPr lang="en-US" sz="2800" dirty="0" smtClean="0"/>
              <a:t>questions / concerns </a:t>
            </a:r>
            <a:r>
              <a:rPr lang="en-US" sz="2800" dirty="0"/>
              <a:t>that pregnant HCWs may </a:t>
            </a:r>
            <a:r>
              <a:rPr lang="en-US" sz="2800" dirty="0" smtClean="0"/>
              <a:t>have</a:t>
            </a:r>
            <a:endParaRPr lang="en-US" sz="2800" dirty="0"/>
          </a:p>
          <a:p>
            <a:pPr lvl="0"/>
            <a:r>
              <a:rPr lang="en-US" sz="2800" dirty="0" smtClean="0"/>
              <a:t>Standard &amp; Transmission-Based </a:t>
            </a:r>
            <a:r>
              <a:rPr lang="en-US" sz="2800" dirty="0"/>
              <a:t>Precautions, should be adequate for pregnant HCWs in preventing most infectious </a:t>
            </a:r>
            <a:r>
              <a:rPr lang="en-US" sz="2800" dirty="0" smtClean="0"/>
              <a:t>diseases</a:t>
            </a:r>
            <a:endParaRPr lang="en-US" sz="2800" dirty="0"/>
          </a:p>
          <a:p>
            <a:r>
              <a:rPr lang="en-US" sz="2800" dirty="0"/>
              <a:t>However, non-immune pregnant HCWs should not care for patients with measles, rubella, and varicella </a:t>
            </a:r>
            <a:r>
              <a:rPr lang="en-US" sz="2800" dirty="0" smtClean="0"/>
              <a:t>(APIC </a:t>
            </a:r>
            <a:r>
              <a:rPr lang="en-US" sz="2800" dirty="0"/>
              <a:t>2014b</a:t>
            </a:r>
            <a:r>
              <a:rPr lang="en-US" sz="2800" dirty="0" smtClean="0"/>
              <a:t>)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 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Laboratory Staff 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2578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HCWs </a:t>
            </a:r>
            <a:r>
              <a:rPr lang="en-US" sz="2400" dirty="0"/>
              <a:t>in laboratories may be at increased risk of occupational exposure to the pathogens with which they work</a:t>
            </a:r>
            <a:r>
              <a:rPr lang="en-US" sz="2400" dirty="0" smtClean="0"/>
              <a:t>.</a:t>
            </a:r>
          </a:p>
          <a:p>
            <a:pPr lvl="0">
              <a:buNone/>
            </a:pPr>
            <a:endParaRPr lang="en-US" sz="2400" dirty="0"/>
          </a:p>
          <a:p>
            <a:pPr lvl="0"/>
            <a:r>
              <a:rPr lang="en-US" sz="2400" dirty="0"/>
              <a:t>Laboratory staff should receive specific training on the risks and </a:t>
            </a:r>
            <a:r>
              <a:rPr lang="en-US" sz="2400" dirty="0" smtClean="0"/>
              <a:t>how to prevent infections </a:t>
            </a:r>
          </a:p>
          <a:p>
            <a:pPr lvl="0">
              <a:buNone/>
            </a:pPr>
            <a:endParaRPr lang="en-US" sz="2400" dirty="0"/>
          </a:p>
          <a:p>
            <a:pPr lvl="0"/>
            <a:r>
              <a:rPr lang="en-US" sz="2400" dirty="0"/>
              <a:t>In addition to the vaccines routinely recommended for all HCWs, further vaccinations may be appropriate for HCWs working in a clinical or research laboratory (CDC 1998). </a:t>
            </a:r>
            <a:endParaRPr lang="en-US" sz="2400" dirty="0" smtClean="0"/>
          </a:p>
          <a:p>
            <a:pPr lvl="0">
              <a:buNone/>
            </a:pPr>
            <a:endParaRPr lang="en-US" sz="2400" dirty="0"/>
          </a:p>
          <a:p>
            <a:r>
              <a:rPr lang="en-US" sz="2400" dirty="0"/>
              <a:t>The following vaccines may be relevant for staff working with specific </a:t>
            </a:r>
            <a:r>
              <a:rPr lang="en-US" sz="2400" dirty="0" err="1"/>
              <a:t>pathogens:</a:t>
            </a:r>
            <a:r>
              <a:rPr lang="en-US" sz="2400" b="1" i="1" dirty="0" err="1"/>
              <a:t>BCG</a:t>
            </a:r>
            <a:r>
              <a:rPr lang="en-US" sz="2400" b="1" i="1" dirty="0"/>
              <a:t> (Mycobacterium tuberculosis), Hepatitis A, Meningococcal (N. </a:t>
            </a:r>
            <a:r>
              <a:rPr lang="en-US" sz="2400" b="1" i="1" dirty="0" err="1"/>
              <a:t>meningitidis</a:t>
            </a:r>
            <a:r>
              <a:rPr lang="en-US" sz="2400" b="1" i="1" dirty="0"/>
              <a:t>), Polio, Rabies and Typhoid </a:t>
            </a:r>
            <a:r>
              <a:rPr lang="en-US" sz="2400" dirty="0"/>
              <a:t>(CDC 1998) </a:t>
            </a:r>
          </a:p>
          <a:p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Emergency Response Staff </a:t>
            </a:r>
            <a:endParaRPr lang="en-US" sz="36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4800600"/>
          </a:xfrm>
        </p:spPr>
        <p:txBody>
          <a:bodyPr>
            <a:normAutofit fontScale="77500" lnSpcReduction="20000"/>
          </a:bodyPr>
          <a:lstStyle/>
          <a:p>
            <a:pPr lvl="0">
              <a:buNone/>
            </a:pPr>
            <a:r>
              <a:rPr lang="en-US" b="1" dirty="0" smtClean="0"/>
              <a:t>Occupational Health considerations;</a:t>
            </a:r>
          </a:p>
          <a:p>
            <a:r>
              <a:rPr lang="en-US" dirty="0" smtClean="0"/>
              <a:t>High risk of exposure to highly infectious pathogens </a:t>
            </a:r>
          </a:p>
          <a:p>
            <a:pPr lvl="0"/>
            <a:r>
              <a:rPr lang="en-US" dirty="0" smtClean="0"/>
              <a:t>May transport patient before the infection status is known (e.g., meningococcal meningitis, novel respiratory viruses, VHF) </a:t>
            </a:r>
          </a:p>
          <a:p>
            <a:r>
              <a:rPr lang="en-US" dirty="0" smtClean="0"/>
              <a:t>Should have relevant vaccinations</a:t>
            </a:r>
          </a:p>
          <a:p>
            <a:r>
              <a:rPr lang="en-US" dirty="0" smtClean="0"/>
              <a:t>Proper IPC training/supervision  (Standard , Isolation/Transmission-based precautions) </a:t>
            </a:r>
          </a:p>
          <a:p>
            <a:r>
              <a:rPr lang="en-US" dirty="0" smtClean="0"/>
              <a:t>Should gave adequate PPE and other IPC supplies /facilities </a:t>
            </a:r>
          </a:p>
          <a:p>
            <a:pPr lvl="0"/>
            <a:r>
              <a:rPr lang="en-US" dirty="0" smtClean="0"/>
              <a:t>Should be informed about patients who later develop infections of occupational health concern</a:t>
            </a:r>
          </a:p>
          <a:p>
            <a:r>
              <a:rPr lang="en-US" dirty="0" smtClean="0"/>
              <a:t>Should be included in exposure follow-up and relevant PEP and work restrictions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HCWs exposed to HIV and/or Hepatitis B or C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7912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HIV</a:t>
            </a:r>
            <a:r>
              <a:rPr lang="en-US" sz="2400" dirty="0"/>
              <a:t>, HBV and HCV are </a:t>
            </a:r>
            <a:r>
              <a:rPr lang="en-US" sz="2400" dirty="0" smtClean="0"/>
              <a:t>transmitted </a:t>
            </a:r>
            <a:r>
              <a:rPr lang="en-US" sz="2400" dirty="0"/>
              <a:t>via </a:t>
            </a:r>
            <a:endParaRPr lang="en-US" sz="2400" dirty="0" smtClean="0"/>
          </a:p>
          <a:p>
            <a:pPr lvl="1"/>
            <a:r>
              <a:rPr lang="en-US" sz="2400" dirty="0" smtClean="0"/>
              <a:t>exposure </a:t>
            </a:r>
            <a:r>
              <a:rPr lang="en-US" sz="2400" dirty="0"/>
              <a:t>to </a:t>
            </a:r>
            <a:r>
              <a:rPr lang="en-US" sz="2400" dirty="0" smtClean="0"/>
              <a:t>body fluids </a:t>
            </a:r>
            <a:r>
              <a:rPr lang="en-US" sz="2400" dirty="0" err="1" smtClean="0"/>
              <a:t>percutaneous</a:t>
            </a:r>
            <a:r>
              <a:rPr lang="en-US" sz="2400" dirty="0" smtClean="0"/>
              <a:t> injury </a:t>
            </a:r>
          </a:p>
          <a:p>
            <a:pPr lvl="1"/>
            <a:r>
              <a:rPr lang="en-US" sz="2400" dirty="0" smtClean="0"/>
              <a:t>contact </a:t>
            </a:r>
            <a:r>
              <a:rPr lang="en-US" sz="2400" dirty="0"/>
              <a:t>of mucous membranes or non-intact skin with </a:t>
            </a:r>
            <a:r>
              <a:rPr lang="en-US" sz="2400" dirty="0" smtClean="0"/>
              <a:t>blood with </a:t>
            </a:r>
            <a:r>
              <a:rPr lang="en-US" sz="2400" dirty="0"/>
              <a:t>fluids containing blood, tissue or other potentially infectious bodily </a:t>
            </a:r>
            <a:r>
              <a:rPr lang="en-US" sz="2400" dirty="0" smtClean="0"/>
              <a:t>fluids </a:t>
            </a:r>
          </a:p>
          <a:p>
            <a:pPr lvl="1">
              <a:buNone/>
            </a:pPr>
            <a:endParaRPr lang="en-US" sz="2400" dirty="0"/>
          </a:p>
          <a:p>
            <a:pPr lvl="0"/>
            <a:r>
              <a:rPr lang="en-US" sz="2400" dirty="0"/>
              <a:t>Potentially infectious body fluids include semen, vaginal secretions, cerebrospinal fluid, synovial fluid, pleural fluid, peritoneal fluid, pericardial fluid, amniotic fluid, pus, etc. </a:t>
            </a:r>
            <a:endParaRPr lang="en-US" sz="2400" dirty="0" smtClean="0"/>
          </a:p>
          <a:p>
            <a:pPr lvl="0"/>
            <a:r>
              <a:rPr lang="en-US" sz="2400" dirty="0" smtClean="0"/>
              <a:t>In </a:t>
            </a:r>
            <a:r>
              <a:rPr lang="en-US" sz="2400" dirty="0"/>
              <a:t>this case, body fluids like feces, nasal secretions, saliva, sputum, sweat, tears, urine, and vomits are not considered infectious unless they contain </a:t>
            </a:r>
            <a:r>
              <a:rPr lang="en-US" sz="2400" dirty="0" smtClean="0"/>
              <a:t>blood</a:t>
            </a:r>
            <a:endParaRPr lang="en-US" sz="2400" dirty="0"/>
          </a:p>
          <a:p>
            <a:pPr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/>
              <a:t>HCWs exposed to HIV and/or Hepatitis B or C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Occupational Exposure </a:t>
            </a:r>
          </a:p>
          <a:p>
            <a:endParaRPr lang="en-US" sz="2800" b="1" dirty="0" smtClean="0"/>
          </a:p>
          <a:p>
            <a:pPr lvl="1"/>
            <a:r>
              <a:rPr lang="en-US" sz="2400" dirty="0" smtClean="0"/>
              <a:t>Exposure of individuals to HIV and other blood borne pathogens occurring in the course of their work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Such exposure may be directed to HCWs, and other staff; cleaners etc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Exposure to blood-borne pathogens involves skin, eye, mucous membrane, or par-</a:t>
            </a:r>
            <a:r>
              <a:rPr lang="en-US" sz="2400" dirty="0" err="1" smtClean="0"/>
              <a:t>enteral</a:t>
            </a:r>
            <a:r>
              <a:rPr lang="en-US" sz="2400" dirty="0" smtClean="0"/>
              <a:t> contact (e.g., a needle stick).</a:t>
            </a:r>
          </a:p>
          <a:p>
            <a:pPr lvl="1">
              <a:buNone/>
            </a:pPr>
            <a:r>
              <a:rPr lang="en-US" sz="2400" b="1" dirty="0" smtClean="0"/>
              <a:t> </a:t>
            </a:r>
            <a:endParaRPr lang="en-US" sz="2400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/>
              <a:t>HCWs exposed to HIV and/or Hepatitis B or C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Non-Occupational Exposure </a:t>
            </a:r>
          </a:p>
          <a:p>
            <a:pPr>
              <a:buNone/>
            </a:pPr>
            <a:endParaRPr lang="en-US" sz="2800" b="1" dirty="0" smtClean="0"/>
          </a:p>
          <a:p>
            <a:pPr lvl="1"/>
            <a:r>
              <a:rPr lang="en-US" sz="2400" dirty="0" smtClean="0"/>
              <a:t>This is an exposure to HIV and other blood borne pathogens outside the work setting 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E.g. sexual assault, consensual sex, needle sticks or sharing in the community, fights or playground incidents resulting in bleeding by an HIV-infected child and mass causalities like road traffic accidents, etc.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9445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Post Exposure Prophylaxis for HIV And HBV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Occupational Exposure to HIV</a:t>
            </a:r>
            <a:endParaRPr lang="en-US" sz="2800" dirty="0" smtClean="0"/>
          </a:p>
          <a:p>
            <a:pPr lvl="0"/>
            <a:r>
              <a:rPr lang="en-US" dirty="0" smtClean="0"/>
              <a:t>Treatment with ARVs soon after exposure to HIV decreases the risk of transmission. </a:t>
            </a:r>
            <a:endParaRPr lang="en-US" sz="2800" dirty="0" smtClean="0"/>
          </a:p>
          <a:p>
            <a:pPr lvl="0"/>
            <a:r>
              <a:rPr lang="en-US" dirty="0" smtClean="0"/>
              <a:t>Based on different study results:</a:t>
            </a:r>
            <a:endParaRPr lang="en-US" sz="2800" dirty="0" smtClean="0"/>
          </a:p>
          <a:p>
            <a:pPr lvl="1"/>
            <a:r>
              <a:rPr lang="en-US" dirty="0" smtClean="0"/>
              <a:t>PEP with AZT for 4 weeks was associated with an 81% reduction in transmission of HIV in humans</a:t>
            </a:r>
            <a:endParaRPr lang="en-US" sz="2400" dirty="0" smtClean="0"/>
          </a:p>
          <a:p>
            <a:pPr lvl="1"/>
            <a:r>
              <a:rPr lang="en-US" dirty="0" smtClean="0"/>
              <a:t>PEP is effective when initiated within 72 hours of exposure</a:t>
            </a:r>
            <a:endParaRPr lang="en-US" sz="2400" dirty="0" smtClean="0"/>
          </a:p>
          <a:p>
            <a:pPr lvl="1"/>
            <a:r>
              <a:rPr lang="en-US" dirty="0" smtClean="0"/>
              <a:t>PEP drugs recommended started for exposed persons as early as possible preferably within 2 hours of exposure but PEP after 72 hours of exposure is not advisable. </a:t>
            </a:r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Recommended  HIV  Post  Exposure  Prophylaxes  (PEP)  for  Percutaneous Injuries</a:t>
            </a:r>
            <a:endParaRPr lang="en-US" sz="28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413604"/>
            <a:ext cx="83820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541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Recommended  HIV  Post  Exposure  Prophylaxes  for  Mucous  Membrane  Exposures and Non-intact Skin Exposures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2438400"/>
            <a:ext cx="8680649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Adherence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lvl="0"/>
            <a:r>
              <a:rPr lang="en-US" sz="2800" dirty="0" smtClean="0"/>
              <a:t>Compliance  rates  of  95%  or  greater  are  required  to    maximize  the  benefits  of ARV therapy.</a:t>
            </a:r>
          </a:p>
          <a:p>
            <a:pPr lvl="0"/>
            <a:r>
              <a:rPr lang="en-US" sz="2800" dirty="0" smtClean="0"/>
              <a:t>Phone call s  can be useful to follow-up those who have started  </a:t>
            </a:r>
          </a:p>
          <a:p>
            <a:pPr lvl="0"/>
            <a:r>
              <a:rPr lang="en-US" sz="2800" dirty="0" smtClean="0"/>
              <a:t>The service given at each follow  up  visit  should  be  documented</a:t>
            </a:r>
          </a:p>
          <a:p>
            <a:pPr lvl="0"/>
            <a:r>
              <a:rPr lang="en-US" sz="2800" dirty="0" smtClean="0"/>
              <a:t>Use  standard tools to facilitate counseling and informed decision making</a:t>
            </a:r>
          </a:p>
          <a:p>
            <a:pPr lvl="0"/>
            <a:r>
              <a:rPr lang="en-US" sz="2800" dirty="0" smtClean="0"/>
              <a:t>Patients given PEP drugs should be counseled on side effects of ARVs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PEP for Pregnant Women and Women of Childbearing Potential and children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US" sz="2800" dirty="0" smtClean="0"/>
          </a:p>
          <a:p>
            <a:pPr lvl="0"/>
            <a:r>
              <a:rPr lang="en-US" dirty="0" err="1" smtClean="0"/>
              <a:t>Efavirenz</a:t>
            </a:r>
            <a:r>
              <a:rPr lang="en-US" dirty="0" smtClean="0"/>
              <a:t> should not be used in any </a:t>
            </a:r>
            <a:r>
              <a:rPr lang="en-US" dirty="0" err="1" smtClean="0"/>
              <a:t>nPEP</a:t>
            </a:r>
            <a:r>
              <a:rPr lang="en-US" dirty="0" smtClean="0"/>
              <a:t> (</a:t>
            </a:r>
            <a:r>
              <a:rPr lang="en-US" b="1" dirty="0" smtClean="0"/>
              <a:t>Non-Occupational PEP) </a:t>
            </a:r>
            <a:r>
              <a:rPr lang="en-US" dirty="0" smtClean="0"/>
              <a:t>regimen during: </a:t>
            </a:r>
            <a:endParaRPr lang="en-US" sz="2800" dirty="0" smtClean="0"/>
          </a:p>
          <a:p>
            <a:pPr lvl="1"/>
            <a:r>
              <a:rPr lang="en-US" dirty="0" smtClean="0"/>
              <a:t>pregnancy or among women of childbearing age at risk of becoming pregnant</a:t>
            </a:r>
            <a:endParaRPr lang="en-US" sz="2400" dirty="0" smtClean="0"/>
          </a:p>
          <a:p>
            <a:pPr lvl="1"/>
            <a:r>
              <a:rPr lang="en-US" dirty="0" smtClean="0"/>
              <a:t>consider giving protease inhibitor or nucleoside reverse transcriptase inhibitor-based regimen. </a:t>
            </a:r>
            <a:endParaRPr lang="en-US" sz="2400" dirty="0" smtClean="0"/>
          </a:p>
          <a:p>
            <a:pPr>
              <a:buNone/>
            </a:pPr>
            <a:r>
              <a:rPr lang="en-US" dirty="0" smtClean="0"/>
              <a:t> </a:t>
            </a:r>
            <a:endParaRPr lang="en-US" sz="4000" dirty="0" smtClean="0"/>
          </a:p>
          <a:p>
            <a:pPr>
              <a:buNone/>
            </a:pPr>
            <a:r>
              <a:rPr lang="en-US" b="1" dirty="0" smtClean="0"/>
              <a:t>Children</a:t>
            </a:r>
            <a:endParaRPr lang="en-US" sz="2800" dirty="0" smtClean="0"/>
          </a:p>
          <a:p>
            <a:pPr lvl="0"/>
            <a:r>
              <a:rPr lang="en-US" dirty="0" smtClean="0"/>
              <a:t>Potential HIV exposures in children occur:</a:t>
            </a:r>
            <a:endParaRPr lang="en-US" sz="2800" dirty="0" smtClean="0"/>
          </a:p>
          <a:p>
            <a:pPr lvl="1"/>
            <a:r>
              <a:rPr lang="en-US" dirty="0" smtClean="0"/>
              <a:t>Due to accident (e.g. needle sticks, in the community, fights, or playground incidents resulting in bleeding by an HIV-infected child) </a:t>
            </a:r>
            <a:endParaRPr lang="en-US" sz="2400" dirty="0" smtClean="0"/>
          </a:p>
          <a:p>
            <a:pPr lvl="1"/>
            <a:r>
              <a:rPr lang="en-US" dirty="0" smtClean="0"/>
              <a:t>Due to sexual abuse or assaults </a:t>
            </a:r>
            <a:endParaRPr lang="en-US" sz="2400" dirty="0" smtClean="0"/>
          </a:p>
          <a:p>
            <a:pPr lvl="0"/>
            <a:r>
              <a:rPr lang="en-US" dirty="0" smtClean="0"/>
              <a:t>Given  appropriate pediatric preparations</a:t>
            </a:r>
            <a:endParaRPr lang="en-US" sz="2800" dirty="0" smtClean="0"/>
          </a:p>
          <a:p>
            <a:pPr lvl="0"/>
            <a:r>
              <a:rPr lang="en-US" dirty="0" smtClean="0"/>
              <a:t>Involvement of parents or guardians, and support provided is key for adherence </a:t>
            </a:r>
            <a:endParaRPr lang="en-US" sz="28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Exposure to Hepatitis B Virus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05800" cy="54864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HBV infection is a well-recognized occupational risk for HCW</a:t>
            </a:r>
          </a:p>
          <a:p>
            <a:pPr lvl="0">
              <a:buNone/>
            </a:pPr>
            <a:endParaRPr lang="en-US" dirty="0" smtClean="0"/>
          </a:p>
          <a:p>
            <a:pPr lvl="0"/>
            <a:r>
              <a:rPr lang="en-US" dirty="0" smtClean="0"/>
              <a:t>Primarily related to the degree of contact with blood and also to </a:t>
            </a:r>
            <a:r>
              <a:rPr lang="en-US" i="1" dirty="0" smtClean="0"/>
              <a:t>hepatitis B e antigen </a:t>
            </a:r>
            <a:r>
              <a:rPr lang="en-US" dirty="0" smtClean="0"/>
              <a:t>(HBeAg) status of the source person</a:t>
            </a:r>
          </a:p>
          <a:p>
            <a:pPr lvl="0"/>
            <a:endParaRPr lang="en-US" dirty="0" smtClean="0"/>
          </a:p>
          <a:p>
            <a:r>
              <a:rPr lang="en-US" b="1" dirty="0" smtClean="0"/>
              <a:t>It is recommended that healthcare workers should be vaccinated for HBV</a:t>
            </a:r>
            <a:endParaRPr lang="en-US" dirty="0" smtClean="0"/>
          </a:p>
          <a:p>
            <a:pPr lvl="0"/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Recommended Post-exposure Prophylaxis for Exposure to Hepatitis B Virus</a:t>
            </a:r>
            <a:br>
              <a:rPr lang="en-US" sz="2800" b="1" dirty="0" smtClean="0"/>
            </a:br>
            <a:endParaRPr lang="en-US" sz="28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355253"/>
            <a:ext cx="7696200" cy="5288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Exposure To Hepatitis C Virus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 smtClean="0"/>
              <a:t>HCV is rarely transmitted from mucous membrane exposure to blood </a:t>
            </a:r>
            <a:endParaRPr lang="en-US" sz="2800" dirty="0" smtClean="0"/>
          </a:p>
          <a:p>
            <a:pPr lvl="0"/>
            <a:r>
              <a:rPr lang="en-US" dirty="0" smtClean="0"/>
              <a:t>it has not been documented to occur as a consequence of a blood exposure to intact or non-intact skin</a:t>
            </a:r>
          </a:p>
          <a:p>
            <a:pPr lvl="0"/>
            <a:r>
              <a:rPr lang="en-US" dirty="0" smtClean="0"/>
              <a:t>Therefore, there is no known PEP to HCV exposure </a:t>
            </a:r>
            <a:endParaRPr lang="en-US" sz="2800" dirty="0" smtClean="0"/>
          </a:p>
          <a:p>
            <a:pPr lvl="0"/>
            <a:r>
              <a:rPr lang="en-US" dirty="0" smtClean="0"/>
              <a:t>Follow-up testing is recommended for an exposure to HCV with anti-HCV antibody testing within 4 to 6 months. </a:t>
            </a:r>
            <a:endParaRPr lang="en-US" sz="2800" dirty="0" smtClean="0"/>
          </a:p>
          <a:p>
            <a:pPr lvl="1"/>
            <a:r>
              <a:rPr lang="en-US" dirty="0" smtClean="0"/>
              <a:t>If result is positive antibody test, conduct HCV viral load and liver function tests </a:t>
            </a:r>
            <a:endParaRPr lang="en-US" sz="2400" dirty="0" smtClean="0"/>
          </a:p>
          <a:p>
            <a:pPr lvl="1"/>
            <a:r>
              <a:rPr lang="en-US" dirty="0" smtClean="0"/>
              <a:t>Once exposure is confirmed, the management and follow up of non-occupational HCV exposure is similar to that of the occupational exposure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Post-Exposure Management Steps (HBV, HCV and HIV) 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aim of post-exposure reporting and follow-up is to start PEP as soon as possible, within 72 hours of exposure, if indicated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Managing occupational exposure to blood-borne pathogens</a:t>
            </a:r>
            <a:endParaRPr lang="en-US" sz="28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1" y="1556504"/>
            <a:ext cx="8559768" cy="453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Documentation of PEP Services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Each person with occupational HIV exposure should report the incidence to his immediate supervisor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Initial PEP management should be given within the case team and the exposed person is referred to the ART clinic for further follow up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Documentation of exposure and management given should be done by using potential HIV exposure documentation and follow up form</a:t>
            </a:r>
            <a:r>
              <a:rPr lang="en-US" b="1" dirty="0" smtClean="0"/>
              <a:t> </a:t>
            </a:r>
            <a:r>
              <a:rPr lang="en-US" dirty="0" smtClean="0"/>
              <a:t>which would be attached with the patient chart. 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Documentation Of PEP Services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The person who gives PEP service should:</a:t>
            </a:r>
          </a:p>
          <a:p>
            <a:pPr lvl="0"/>
            <a:r>
              <a:rPr lang="en-US" dirty="0" smtClean="0"/>
              <a:t>Be trained on PEP service delivery (or a training with a PEP management component)</a:t>
            </a:r>
          </a:p>
          <a:p>
            <a:pPr lvl="0">
              <a:buNone/>
            </a:pPr>
            <a:r>
              <a:rPr lang="en-US" dirty="0" smtClean="0"/>
              <a:t> </a:t>
            </a:r>
          </a:p>
          <a:p>
            <a:pPr lvl="0"/>
            <a:r>
              <a:rPr lang="en-US" dirty="0" smtClean="0"/>
              <a:t>Be responsible for completing the potential HIV exposure documentation and follow up form</a:t>
            </a:r>
          </a:p>
          <a:p>
            <a:pPr lvl="0">
              <a:buNone/>
            </a:pPr>
            <a:r>
              <a:rPr lang="en-US" dirty="0" smtClean="0"/>
              <a:t>  </a:t>
            </a:r>
          </a:p>
          <a:p>
            <a:pPr lvl="0"/>
            <a:r>
              <a:rPr lang="en-US" dirty="0" smtClean="0"/>
              <a:t>Attach follow-up form with the patient chart </a:t>
            </a:r>
          </a:p>
          <a:p>
            <a:pPr lvl="0">
              <a:buNone/>
            </a:pPr>
            <a:endParaRPr lang="en-US" dirty="0" smtClean="0"/>
          </a:p>
          <a:p>
            <a:pPr lvl="0"/>
            <a:r>
              <a:rPr lang="en-US" dirty="0" smtClean="0"/>
              <a:t>Utilize the PEP decision- making tools (job aid) to determine indications for PEP and decide on the use of two or three drug regimens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Documentation of PEP Services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/>
              <a:t>If PEP is not indicated, the PEP trained service provider (preferably case team leader):</a:t>
            </a:r>
          </a:p>
          <a:p>
            <a:pPr lvl="0"/>
            <a:r>
              <a:rPr lang="en-US" dirty="0" smtClean="0"/>
              <a:t>Will file the completed Potential HIV exposure documentation and follow up form with the patient chart </a:t>
            </a:r>
          </a:p>
          <a:p>
            <a:pPr lvl="0">
              <a:buNone/>
            </a:pPr>
            <a:endParaRPr lang="en-US" dirty="0" smtClean="0"/>
          </a:p>
          <a:p>
            <a:pPr lvl="0"/>
            <a:r>
              <a:rPr lang="en-US" dirty="0" smtClean="0"/>
              <a:t> Indicate to the exposed person that no further follow-up is needed</a:t>
            </a:r>
          </a:p>
          <a:p>
            <a:pPr lvl="0">
              <a:buNone/>
            </a:pPr>
            <a:endParaRPr lang="en-US" dirty="0" smtClean="0"/>
          </a:p>
          <a:p>
            <a:pPr lvl="0"/>
            <a:r>
              <a:rPr lang="en-US" dirty="0" smtClean="0"/>
              <a:t> The incident and the service given should also be documented on service register in the service outlet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At the ART clinic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The person getting PEP service:</a:t>
            </a:r>
            <a:endParaRPr lang="en-US" sz="2800" dirty="0" smtClean="0"/>
          </a:p>
          <a:p>
            <a:pPr lvl="1"/>
            <a:r>
              <a:rPr lang="en-US" dirty="0" smtClean="0"/>
              <a:t>will have a minimum of six follow up visits and </a:t>
            </a:r>
            <a:endParaRPr lang="en-US" sz="2400" dirty="0" smtClean="0"/>
          </a:p>
          <a:p>
            <a:pPr lvl="1"/>
            <a:r>
              <a:rPr lang="en-US" dirty="0" smtClean="0"/>
              <a:t>each time come with HIV exposure documentation and follow up form </a:t>
            </a:r>
          </a:p>
          <a:p>
            <a:pPr lvl="1"/>
            <a:r>
              <a:rPr lang="en-US" dirty="0" smtClean="0"/>
              <a:t>the patient’s chart and the PEP register placed in the ART clinic are updated</a:t>
            </a:r>
            <a:endParaRPr lang="en-US" sz="2000" dirty="0" smtClean="0"/>
          </a:p>
          <a:p>
            <a:r>
              <a:rPr lang="en-US" dirty="0" smtClean="0"/>
              <a:t>Documentation and reporting of PEP service given for non occupational exposure will be similar to that of occupational exposure.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Class discussion 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/>
          <a:lstStyle/>
          <a:p>
            <a:r>
              <a:rPr lang="en-US" dirty="0" smtClean="0"/>
              <a:t>Has your facility had any experience with occupational exposure to blood-borne pathogens </a:t>
            </a:r>
          </a:p>
          <a:p>
            <a:pPr lvl="1"/>
            <a:r>
              <a:rPr lang="en-US" dirty="0" smtClean="0"/>
              <a:t>Share how the situation was handled</a:t>
            </a:r>
          </a:p>
          <a:p>
            <a:pPr lvl="1"/>
            <a:r>
              <a:rPr lang="en-US" dirty="0" smtClean="0"/>
              <a:t>Discuss ways to improve management these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457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HCWs Infected with HIV and/or Hepatitis B or C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Autofit/>
          </a:bodyPr>
          <a:lstStyle/>
          <a:p>
            <a:r>
              <a:rPr lang="en-US" sz="2000" dirty="0" smtClean="0"/>
              <a:t>HCWs infected with HIV and/or HBV or HCV should inform the facility manager of their status</a:t>
            </a:r>
          </a:p>
          <a:p>
            <a:r>
              <a:rPr lang="en-US" sz="2000" dirty="0" smtClean="0"/>
              <a:t>The facility IPC team should strive to prevent transmission of infections to patients and at the same time maintain the livelihood and privacy of the infected staff members</a:t>
            </a:r>
          </a:p>
          <a:p>
            <a:r>
              <a:rPr lang="en-US" sz="2000" dirty="0" smtClean="0"/>
              <a:t>These HCWs should not be prohibited from providing patient care if </a:t>
            </a:r>
          </a:p>
          <a:p>
            <a:pPr lvl="1"/>
            <a:r>
              <a:rPr lang="en-US" sz="1800" dirty="0" smtClean="0"/>
              <a:t>they are not performing invasive procedures</a:t>
            </a:r>
          </a:p>
          <a:p>
            <a:pPr lvl="1"/>
            <a:r>
              <a:rPr lang="en-US" sz="1800" dirty="0" smtClean="0"/>
              <a:t>the infection is well-controlled</a:t>
            </a:r>
          </a:p>
          <a:p>
            <a:pPr lvl="1"/>
            <a:r>
              <a:rPr lang="en-US" sz="1800" dirty="0" smtClean="0"/>
              <a:t>they fully comply with recommended IPC practices, and</a:t>
            </a:r>
          </a:p>
          <a:p>
            <a:pPr lvl="1"/>
            <a:r>
              <a:rPr lang="en-US" sz="1800" dirty="0" smtClean="0"/>
              <a:t> there are no other factors that would prevent them from safely carrying out the patient care activities. </a:t>
            </a:r>
          </a:p>
          <a:p>
            <a:r>
              <a:rPr lang="en-US" sz="2000" dirty="0" smtClean="0"/>
              <a:t>Close follow-up of these HCWs, by a team of clinicians is critical</a:t>
            </a:r>
          </a:p>
          <a:p>
            <a:r>
              <a:rPr lang="en-US" sz="2000" dirty="0" smtClean="0"/>
              <a:t>They should avoid performing procedures that may result in increased risk of contact with large amounts of blood and body fluids</a:t>
            </a:r>
          </a:p>
          <a:p>
            <a:r>
              <a:rPr lang="en-US" sz="2000" dirty="0" smtClean="0"/>
              <a:t>No restrictions for those staff with viral loads less than designated levels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610600" cy="6858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Managing HCWs infected with HIV and/or hepatitis B or C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715000"/>
          </a:xfrm>
        </p:spPr>
        <p:txBody>
          <a:bodyPr>
            <a:noAutofit/>
          </a:bodyPr>
          <a:lstStyle/>
          <a:p>
            <a:r>
              <a:rPr lang="en-US" sz="1800" dirty="0" smtClean="0"/>
              <a:t>HCWs infected with blood-borne pathogens whose viral load is below the minimum designated level should follow the plan described below to safely provide patient care and be productive</a:t>
            </a:r>
          </a:p>
          <a:p>
            <a:pPr marL="514350" indent="-514350">
              <a:buNone/>
            </a:pPr>
            <a:r>
              <a:rPr lang="en-US" sz="1800" dirty="0" smtClean="0"/>
              <a:t>The HCWs should: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800" dirty="0" smtClean="0"/>
              <a:t>Not transmit infection to any patient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800" dirty="0" smtClean="0"/>
              <a:t>Obtain advice from a team of clinicians about continuing to care for patients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smtClean="0"/>
              <a:t>Undergo testing twice a year to demonstrate the maintenance of a viral burden below designated levels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smtClean="0"/>
              <a:t>Receive follow-up by a clinician with expertise in managing blood-borne pathogen infections and consent to share their results with the IPC/occupational health team at the facility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smtClean="0"/>
              <a:t>Consult closely with experts on the use of optimal IPC procedures:</a:t>
            </a:r>
          </a:p>
          <a:p>
            <a:pPr marL="971550" lvl="1" indent="-514350"/>
            <a:r>
              <a:rPr lang="en-US" sz="1600" dirty="0" smtClean="0"/>
              <a:t>This may include guidance on double gloving, changing gloves during procedures, avoiding digital palpation of needle tips, and performing all procedures under direct view. </a:t>
            </a:r>
          </a:p>
          <a:p>
            <a:pPr marL="971550" lvl="1" indent="-514350"/>
            <a:r>
              <a:rPr lang="en-US" sz="1600" dirty="0" smtClean="0"/>
              <a:t>It also includes promptly withdrawing from a procedure if they have any injury that bleeds and informing the IPC/occupational health team about any injuries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smtClean="0"/>
              <a:t>Agree in writing to comply with recommendations and guidance of the expert clinicians as well as the facility IPC/occupational health and management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Monitoring Prevention of Occupational Exposures and Injuries </a:t>
            </a:r>
            <a:endParaRPr lang="en-US" sz="32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1534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Health care facilities should </a:t>
            </a:r>
          </a:p>
          <a:p>
            <a:pPr lvl="1"/>
            <a:r>
              <a:rPr lang="en-US" dirty="0" smtClean="0"/>
              <a:t>evaluate the effectiveness of occupational health interventions and practices on a routine basis</a:t>
            </a:r>
          </a:p>
          <a:p>
            <a:pPr lvl="1"/>
            <a:r>
              <a:rPr lang="en-US" dirty="0" smtClean="0"/>
              <a:t>conduct surveillance to collect, analyze, and disseminate data on risks to HCWs</a:t>
            </a:r>
          </a:p>
          <a:p>
            <a:pPr lvl="1"/>
            <a:r>
              <a:rPr lang="en-US" dirty="0" smtClean="0"/>
              <a:t>have a system to report any occupational exposure and injury,/prompt management and PEP</a:t>
            </a:r>
          </a:p>
          <a:p>
            <a:pPr lvl="1"/>
            <a:r>
              <a:rPr lang="en-US" dirty="0" smtClean="0"/>
              <a:t>review  the rates of injuries or exposures among HCWs </a:t>
            </a:r>
          </a:p>
          <a:p>
            <a:pPr lvl="1"/>
            <a:r>
              <a:rPr lang="en-US" dirty="0" smtClean="0"/>
              <a:t>feedback to the staff </a:t>
            </a:r>
          </a:p>
          <a:p>
            <a:pPr lvl="1"/>
            <a:r>
              <a:rPr lang="en-US" dirty="0" smtClean="0"/>
              <a:t>develop/update strategies and action plans to prevent future injuries </a:t>
            </a:r>
          </a:p>
          <a:p>
            <a:endParaRPr lang="en-US" dirty="0" smtClean="0"/>
          </a:p>
          <a:p>
            <a:r>
              <a:rPr lang="en-US" dirty="0" smtClean="0"/>
              <a:t>Surveillance activities can be conducted by the staff working on occupational health activities and/or IPC staff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BF109-9C49-494C-B2C5-1D275EAA55C2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</TotalTime>
  <Words>2691</Words>
  <Application>Microsoft Office PowerPoint</Application>
  <PresentationFormat>On-screen Show (4:3)</PresentationFormat>
  <Paragraphs>352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OCCUPATIONAL HEALTH AND SAFETY IN HEALTH CARE SETTINGS </vt:lpstr>
      <vt:lpstr>Learning Objectives </vt:lpstr>
      <vt:lpstr>Presentation Outline</vt:lpstr>
      <vt:lpstr>Introduction </vt:lpstr>
      <vt:lpstr>Introduction (contd.)</vt:lpstr>
      <vt:lpstr>Key elements of occupational health programs in health care facilities </vt:lpstr>
      <vt:lpstr>Hazard  Identification, Risk Assessment and Risk control  </vt:lpstr>
      <vt:lpstr> Hazard Identification </vt:lpstr>
      <vt:lpstr>Risk Assessment </vt:lpstr>
      <vt:lpstr>Risk Control </vt:lpstr>
      <vt:lpstr>Monitoring and Review</vt:lpstr>
      <vt:lpstr> Preventing Occupational Infections </vt:lpstr>
      <vt:lpstr>Management of Job-related Illnesses &amp; Exposures</vt:lpstr>
      <vt:lpstr>Management of Job-Related Illnesses &amp; Exposures </vt:lpstr>
      <vt:lpstr>Management of Job-Related Illnesses &amp; Exposures</vt:lpstr>
      <vt:lpstr>Management of Job-Related Illnesses &amp; Exposures</vt:lpstr>
      <vt:lpstr>Occupational Infections; Prevention Strategies </vt:lpstr>
      <vt:lpstr>Occupational Health Activity Considerations </vt:lpstr>
      <vt:lpstr>Pregnant HCWs</vt:lpstr>
      <vt:lpstr>Laboratory Staff </vt:lpstr>
      <vt:lpstr>Emergency Response Staff </vt:lpstr>
      <vt:lpstr> HCWs exposed to HIV and/or Hepatitis B or C </vt:lpstr>
      <vt:lpstr>HCWs exposed to HIV and/or Hepatitis B or C </vt:lpstr>
      <vt:lpstr>HCWs exposed to HIV and/or Hepatitis B or C </vt:lpstr>
      <vt:lpstr>Post Exposure Prophylaxis for HIV And HBV </vt:lpstr>
      <vt:lpstr>Recommended  HIV  Post  Exposure  Prophylaxes  (PEP)  for  Percutaneous Injuries</vt:lpstr>
      <vt:lpstr>Recommended  HIV  Post  Exposure  Prophylaxes  for  Mucous  Membrane  Exposures and Non-intact Skin Exposures </vt:lpstr>
      <vt:lpstr>Adherence </vt:lpstr>
      <vt:lpstr>PEP for Pregnant Women and Women of Childbearing Potential and children </vt:lpstr>
      <vt:lpstr>Exposure to Hepatitis B Virus</vt:lpstr>
      <vt:lpstr>Recommended Post-exposure Prophylaxis for Exposure to Hepatitis B Virus </vt:lpstr>
      <vt:lpstr>Exposure To Hepatitis C Virus</vt:lpstr>
      <vt:lpstr> Post-Exposure Management Steps (HBV, HCV and HIV)  </vt:lpstr>
      <vt:lpstr>Managing occupational exposure to blood-borne pathogens</vt:lpstr>
      <vt:lpstr>Documentation of PEP Services</vt:lpstr>
      <vt:lpstr>Documentation Of PEP Services</vt:lpstr>
      <vt:lpstr>Documentation of PEP Services</vt:lpstr>
      <vt:lpstr>At the ART clinic</vt:lpstr>
      <vt:lpstr>Class discussion </vt:lpstr>
      <vt:lpstr>HCWs Infected with HIV and/or Hepatitis B or C </vt:lpstr>
      <vt:lpstr>Managing HCWs infected with HIV and/or hepatitis B or C </vt:lpstr>
      <vt:lpstr>Monitoring Prevention of Occupational Exposures and Injuries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OCCUPATIONAL HEALTH AND SAFETY IN HEALTH CARE SETTINGS </dc:title>
  <dc:creator>Rey</dc:creator>
  <cp:lastModifiedBy>BEMINET</cp:lastModifiedBy>
  <cp:revision>80</cp:revision>
  <dcterms:created xsi:type="dcterms:W3CDTF">2018-12-11T15:55:17Z</dcterms:created>
  <dcterms:modified xsi:type="dcterms:W3CDTF">2020-12-15T06:27:09Z</dcterms:modified>
</cp:coreProperties>
</file>