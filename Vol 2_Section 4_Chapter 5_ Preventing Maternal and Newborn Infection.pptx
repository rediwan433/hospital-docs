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56"/>
  </p:notesMasterIdLst>
  <p:sldIdLst>
    <p:sldId id="272" r:id="rId2"/>
    <p:sldId id="308" r:id="rId3"/>
    <p:sldId id="413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69BE-FE39-41DA-9D4E-AA67771FB734}" type="datetimeFigureOut">
              <a:rPr lang="en-US" smtClean="0"/>
              <a:pPr/>
              <a:t>9/23/2019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E9FDA-DA69-4B03-8209-1DB69FFE3E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0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66172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879926"/>
            <a:ext cx="7760513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204" y="3597481"/>
            <a:ext cx="5971593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61655" y="4972192"/>
            <a:ext cx="1296208" cy="361810"/>
          </a:xfrm>
        </p:spPr>
        <p:txBody>
          <a:bodyPr/>
          <a:lstStyle/>
          <a:p>
            <a:fld id="{464F5691-8E30-40D9-8320-348856256948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4972194"/>
            <a:ext cx="4999075" cy="361809"/>
          </a:xfrm>
        </p:spPr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797" y="4972193"/>
            <a:ext cx="968201" cy="361809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72920" y="76751"/>
            <a:ext cx="4038801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75561" y="5960533"/>
            <a:ext cx="1133600" cy="279400"/>
          </a:xfrm>
        </p:spPr>
        <p:txBody>
          <a:bodyPr/>
          <a:lstStyle/>
          <a:p>
            <a:fld id="{FBD71209-D8E0-4274-9133-6316B5C0B5A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9161" y="5960533"/>
            <a:ext cx="965539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8C51-6C0A-4FDF-9F9E-2EC38B6D8C08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06788" y="5960533"/>
            <a:ext cx="1154187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052394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BD4-12D1-4DFF-B350-D773E8F68373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06788" y="5934457"/>
            <a:ext cx="1021184" cy="305477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DC1C5-BB50-4C70-9CC1-E03CF7DC3D1A}" type="datetime1">
              <a:rPr lang="en-US" smtClean="0"/>
              <a:t>9/23/2019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9728-E41C-477F-86FD-31FB2AAC9F6B}" type="datetime1">
              <a:rPr lang="en-US" smtClean="0"/>
              <a:t>9/23/2019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8ACD-F9AF-4CD0-8B3B-83BC25CC3D53}" type="datetime1">
              <a:rPr lang="en-US" smtClean="0"/>
              <a:t>9/23/2019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15F-C32A-4874-860B-16EFB99FC895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BB2A-2241-4043-A8EC-1BC91C9BD78A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3109-9C0A-4677-A10C-C330EA20E393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9E78-85B9-414F-A9F0-8058D0B43A7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71CF7-6D7E-4FE3-A55D-686A9D563FCC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9A3C-5F4A-4F9B-A3B1-634C79D31BB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750C-A904-46B4-ADA9-88C42333E6E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CFCA-7187-4041-B159-0ED8A6FB915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8021-56AE-48CC-A01E-BCE53DBABE1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18DE-680E-494B-8E96-C928A23DEE59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35133"/>
            <a:ext cx="897447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A7FD6A-75AE-4C51-A4EB-41FE5DA2E27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3007" y="5960533"/>
            <a:ext cx="126112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96777" y="4072"/>
            <a:ext cx="3209731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8884" y="2460821"/>
            <a:ext cx="7760513" cy="1877628"/>
          </a:xfrm>
        </p:spPr>
        <p:txBody>
          <a:bodyPr/>
          <a:lstStyle/>
          <a:p>
            <a:r>
              <a:rPr lang="en-US" sz="3200" dirty="0" smtClean="0"/>
              <a:t>Volume 2_Section 4</a:t>
            </a:r>
            <a:br>
              <a:rPr lang="en-US" sz="3200" dirty="0" smtClean="0"/>
            </a:br>
            <a:r>
              <a:rPr lang="en-US" sz="2800" dirty="0" smtClean="0">
                <a:cs typeface="Arial" panose="020B0604020202020204" pitchFamily="34" charset="0"/>
              </a:rPr>
              <a:t>CHAPTER 5: </a:t>
            </a:r>
            <a:r>
              <a:rPr lang="en-US" sz="2800" dirty="0"/>
              <a:t>Preventing Maternal and Newborn</a:t>
            </a:r>
            <a:br>
              <a:rPr lang="en-US" sz="2800" dirty="0"/>
            </a:br>
            <a:r>
              <a:rPr lang="en-US" sz="2800" dirty="0"/>
              <a:t> Infections in Health Care settings</a:t>
            </a:r>
            <a:r>
              <a:rPr lang="en-US" sz="2793" dirty="0"/>
              <a:t/>
            </a:r>
            <a:br>
              <a:rPr lang="en-US" sz="2793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427890" y="5252911"/>
            <a:ext cx="7677807" cy="101290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Infection Prevention and Control </a:t>
            </a:r>
            <a:r>
              <a:rPr lang="en-US" sz="51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 special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35065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7" y="873760"/>
            <a:ext cx="10515600" cy="807403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Chapter contents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9120"/>
            <a:ext cx="10515600" cy="432784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Overview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Epidemiology of maternal, fetal and new born infection</a:t>
            </a: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Infection Prevention of Maternal and Newborn during labor, delivery and post-partum period.</a:t>
            </a: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Infection Prevention and Control Interventions after Delivery: Care of the Newborn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Management of the NICU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E715-D85D-440C-AAD7-BC9F5F2B805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1960880"/>
            <a:ext cx="10464800" cy="4318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By the end of this chapter, participants will be able to:</a:t>
            </a:r>
          </a:p>
          <a:p>
            <a:pPr marL="342043" indent="-342043" algn="just">
              <a:buFont typeface="Arial" panose="020B0604020202020204" pitchFamily="34" charset="0"/>
              <a:buChar char="•"/>
            </a:pPr>
            <a:r>
              <a:rPr lang="en-US" dirty="0" smtClean="0"/>
              <a:t>Describe Epidemiology of maternal, fetal, and newborn infections</a:t>
            </a:r>
          </a:p>
          <a:p>
            <a:pPr marL="342043" indent="-342043" algn="just">
              <a:buFont typeface="Arial" panose="020B0604020202020204" pitchFamily="34" charset="0"/>
              <a:buChar char="•"/>
            </a:pPr>
            <a:r>
              <a:rPr lang="en-US" dirty="0" smtClean="0"/>
              <a:t>Describe Prevention of maternal and newborn infections during labor, delivery, and the postpartum period</a:t>
            </a:r>
          </a:p>
          <a:p>
            <a:pPr marL="342043" indent="-342043" algn="just">
              <a:buFont typeface="Arial" panose="020B0604020202020204" pitchFamily="34" charset="0"/>
              <a:buChar char="•"/>
            </a:pPr>
            <a:r>
              <a:rPr lang="en-US" dirty="0" smtClean="0"/>
              <a:t>Explain Prevention of infections in newborns requiring specialized care </a:t>
            </a:r>
          </a:p>
          <a:p>
            <a:pPr marL="342043" indent="-342043" algn="just">
              <a:buFont typeface="Arial" panose="020B0604020202020204" pitchFamily="34" charset="0"/>
              <a:buChar char="•"/>
            </a:pPr>
            <a:r>
              <a:rPr lang="en-US" dirty="0" smtClean="0"/>
              <a:t>Identify the Management of outbreaks in the nursery or neonatal intensive care unit (NICU)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B5858-64E5-4283-9A99-68EBFB99F24D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9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844" y="838200"/>
            <a:ext cx="10515600" cy="1322284"/>
          </a:xfrm>
        </p:spPr>
        <p:txBody>
          <a:bodyPr>
            <a:normAutofit fontScale="90000"/>
          </a:bodyPr>
          <a:lstStyle/>
          <a:p>
            <a:r>
              <a:rPr lang="en-US" sz="3990" dirty="0" smtClean="0"/>
              <a:t/>
            </a:r>
            <a:br>
              <a:rPr lang="en-US" sz="3990" dirty="0" smtClean="0"/>
            </a:br>
            <a:r>
              <a:rPr lang="en-US" sz="4400" dirty="0" smtClean="0"/>
              <a:t>1. Overview (1/1) 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0136"/>
            <a:ext cx="10342880" cy="3444997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Maternal </a:t>
            </a:r>
            <a:r>
              <a:rPr lang="en-US" sz="2800" dirty="0"/>
              <a:t>and newborn care is unique and complex. </a:t>
            </a:r>
            <a:endParaRPr lang="en-US" sz="2800" dirty="0" smtClean="0"/>
          </a:p>
          <a:p>
            <a:pPr algn="just"/>
            <a:r>
              <a:rPr lang="en-US" sz="2800" dirty="0" smtClean="0"/>
              <a:t>It </a:t>
            </a:r>
            <a:r>
              <a:rPr lang="en-US" sz="2800" dirty="0"/>
              <a:t>requires the simultaneous care of two interdependent patients over time, in the same or separate settings, often by different groups of HCWs. </a:t>
            </a:r>
            <a:endParaRPr lang="en-US" sz="2800" dirty="0" smtClean="0"/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outcomes </a:t>
            </a:r>
            <a:r>
              <a:rPr lang="en-US" sz="2800" dirty="0" smtClean="0"/>
              <a:t>are </a:t>
            </a:r>
            <a:r>
              <a:rPr lang="en-US" sz="2800" dirty="0"/>
              <a:t>dependent upon </a:t>
            </a:r>
            <a:r>
              <a:rPr lang="en-US" sz="2800" dirty="0" smtClean="0"/>
              <a:t>the </a:t>
            </a:r>
            <a:r>
              <a:rPr lang="en-US" sz="2800" b="1" dirty="0"/>
              <a:t>mother’s state of health, infection risk factors, and the care of the mother and the newborn from preconception to and after the birth</a:t>
            </a:r>
            <a:r>
              <a:rPr lang="en-US" sz="2800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9F879-5E5A-42B1-8FAC-3BC67D1416C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/>
              <a:t>2. Epidemiology </a:t>
            </a:r>
            <a:r>
              <a:rPr lang="en-US" sz="4000" dirty="0"/>
              <a:t>(</a:t>
            </a:r>
            <a:r>
              <a:rPr lang="en-US" sz="4000" dirty="0" smtClean="0"/>
              <a:t>1/11) 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2490136"/>
            <a:ext cx="10474960" cy="3829384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 dirty="0" smtClean="0"/>
              <a:t>Maternal infections: </a:t>
            </a:r>
            <a:r>
              <a:rPr lang="en-US" sz="3600" dirty="0" smtClean="0"/>
              <a:t>  can b</a:t>
            </a:r>
            <a:r>
              <a:rPr lang="en-US" dirty="0" smtClean="0"/>
              <a:t>e- </a:t>
            </a:r>
            <a:r>
              <a:rPr lang="en-US" b="1" dirty="0"/>
              <a:t>S</a:t>
            </a:r>
            <a:r>
              <a:rPr lang="en-US" b="1" dirty="0" smtClean="0"/>
              <a:t>ymptomatic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- Asymptomatic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Primary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Secondary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Chronic 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Recurrent 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Intrinsic </a:t>
            </a:r>
            <a:r>
              <a:rPr lang="en-US" b="1" dirty="0"/>
              <a:t>or extrinsic sources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                                               - Acquired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F7E-D10A-428B-8EB2-F49202308C3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6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60" y="2490136"/>
            <a:ext cx="10353040" cy="344499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 </a:t>
            </a:r>
            <a:r>
              <a:rPr lang="en-US" sz="2800" dirty="0"/>
              <a:t>resource limited settings, postpartum infection remains second only to postpartum hemorrhage </a:t>
            </a:r>
            <a:endParaRPr lang="en-US" sz="2800" dirty="0" smtClean="0"/>
          </a:p>
          <a:p>
            <a:r>
              <a:rPr lang="en-US" sz="2800" dirty="0"/>
              <a:t>The lifetime risk of maternal death in low-income countries, that risk can be as great as 1 death per 41 pregnancies, with infection being one of the leading cause of these deaths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69154" y="1371601"/>
            <a:ext cx="6283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Epidemiology</a:t>
            </a:r>
            <a:r>
              <a:rPr lang="mr-IN" sz="4000" b="1" dirty="0" smtClean="0"/>
              <a:t>…</a:t>
            </a:r>
            <a:r>
              <a:rPr lang="en-US" sz="4000" b="1" dirty="0" smtClean="0"/>
              <a:t>. </a:t>
            </a:r>
            <a:r>
              <a:rPr lang="en-US" sz="4000" dirty="0" smtClean="0"/>
              <a:t>(2/11</a:t>
            </a:r>
            <a:r>
              <a:rPr lang="en-US" sz="4000" dirty="0"/>
              <a:t>) </a:t>
            </a:r>
            <a:endParaRPr lang="en-US" sz="4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3548D-92D0-4554-8725-585728EF99C9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0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60" y="762000"/>
            <a:ext cx="10739120" cy="1322284"/>
          </a:xfrm>
        </p:spPr>
        <p:txBody>
          <a:bodyPr>
            <a:normAutofit fontScale="90000"/>
          </a:bodyPr>
          <a:lstStyle/>
          <a:p>
            <a:r>
              <a:rPr lang="en-US" sz="3990" dirty="0" smtClean="0"/>
              <a:t/>
            </a:r>
            <a:br>
              <a:rPr lang="en-US" sz="3990" dirty="0" smtClean="0"/>
            </a:br>
            <a:r>
              <a:rPr lang="en-US" sz="4400" dirty="0" smtClean="0"/>
              <a:t>Fetal </a:t>
            </a:r>
            <a:r>
              <a:rPr lang="en-US" sz="4400" dirty="0"/>
              <a:t>and newborn </a:t>
            </a:r>
            <a:r>
              <a:rPr lang="en-US" sz="4400" dirty="0" smtClean="0"/>
              <a:t>infections </a:t>
            </a:r>
            <a:r>
              <a:rPr lang="en-US" sz="3600" dirty="0" smtClean="0"/>
              <a:t>(3/11</a:t>
            </a:r>
            <a:r>
              <a:rPr lang="en-US" sz="3600" dirty="0"/>
              <a:t>) </a:t>
            </a:r>
            <a:r>
              <a:rPr lang="en-US" sz="3990" dirty="0"/>
              <a:t/>
            </a:r>
            <a:br>
              <a:rPr lang="en-US" sz="3990" dirty="0"/>
            </a:br>
            <a:endParaRPr lang="en-US" sz="399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60" y="1905001"/>
            <a:ext cx="10322560" cy="4109719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dirty="0" smtClean="0"/>
          </a:p>
          <a:p>
            <a:pPr algn="just"/>
            <a:r>
              <a:rPr lang="en-US" sz="3000" dirty="0" smtClean="0"/>
              <a:t>Maternal </a:t>
            </a:r>
            <a:r>
              <a:rPr lang="en-US" sz="3000" dirty="0"/>
              <a:t>infections before or during childbirth are associated with an estimated 1 million newborn deaths </a:t>
            </a:r>
            <a:r>
              <a:rPr lang="en-US" sz="3000" dirty="0" smtClean="0"/>
              <a:t>annually. </a:t>
            </a:r>
          </a:p>
          <a:p>
            <a:pPr algn="just"/>
            <a:r>
              <a:rPr lang="en-US" sz="3000" dirty="0" smtClean="0"/>
              <a:t>Infection </a:t>
            </a:r>
            <a:r>
              <a:rPr lang="en-US" sz="3000" dirty="0"/>
              <a:t>accounts for 36% of newborn deaths, ranking it as one of the three major causes of newborn deaths </a:t>
            </a:r>
            <a:r>
              <a:rPr lang="en-US" sz="3000" dirty="0" smtClean="0"/>
              <a:t>worldwide. </a:t>
            </a:r>
          </a:p>
          <a:p>
            <a:pPr algn="just"/>
            <a:r>
              <a:rPr lang="en-US" sz="3000" dirty="0" smtClean="0"/>
              <a:t>This </a:t>
            </a:r>
            <a:r>
              <a:rPr lang="en-US" sz="3000" dirty="0"/>
              <a:t>number includes sepsis (6%), pneumonia (4%), tetanus (1%), and diarrhea (1%) </a:t>
            </a:r>
            <a:endParaRPr lang="en-US" sz="3000" dirty="0" smtClean="0"/>
          </a:p>
          <a:p>
            <a:pPr algn="just"/>
            <a:r>
              <a:rPr lang="en-US" sz="3000" dirty="0"/>
              <a:t>Infections in newborns also include congenital syphilis and mother-to-child transmission of HIV.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DC520-0B4C-49C5-BBE2-9FAF4C02C6B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1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161" y="372705"/>
            <a:ext cx="10541679" cy="1322284"/>
          </a:xfrm>
        </p:spPr>
        <p:txBody>
          <a:bodyPr>
            <a:normAutofit fontScale="90000"/>
          </a:bodyPr>
          <a:lstStyle/>
          <a:p>
            <a:r>
              <a:rPr lang="en-US" sz="3990" dirty="0" smtClean="0"/>
              <a:t/>
            </a:r>
            <a:br>
              <a:rPr lang="en-US" sz="3990" dirty="0" smtClean="0"/>
            </a:br>
            <a:r>
              <a:rPr lang="en-US" sz="3990" dirty="0"/>
              <a:t/>
            </a:r>
            <a:br>
              <a:rPr lang="en-US" sz="3990" dirty="0"/>
            </a:br>
            <a:r>
              <a:rPr lang="en-US" sz="3990" dirty="0" smtClean="0"/>
              <a:t>Sources </a:t>
            </a:r>
            <a:r>
              <a:rPr lang="en-US" sz="3990" dirty="0"/>
              <a:t>and Microorganisms Causing Infections in </a:t>
            </a:r>
            <a:r>
              <a:rPr lang="en-US" sz="3990" dirty="0" smtClean="0"/>
              <a:t>Newborns </a:t>
            </a:r>
            <a:r>
              <a:rPr lang="en-US" sz="3600" dirty="0" smtClean="0"/>
              <a:t>(4/11</a:t>
            </a:r>
            <a:r>
              <a:rPr lang="en-US" sz="3600" dirty="0"/>
              <a:t>) </a:t>
            </a:r>
            <a:endParaRPr lang="en-US" sz="399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050606"/>
              </p:ext>
            </p:extLst>
          </p:nvPr>
        </p:nvGraphicFramePr>
        <p:xfrm>
          <a:off x="60960" y="2209800"/>
          <a:ext cx="12019280" cy="4688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9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09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564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          Source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n-lt"/>
                        </a:rPr>
                        <a:t>  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Microorganisms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18285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 the placenta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Treponema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pallidum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cytomegalovirus, rubella, varicella (chicken pox), Toxoplasmosis </a:t>
                      </a:r>
                      <a:r>
                        <a:rPr lang="en-US" sz="2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gondii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HIV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27544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Mother’s birth canal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Group B streptococci, E. coli, Coagulase-negative staphylococcus, Listeria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monocytogenes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HBV, HIV, HSV</a:t>
                      </a:r>
                    </a:p>
                  </a:txBody>
                  <a:tcPr marL="76200" marR="76200"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673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 within health care facility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Gram-negative organisms (e.g., </a:t>
                      </a:r>
                      <a:r>
                        <a:rPr lang="en-US" sz="2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Klebsiella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pneumoniae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often multidrug resistant (MDR), opportunistic infections (e.g., coagulase-negative Staphylococcus spp.), Gram-positive organisms (e.g., MRSA), respiratory viruses, and gastrointestinal infections (e.g., Staphylococcus spp. 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T="45607" marB="45607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E407-46F9-41A7-BC6E-117276EF31F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4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202" y="914400"/>
            <a:ext cx="10738944" cy="1322284"/>
          </a:xfrm>
        </p:spPr>
        <p:txBody>
          <a:bodyPr/>
          <a:lstStyle/>
          <a:p>
            <a:r>
              <a:rPr lang="en-US" sz="3990" dirty="0"/>
              <a:t>Sources and Microorganisms </a:t>
            </a:r>
            <a:r>
              <a:rPr lang="en-US" dirty="0" smtClean="0"/>
              <a:t>… (5/11</a:t>
            </a:r>
            <a:r>
              <a:rPr lang="en-US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0" y="2306320"/>
            <a:ext cx="10452251" cy="4077748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addition, the use of invasive devices, such as central venous catheters (such as umbilical catheters) and </a:t>
            </a:r>
            <a:endParaRPr lang="en-US" sz="2800" dirty="0" smtClean="0"/>
          </a:p>
          <a:p>
            <a:pPr algn="just"/>
            <a:r>
              <a:rPr lang="en-US" sz="2800" dirty="0"/>
              <a:t>M</a:t>
            </a:r>
            <a:r>
              <a:rPr lang="en-US" sz="2800" dirty="0" smtClean="0"/>
              <a:t>echanical </a:t>
            </a:r>
            <a:r>
              <a:rPr lang="en-US" sz="2800" dirty="0"/>
              <a:t>ventilation, which are used in special care settings put infants at higher risk for infection, particularly with gram-negative bacteria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Inappropriate management of umbilical cord and newborn circumcision procedures can also expose newborns to infectious microbes.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4F50-128B-4CD1-9630-97320852CA39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90" dirty="0" smtClean="0"/>
              <a:t/>
            </a:r>
            <a:br>
              <a:rPr lang="en-US" sz="3990" dirty="0" smtClean="0"/>
            </a:br>
            <a:r>
              <a:rPr lang="en-US" sz="4000" dirty="0" smtClean="0"/>
              <a:t>Risk </a:t>
            </a:r>
            <a:r>
              <a:rPr lang="en-US" sz="4000" dirty="0"/>
              <a:t>factors for mothers and newborns </a:t>
            </a:r>
            <a:r>
              <a:rPr lang="en-US" sz="4000" dirty="0" smtClean="0"/>
              <a:t>(6/11</a:t>
            </a:r>
            <a:r>
              <a:rPr lang="en-US" sz="4000" dirty="0"/>
              <a:t>)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0136"/>
            <a:ext cx="10373360" cy="34449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MATERNAL </a:t>
            </a:r>
            <a:r>
              <a:rPr lang="en-US" b="1" dirty="0"/>
              <a:t>FACTORS </a:t>
            </a:r>
            <a:r>
              <a:rPr lang="en-US" b="1" dirty="0" smtClean="0"/>
              <a:t>:</a:t>
            </a:r>
          </a:p>
          <a:p>
            <a:pPr lvl="0"/>
            <a:r>
              <a:rPr lang="en-US" sz="3300" dirty="0" smtClean="0"/>
              <a:t>Immunosuppression </a:t>
            </a:r>
          </a:p>
          <a:p>
            <a:r>
              <a:rPr lang="en-US" sz="3300" dirty="0"/>
              <a:t>Uncontrolled </a:t>
            </a:r>
            <a:r>
              <a:rPr lang="en-US" sz="3300" dirty="0" smtClean="0"/>
              <a:t>diabetes</a:t>
            </a:r>
          </a:p>
          <a:p>
            <a:pPr lvl="0"/>
            <a:r>
              <a:rPr lang="en-US" sz="3300" dirty="0" smtClean="0"/>
              <a:t>Nutritional </a:t>
            </a:r>
            <a:r>
              <a:rPr lang="en-US" sz="3300" dirty="0"/>
              <a:t>status, </a:t>
            </a:r>
          </a:p>
          <a:p>
            <a:pPr lvl="0"/>
            <a:r>
              <a:rPr lang="en-US" sz="3300" dirty="0" smtClean="0"/>
              <a:t>Low </a:t>
            </a:r>
            <a:r>
              <a:rPr lang="en-US" sz="3300" dirty="0"/>
              <a:t>socioeconomic status</a:t>
            </a:r>
          </a:p>
          <a:p>
            <a:pPr lvl="0"/>
            <a:r>
              <a:rPr lang="en-US" sz="3300" dirty="0"/>
              <a:t>Smoking </a:t>
            </a:r>
            <a:endParaRPr lang="en-US" sz="3300" dirty="0" smtClean="0"/>
          </a:p>
          <a:p>
            <a:pPr lvl="0"/>
            <a:r>
              <a:rPr lang="en-US" sz="3300" dirty="0" smtClean="0"/>
              <a:t>Vaginal </a:t>
            </a:r>
            <a:r>
              <a:rPr lang="en-US" sz="3300" dirty="0"/>
              <a:t>colonization/infections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ECE1-AFD1-4A4E-828C-8A14E7013A2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9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328" y="990600"/>
            <a:ext cx="10515600" cy="1019712"/>
          </a:xfrm>
        </p:spPr>
        <p:txBody>
          <a:bodyPr>
            <a:normAutofit/>
          </a:bodyPr>
          <a:lstStyle/>
          <a:p>
            <a:r>
              <a:rPr lang="en-US" sz="3990" dirty="0"/>
              <a:t>Risk factors for mothers </a:t>
            </a:r>
            <a:r>
              <a:rPr lang="en-US" sz="3990" dirty="0" smtClean="0"/>
              <a:t>… </a:t>
            </a:r>
            <a:r>
              <a:rPr lang="en-US" sz="3600" dirty="0" smtClean="0"/>
              <a:t>(7/11</a:t>
            </a:r>
            <a:r>
              <a:rPr lang="en-US" sz="3600" dirty="0"/>
              <a:t>) </a:t>
            </a:r>
            <a:endParaRPr lang="en-US" sz="399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2490136"/>
            <a:ext cx="10627360" cy="3444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LABOR-RELATED RISK FACTORS </a:t>
            </a:r>
            <a:r>
              <a:rPr lang="en-US" b="1" dirty="0" smtClean="0"/>
              <a:t>: </a:t>
            </a:r>
          </a:p>
          <a:p>
            <a:pPr lvl="0"/>
            <a:r>
              <a:rPr lang="en-US" sz="3000" dirty="0" smtClean="0"/>
              <a:t>Ruptured </a:t>
            </a:r>
            <a:r>
              <a:rPr lang="en-US" sz="3000" dirty="0"/>
              <a:t>membranes (ROM) </a:t>
            </a:r>
            <a:endParaRPr lang="en-US" sz="3000" dirty="0" smtClean="0"/>
          </a:p>
          <a:p>
            <a:pPr lvl="0"/>
            <a:r>
              <a:rPr lang="en-US" sz="3000" dirty="0" smtClean="0"/>
              <a:t>Preterm </a:t>
            </a:r>
            <a:r>
              <a:rPr lang="en-US" sz="3000" dirty="0"/>
              <a:t>labor, </a:t>
            </a:r>
            <a:endParaRPr lang="en-US" sz="3000" dirty="0" smtClean="0"/>
          </a:p>
          <a:p>
            <a:pPr lvl="0"/>
            <a:r>
              <a:rPr lang="en-US" sz="3000" dirty="0" smtClean="0"/>
              <a:t>Premature </a:t>
            </a:r>
            <a:r>
              <a:rPr lang="en-US" sz="3000" dirty="0"/>
              <a:t>ROM </a:t>
            </a:r>
          </a:p>
          <a:p>
            <a:pPr lvl="0"/>
            <a:r>
              <a:rPr lang="en-US" sz="3000" dirty="0"/>
              <a:t>Prolonged ROM </a:t>
            </a:r>
            <a:endParaRPr lang="en-US" sz="3000" dirty="0" smtClean="0"/>
          </a:p>
          <a:p>
            <a:pPr lvl="0"/>
            <a:r>
              <a:rPr lang="en-US" sz="3000" dirty="0" smtClean="0"/>
              <a:t>Prolonged labor</a:t>
            </a: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E61-7CB6-471D-BC03-70B6FD9FE98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1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512618"/>
            <a:ext cx="9064979" cy="1188426"/>
          </a:xfrm>
        </p:spPr>
        <p:txBody>
          <a:bodyPr/>
          <a:lstStyle/>
          <a:p>
            <a:r>
              <a:rPr lang="en-US" sz="4000" dirty="0"/>
              <a:t>Risk factors for mothers … </a:t>
            </a:r>
            <a:r>
              <a:rPr lang="en-US" sz="4000" dirty="0" smtClean="0"/>
              <a:t>(8/11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605280"/>
            <a:ext cx="10444480" cy="4329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LABOR-RELATED </a:t>
            </a:r>
            <a:r>
              <a:rPr lang="en-US" b="1" dirty="0"/>
              <a:t>RISK FACTORS : </a:t>
            </a:r>
            <a:r>
              <a:rPr lang="en-US" b="1" dirty="0" smtClean="0"/>
              <a:t>…</a:t>
            </a:r>
          </a:p>
          <a:p>
            <a:pPr lvl="0"/>
            <a:r>
              <a:rPr lang="en-US" sz="2800" dirty="0" smtClean="0"/>
              <a:t>Prolonged </a:t>
            </a:r>
            <a:r>
              <a:rPr lang="en-US" sz="2800" dirty="0"/>
              <a:t>prenatal hospital stay </a:t>
            </a:r>
          </a:p>
          <a:p>
            <a:pPr lvl="0"/>
            <a:r>
              <a:rPr lang="en-US" sz="2800" dirty="0"/>
              <a:t>Multiple vaginal examinations</a:t>
            </a:r>
          </a:p>
          <a:p>
            <a:pPr lvl="0"/>
            <a:r>
              <a:rPr lang="en-US" sz="2800" dirty="0"/>
              <a:t>Trauma to the birth canal </a:t>
            </a:r>
          </a:p>
          <a:p>
            <a:pPr lvl="0"/>
            <a:r>
              <a:rPr lang="en-US" sz="2800" dirty="0"/>
              <a:t>Use of forceps or vacuum extractor for delivery </a:t>
            </a:r>
          </a:p>
          <a:p>
            <a:pPr lvl="0"/>
            <a:r>
              <a:rPr lang="en-US" sz="2800" dirty="0"/>
              <a:t>C-section </a:t>
            </a:r>
          </a:p>
          <a:p>
            <a:r>
              <a:rPr lang="en-US" sz="2800" dirty="0"/>
              <a:t>Manual placental removal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547E-C275-4B4B-8600-F9EB9CD6AF5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Risk factors for mothers … </a:t>
            </a:r>
            <a:r>
              <a:rPr lang="en-US" sz="4000" dirty="0" smtClean="0"/>
              <a:t>(9/11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328" y="2514600"/>
            <a:ext cx="10299473" cy="365556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NEWBORN </a:t>
            </a:r>
            <a:r>
              <a:rPr lang="en-US" b="1" dirty="0"/>
              <a:t>RISK FACTORS </a:t>
            </a:r>
            <a:r>
              <a:rPr lang="en-US" b="1" dirty="0" smtClean="0"/>
              <a:t>: </a:t>
            </a:r>
          </a:p>
          <a:p>
            <a:pPr lvl="0"/>
            <a:r>
              <a:rPr lang="en-US" sz="2800" dirty="0" smtClean="0"/>
              <a:t>Lower </a:t>
            </a:r>
            <a:r>
              <a:rPr lang="en-US" sz="2800" dirty="0"/>
              <a:t>birth weight</a:t>
            </a:r>
          </a:p>
          <a:p>
            <a:pPr lvl="0"/>
            <a:r>
              <a:rPr lang="en-US" sz="2800" dirty="0"/>
              <a:t>Younger gestational age</a:t>
            </a:r>
          </a:p>
          <a:p>
            <a:r>
              <a:rPr lang="en-US" sz="2800" dirty="0"/>
              <a:t>Co-morbidities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2A67-2F91-4004-AFE7-52C87C17771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5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1030778"/>
            <a:ext cx="10007599" cy="1188426"/>
          </a:xfrm>
        </p:spPr>
        <p:txBody>
          <a:bodyPr/>
          <a:lstStyle/>
          <a:p>
            <a:r>
              <a:rPr lang="en-US" sz="4000" dirty="0"/>
              <a:t>Risk factors for mothers … (</a:t>
            </a:r>
            <a:r>
              <a:rPr lang="en-US" sz="4000" dirty="0" smtClean="0"/>
              <a:t>10/11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2490136"/>
            <a:ext cx="10373360" cy="3444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  CARE-RELATED </a:t>
            </a:r>
            <a:r>
              <a:rPr lang="en-US" b="1" dirty="0"/>
              <a:t>RISK FACTORS </a:t>
            </a:r>
            <a:r>
              <a:rPr lang="en-US" b="1" dirty="0" smtClean="0"/>
              <a:t>:</a:t>
            </a:r>
          </a:p>
          <a:p>
            <a:pPr lvl="0"/>
            <a:r>
              <a:rPr lang="en-US" sz="3000" dirty="0" smtClean="0"/>
              <a:t>Intensive </a:t>
            </a:r>
            <a:r>
              <a:rPr lang="en-US" sz="3000" dirty="0"/>
              <a:t>care stay</a:t>
            </a:r>
          </a:p>
          <a:p>
            <a:pPr lvl="0"/>
            <a:r>
              <a:rPr lang="en-US" sz="3000" dirty="0"/>
              <a:t>Presence of invasive medical devices</a:t>
            </a:r>
          </a:p>
          <a:p>
            <a:pPr lvl="0"/>
            <a:r>
              <a:rPr lang="en-US" sz="3000" dirty="0"/>
              <a:t>Longer hospital stay</a:t>
            </a:r>
          </a:p>
          <a:p>
            <a:pPr lvl="0"/>
            <a:r>
              <a:rPr lang="en-US" sz="3000" dirty="0"/>
              <a:t>Parenteral nutrition</a:t>
            </a:r>
          </a:p>
          <a:p>
            <a:pPr lvl="0"/>
            <a:r>
              <a:rPr lang="en-US" sz="3000" dirty="0"/>
              <a:t>Antimicrobial therapy, which may lead to MDRO </a:t>
            </a:r>
            <a:r>
              <a:rPr lang="en-US" sz="3000" dirty="0" smtClean="0"/>
              <a:t>infection</a:t>
            </a: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D111-E98E-4304-9167-ABC3C08C9B79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83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Risk factors for mothers … (</a:t>
            </a:r>
            <a:r>
              <a:rPr lang="en-US" sz="4000" dirty="0" smtClean="0"/>
              <a:t>11/11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2490136"/>
            <a:ext cx="10556240" cy="3444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  CARE-RELATED RISK FACTORS : …</a:t>
            </a:r>
          </a:p>
          <a:p>
            <a:pPr lvl="0"/>
            <a:r>
              <a:rPr lang="en-US" sz="3000" dirty="0" smtClean="0"/>
              <a:t>Overcrowding </a:t>
            </a:r>
            <a:r>
              <a:rPr lang="en-US" sz="3000" dirty="0"/>
              <a:t>and understaffing</a:t>
            </a:r>
          </a:p>
          <a:p>
            <a:pPr lvl="0"/>
            <a:r>
              <a:rPr lang="en-US" sz="3000" dirty="0"/>
              <a:t>Ward layout (sinks, bed spacing)</a:t>
            </a:r>
          </a:p>
          <a:p>
            <a:pPr lvl="0"/>
            <a:r>
              <a:rPr lang="en-US" sz="3000" dirty="0"/>
              <a:t>Use of fetal scalp electrodes</a:t>
            </a:r>
          </a:p>
          <a:p>
            <a:pPr lvl="0"/>
            <a:r>
              <a:rPr lang="en-US" sz="3000" dirty="0"/>
              <a:t>Contact with colonized/infected family, visitors, or HCWs</a:t>
            </a:r>
          </a:p>
          <a:p>
            <a:r>
              <a:rPr lang="en-US" sz="3000" dirty="0"/>
              <a:t>Proximity of colonized neonates</a:t>
            </a:r>
            <a:r>
              <a:rPr lang="en-US" sz="3000" b="1" dirty="0"/>
              <a:t> </a:t>
            </a:r>
            <a:endParaRPr lang="en-US" sz="30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1F0A-A2EB-4BFF-B2F7-85FDBB9191E7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34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59" y="660400"/>
            <a:ext cx="10739121" cy="1012404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3.Prevention </a:t>
            </a:r>
            <a:r>
              <a:rPr lang="en-US" sz="4000" dirty="0"/>
              <a:t>of Maternal and Newborn </a:t>
            </a:r>
            <a:r>
              <a:rPr lang="en-US" sz="4000" dirty="0" smtClean="0"/>
              <a:t>Infections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939" y="1717040"/>
            <a:ext cx="10462221" cy="45741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3100" dirty="0" smtClean="0"/>
              <a:t>Prevention </a:t>
            </a:r>
            <a:r>
              <a:rPr lang="en-US" sz="3100" dirty="0"/>
              <a:t>of infections in mothers and neonates begins in the preconception period and continues throughout the perinatal period and includes: </a:t>
            </a:r>
          </a:p>
          <a:p>
            <a:pPr lvl="0"/>
            <a:r>
              <a:rPr lang="en-US" sz="3100" dirty="0"/>
              <a:t>Health education of the mother and family </a:t>
            </a:r>
          </a:p>
          <a:p>
            <a:pPr lvl="0"/>
            <a:r>
              <a:rPr lang="en-US" sz="3100" dirty="0"/>
              <a:t>Preconception and prenatal care </a:t>
            </a:r>
            <a:endParaRPr lang="en-US" sz="3100" dirty="0" smtClean="0"/>
          </a:p>
          <a:p>
            <a:pPr lvl="0"/>
            <a:r>
              <a:rPr lang="en-US" sz="3100" dirty="0" smtClean="0"/>
              <a:t>Appropriate </a:t>
            </a:r>
            <a:r>
              <a:rPr lang="en-US" sz="3100" dirty="0"/>
              <a:t>interventions during labor and delivery, both at home and in the health care facility </a:t>
            </a:r>
            <a:endParaRPr lang="en-US" sz="3100" dirty="0" smtClean="0"/>
          </a:p>
          <a:p>
            <a:pPr lvl="0"/>
            <a:r>
              <a:rPr lang="en-US" sz="3100" dirty="0" smtClean="0"/>
              <a:t>Postpartum </a:t>
            </a:r>
            <a:r>
              <a:rPr lang="en-US" sz="3100" dirty="0"/>
              <a:t>care for the </a:t>
            </a:r>
            <a:r>
              <a:rPr lang="en-US" sz="3100" dirty="0" smtClean="0"/>
              <a:t>mother</a:t>
            </a:r>
            <a:endParaRPr lang="en-US" sz="3100" dirty="0"/>
          </a:p>
          <a:p>
            <a:pPr lvl="0"/>
            <a:r>
              <a:rPr lang="en-US" sz="3100" dirty="0"/>
              <a:t>Care of the newborn </a:t>
            </a:r>
            <a:endParaRPr lang="en-US" sz="3100" dirty="0" smtClean="0"/>
          </a:p>
          <a:p>
            <a:pPr lvl="0"/>
            <a:r>
              <a:rPr lang="en-US" sz="3100" dirty="0" smtClean="0"/>
              <a:t>Prevention </a:t>
            </a:r>
            <a:r>
              <a:rPr lang="en-US" sz="3100" dirty="0"/>
              <a:t>of postnatal transmission of infection from mother to </a:t>
            </a:r>
            <a:r>
              <a:rPr lang="en-US" sz="3100" dirty="0" smtClean="0"/>
              <a:t>newborn</a:t>
            </a:r>
          </a:p>
          <a:p>
            <a:pPr lvl="0"/>
            <a:r>
              <a:rPr lang="en-US" sz="3100" dirty="0" smtClean="0"/>
              <a:t>Screening </a:t>
            </a:r>
            <a:r>
              <a:rPr lang="en-US" sz="3100" dirty="0"/>
              <a:t>of birthing support persons and visitors for signs and symptoms of </a:t>
            </a:r>
            <a:r>
              <a:rPr lang="en-US" sz="3100" dirty="0" smtClean="0"/>
              <a:t>infections</a:t>
            </a:r>
            <a:endParaRPr lang="en-US" sz="3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C5A59-D36B-438D-A933-B9FEB56E607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9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38200"/>
            <a:ext cx="10759440" cy="1322284"/>
          </a:xfrm>
        </p:spPr>
        <p:txBody>
          <a:bodyPr/>
          <a:lstStyle/>
          <a:p>
            <a:r>
              <a:rPr lang="en-US" sz="4000" dirty="0" smtClean="0"/>
              <a:t>IPC </a:t>
            </a:r>
            <a:r>
              <a:rPr lang="en-US" sz="4000" dirty="0"/>
              <a:t>Interventions </a:t>
            </a:r>
            <a:r>
              <a:rPr lang="en-US" sz="4000" dirty="0" smtClean="0"/>
              <a:t>During Prenatal Care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1" y="2540452"/>
            <a:ext cx="10236123" cy="3629713"/>
          </a:xfrm>
        </p:spPr>
        <p:txBody>
          <a:bodyPr>
            <a:normAutofit/>
          </a:bodyPr>
          <a:lstStyle/>
          <a:p>
            <a:r>
              <a:rPr lang="en-US" sz="2800" dirty="0"/>
              <a:t>Prenatal care is essentially caring for two inseparable, interdependent patients: </a:t>
            </a:r>
            <a:r>
              <a:rPr lang="en-US" sz="2800" dirty="0" smtClean="0"/>
              <a:t>the </a:t>
            </a:r>
            <a:r>
              <a:rPr lang="en-US" sz="2800" dirty="0"/>
              <a:t>mother and the fetus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Undetected or poorly managed maternal infections can lead to sepsis, death, or disability for the mother and increased likelihood of early infection for the infant, with possible serious outcomes.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9F6F-244E-41E8-B1D7-FD2D52957537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15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550" y="974812"/>
            <a:ext cx="10912365" cy="93526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400" b="1" dirty="0" smtClean="0"/>
              <a:t>IPC </a:t>
            </a:r>
            <a:r>
              <a:rPr lang="en-US" sz="4400" b="1" dirty="0"/>
              <a:t>Interventions during Birth: </a:t>
            </a:r>
            <a:r>
              <a:rPr lang="en-US" sz="4400" b="1" dirty="0" smtClean="0"/>
              <a:t>Intra-partum Care (1/9)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2164080"/>
            <a:ext cx="10281920" cy="37710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1" dirty="0" smtClean="0"/>
              <a:t>Minimizing </a:t>
            </a:r>
            <a:r>
              <a:rPr lang="en-US" sz="2800" b="1" i="1" dirty="0"/>
              <a:t>HCWs’ risk of infection </a:t>
            </a:r>
          </a:p>
          <a:p>
            <a:r>
              <a:rPr lang="en-US" sz="2800" dirty="0"/>
              <a:t>HCWs should protect themselves </a:t>
            </a:r>
            <a:r>
              <a:rPr lang="en-US" sz="2800" dirty="0" smtClean="0"/>
              <a:t>by </a:t>
            </a:r>
            <a:r>
              <a:rPr lang="en-US" sz="2800" dirty="0"/>
              <a:t>consistently and correctly complying with recommended IPC </a:t>
            </a:r>
            <a:r>
              <a:rPr lang="en-US" sz="2800" dirty="0" smtClean="0"/>
              <a:t>practices</a:t>
            </a:r>
          </a:p>
          <a:p>
            <a:pPr marL="0" indent="0">
              <a:buNone/>
            </a:pPr>
            <a:r>
              <a:rPr lang="en-US" sz="2800" b="1" i="1" dirty="0" smtClean="0"/>
              <a:t>Selecting </a:t>
            </a:r>
            <a:r>
              <a:rPr lang="en-US" sz="2800" b="1" i="1" dirty="0"/>
              <a:t>gloves for </a:t>
            </a:r>
            <a:r>
              <a:rPr lang="en-US" sz="2800" b="1" i="1" dirty="0" smtClean="0"/>
              <a:t>intra-partum procedures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appropriate choice of gloves is crucial to avoid waste from unnecessary use and prevent infection.</a:t>
            </a:r>
            <a:endParaRPr lang="en-US" sz="2800" i="1" dirty="0" smtClean="0"/>
          </a:p>
          <a:p>
            <a:r>
              <a:rPr lang="en-US" sz="2800" dirty="0" smtClean="0"/>
              <a:t>Sterile </a:t>
            </a:r>
            <a:r>
              <a:rPr lang="en-US" sz="2800" dirty="0"/>
              <a:t>or non-sterile gloves should never be reprocessed.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20F2-461E-4400-AE17-AF5CB8BC505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71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IPC </a:t>
            </a:r>
            <a:r>
              <a:rPr lang="en-US" sz="4000" b="1" dirty="0" smtClean="0"/>
              <a:t>Interventions </a:t>
            </a:r>
            <a:r>
              <a:rPr lang="en-US" sz="4000" dirty="0" smtClean="0"/>
              <a:t>…(2/9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2490136"/>
            <a:ext cx="10627360" cy="34449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i="1" dirty="0" smtClean="0"/>
              <a:t>Cleaning </a:t>
            </a:r>
            <a:r>
              <a:rPr lang="en-US" sz="4000" b="1" i="1" dirty="0"/>
              <a:t>the perineum</a:t>
            </a:r>
          </a:p>
          <a:p>
            <a:r>
              <a:rPr lang="en-US" sz="4000" dirty="0"/>
              <a:t>Prior to each vaginal examination, the HCW should perform the standard </a:t>
            </a:r>
            <a:r>
              <a:rPr lang="en-US" sz="4000" dirty="0" smtClean="0"/>
              <a:t>steps</a:t>
            </a:r>
          </a:p>
          <a:p>
            <a:endParaRPr lang="en-US" sz="4000" dirty="0" smtClean="0"/>
          </a:p>
          <a:p>
            <a:pPr marL="0" indent="0">
              <a:buNone/>
            </a:pPr>
            <a:r>
              <a:rPr lang="en-US" sz="4000" b="1" i="1" dirty="0" smtClean="0"/>
              <a:t>Performing </a:t>
            </a:r>
            <a:r>
              <a:rPr lang="en-US" sz="4000" b="1" i="1" dirty="0"/>
              <a:t>a digital vaginal exam</a:t>
            </a:r>
          </a:p>
          <a:p>
            <a:r>
              <a:rPr lang="en-US" sz="4000" dirty="0"/>
              <a:t>Limiting the number of vaginal examinations and performing exams using clean technique prevents introduction of vaginal or intestinal organisms into the uterus.</a:t>
            </a:r>
          </a:p>
          <a:p>
            <a:pPr marL="0" indent="0">
              <a:buNone/>
            </a:pPr>
            <a:r>
              <a:rPr lang="en-US" sz="4000" dirty="0"/>
              <a:t> 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578C-B55D-4AD6-883E-F1D24B310CC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69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731520"/>
            <a:ext cx="9064979" cy="878084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/>
              <a:t>IPC </a:t>
            </a:r>
            <a:r>
              <a:rPr lang="en-US" sz="4000" b="1" dirty="0"/>
              <a:t>Interventions </a:t>
            </a:r>
            <a:r>
              <a:rPr lang="en-US" sz="4000" dirty="0"/>
              <a:t>… </a:t>
            </a:r>
            <a:r>
              <a:rPr lang="en-US" sz="4000" dirty="0" smtClean="0"/>
              <a:t>(3/9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i="1" dirty="0"/>
              <a:t/>
            </a:r>
            <a:br>
              <a:rPr lang="en-US" sz="4000" i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720" y="1788160"/>
            <a:ext cx="10363200" cy="41469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i="1" dirty="0" smtClean="0"/>
              <a:t>Recommendations </a:t>
            </a:r>
            <a:r>
              <a:rPr lang="en-US" b="1" i="1" dirty="0"/>
              <a:t>for antibiotic </a:t>
            </a:r>
            <a:r>
              <a:rPr lang="en-US" b="1" i="1" dirty="0" smtClean="0"/>
              <a:t>use</a:t>
            </a:r>
            <a:endParaRPr lang="en-US" b="1" i="1" dirty="0"/>
          </a:p>
          <a:p>
            <a:pPr lvl="0"/>
            <a:r>
              <a:rPr lang="en-US" sz="4000" dirty="0"/>
              <a:t>Women with preterm pre-labor rupture of membrane</a:t>
            </a:r>
          </a:p>
          <a:p>
            <a:pPr lvl="0"/>
            <a:r>
              <a:rPr lang="en-US" sz="4000" dirty="0"/>
              <a:t>Women with GBS colonization to prevent newborn infection </a:t>
            </a:r>
          </a:p>
          <a:p>
            <a:pPr lvl="0"/>
            <a:r>
              <a:rPr lang="en-US" sz="4000" dirty="0"/>
              <a:t>IAI (</a:t>
            </a:r>
            <a:r>
              <a:rPr lang="en-US" sz="4000" dirty="0" err="1"/>
              <a:t>chorioamionitis</a:t>
            </a:r>
            <a:r>
              <a:rPr lang="en-US" sz="4000" dirty="0"/>
              <a:t>) during labor and childbirth</a:t>
            </a:r>
          </a:p>
          <a:p>
            <a:pPr lvl="0"/>
            <a:r>
              <a:rPr lang="en-US" sz="4000" dirty="0"/>
              <a:t>Women undergoing manual removal of the </a:t>
            </a:r>
            <a:r>
              <a:rPr lang="en-US" sz="4000" dirty="0" smtClean="0"/>
              <a:t>placenta</a:t>
            </a:r>
            <a:endParaRPr lang="en-US" sz="4000" dirty="0"/>
          </a:p>
          <a:p>
            <a:pPr lvl="0"/>
            <a:r>
              <a:rPr lang="en-US" sz="4000" dirty="0"/>
              <a:t>Women with a third- or fourth-degree </a:t>
            </a:r>
            <a:r>
              <a:rPr lang="en-US" sz="4000" dirty="0" err="1"/>
              <a:t>perineal</a:t>
            </a:r>
            <a:r>
              <a:rPr lang="en-US" sz="4000" dirty="0"/>
              <a:t> tear</a:t>
            </a:r>
          </a:p>
          <a:p>
            <a:pPr lvl="0"/>
            <a:r>
              <a:rPr lang="en-US" sz="4000" dirty="0"/>
              <a:t>Stop antibiotics as soon as recommended after birth.</a:t>
            </a:r>
          </a:p>
          <a:p>
            <a:pPr lvl="0"/>
            <a:r>
              <a:rPr lang="en-US" sz="4000" dirty="0"/>
              <a:t>Educate mothers to complete the full course of prescribed antibiotics.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AD87-616F-4A71-BC71-B2D8400A525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58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IPC </a:t>
            </a:r>
            <a:r>
              <a:rPr lang="en-US" sz="4000" b="1" dirty="0" smtClean="0"/>
              <a:t>Interventions … </a:t>
            </a:r>
            <a:r>
              <a:rPr lang="en-US" sz="4000" dirty="0" smtClean="0"/>
              <a:t>(4/9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b="1" dirty="0" smtClean="0"/>
              <a:t>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2490136"/>
            <a:ext cx="10292080" cy="34449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               </a:t>
            </a:r>
            <a:r>
              <a:rPr lang="en-US" b="1" i="1" dirty="0" smtClean="0"/>
              <a:t>PPE </a:t>
            </a:r>
            <a:r>
              <a:rPr lang="en-US" b="1" i="1" dirty="0"/>
              <a:t>for delivery</a:t>
            </a:r>
          </a:p>
          <a:p>
            <a:r>
              <a:rPr lang="en-US" sz="3600" dirty="0"/>
              <a:t>HCWs should use appropriate PPE to protect against the risk of exposure to blood and body fluids during labor, delivery, and resuscitation of the infant. </a:t>
            </a:r>
          </a:p>
          <a:p>
            <a:pPr marL="0" indent="0">
              <a:buNone/>
            </a:pPr>
            <a:r>
              <a:rPr lang="en-US" sz="3600" b="1" i="1" dirty="0" smtClean="0"/>
              <a:t>      Equipment </a:t>
            </a:r>
            <a:r>
              <a:rPr lang="en-US" sz="3600" b="1" i="1" dirty="0"/>
              <a:t>for vaginal delivery </a:t>
            </a:r>
          </a:p>
          <a:p>
            <a:r>
              <a:rPr lang="en-US" sz="3600" dirty="0"/>
              <a:t>Make sure that all items are available for a vaginal delivery. </a:t>
            </a:r>
          </a:p>
          <a:p>
            <a:r>
              <a:rPr lang="en-US" sz="3600" dirty="0"/>
              <a:t>If an episiotomy is required, the necessary equipment need to be added.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B250-1884-4094-A87A-46BB140B3660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IPC </a:t>
            </a:r>
            <a:r>
              <a:rPr lang="en-US" sz="4000" b="1" dirty="0" smtClean="0"/>
              <a:t>Interventions … </a:t>
            </a:r>
            <a:r>
              <a:rPr lang="en-US" sz="4000" dirty="0" smtClean="0"/>
              <a:t>(5/9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0136"/>
            <a:ext cx="10403840" cy="34449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i="1" dirty="0" smtClean="0"/>
              <a:t>          </a:t>
            </a:r>
            <a:r>
              <a:rPr lang="en-US" sz="3300" b="1" i="1" dirty="0" smtClean="0"/>
              <a:t>Waste </a:t>
            </a:r>
            <a:r>
              <a:rPr lang="en-US" sz="3300" b="1" i="1" dirty="0"/>
              <a:t>disposal after childbirth </a:t>
            </a:r>
          </a:p>
          <a:p>
            <a:pPr lvl="0"/>
            <a:r>
              <a:rPr lang="en-US" sz="3300" dirty="0"/>
              <a:t>Before removing gloves, put the placenta in a clean basin for examination.</a:t>
            </a:r>
          </a:p>
          <a:p>
            <a:pPr lvl="0"/>
            <a:r>
              <a:rPr lang="en-US" sz="3300" dirty="0"/>
              <a:t>Wearing non-sterile gloves, put the placenta into a bag and place it into a leak-proof infectious-waste container designated for placenta. </a:t>
            </a:r>
          </a:p>
          <a:p>
            <a:pPr lvl="0"/>
            <a:r>
              <a:rPr lang="en-US" sz="3300" dirty="0"/>
              <a:t>Dispose of the placenta in the correct, safe, and culturally appropriate manner </a:t>
            </a:r>
            <a:endParaRPr lang="en-US" sz="33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94B4-007B-4AEE-9EA1-42B194940E6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IPC </a:t>
            </a:r>
            <a:r>
              <a:rPr lang="en-US" sz="4000" b="1" dirty="0" smtClean="0"/>
              <a:t>Interventions … </a:t>
            </a:r>
            <a:r>
              <a:rPr lang="en-US" sz="4000" dirty="0" smtClean="0"/>
              <a:t>(6/9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0" y="2490136"/>
            <a:ext cx="10383520" cy="3444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 smtClean="0"/>
              <a:t>     Waste </a:t>
            </a:r>
            <a:r>
              <a:rPr lang="en-US" b="1" i="1" dirty="0"/>
              <a:t>disposal after </a:t>
            </a:r>
            <a:r>
              <a:rPr lang="en-US" b="1" i="1" dirty="0" smtClean="0"/>
              <a:t>childbirth …</a:t>
            </a:r>
          </a:p>
          <a:p>
            <a:pPr lvl="0"/>
            <a:r>
              <a:rPr lang="en-US" sz="3000" dirty="0" smtClean="0"/>
              <a:t>Place </a:t>
            </a:r>
            <a:r>
              <a:rPr lang="en-US" sz="3000" dirty="0"/>
              <a:t>all waste items in a leak-proof, covered, contaminated-waste container.</a:t>
            </a:r>
          </a:p>
          <a:p>
            <a:pPr lvl="0"/>
            <a:r>
              <a:rPr lang="en-US" sz="3000" dirty="0"/>
              <a:t>If an episiotomy was done or surgical repair of tears was performed, dispose of sharps as recommended</a:t>
            </a:r>
          </a:p>
          <a:p>
            <a:pPr lvl="0"/>
            <a:r>
              <a:rPr lang="en-US" sz="3000" dirty="0"/>
              <a:t>Remove PPE and gloves and dispose of them in a leak-proof, covered, contaminated-waste container.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869EA-64E2-4081-9047-6F4725F2972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35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IPC Interventions </a:t>
            </a:r>
            <a:r>
              <a:rPr lang="en-US" sz="4000" b="1" dirty="0" smtClean="0"/>
              <a:t>… </a:t>
            </a:r>
            <a:r>
              <a:rPr lang="en-US" sz="4000" dirty="0" smtClean="0"/>
              <a:t>(7/9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880" y="2490136"/>
            <a:ext cx="10403840" cy="3444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         </a:t>
            </a:r>
            <a:r>
              <a:rPr lang="en-US" b="1" i="1" dirty="0" smtClean="0"/>
              <a:t>Preventing </a:t>
            </a:r>
            <a:r>
              <a:rPr lang="en-US" b="1" i="1" dirty="0"/>
              <a:t>infection during C-sections</a:t>
            </a:r>
            <a:endParaRPr lang="en-US" b="1" dirty="0"/>
          </a:p>
          <a:p>
            <a:r>
              <a:rPr lang="en-US" sz="2800" dirty="0"/>
              <a:t>C-sections should be performed using the same standards as for any general surgical </a:t>
            </a:r>
            <a:r>
              <a:rPr lang="en-US" sz="2800" dirty="0" smtClean="0"/>
              <a:t>procedure. Sterile </a:t>
            </a:r>
            <a:r>
              <a:rPr lang="en-US" sz="2800" dirty="0"/>
              <a:t>techniques should be strictly followed. </a:t>
            </a:r>
          </a:p>
          <a:p>
            <a:r>
              <a:rPr lang="en-US" sz="2800" dirty="0"/>
              <a:t>The scrubbed team members should also wear: eye </a:t>
            </a:r>
            <a:r>
              <a:rPr lang="en-US" sz="2800" dirty="0" smtClean="0"/>
              <a:t>protection, </a:t>
            </a:r>
            <a:r>
              <a:rPr lang="en-US" sz="2800" dirty="0"/>
              <a:t>fluid-resistant sterile surgical gown, and sterile </a:t>
            </a:r>
            <a:r>
              <a:rPr lang="en-US" sz="2800" dirty="0" smtClean="0"/>
              <a:t>gloves.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5144-026F-4390-9CDA-AF388480D72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8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640080"/>
            <a:ext cx="9064979" cy="888244"/>
          </a:xfrm>
        </p:spPr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IPC </a:t>
            </a:r>
            <a:r>
              <a:rPr lang="en-US" sz="4000" b="1" dirty="0"/>
              <a:t>Interventions </a:t>
            </a:r>
            <a:r>
              <a:rPr lang="en-US" sz="4000" b="1" dirty="0" smtClean="0"/>
              <a:t>…</a:t>
            </a:r>
            <a:r>
              <a:rPr lang="en-US" sz="4000" dirty="0" smtClean="0"/>
              <a:t>(8/9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74800"/>
            <a:ext cx="10607040" cy="461264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i="1" dirty="0" smtClean="0"/>
              <a:t>             </a:t>
            </a:r>
            <a:r>
              <a:rPr lang="en-US" sz="5900" b="1" i="1" dirty="0" smtClean="0"/>
              <a:t>Cervical </a:t>
            </a:r>
            <a:r>
              <a:rPr lang="en-US" sz="5900" b="1" i="1" dirty="0"/>
              <a:t>or vaginal preparation before a C-section </a:t>
            </a:r>
          </a:p>
          <a:p>
            <a:pPr lvl="0" algn="just"/>
            <a:r>
              <a:rPr lang="en-US" sz="4800" dirty="0"/>
              <a:t>Gently wash the external genital area with soap and clean water and dry the area before applying the antiseptic</a:t>
            </a:r>
          </a:p>
          <a:p>
            <a:pPr lvl="0" algn="just"/>
            <a:r>
              <a:rPr lang="en-US" sz="4800" dirty="0"/>
              <a:t>Ask the patient about allergic reactions </a:t>
            </a:r>
            <a:r>
              <a:rPr lang="en-US" sz="4800" dirty="0" smtClean="0"/>
              <a:t>before </a:t>
            </a:r>
            <a:r>
              <a:rPr lang="en-US" sz="4800" dirty="0"/>
              <a:t>selecting an antiseptic solution</a:t>
            </a:r>
          </a:p>
          <a:p>
            <a:pPr lvl="0" algn="just"/>
            <a:r>
              <a:rPr lang="en-US" sz="4800" dirty="0"/>
              <a:t>Use an </a:t>
            </a:r>
            <a:r>
              <a:rPr lang="en-US" sz="4800" dirty="0" err="1"/>
              <a:t>iodophor</a:t>
            </a:r>
            <a:r>
              <a:rPr lang="en-US" sz="4800" dirty="0"/>
              <a:t> (</a:t>
            </a:r>
            <a:r>
              <a:rPr lang="en-US" sz="4800" dirty="0" err="1"/>
              <a:t>povidone</a:t>
            </a:r>
            <a:r>
              <a:rPr lang="en-US" sz="4800" dirty="0"/>
              <a:t>-iodine) or 2–4% aqueous </a:t>
            </a:r>
            <a:r>
              <a:rPr lang="en-US" sz="4800" dirty="0" err="1"/>
              <a:t>chlorhexidine</a:t>
            </a:r>
            <a:r>
              <a:rPr lang="en-US" sz="4800" dirty="0"/>
              <a:t> </a:t>
            </a:r>
            <a:r>
              <a:rPr lang="en-US" sz="4800" dirty="0" err="1"/>
              <a:t>gluconate</a:t>
            </a:r>
            <a:r>
              <a:rPr lang="en-US" sz="4800" dirty="0"/>
              <a:t> (CHG) (e.g., </a:t>
            </a:r>
            <a:r>
              <a:rPr lang="en-US" sz="4800" dirty="0" err="1"/>
              <a:t>Hibiclens</a:t>
            </a:r>
            <a:r>
              <a:rPr lang="en-US" sz="4800" dirty="0"/>
              <a:t>) for preparing the vagina and cervix. </a:t>
            </a:r>
            <a:endParaRPr lang="en-US" sz="4800" dirty="0" smtClean="0"/>
          </a:p>
          <a:p>
            <a:pPr lvl="0" algn="just"/>
            <a:r>
              <a:rPr lang="en-US" sz="4800" dirty="0" smtClean="0"/>
              <a:t>Do </a:t>
            </a:r>
            <a:r>
              <a:rPr lang="en-US" sz="4800" dirty="0"/>
              <a:t>not use alcohols or alcohol-containing preparations</a:t>
            </a:r>
          </a:p>
          <a:p>
            <a:pPr lvl="0" algn="just"/>
            <a:r>
              <a:rPr lang="en-US" sz="4800" dirty="0"/>
              <a:t>After inserting the speculum, apply antiseptic solution liberally to the cervix and vagina (twice). </a:t>
            </a:r>
            <a:endParaRPr lang="en-US" sz="4800" dirty="0" smtClean="0"/>
          </a:p>
          <a:p>
            <a:pPr lvl="0" algn="just"/>
            <a:r>
              <a:rPr lang="en-US" sz="4800" dirty="0" smtClean="0"/>
              <a:t>It </a:t>
            </a:r>
            <a:r>
              <a:rPr lang="en-US" sz="4800" dirty="0"/>
              <a:t>is not necessary to prepare the external genital area with antiseptic solution if it appears clean. Allow 2 minutes before proceeding (for drying and antimicrobial action). </a:t>
            </a:r>
          </a:p>
          <a:p>
            <a:pPr marL="0" indent="0" algn="just">
              <a:buNone/>
            </a:pPr>
            <a:r>
              <a:rPr lang="en-US" sz="4800" dirty="0" smtClean="0"/>
              <a:t>  </a:t>
            </a:r>
            <a:endParaRPr lang="en-US" sz="4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4C2EB-DC83-4FF0-AB41-FF0DAA67168D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4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624378"/>
            <a:ext cx="9064979" cy="1041862"/>
          </a:xfrm>
        </p:spPr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IPC </a:t>
            </a:r>
            <a:r>
              <a:rPr lang="en-US" sz="4000" b="1" dirty="0"/>
              <a:t>Interventions </a:t>
            </a:r>
            <a:r>
              <a:rPr lang="en-US" sz="4000" b="1" dirty="0" smtClean="0"/>
              <a:t>… </a:t>
            </a:r>
            <a:r>
              <a:rPr lang="en-US" sz="4000" dirty="0" smtClean="0"/>
              <a:t>(9/9</a:t>
            </a:r>
            <a:r>
              <a:rPr lang="en-US" sz="4000" dirty="0"/>
              <a:t>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438401"/>
            <a:ext cx="10515600" cy="3731765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        </a:t>
            </a:r>
            <a:r>
              <a:rPr lang="en-US" b="1" i="1" dirty="0" smtClean="0"/>
              <a:t>Infection </a:t>
            </a:r>
            <a:r>
              <a:rPr lang="en-US" b="1" i="1" dirty="0"/>
              <a:t>prevention measures related to surgical technique</a:t>
            </a:r>
          </a:p>
          <a:p>
            <a:pPr lvl="0" algn="just"/>
            <a:r>
              <a:rPr lang="en-US" sz="2800" dirty="0"/>
              <a:t>Good surgical techniques minimize tissue trauma, control bleeding, eliminate dead space, remove dead tissue and foreign bodies, use minimal sutures, and maintain adequate blood supply and </a:t>
            </a:r>
            <a:r>
              <a:rPr lang="en-US" sz="2800" dirty="0" smtClean="0"/>
              <a:t>oxygenation.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E14F-C9F1-4E25-B9A0-1A0053BC6411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8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30778"/>
            <a:ext cx="10190479" cy="1188426"/>
          </a:xfrm>
        </p:spPr>
        <p:txBody>
          <a:bodyPr>
            <a:normAutofit fontScale="90000"/>
          </a:bodyPr>
          <a:lstStyle/>
          <a:p>
            <a:r>
              <a:rPr lang="en-US" sz="3990" dirty="0" smtClean="0"/>
              <a:t/>
            </a:r>
            <a:br>
              <a:rPr lang="en-US" sz="3990" dirty="0" smtClean="0"/>
            </a:br>
            <a:r>
              <a:rPr lang="en-US" sz="4400" dirty="0" smtClean="0"/>
              <a:t>Preventing </a:t>
            </a:r>
            <a:r>
              <a:rPr lang="en-US" sz="4400" dirty="0"/>
              <a:t>infection during home </a:t>
            </a:r>
            <a:r>
              <a:rPr lang="en-US" sz="4400" dirty="0" smtClean="0"/>
              <a:t>births (1/1)</a:t>
            </a:r>
            <a:r>
              <a:rPr lang="en-US" sz="3990" dirty="0"/>
              <a:t/>
            </a:r>
            <a:br>
              <a:rPr lang="en-US" sz="3990" dirty="0"/>
            </a:br>
            <a:endParaRPr lang="en-US" sz="399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60" y="2490136"/>
            <a:ext cx="10342880" cy="3444997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To </a:t>
            </a:r>
            <a:r>
              <a:rPr lang="en-US" sz="2800" dirty="0"/>
              <a:t>promote clean home birth practices, clean birth kits </a:t>
            </a:r>
            <a:r>
              <a:rPr lang="en-US" sz="2800" dirty="0" smtClean="0"/>
              <a:t>along </a:t>
            </a:r>
            <a:r>
              <a:rPr lang="en-US" sz="2800" dirty="0"/>
              <a:t>with the “Six Cleans” method are used as a way to decrease the incidence of infection in mothers and newborns. Clean birth kits include disposable items for clean birth practices (e.g., soap, blade, plastic sheet)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6F1E8-B77E-456E-B1D8-795C7A37A88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30778"/>
            <a:ext cx="10332719" cy="11884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IPC Interventions: </a:t>
            </a:r>
            <a:r>
              <a:rPr lang="en-US" sz="4400" dirty="0"/>
              <a:t>Postpartum Care of the </a:t>
            </a:r>
            <a:r>
              <a:rPr lang="en-US" sz="4400" dirty="0" smtClean="0"/>
              <a:t>Mother (1/3)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680" y="2743201"/>
            <a:ext cx="10495280" cy="3191933"/>
          </a:xfrm>
        </p:spPr>
        <p:txBody>
          <a:bodyPr/>
          <a:lstStyle/>
          <a:p>
            <a:pPr lvl="0"/>
            <a:r>
              <a:rPr lang="en-US" sz="2800" dirty="0"/>
              <a:t>Infection prevention education:</a:t>
            </a:r>
          </a:p>
          <a:p>
            <a:pPr lvl="0"/>
            <a:r>
              <a:rPr lang="en-US" sz="2800" dirty="0"/>
              <a:t>Limit use of antibiotics after birth to recommended indications: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FC74A-0027-4A75-955F-639AFB7A5E9D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41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Postpartum </a:t>
            </a:r>
            <a:r>
              <a:rPr lang="en-US" sz="4000" dirty="0" smtClean="0"/>
              <a:t>Care …(2/3)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0" y="2438401"/>
            <a:ext cx="10312512" cy="37317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i="1" dirty="0" smtClean="0"/>
              <a:t>Preventing </a:t>
            </a:r>
            <a:r>
              <a:rPr lang="en-US" b="1" i="1" dirty="0"/>
              <a:t>infection </a:t>
            </a:r>
            <a:r>
              <a:rPr lang="en-US" b="1" i="1" dirty="0" smtClean="0"/>
              <a:t>for </a:t>
            </a:r>
            <a:r>
              <a:rPr lang="en-US" b="1" i="1" dirty="0"/>
              <a:t>mothers who have given birth vaginally :</a:t>
            </a:r>
          </a:p>
          <a:p>
            <a:pPr lvl="0"/>
            <a:r>
              <a:rPr lang="en-US" sz="3000" dirty="0"/>
              <a:t>In the immediate postpartum period, check to be sure the </a:t>
            </a:r>
            <a:r>
              <a:rPr lang="en-US" sz="3000" dirty="0" smtClean="0"/>
              <a:t>mother </a:t>
            </a:r>
            <a:r>
              <a:rPr lang="en-US" sz="3000" dirty="0"/>
              <a:t>is voiding within 6 hours and without difficulty. </a:t>
            </a:r>
          </a:p>
          <a:p>
            <a:pPr lvl="0"/>
            <a:r>
              <a:rPr lang="en-US" sz="3000" dirty="0"/>
              <a:t>Wear new, sterile gloves when performing </a:t>
            </a:r>
            <a:r>
              <a:rPr lang="en-US" sz="3000" dirty="0" err="1"/>
              <a:t>perineal</a:t>
            </a:r>
            <a:r>
              <a:rPr lang="en-US" sz="3000" dirty="0"/>
              <a:t> care or touching the episiotomy. </a:t>
            </a:r>
          </a:p>
          <a:p>
            <a:pPr lvl="0"/>
            <a:r>
              <a:rPr lang="en-US" sz="3000" dirty="0"/>
              <a:t>Wear new, non-sterile gloves when handling </a:t>
            </a:r>
            <a:r>
              <a:rPr lang="en-US" sz="3000" dirty="0" err="1"/>
              <a:t>perineal</a:t>
            </a:r>
            <a:r>
              <a:rPr lang="en-US" sz="3000" dirty="0"/>
              <a:t> pads, touching </a:t>
            </a:r>
            <a:r>
              <a:rPr lang="en-US" sz="3000" dirty="0" smtClean="0"/>
              <a:t>lochia, </a:t>
            </a:r>
            <a:r>
              <a:rPr lang="en-US" sz="3000" dirty="0"/>
              <a:t>assisting with breastfeeding, etc.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8B3E0-6D6E-4269-A88E-EB555162539C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59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609600"/>
            <a:ext cx="9064979" cy="908564"/>
          </a:xfrm>
        </p:spPr>
        <p:txBody>
          <a:bodyPr/>
          <a:lstStyle/>
          <a:p>
            <a:r>
              <a:rPr lang="en-US" sz="4000" dirty="0"/>
              <a:t>Postpartum </a:t>
            </a:r>
            <a:r>
              <a:rPr lang="en-US" sz="4000" dirty="0" smtClean="0"/>
              <a:t>Care …(3/3)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760" y="1432560"/>
            <a:ext cx="10525760" cy="45025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b="1" i="1" dirty="0" smtClean="0"/>
              <a:t>Preventing infection </a:t>
            </a:r>
            <a:r>
              <a:rPr lang="en-US" b="1" i="1" dirty="0"/>
              <a:t>for mothers who have had a </a:t>
            </a:r>
            <a:r>
              <a:rPr lang="en-US" b="1" i="1" dirty="0" smtClean="0"/>
              <a:t>C-section:</a:t>
            </a:r>
            <a:endParaRPr lang="en-US" b="1" i="1" dirty="0"/>
          </a:p>
          <a:p>
            <a:pPr lvl="0"/>
            <a:r>
              <a:rPr lang="en-US" sz="3300" dirty="0"/>
              <a:t>Surgical wound care </a:t>
            </a:r>
          </a:p>
          <a:p>
            <a:pPr lvl="0"/>
            <a:r>
              <a:rPr lang="en-US" sz="3300" dirty="0"/>
              <a:t>Post-operative pneumonia prevention </a:t>
            </a:r>
          </a:p>
          <a:p>
            <a:pPr lvl="0"/>
            <a:r>
              <a:rPr lang="en-US" sz="3300" dirty="0"/>
              <a:t>Care of urinary catheter Remove the catheter as soon as possible </a:t>
            </a:r>
          </a:p>
          <a:p>
            <a:pPr lvl="0"/>
            <a:r>
              <a:rPr lang="en-US" sz="3300" dirty="0"/>
              <a:t>Maintain a closed drainage system and perform regular </a:t>
            </a:r>
            <a:r>
              <a:rPr lang="en-US" sz="3300" dirty="0" err="1"/>
              <a:t>perineal</a:t>
            </a:r>
            <a:r>
              <a:rPr lang="en-US" sz="3300" dirty="0"/>
              <a:t> care.</a:t>
            </a:r>
          </a:p>
          <a:p>
            <a:pPr lvl="0"/>
            <a:r>
              <a:rPr lang="en-US" sz="3300" dirty="0"/>
              <a:t>Care of intravascular device </a:t>
            </a:r>
          </a:p>
          <a:p>
            <a:pPr lvl="0"/>
            <a:r>
              <a:rPr lang="en-US" sz="3300" dirty="0"/>
              <a:t>Remove the intravascular device as soon as possible.</a:t>
            </a:r>
          </a:p>
          <a:p>
            <a:r>
              <a:rPr lang="en-US" sz="3300" dirty="0"/>
              <a:t>Care for the intravascular device meticulously.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2999-3F98-4C4E-A660-587C3B5F922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29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27" y="599440"/>
            <a:ext cx="10912365" cy="982116"/>
          </a:xfrm>
        </p:spPr>
        <p:txBody>
          <a:bodyPr/>
          <a:lstStyle/>
          <a:p>
            <a:r>
              <a:rPr lang="en-US" sz="4000" dirty="0" smtClean="0"/>
              <a:t>4. Care </a:t>
            </a:r>
            <a:r>
              <a:rPr lang="en-US" sz="4000" dirty="0"/>
              <a:t>of the </a:t>
            </a:r>
            <a:r>
              <a:rPr lang="en-US" sz="4000" dirty="0" smtClean="0"/>
              <a:t>Newborn (1/6)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0" y="1524000"/>
            <a:ext cx="11001418" cy="48768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                     </a:t>
            </a:r>
            <a:r>
              <a:rPr lang="en-US" sz="3292" b="1" dirty="0"/>
              <a:t>Preventing infection in newborns</a:t>
            </a:r>
          </a:p>
          <a:p>
            <a:pPr marL="0" indent="0">
              <a:buNone/>
            </a:pPr>
            <a:r>
              <a:rPr lang="en-US" sz="3292" i="1" dirty="0"/>
              <a:t>       </a:t>
            </a:r>
            <a:r>
              <a:rPr lang="en-US" sz="3600" b="1" i="1" dirty="0"/>
              <a:t>At birth </a:t>
            </a:r>
            <a:endParaRPr lang="en-US" sz="3600" b="1" dirty="0"/>
          </a:p>
          <a:p>
            <a:pPr lvl="0"/>
            <a:r>
              <a:rPr lang="en-US" dirty="0"/>
              <a:t>Keep the baby in a clean area and follow Standard Precautions for newborn resuscitation. </a:t>
            </a:r>
            <a:r>
              <a:rPr lang="en-US" dirty="0" smtClean="0"/>
              <a:t> </a:t>
            </a:r>
            <a:endParaRPr lang="en-US" dirty="0"/>
          </a:p>
          <a:p>
            <a:pPr lvl="0"/>
            <a:r>
              <a:rPr lang="en-US" dirty="0"/>
              <a:t>Wear non-sterile gloves for contact with the newborn until after the first bath.</a:t>
            </a:r>
          </a:p>
          <a:p>
            <a:pPr lvl="0"/>
            <a:r>
              <a:rPr lang="en-US" dirty="0"/>
              <a:t>Do not perform routine suction or aspiration at the delivery of the head. </a:t>
            </a:r>
            <a:endParaRPr lang="en-US" dirty="0" smtClean="0"/>
          </a:p>
          <a:p>
            <a:pPr lvl="0"/>
            <a:r>
              <a:rPr lang="en-US" dirty="0" smtClean="0"/>
              <a:t>Wipe </a:t>
            </a:r>
            <a:r>
              <a:rPr lang="en-US" dirty="0"/>
              <a:t>both of the newborn’s eyes with a sterile gauze square and discard the wet cloth. Use a separate square for each eye and wipe from the inner corner to the outer corner.</a:t>
            </a:r>
          </a:p>
          <a:p>
            <a:pPr lvl="0"/>
            <a:r>
              <a:rPr lang="en-US" dirty="0"/>
              <a:t>Keep the newborn warm.</a:t>
            </a:r>
          </a:p>
          <a:p>
            <a:pPr lvl="0"/>
            <a:r>
              <a:rPr lang="en-US" dirty="0"/>
              <a:t>After delivery, do not perform routine suction or aspiration.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FA31-065B-4E1D-9878-12A23F97FFF1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17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640" y="1066800"/>
            <a:ext cx="10556240" cy="961524"/>
          </a:xfrm>
        </p:spPr>
        <p:txBody>
          <a:bodyPr/>
          <a:lstStyle/>
          <a:p>
            <a:r>
              <a:rPr lang="en-US" sz="4000" dirty="0"/>
              <a:t>Care of the </a:t>
            </a:r>
            <a:r>
              <a:rPr lang="en-US" sz="4000" dirty="0" smtClean="0"/>
              <a:t>Newborn …(2/6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327" y="2514600"/>
            <a:ext cx="10159734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       </a:t>
            </a:r>
            <a:r>
              <a:rPr lang="en-US" b="1" i="1" dirty="0" smtClean="0"/>
              <a:t>In </a:t>
            </a:r>
            <a:r>
              <a:rPr lang="en-US" b="1" i="1" dirty="0"/>
              <a:t>the presence of meconium-stained amniotic fluid</a:t>
            </a:r>
            <a:r>
              <a:rPr lang="en-US" b="1" i="1" dirty="0" smtClean="0"/>
              <a:t>:</a:t>
            </a:r>
            <a:endParaRPr lang="en-US" b="1" dirty="0"/>
          </a:p>
          <a:p>
            <a:pPr lvl="0" algn="just"/>
            <a:r>
              <a:rPr lang="en-US" sz="2800" dirty="0"/>
              <a:t>Do not perform tracheal suctioning and avoid suctioning of the mouth and nose before initiating positive pressure ventilation for infants who do not start breathing on their own. </a:t>
            </a:r>
          </a:p>
          <a:p>
            <a:pPr lvl="0" algn="just"/>
            <a:r>
              <a:rPr lang="en-US" sz="2800" dirty="0"/>
              <a:t>For newborns who do not start breathing on their own by 1 minute after birth, start positive pressure ventilation with room air with a self-inflating bag and mask.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354F-103F-4A7E-8338-0A2F3AB202A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27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741680"/>
            <a:ext cx="9064979" cy="867924"/>
          </a:xfrm>
        </p:spPr>
        <p:txBody>
          <a:bodyPr/>
          <a:lstStyle/>
          <a:p>
            <a:r>
              <a:rPr lang="en-US" sz="4000" dirty="0"/>
              <a:t>Care of the </a:t>
            </a:r>
            <a:r>
              <a:rPr lang="en-US" sz="4000" dirty="0" smtClean="0"/>
              <a:t>Newborn </a:t>
            </a:r>
            <a:r>
              <a:rPr lang="en-US" sz="4000" dirty="0"/>
              <a:t>… </a:t>
            </a:r>
            <a:r>
              <a:rPr lang="en-US" sz="4000" dirty="0" smtClean="0"/>
              <a:t>(3/6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727200"/>
            <a:ext cx="10434319" cy="45516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            </a:t>
            </a:r>
            <a:r>
              <a:rPr lang="en-US" sz="3300" b="1" i="1" dirty="0" smtClean="0"/>
              <a:t>Within </a:t>
            </a:r>
            <a:r>
              <a:rPr lang="en-US" sz="3300" b="1" i="1" dirty="0"/>
              <a:t>the first hour of life</a:t>
            </a:r>
          </a:p>
          <a:p>
            <a:pPr lvl="0" algn="just"/>
            <a:r>
              <a:rPr lang="en-US" dirty="0"/>
              <a:t>Initiate breastfeeding within 1 hour of birth. Encourage exclusive breastfeeding. </a:t>
            </a:r>
          </a:p>
          <a:p>
            <a:pPr lvl="0" algn="just"/>
            <a:r>
              <a:rPr lang="en-US" dirty="0"/>
              <a:t>Apply antiseptic eye drops or ointment (e.g., tetracycline ointment) to both eyes once, according to national guidelines. DO NOT wash away the eye antimicrobial.</a:t>
            </a:r>
          </a:p>
          <a:p>
            <a:pPr lvl="0" algn="just"/>
            <a:r>
              <a:rPr lang="en-US" dirty="0"/>
              <a:t>Administer vitamin K and recommended immunizations (birth dose of oral polio vaccine and HBV vaccine), using safe injection practices and sharps safety.</a:t>
            </a:r>
          </a:p>
          <a:p>
            <a:pPr lvl="0" algn="just"/>
            <a:r>
              <a:rPr lang="en-US" dirty="0"/>
              <a:t>Apply relevant IPC precautions (Transmission-Based Precautions and prophylaxis) to those who are exposed or infected during or before </a:t>
            </a:r>
            <a:r>
              <a:rPr lang="en-US" dirty="0" smtClean="0"/>
              <a:t>birth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41BBF-0663-4949-96A9-1A39D345322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57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282" y="579121"/>
            <a:ext cx="11022723" cy="1148037"/>
          </a:xfrm>
        </p:spPr>
        <p:txBody>
          <a:bodyPr/>
          <a:lstStyle/>
          <a:p>
            <a:r>
              <a:rPr lang="en-US" sz="4000" dirty="0"/>
              <a:t>Care of the </a:t>
            </a:r>
            <a:r>
              <a:rPr lang="en-US" sz="4000" dirty="0" smtClean="0"/>
              <a:t>Newborn </a:t>
            </a:r>
            <a:r>
              <a:rPr lang="en-US" sz="4000" dirty="0"/>
              <a:t>… </a:t>
            </a:r>
            <a:r>
              <a:rPr lang="en-US" sz="4000" dirty="0" smtClean="0"/>
              <a:t>(4/6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39896"/>
            <a:ext cx="10474960" cy="416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92" i="1" dirty="0"/>
              <a:t>                 </a:t>
            </a:r>
            <a:r>
              <a:rPr lang="en-US" sz="3292" b="1" i="1" dirty="0"/>
              <a:t>General IPC guidelines</a:t>
            </a:r>
          </a:p>
          <a:p>
            <a:pPr marL="0" indent="0"/>
            <a:r>
              <a:rPr lang="en-US" dirty="0"/>
              <a:t> </a:t>
            </a:r>
            <a:r>
              <a:rPr lang="en-US" sz="2800" dirty="0" smtClean="0"/>
              <a:t>Comply </a:t>
            </a:r>
            <a:r>
              <a:rPr lang="en-US" sz="2800" dirty="0"/>
              <a:t>with Standard Precautions at all times and use Transmission-Based Precautions when indicated.</a:t>
            </a:r>
          </a:p>
          <a:p>
            <a:pPr lvl="0"/>
            <a:r>
              <a:rPr lang="en-US" sz="2800" dirty="0"/>
              <a:t>Keep the mother separated from the baby for IPC purposes only when the mother has </a:t>
            </a:r>
            <a:r>
              <a:rPr lang="en-US" sz="2800" dirty="0" smtClean="0"/>
              <a:t>MDR </a:t>
            </a:r>
            <a:r>
              <a:rPr lang="en-US" sz="2800" dirty="0"/>
              <a:t>TB. </a:t>
            </a:r>
            <a:endParaRPr lang="en-US" sz="2800" dirty="0" smtClean="0"/>
          </a:p>
          <a:p>
            <a:pPr lvl="0"/>
            <a:r>
              <a:rPr lang="en-US" sz="2800" dirty="0" smtClean="0"/>
              <a:t>Follow </a:t>
            </a:r>
            <a:r>
              <a:rPr lang="en-US" sz="2800" dirty="0"/>
              <a:t>patient spacing guidelines in the newborn nursery. </a:t>
            </a:r>
            <a:endParaRPr lang="en-US" sz="28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D2DD-D530-4B0B-9716-E8F7D4E4940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97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Care of the Newborn … </a:t>
            </a:r>
            <a:r>
              <a:rPr lang="en-US" sz="4000" dirty="0" smtClean="0"/>
              <a:t>(5/6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920" y="2490136"/>
            <a:ext cx="10454640" cy="3444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        </a:t>
            </a:r>
            <a:r>
              <a:rPr lang="en-US" b="1" i="1" dirty="0" smtClean="0"/>
              <a:t>General </a:t>
            </a:r>
            <a:r>
              <a:rPr lang="en-US" b="1" i="1" dirty="0"/>
              <a:t>IPC </a:t>
            </a:r>
            <a:r>
              <a:rPr lang="en-US" b="1" i="1" dirty="0" smtClean="0"/>
              <a:t>guidelines …</a:t>
            </a:r>
            <a:endParaRPr lang="en-US" b="1" i="1" dirty="0"/>
          </a:p>
          <a:p>
            <a:pPr lvl="0"/>
            <a:r>
              <a:rPr lang="en-US" sz="2800" dirty="0"/>
              <a:t>Encourage exclusive breastfeeding. Manage expressing and storage of breast milk carefully to prevent infection </a:t>
            </a:r>
          </a:p>
          <a:p>
            <a:pPr lvl="0"/>
            <a:r>
              <a:rPr lang="en-US" sz="2800" dirty="0"/>
              <a:t>Manage the preparation of formula </a:t>
            </a:r>
          </a:p>
          <a:p>
            <a:pPr lvl="0"/>
            <a:r>
              <a:rPr lang="en-US" sz="2800" dirty="0"/>
              <a:t>Screen visitors and exclude for signs of infection </a:t>
            </a:r>
          </a:p>
          <a:p>
            <a:pPr lvl="0"/>
            <a:r>
              <a:rPr lang="en-US" sz="2800" dirty="0"/>
              <a:t>Perform recommended cord care using Standard Precautions.</a:t>
            </a:r>
          </a:p>
          <a:p>
            <a:pPr lvl="0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00BD-C80C-4370-BA40-E16CED2DFC81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5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593898"/>
            <a:ext cx="9064979" cy="1188426"/>
          </a:xfrm>
        </p:spPr>
        <p:txBody>
          <a:bodyPr/>
          <a:lstStyle/>
          <a:p>
            <a:r>
              <a:rPr lang="en-US" sz="4000" dirty="0"/>
              <a:t>Care of the Newborn … </a:t>
            </a:r>
            <a:r>
              <a:rPr lang="en-US" sz="4000" dirty="0" smtClean="0"/>
              <a:t>(6/6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1" y="1503680"/>
            <a:ext cx="10546080" cy="460248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            Immunizations </a:t>
            </a:r>
            <a:r>
              <a:rPr lang="en-US" b="1" dirty="0"/>
              <a:t>and post-exposure prophylaxis</a:t>
            </a:r>
          </a:p>
          <a:p>
            <a:pPr lvl="0" algn="just"/>
            <a:r>
              <a:rPr lang="en-US" dirty="0"/>
              <a:t>Provide non-live vaccines to medically stable infants (including premature infants) according to the national immunization schedule for age. </a:t>
            </a:r>
            <a:endParaRPr lang="en-US" dirty="0" smtClean="0"/>
          </a:p>
          <a:p>
            <a:pPr lvl="0" algn="just"/>
            <a:r>
              <a:rPr lang="en-US" dirty="0" smtClean="0"/>
              <a:t>Do </a:t>
            </a:r>
            <a:r>
              <a:rPr lang="en-US" dirty="0"/>
              <a:t>not provide live vaccines such as polio and rotavirus during admission due to the risk of transmission of vaccine virus to </a:t>
            </a:r>
            <a:r>
              <a:rPr lang="en-US" dirty="0" err="1"/>
              <a:t>immunocompromised</a:t>
            </a:r>
            <a:r>
              <a:rPr lang="en-US" dirty="0"/>
              <a:t> patients.</a:t>
            </a:r>
          </a:p>
          <a:p>
            <a:pPr lvl="0" algn="just"/>
            <a:r>
              <a:rPr lang="en-US" dirty="0"/>
              <a:t>Follow adjusted guidelines for HBV vaccine in premature infants.</a:t>
            </a:r>
          </a:p>
          <a:p>
            <a:pPr lvl="0" algn="just"/>
            <a:r>
              <a:rPr lang="en-US" dirty="0"/>
              <a:t>Provide post-exposure vaccination prophylaxis and/or immunoglobulin, if available, for infants exposed from the mother or from other infants </a:t>
            </a:r>
            <a:endParaRPr lang="en-US" dirty="0" smtClean="0"/>
          </a:p>
          <a:p>
            <a:pPr lvl="0" algn="just"/>
            <a:r>
              <a:rPr lang="en-US" dirty="0" smtClean="0"/>
              <a:t>Provide </a:t>
            </a:r>
            <a:r>
              <a:rPr lang="en-US" dirty="0"/>
              <a:t>post-exposure antibiotic or antiviral prophylaxis, if available, for </a:t>
            </a:r>
            <a:r>
              <a:rPr lang="en-US" dirty="0" smtClean="0"/>
              <a:t>exposed infants  </a:t>
            </a:r>
            <a:r>
              <a:rPr lang="en-US" dirty="0"/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2E3A-4E65-434C-A97B-2C79406144FB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02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23" y="990601"/>
            <a:ext cx="11680277" cy="11611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Preventing </a:t>
            </a:r>
            <a:r>
              <a:rPr lang="en-US" sz="4400" dirty="0"/>
              <a:t>infection in newborns requiring specialized care </a:t>
            </a:r>
            <a:r>
              <a:rPr lang="en-US" dirty="0"/>
              <a:t>(</a:t>
            </a:r>
            <a:r>
              <a:rPr lang="en-US" dirty="0" smtClean="0"/>
              <a:t>1/2)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939" y="2438400"/>
            <a:ext cx="10159734" cy="359664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Newborns who require a higher level of care </a:t>
            </a:r>
            <a:r>
              <a:rPr lang="en-US" sz="2800" dirty="0" smtClean="0"/>
              <a:t>may </a:t>
            </a:r>
            <a:r>
              <a:rPr lang="en-US" sz="2800" dirty="0"/>
              <a:t>be transferred to a special care nursery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Preventing infection in newborns in specialized care settings requires </a:t>
            </a:r>
            <a:r>
              <a:rPr lang="en-US" sz="2800" dirty="0" smtClean="0"/>
              <a:t>strict  </a:t>
            </a:r>
            <a:r>
              <a:rPr lang="en-US" sz="2800" dirty="0"/>
              <a:t>and more vigilant application of the IPC practices that are recommended for all newborn care.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961E-5E1A-45E1-AE24-051B1E75A47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95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773" y="751841"/>
            <a:ext cx="10630428" cy="815267"/>
          </a:xfrm>
        </p:spPr>
        <p:txBody>
          <a:bodyPr/>
          <a:lstStyle/>
          <a:p>
            <a:r>
              <a:rPr lang="en-US" sz="4000" dirty="0" smtClean="0"/>
              <a:t>New borne special care </a:t>
            </a:r>
            <a:r>
              <a:rPr lang="en-US" sz="4000" dirty="0"/>
              <a:t>… </a:t>
            </a:r>
            <a:r>
              <a:rPr lang="en-US" sz="4000" dirty="0" smtClean="0"/>
              <a:t>(2/2)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0" y="1767840"/>
            <a:ext cx="10236123" cy="4165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Minimizing </a:t>
            </a:r>
            <a:r>
              <a:rPr lang="en-US" b="1" dirty="0"/>
              <a:t>the risk of infection from the newborn’s own flora by: </a:t>
            </a:r>
          </a:p>
          <a:p>
            <a:pPr lvl="0"/>
            <a:r>
              <a:rPr lang="en-US" sz="3300" dirty="0"/>
              <a:t>Emphasizing hand hygiene before and after contact with each infant</a:t>
            </a:r>
          </a:p>
          <a:p>
            <a:pPr lvl="0"/>
            <a:r>
              <a:rPr lang="en-US" sz="3300" dirty="0"/>
              <a:t>Not sharing equipment and supplies between infants</a:t>
            </a:r>
          </a:p>
          <a:p>
            <a:pPr lvl="0"/>
            <a:r>
              <a:rPr lang="en-US" sz="3300" dirty="0"/>
              <a:t>Preventing the acquisition of infection from contaminated feedings, water, or air</a:t>
            </a:r>
          </a:p>
          <a:p>
            <a:pPr lvl="0"/>
            <a:r>
              <a:rPr lang="en-US" sz="3300" dirty="0"/>
              <a:t>Protecting the infant from infected HCWs and </a:t>
            </a:r>
            <a:r>
              <a:rPr lang="en-US" sz="3300" dirty="0" smtClean="0"/>
              <a:t>visitors</a:t>
            </a:r>
            <a:endParaRPr lang="en-US" sz="3300" dirty="0"/>
          </a:p>
          <a:p>
            <a:pPr lvl="0"/>
            <a:r>
              <a:rPr lang="en-US" sz="3300" dirty="0"/>
              <a:t>Strictly adhering to aseptic technique</a:t>
            </a:r>
          </a:p>
          <a:p>
            <a:pPr lvl="0"/>
            <a:r>
              <a:rPr lang="en-US" sz="3300" dirty="0"/>
              <a:t>All basic IPC precautions should be in place.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EB70D-25D1-4B2C-9ED0-EE0169B7B10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81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1010921"/>
            <a:ext cx="10749839" cy="563879"/>
          </a:xfrm>
        </p:spPr>
        <p:txBody>
          <a:bodyPr>
            <a:normAutofit fontScale="90000"/>
          </a:bodyPr>
          <a:lstStyle/>
          <a:p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i="1" dirty="0" smtClean="0"/>
              <a:t>Managing </a:t>
            </a:r>
            <a:r>
              <a:rPr lang="en-US" i="1" dirty="0"/>
              <a:t>newborns in the </a:t>
            </a:r>
            <a:r>
              <a:rPr lang="en-US" i="1" dirty="0" smtClean="0"/>
              <a:t>NICU </a:t>
            </a:r>
            <a:r>
              <a:rPr lang="en-US" dirty="0"/>
              <a:t>(</a:t>
            </a:r>
            <a:r>
              <a:rPr lang="en-US" dirty="0" smtClean="0"/>
              <a:t>1/1)</a:t>
            </a:r>
            <a:r>
              <a:rPr lang="en-US" i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939" y="1737361"/>
            <a:ext cx="10236123" cy="44328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  </a:t>
            </a:r>
            <a:r>
              <a:rPr lang="en-US" b="1" i="1" dirty="0" smtClean="0"/>
              <a:t>Preventing </a:t>
            </a:r>
            <a:r>
              <a:rPr lang="en-US" b="1" i="1" dirty="0"/>
              <a:t>device-associated </a:t>
            </a:r>
            <a:r>
              <a:rPr lang="en-US" b="1" i="1" dirty="0" smtClean="0"/>
              <a:t>infections for newborns in </a:t>
            </a:r>
            <a:r>
              <a:rPr lang="en-US" b="1" i="1" dirty="0"/>
              <a:t>the NICU</a:t>
            </a:r>
          </a:p>
          <a:p>
            <a:pPr lvl="0"/>
            <a:r>
              <a:rPr lang="en-US" dirty="0"/>
              <a:t>See </a:t>
            </a:r>
            <a:r>
              <a:rPr lang="en-US" dirty="0" smtClean="0"/>
              <a:t>recommendations:- </a:t>
            </a:r>
            <a:r>
              <a:rPr lang="en-US" dirty="0"/>
              <a:t>F</a:t>
            </a:r>
            <a:r>
              <a:rPr lang="en-US" dirty="0" smtClean="0"/>
              <a:t>or </a:t>
            </a:r>
            <a:r>
              <a:rPr lang="en-US" dirty="0"/>
              <a:t>ventilator-associated pneumonia </a:t>
            </a:r>
            <a:r>
              <a:rPr lang="en-US" dirty="0" smtClean="0"/>
              <a:t>prevention.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-For </a:t>
            </a:r>
            <a:r>
              <a:rPr lang="en-US" dirty="0"/>
              <a:t>catheter-associated urinary tract </a:t>
            </a:r>
            <a:r>
              <a:rPr lang="en-US" dirty="0" smtClean="0"/>
              <a:t>infection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prevention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-For </a:t>
            </a:r>
            <a:r>
              <a:rPr lang="en-US" dirty="0"/>
              <a:t>surgical site infection prevention.</a:t>
            </a:r>
          </a:p>
          <a:p>
            <a:pPr lvl="0"/>
            <a:r>
              <a:rPr lang="en-US" dirty="0" smtClean="0"/>
              <a:t>Many </a:t>
            </a:r>
            <a:r>
              <a:rPr lang="en-US" dirty="0"/>
              <a:t>NICUs use infant feeding tubes as umbilical or urinary catheters in newborns but this should be avoided when possible. </a:t>
            </a:r>
            <a:endParaRPr lang="en-US" dirty="0" smtClean="0"/>
          </a:p>
          <a:p>
            <a:pPr lvl="0"/>
            <a:r>
              <a:rPr lang="en-US" dirty="0" smtClean="0"/>
              <a:t>Infant </a:t>
            </a:r>
            <a:r>
              <a:rPr lang="en-US" dirty="0"/>
              <a:t>feeding tube will not usually connect with a urine collection container or IV tubing systems to result in a closed system.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37B2-D5B5-4091-8D26-D3BF5C3B920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03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71978"/>
            <a:ext cx="9064979" cy="1188426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Routine </a:t>
            </a:r>
            <a:r>
              <a:rPr lang="en-US" sz="4000" dirty="0"/>
              <a:t>active surveillance </a:t>
            </a:r>
            <a:r>
              <a:rPr lang="en-US" sz="4000" dirty="0" smtClean="0"/>
              <a:t>cultures (1/3) </a:t>
            </a:r>
            <a:r>
              <a:rPr lang="en-US" i="1" dirty="0"/>
              <a:t/>
            </a:r>
            <a:br>
              <a:rPr lang="en-US" i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200" y="2490136"/>
            <a:ext cx="10302240" cy="3444997"/>
          </a:xfrm>
        </p:spPr>
        <p:txBody>
          <a:bodyPr>
            <a:normAutofit/>
          </a:bodyPr>
          <a:lstStyle/>
          <a:p>
            <a:r>
              <a:rPr lang="en-US" sz="2800" dirty="0"/>
              <a:t>The use of surveillance cultures to identify colonization with specific </a:t>
            </a:r>
            <a:r>
              <a:rPr lang="en-US" sz="2800" dirty="0" smtClean="0"/>
              <a:t>organisms requires </a:t>
            </a:r>
            <a:r>
              <a:rPr lang="en-US" sz="2800" dirty="0"/>
              <a:t>specific laboratory capacity and is expensive and time-consuming for the laboratory, NICU, and the IPC department. </a:t>
            </a:r>
            <a:endParaRPr lang="en-US" sz="2800" dirty="0" smtClean="0"/>
          </a:p>
          <a:p>
            <a:r>
              <a:rPr lang="en-US" sz="2800" dirty="0" smtClean="0"/>
              <a:t>Each </a:t>
            </a:r>
            <a:r>
              <a:rPr lang="en-US" sz="2800" dirty="0"/>
              <a:t>facility should make a decision depending on the resources available, specific needs/problems, requirements, and patient populations.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BAC0-48F1-4CEB-A775-481A33474EC6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11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5161"/>
            <a:ext cx="10895712" cy="939799"/>
          </a:xfrm>
        </p:spPr>
        <p:txBody>
          <a:bodyPr/>
          <a:lstStyle/>
          <a:p>
            <a:r>
              <a:rPr lang="en-US" sz="4000" dirty="0"/>
              <a:t>Routine active </a:t>
            </a:r>
            <a:r>
              <a:rPr lang="en-US" sz="4000" dirty="0" smtClean="0"/>
              <a:t>surveillance </a:t>
            </a:r>
            <a:r>
              <a:rPr lang="en-US" sz="4000" dirty="0"/>
              <a:t>… </a:t>
            </a:r>
            <a:r>
              <a:rPr lang="en-US" sz="4000" dirty="0" smtClean="0"/>
              <a:t>(2/3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49" y="1711961"/>
            <a:ext cx="10312513" cy="409901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 In </a:t>
            </a:r>
            <a:r>
              <a:rPr lang="en-US" b="1" dirty="0"/>
              <a:t>outbreak situations</a:t>
            </a:r>
            <a:r>
              <a:rPr lang="en-US" dirty="0"/>
              <a:t>, </a:t>
            </a:r>
            <a:endParaRPr lang="en-US" dirty="0" smtClean="0"/>
          </a:p>
          <a:p>
            <a:pPr lvl="0"/>
            <a:r>
              <a:rPr lang="en-US" sz="2800" dirty="0" smtClean="0"/>
              <a:t>Identify </a:t>
            </a:r>
            <a:r>
              <a:rPr lang="en-US" sz="2800" dirty="0"/>
              <a:t>colonized infants </a:t>
            </a:r>
          </a:p>
          <a:p>
            <a:pPr lvl="0"/>
            <a:r>
              <a:rPr lang="en-US" sz="2800" dirty="0" smtClean="0"/>
              <a:t>Use </a:t>
            </a:r>
            <a:r>
              <a:rPr lang="en-US" sz="2800" dirty="0"/>
              <a:t>Transmission-Based Precautions for colonized infants, or cohort infants to prevent transmission from colonized infants.</a:t>
            </a:r>
          </a:p>
          <a:p>
            <a:pPr lvl="0"/>
            <a:r>
              <a:rPr lang="en-US" sz="2800" dirty="0"/>
              <a:t>Identify transmissions (infants with previous negative surveillance culture converting to positive).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C2E9D-8F6C-4EDF-87B2-EEF077B9185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0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455" y="1219200"/>
            <a:ext cx="10515600" cy="799540"/>
          </a:xfrm>
        </p:spPr>
        <p:txBody>
          <a:bodyPr/>
          <a:lstStyle/>
          <a:p>
            <a:r>
              <a:rPr lang="en-US" sz="4000" dirty="0"/>
              <a:t>Routine active </a:t>
            </a:r>
            <a:r>
              <a:rPr lang="en-US" sz="4000" dirty="0" smtClean="0"/>
              <a:t>surveillance </a:t>
            </a:r>
            <a:r>
              <a:rPr lang="en-US" sz="4000" dirty="0"/>
              <a:t>… </a:t>
            </a:r>
            <a:r>
              <a:rPr lang="en-US" sz="4000" dirty="0" smtClean="0"/>
              <a:t>(3/3</a:t>
            </a:r>
            <a:r>
              <a:rPr lang="en-US" sz="4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59" y="2514600"/>
            <a:ext cx="10525761" cy="344932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In </a:t>
            </a:r>
            <a:r>
              <a:rPr lang="en-US" b="1" dirty="0"/>
              <a:t>non-outbreak situations, </a:t>
            </a:r>
            <a:endParaRPr lang="en-US" b="1" dirty="0" smtClean="0"/>
          </a:p>
          <a:p>
            <a:pPr lvl="0"/>
            <a:r>
              <a:rPr lang="en-US" sz="2800" dirty="0" smtClean="0"/>
              <a:t>Active </a:t>
            </a:r>
            <a:r>
              <a:rPr lang="en-US" sz="2800" dirty="0"/>
              <a:t>surveillance cultures can be used for </a:t>
            </a:r>
            <a:r>
              <a:rPr lang="en-US" sz="2800" dirty="0" smtClean="0"/>
              <a:t>a </a:t>
            </a:r>
            <a:r>
              <a:rPr lang="en-US" sz="2800" dirty="0"/>
              <a:t>target organism on admission and periodically (such as weekly):</a:t>
            </a:r>
          </a:p>
          <a:p>
            <a:pPr lvl="0"/>
            <a:r>
              <a:rPr lang="en-US" sz="2800" dirty="0"/>
              <a:t>Consider costs and consequences </a:t>
            </a:r>
            <a:r>
              <a:rPr lang="en-US" sz="2800" dirty="0" smtClean="0"/>
              <a:t>carefully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4CDA-C7DE-4BA8-A49D-300ED4E2FC9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549" y="1066800"/>
            <a:ext cx="10388902" cy="846720"/>
          </a:xfrm>
        </p:spPr>
        <p:txBody>
          <a:bodyPr/>
          <a:lstStyle/>
          <a:p>
            <a:r>
              <a:rPr lang="en-US" sz="4000" i="1" dirty="0" err="1" smtClean="0"/>
              <a:t>Cohorting</a:t>
            </a:r>
            <a:r>
              <a:rPr lang="en-US" sz="4000" i="1" dirty="0" smtClean="0"/>
              <a:t> </a:t>
            </a:r>
            <a:r>
              <a:rPr lang="en-US" sz="4000" i="1" dirty="0"/>
              <a:t>patients and HCWs in the </a:t>
            </a:r>
            <a:r>
              <a:rPr lang="en-US" sz="4000" i="1" dirty="0" smtClean="0"/>
              <a:t>NICU </a:t>
            </a:r>
            <a:r>
              <a:rPr lang="en-US" sz="4000" dirty="0"/>
              <a:t>(</a:t>
            </a:r>
            <a:r>
              <a:rPr lang="en-US" sz="4000" dirty="0" smtClean="0"/>
              <a:t>1/1)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48" y="2514601"/>
            <a:ext cx="10315091" cy="3810000"/>
          </a:xfrm>
        </p:spPr>
        <p:txBody>
          <a:bodyPr>
            <a:normAutofit/>
          </a:bodyPr>
          <a:lstStyle/>
          <a:p>
            <a:pPr lvl="0"/>
            <a:r>
              <a:rPr lang="en-US" sz="2800" dirty="0" smtClean="0"/>
              <a:t>Group </a:t>
            </a:r>
            <a:r>
              <a:rPr lang="en-US" sz="2800" dirty="0"/>
              <a:t>patients into infected/colonized, exposed, and not exposed.</a:t>
            </a:r>
          </a:p>
          <a:p>
            <a:pPr lvl="0"/>
            <a:r>
              <a:rPr lang="en-US" sz="2800" dirty="0"/>
              <a:t>In outbreak situations, dedicate HCWs to each patient cohort with no movement among patient cohorts. </a:t>
            </a:r>
          </a:p>
          <a:p>
            <a:pPr lvl="0"/>
            <a:r>
              <a:rPr lang="en-US" sz="2800" dirty="0"/>
              <a:t>In non-outbreak situations, dedicate HCWs to each patient cohort, but with some flexibility according to the risks and benefits.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56BA-D853-49A5-A5A7-60D1E960E1D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44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79" y="1066800"/>
            <a:ext cx="10622465" cy="1322284"/>
          </a:xfrm>
        </p:spPr>
        <p:txBody>
          <a:bodyPr/>
          <a:lstStyle/>
          <a:p>
            <a:r>
              <a:rPr lang="en-US" sz="4000" i="1" dirty="0"/>
              <a:t>Outbreaks in </a:t>
            </a:r>
            <a:r>
              <a:rPr lang="en-US" sz="4000" i="1" dirty="0" smtClean="0"/>
              <a:t>The Nursery </a:t>
            </a:r>
            <a:r>
              <a:rPr lang="en-US" sz="4000" i="1" dirty="0"/>
              <a:t>or </a:t>
            </a:r>
            <a:r>
              <a:rPr lang="en-US" sz="4000" i="1" dirty="0" smtClean="0"/>
              <a:t>NICU </a:t>
            </a:r>
            <a:r>
              <a:rPr lang="en-US" sz="4000" dirty="0"/>
              <a:t>(</a:t>
            </a:r>
            <a:r>
              <a:rPr lang="en-US" sz="4000" dirty="0" smtClean="0"/>
              <a:t>1/1) </a:t>
            </a:r>
            <a:r>
              <a:rPr lang="en-US" sz="4000" i="1" dirty="0"/>
              <a:t/>
            </a:r>
            <a:br>
              <a:rPr lang="en-US" sz="4000" i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329" y="2556178"/>
            <a:ext cx="10083345" cy="3613986"/>
          </a:xfrm>
        </p:spPr>
        <p:txBody>
          <a:bodyPr/>
          <a:lstStyle/>
          <a:p>
            <a:r>
              <a:rPr lang="en-US" sz="2800" dirty="0" smtClean="0"/>
              <a:t>When an </a:t>
            </a:r>
            <a:r>
              <a:rPr lang="en-US" sz="2800" dirty="0"/>
              <a:t>outbreak is suspected, investigation and measures to halt any further spread should be implemented promptly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E374C-2D59-4056-B891-B140561377B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75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i="1" dirty="0" smtClean="0"/>
              <a:t>5. Management of the NICU </a:t>
            </a:r>
            <a:r>
              <a:rPr lang="en-US" sz="4000" dirty="0"/>
              <a:t>(</a:t>
            </a:r>
            <a:r>
              <a:rPr lang="en-US" sz="4000" dirty="0" smtClean="0"/>
              <a:t>1/4) </a:t>
            </a:r>
            <a:r>
              <a:rPr lang="en-US" sz="4000" i="1" dirty="0" smtClean="0"/>
              <a:t/>
            </a:r>
            <a:br>
              <a:rPr lang="en-US" sz="4000" i="1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963" y="2515536"/>
            <a:ext cx="10363200" cy="3444997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      </a:t>
            </a:r>
            <a:r>
              <a:rPr lang="en-US" b="1" i="1" dirty="0" smtClean="0"/>
              <a:t>Patient spacing:  </a:t>
            </a:r>
          </a:p>
          <a:p>
            <a:r>
              <a:rPr lang="en-US" sz="2800" dirty="0" smtClean="0"/>
              <a:t>Spaces </a:t>
            </a:r>
            <a:r>
              <a:rPr lang="en-US" sz="2800" dirty="0"/>
              <a:t>should be designing to accommodate the bed and necessary patient-care </a:t>
            </a:r>
            <a:r>
              <a:rPr lang="en-US" sz="2800" dirty="0" smtClean="0"/>
              <a:t>equipment, </a:t>
            </a:r>
            <a:r>
              <a:rPr lang="en-US" sz="2800" dirty="0"/>
              <a:t>and avoid crowding. Consult national guidelines for specifics, but as a guide for ideal NICU </a:t>
            </a:r>
            <a:r>
              <a:rPr lang="en-US" sz="2800" dirty="0" smtClean="0"/>
              <a:t>design.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5DAB-8E7F-48A3-9918-7E720E88E998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011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640" y="777241"/>
            <a:ext cx="11022723" cy="830993"/>
          </a:xfrm>
        </p:spPr>
        <p:txBody>
          <a:bodyPr/>
          <a:lstStyle/>
          <a:p>
            <a:r>
              <a:rPr lang="en-US" sz="4000" i="1" dirty="0"/>
              <a:t>Management of the </a:t>
            </a:r>
            <a:r>
              <a:rPr lang="en-US" sz="4000" i="1" dirty="0" smtClean="0"/>
              <a:t>NICU… </a:t>
            </a:r>
            <a:r>
              <a:rPr lang="en-US" sz="4000" dirty="0" smtClean="0"/>
              <a:t>(2/4</a:t>
            </a:r>
            <a:r>
              <a:rPr lang="en-US" sz="4000" dirty="0"/>
              <a:t>)</a:t>
            </a:r>
            <a:r>
              <a:rPr lang="en-US" sz="4000" i="1" dirty="0" smtClean="0"/>
              <a:t>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54480"/>
            <a:ext cx="10525760" cy="48484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i="1" dirty="0" smtClean="0"/>
              <a:t>     Water </a:t>
            </a:r>
            <a:r>
              <a:rPr lang="en-US" b="1" i="1" dirty="0"/>
              <a:t>supply and use</a:t>
            </a:r>
          </a:p>
          <a:p>
            <a:pPr algn="just"/>
            <a:r>
              <a:rPr lang="en-US" dirty="0"/>
              <a:t>Water supply and water reservoirs can become a source of infection in NICUs: </a:t>
            </a:r>
          </a:p>
          <a:p>
            <a:pPr lvl="0" algn="just"/>
            <a:r>
              <a:rPr lang="en-US" dirty="0"/>
              <a:t>Ensure that the water supply for the NICU is treated adequately (either at the municipal level or upon arrival to the hospital) </a:t>
            </a:r>
          </a:p>
          <a:p>
            <a:pPr lvl="0" algn="just"/>
            <a:r>
              <a:rPr lang="en-US" dirty="0"/>
              <a:t>Be aware that water storage tanks can become sources of contamination, even if treated.</a:t>
            </a:r>
          </a:p>
          <a:p>
            <a:pPr lvl="0" algn="just"/>
            <a:r>
              <a:rPr lang="en-US" dirty="0"/>
              <a:t>Drain the water reservoir of evaporative humidifiers in incubators, clean, and refill with sterile water every 24 hours. </a:t>
            </a:r>
          </a:p>
          <a:p>
            <a:pPr lvl="0" algn="just"/>
            <a:r>
              <a:rPr lang="en-US" dirty="0"/>
              <a:t>Replace nebulizers, attached tubing, and water traps regularly; use new, sterilized, or high-level disinfected equipment. </a:t>
            </a:r>
          </a:p>
          <a:p>
            <a:pPr lvl="0" algn="just"/>
            <a:r>
              <a:rPr lang="en-US" dirty="0"/>
              <a:t>Use only sterile water in nebulizers and humidifiers. </a:t>
            </a:r>
          </a:p>
          <a:p>
            <a:pPr lvl="0" algn="just"/>
            <a:r>
              <a:rPr lang="en-US" dirty="0"/>
              <a:t>Drain and discard condensate in ventilator tubing periodically.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68421-B536-418E-ADC0-D257DE93AA87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0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622" y="528321"/>
            <a:ext cx="11180378" cy="1132309"/>
          </a:xfrm>
        </p:spPr>
        <p:txBody>
          <a:bodyPr/>
          <a:lstStyle/>
          <a:p>
            <a:r>
              <a:rPr lang="en-US" sz="4000" i="1" dirty="0"/>
              <a:t>Management of the </a:t>
            </a:r>
            <a:r>
              <a:rPr lang="en-US" sz="4000" i="1" dirty="0" smtClean="0"/>
              <a:t>NICU … </a:t>
            </a:r>
            <a:r>
              <a:rPr lang="en-US" sz="4000" dirty="0" smtClean="0"/>
              <a:t>(3/4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990" y="1473200"/>
            <a:ext cx="10660530" cy="45516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                  </a:t>
            </a:r>
            <a:r>
              <a:rPr lang="en-US" sz="3292" b="1" i="1" dirty="0"/>
              <a:t>Bassinets, cribs, warmers, and incubators </a:t>
            </a:r>
          </a:p>
          <a:p>
            <a:pPr lvl="0"/>
            <a:r>
              <a:rPr lang="en-US" sz="3292" dirty="0"/>
              <a:t>Clean bassinets/cribs/warmers/incubators regularly inside and out to remove visible soil (blood, milk, body fluids) and reduce microbial burden.</a:t>
            </a:r>
          </a:p>
          <a:p>
            <a:pPr lvl="0"/>
            <a:r>
              <a:rPr lang="en-US" sz="3292" dirty="0"/>
              <a:t>Change bassinets/cribs/warmers/incubators</a:t>
            </a:r>
            <a:r>
              <a:rPr lang="en-US" sz="3292" b="1" dirty="0"/>
              <a:t> </a:t>
            </a:r>
            <a:r>
              <a:rPr lang="en-US" sz="3292" dirty="0"/>
              <a:t>periodically.</a:t>
            </a:r>
          </a:p>
          <a:p>
            <a:pPr lvl="0"/>
            <a:r>
              <a:rPr lang="en-US" sz="3292" dirty="0"/>
              <a:t>Use disinfectants such as quaternary ammonium and chlorine compounds for cleaning </a:t>
            </a:r>
          </a:p>
          <a:p>
            <a:pPr lvl="0"/>
            <a:r>
              <a:rPr lang="en-US" sz="3292" dirty="0"/>
              <a:t>Avoid the use of phenolic compounds. Phenol has been known to cause neonatal </a:t>
            </a:r>
            <a:r>
              <a:rPr lang="en-US" sz="3292" dirty="0" err="1"/>
              <a:t>hyperbilirubinemia</a:t>
            </a:r>
            <a:r>
              <a:rPr lang="en-US" sz="3292" dirty="0"/>
              <a:t> and hexachlorophene has been associated with neurotoxicity.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CE7C-D911-4529-922D-1578C34E447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28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36" y="1066801"/>
            <a:ext cx="10750380" cy="1006497"/>
          </a:xfrm>
        </p:spPr>
        <p:txBody>
          <a:bodyPr/>
          <a:lstStyle/>
          <a:p>
            <a:r>
              <a:rPr lang="en-US" i="1" dirty="0"/>
              <a:t>Management of the </a:t>
            </a:r>
            <a:r>
              <a:rPr lang="en-US" i="1" dirty="0" smtClean="0"/>
              <a:t>NICU … </a:t>
            </a:r>
            <a:r>
              <a:rPr lang="en-US" dirty="0" smtClean="0"/>
              <a:t>(4/4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640" y="2490136"/>
            <a:ext cx="10190480" cy="34449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i="1" dirty="0" smtClean="0"/>
              <a:t>    </a:t>
            </a:r>
            <a:r>
              <a:rPr lang="en-US" b="1" i="1" dirty="0"/>
              <a:t>Bassinets, </a:t>
            </a:r>
            <a:r>
              <a:rPr lang="en-US" b="1" i="1" dirty="0" smtClean="0"/>
              <a:t>cribs …</a:t>
            </a:r>
          </a:p>
          <a:p>
            <a:pPr lvl="0"/>
            <a:r>
              <a:rPr lang="en-US" sz="3000" dirty="0" smtClean="0"/>
              <a:t>Use </a:t>
            </a:r>
            <a:r>
              <a:rPr lang="en-US" sz="3000" dirty="0"/>
              <a:t>caution when using evaporative humidifies in incubators: </a:t>
            </a:r>
          </a:p>
          <a:p>
            <a:pPr lvl="0"/>
            <a:r>
              <a:rPr lang="en-US" sz="3000" dirty="0"/>
              <a:t>Do not use if central humidification provides enough humidity. </a:t>
            </a:r>
          </a:p>
          <a:p>
            <a:pPr lvl="0"/>
            <a:r>
              <a:rPr lang="en-US" sz="3000" dirty="0"/>
              <a:t>Drain, clean, and refill with sterile water every 24 hours when in use.</a:t>
            </a:r>
          </a:p>
          <a:p>
            <a:pPr lvl="0"/>
            <a:r>
              <a:rPr lang="en-US" sz="3000" dirty="0"/>
              <a:t>Avoid placing toys that are not able to be adequately cleaned, such as stuffed toys, in incubators.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042F-E9AF-4571-B9B7-397FEC4BBA3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71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844" y="1100119"/>
            <a:ext cx="10515600" cy="1322284"/>
          </a:xfrm>
        </p:spPr>
        <p:txBody>
          <a:bodyPr>
            <a:normAutofit/>
          </a:bodyPr>
          <a:lstStyle/>
          <a:p>
            <a:r>
              <a:rPr lang="en-US" sz="4000" dirty="0"/>
              <a:t>Handling infant feeds (1/4)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490136"/>
            <a:ext cx="10525760" cy="3444997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           </a:t>
            </a:r>
            <a:r>
              <a:rPr lang="en-US" b="1" i="1" dirty="0" smtClean="0"/>
              <a:t>Breast </a:t>
            </a:r>
            <a:r>
              <a:rPr lang="en-US" b="1" i="1" dirty="0"/>
              <a:t>milk handling and storage</a:t>
            </a:r>
          </a:p>
          <a:p>
            <a:r>
              <a:rPr lang="en-US" sz="2800" dirty="0"/>
              <a:t>Breast milk can transmit </a:t>
            </a:r>
            <a:r>
              <a:rPr lang="en-US" sz="2800" dirty="0" smtClean="0"/>
              <a:t>viruses, </a:t>
            </a:r>
            <a:r>
              <a:rPr lang="en-US" sz="2800" dirty="0"/>
              <a:t>or become contaminated during collection, handling, or storage. </a:t>
            </a:r>
            <a:endParaRPr lang="en-US" sz="2800" dirty="0" smtClean="0"/>
          </a:p>
          <a:p>
            <a:r>
              <a:rPr lang="en-US" sz="2800" dirty="0" smtClean="0"/>
              <a:t>Infections </a:t>
            </a:r>
            <a:r>
              <a:rPr lang="en-US" sz="2800" dirty="0"/>
              <a:t>have been associated with contaminated breast milk pumps and refrigerated storage practices.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B8DC-3E18-4ED1-A8BA-C83F88AA2011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0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133" y="1143001"/>
            <a:ext cx="10680507" cy="676239"/>
          </a:xfrm>
        </p:spPr>
        <p:txBody>
          <a:bodyPr>
            <a:noAutofit/>
          </a:bodyPr>
          <a:lstStyle/>
          <a:p>
            <a:r>
              <a:rPr lang="en-US" sz="4000" dirty="0"/>
              <a:t>Handling infant </a:t>
            </a:r>
            <a:r>
              <a:rPr lang="en-US" sz="4000" dirty="0" smtClean="0"/>
              <a:t>feeds </a:t>
            </a:r>
            <a:r>
              <a:rPr lang="en-US" sz="4000" dirty="0"/>
              <a:t>… </a:t>
            </a:r>
            <a:r>
              <a:rPr lang="en-US" sz="4000" dirty="0" smtClean="0"/>
              <a:t>(2/4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7" y="1838960"/>
            <a:ext cx="10682363" cy="4046296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800" dirty="0"/>
              <a:t>For mothers expressing, ensure hand hygiene and expression of milk into sterile containers. </a:t>
            </a:r>
            <a:endParaRPr lang="en-US" sz="2800" dirty="0" smtClean="0"/>
          </a:p>
          <a:p>
            <a:pPr lvl="0"/>
            <a:r>
              <a:rPr lang="en-US" sz="2800" dirty="0" smtClean="0"/>
              <a:t>Clean </a:t>
            </a:r>
            <a:r>
              <a:rPr lang="en-US" sz="2800" dirty="0"/>
              <a:t>the containers with hot, soapy water after each use, before they are sterilized.</a:t>
            </a:r>
          </a:p>
          <a:p>
            <a:pPr lvl="0"/>
            <a:r>
              <a:rPr lang="en-US" sz="2800" dirty="0"/>
              <a:t>For mothers using a breast pump dedicated to one mother: </a:t>
            </a:r>
          </a:p>
          <a:p>
            <a:pPr marL="457200" lvl="1" indent="0"/>
            <a:r>
              <a:rPr lang="en-US" sz="2400" dirty="0" smtClean="0"/>
              <a:t>  Wash </a:t>
            </a:r>
            <a:r>
              <a:rPr lang="en-US" sz="2400" dirty="0"/>
              <a:t>all pump components that are in contact with milk with hot, soapy water after each use, dry thoroughly, and store in a clean place. </a:t>
            </a:r>
          </a:p>
          <a:p>
            <a:pPr marL="0" indent="0"/>
            <a:r>
              <a:rPr lang="en-US" sz="2800" dirty="0" smtClean="0"/>
              <a:t>   Sterilize </a:t>
            </a:r>
            <a:r>
              <a:rPr lang="en-US" sz="2800" dirty="0"/>
              <a:t>or high-level disinfect pump components daily.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E279-C9B8-4F7E-ACCE-D8D3BA90E05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64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772" y="716280"/>
            <a:ext cx="10991192" cy="783814"/>
          </a:xfrm>
        </p:spPr>
        <p:txBody>
          <a:bodyPr/>
          <a:lstStyle/>
          <a:p>
            <a:r>
              <a:rPr lang="en-US" sz="4000" dirty="0"/>
              <a:t>Handling infant </a:t>
            </a:r>
            <a:r>
              <a:rPr lang="en-US" sz="4000" dirty="0" smtClean="0"/>
              <a:t>feeds </a:t>
            </a:r>
            <a:r>
              <a:rPr lang="en-US" sz="4000" dirty="0"/>
              <a:t>… </a:t>
            </a:r>
            <a:r>
              <a:rPr lang="en-US" sz="4000" dirty="0" smtClean="0"/>
              <a:t>(3/4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442720"/>
            <a:ext cx="10678160" cy="4582160"/>
          </a:xfrm>
        </p:spPr>
        <p:txBody>
          <a:bodyPr>
            <a:normAutofit fontScale="85000" lnSpcReduction="20000"/>
          </a:bodyPr>
          <a:lstStyle/>
          <a:p>
            <a:pPr marL="0" indent="0"/>
            <a:r>
              <a:rPr lang="en-US" dirty="0"/>
              <a:t>For a breast pump shared between mothers:</a:t>
            </a:r>
          </a:p>
          <a:p>
            <a:pPr marL="457200" lvl="1" indent="0"/>
            <a:r>
              <a:rPr lang="en-US" dirty="0" smtClean="0"/>
              <a:t> Wash </a:t>
            </a:r>
            <a:r>
              <a:rPr lang="en-US" dirty="0"/>
              <a:t>all pump components that are in contact with milk with hot, soapy water after each use, then sterilize or high-level disinfect before use by a different mother.</a:t>
            </a:r>
          </a:p>
          <a:p>
            <a:r>
              <a:rPr lang="en-US" dirty="0"/>
              <a:t>Store milk in sterile, labeled containers that are closed (tied or covered securely):</a:t>
            </a:r>
          </a:p>
          <a:p>
            <a:pPr marL="457200" lvl="1" indent="0"/>
            <a:r>
              <a:rPr lang="en-US" dirty="0" smtClean="0"/>
              <a:t> Label </a:t>
            </a:r>
            <a:r>
              <a:rPr lang="en-US" dirty="0"/>
              <a:t>milk at the time of expressing/pumping with the infant’s name, medical record number, date of birth, and date of pumping:</a:t>
            </a:r>
          </a:p>
          <a:p>
            <a:pPr marL="0" indent="0"/>
            <a:r>
              <a:rPr lang="en-US" dirty="0" smtClean="0"/>
              <a:t> When </a:t>
            </a:r>
            <a:r>
              <a:rPr lang="en-US" dirty="0"/>
              <a:t>stored in a refrigerator or freezer with milk for other infants, place all the feeds for each infant into a larger, labeled, cleanable bin or zip-lock bag, one for each </a:t>
            </a:r>
            <a:r>
              <a:rPr lang="en-US" dirty="0" smtClean="0"/>
              <a:t>infant.</a:t>
            </a:r>
          </a:p>
          <a:p>
            <a:pPr marL="0" indent="0"/>
            <a:r>
              <a:rPr lang="en-US" dirty="0" smtClean="0"/>
              <a:t>Clean </a:t>
            </a:r>
            <a:r>
              <a:rPr lang="en-US" dirty="0"/>
              <a:t>and disinfect the container after the infant is discharged.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D116-40C4-4DE9-A4E3-0519E4BB50D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67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772" y="990600"/>
            <a:ext cx="11054254" cy="1322284"/>
          </a:xfrm>
        </p:spPr>
        <p:txBody>
          <a:bodyPr/>
          <a:lstStyle/>
          <a:p>
            <a:r>
              <a:rPr lang="en-US" sz="4000" dirty="0"/>
              <a:t>Handling infant </a:t>
            </a:r>
            <a:r>
              <a:rPr lang="en-US" sz="4000" dirty="0" smtClean="0"/>
              <a:t>feeds </a:t>
            </a:r>
            <a:r>
              <a:rPr lang="en-US" sz="4000" dirty="0"/>
              <a:t>… </a:t>
            </a:r>
            <a:r>
              <a:rPr lang="en-US" sz="4000" dirty="0" smtClean="0"/>
              <a:t>(4/4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49" y="2245360"/>
            <a:ext cx="10619891" cy="3849828"/>
          </a:xfrm>
        </p:spPr>
        <p:txBody>
          <a:bodyPr>
            <a:normAutofit/>
          </a:bodyPr>
          <a:lstStyle/>
          <a:p>
            <a:r>
              <a:rPr lang="en-US" sz="2800" dirty="0"/>
              <a:t>Use oldest milk first. </a:t>
            </a:r>
          </a:p>
          <a:p>
            <a:pPr lvl="0"/>
            <a:r>
              <a:rPr lang="en-US" sz="2800" dirty="0"/>
              <a:t>Confirm the right milk for the right infant with two separate patient identifiers (e.g., name and medical record number or name and date of birth).</a:t>
            </a:r>
          </a:p>
          <a:p>
            <a:r>
              <a:rPr lang="en-US" sz="2800" dirty="0"/>
              <a:t>If breast milk is given to the wrong infant, treat as a blood/body fluid exposure. Follow the facility’s written policy to identify and follow up (create a policy if none exists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61A4-51AE-4D9D-AD6F-4F89F3198DE9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40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60" y="741681"/>
            <a:ext cx="10749456" cy="689455"/>
          </a:xfrm>
        </p:spPr>
        <p:txBody>
          <a:bodyPr>
            <a:normAutofit fontScale="90000"/>
          </a:bodyPr>
          <a:lstStyle/>
          <a:p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sz="4400" i="1" dirty="0" smtClean="0"/>
              <a:t>Formula preparation and care (1/1)</a:t>
            </a:r>
            <a:br>
              <a:rPr lang="en-US" sz="4400" i="1" dirty="0" smtClean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50" y="1859281"/>
            <a:ext cx="10312512" cy="4463286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Powdered </a:t>
            </a:r>
            <a:r>
              <a:rPr lang="en-US" sz="3000" dirty="0"/>
              <a:t>infant formula is not sterile and can be contaminated by the manufacturer, after the formula container is opened, during the preparation, or during storage. </a:t>
            </a:r>
          </a:p>
          <a:p>
            <a:pPr lvl="0"/>
            <a:r>
              <a:rPr lang="en-US" sz="3000" dirty="0" smtClean="0"/>
              <a:t>When </a:t>
            </a:r>
            <a:r>
              <a:rPr lang="en-US" sz="3000" dirty="0"/>
              <a:t>formula feeds are used, take meticulous care with hand hygiene, disinfection and sterilization of the area and equipment used, storage, and length of time at room temperature. </a:t>
            </a:r>
          </a:p>
          <a:p>
            <a:pPr lvl="0"/>
            <a:r>
              <a:rPr lang="en-US" sz="3000" dirty="0"/>
              <a:t>It is safer to make only the amount of formula needed just before for each feed.</a:t>
            </a:r>
          </a:p>
          <a:p>
            <a:pPr lvl="0"/>
            <a:r>
              <a:rPr lang="en-US" sz="3000" dirty="0"/>
              <a:t>Do not prepare feeds in areas where patient care is taking place.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BC75-7DDA-4168-977B-E8F61F1A5D4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72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Summary (1/1) </a:t>
            </a:r>
            <a:br>
              <a:rPr lang="en-US" sz="4000" b="1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040" y="2490136"/>
            <a:ext cx="10261600" cy="3444997"/>
          </a:xfrm>
        </p:spPr>
        <p:txBody>
          <a:bodyPr>
            <a:normAutofit/>
          </a:bodyPr>
          <a:lstStyle/>
          <a:p>
            <a:r>
              <a:rPr lang="en-US" dirty="0" smtClean="0"/>
              <a:t>Maternal </a:t>
            </a:r>
            <a:r>
              <a:rPr lang="en-US" dirty="0"/>
              <a:t>and newborn care is unique and complex, requiring the simultaneous care of two interdependent individual. Their outcomes are dependent upon one another and are determined by a set of factors such as the mother’s state of health, risk factors for infection, and the care of the mother and the newborn from preconception to after the birth.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1C67-53F0-4790-A7A4-D9D84218363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 2, Sec.4, Chap 5: Preveting Infection in Maternal and Neonatal Care setting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07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7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Theme7</Template>
  <TotalTime>1611</TotalTime>
  <Words>4284</Words>
  <Application>Microsoft Office PowerPoint</Application>
  <PresentationFormat>Custom</PresentationFormat>
  <Paragraphs>461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Theme7</vt:lpstr>
      <vt:lpstr>Volume 2_Section 4 CHAPTER 5: Preventing Maternal and Newborn  Infections in Health Care settings   </vt:lpstr>
      <vt:lpstr> Chapter contents  </vt:lpstr>
      <vt:lpstr>Learning Objective</vt:lpstr>
      <vt:lpstr> 1. Overview (1/1)  </vt:lpstr>
      <vt:lpstr> 2. Epidemiology (1/11)   </vt:lpstr>
      <vt:lpstr>PowerPoint Presentation</vt:lpstr>
      <vt:lpstr> Fetal and newborn infections (3/11)  </vt:lpstr>
      <vt:lpstr>  Sources and Microorganisms Causing Infections in Newborns (4/11) </vt:lpstr>
      <vt:lpstr>Sources and Microorganisms … (5/11) </vt:lpstr>
      <vt:lpstr> Risk factors for mothers and newborns (6/11)  </vt:lpstr>
      <vt:lpstr>Risk factors for mothers … (7/11) </vt:lpstr>
      <vt:lpstr>Risk factors for mothers … (8/11) </vt:lpstr>
      <vt:lpstr>Risk factors for mothers … (9/11) </vt:lpstr>
      <vt:lpstr>Risk factors for mothers … (10/11) </vt:lpstr>
      <vt:lpstr>Risk factors for mothers … (11/11) </vt:lpstr>
      <vt:lpstr>3.Prevention of Maternal and Newborn Infections (1/1)</vt:lpstr>
      <vt:lpstr>IPC Interventions During Prenatal Care (1/1)</vt:lpstr>
      <vt:lpstr> IPC Interventions during Birth: Intra-partum Care (1/9) </vt:lpstr>
      <vt:lpstr>IPC Interventions …(2/9) </vt:lpstr>
      <vt:lpstr> IPC Interventions … (3/9)  </vt:lpstr>
      <vt:lpstr>IPC Interventions … (4/9)  </vt:lpstr>
      <vt:lpstr>IPC Interventions … (5/9) </vt:lpstr>
      <vt:lpstr>IPC Interventions … (6/9) </vt:lpstr>
      <vt:lpstr>IPC Interventions … (7/9) </vt:lpstr>
      <vt:lpstr> IPC Interventions …(8/9) </vt:lpstr>
      <vt:lpstr> IPC Interventions … (9/9) </vt:lpstr>
      <vt:lpstr> Preventing infection during home births (1/1) </vt:lpstr>
      <vt:lpstr> IPC Interventions: Postpartum Care of the Mother (1/3) </vt:lpstr>
      <vt:lpstr>Postpartum Care …(2/3)</vt:lpstr>
      <vt:lpstr>Postpartum Care …(3/3)</vt:lpstr>
      <vt:lpstr>4. Care of the Newborn (1/6)</vt:lpstr>
      <vt:lpstr>Care of the Newborn …(2/6) </vt:lpstr>
      <vt:lpstr>Care of the Newborn … (3/6)</vt:lpstr>
      <vt:lpstr>Care of the Newborn … (4/6)</vt:lpstr>
      <vt:lpstr>Care of the Newborn … (5/6)</vt:lpstr>
      <vt:lpstr>Care of the Newborn … (6/6)</vt:lpstr>
      <vt:lpstr> Preventing infection in newborns requiring specialized care (1/2) </vt:lpstr>
      <vt:lpstr>New borne special care … (2/2)</vt:lpstr>
      <vt:lpstr> Managing newborns in the NICU (1/1)  </vt:lpstr>
      <vt:lpstr> Routine active surveillance cultures (1/3)  </vt:lpstr>
      <vt:lpstr>Routine active surveillance … (2/3) </vt:lpstr>
      <vt:lpstr>Routine active surveillance … (3/3) </vt:lpstr>
      <vt:lpstr>Cohorting patients and HCWs in the NICU (1/1) </vt:lpstr>
      <vt:lpstr>Outbreaks in The Nursery or NICU (1/1)  </vt:lpstr>
      <vt:lpstr>5. Management of the NICU (1/4)  </vt:lpstr>
      <vt:lpstr>Management of the NICU… (2/4) </vt:lpstr>
      <vt:lpstr>Management of the NICU … (3/4)</vt:lpstr>
      <vt:lpstr>Management of the NICU … (4/4)</vt:lpstr>
      <vt:lpstr>Handling infant feeds (1/4) </vt:lpstr>
      <vt:lpstr>Handling infant feeds … (2/4)</vt:lpstr>
      <vt:lpstr>Handling infant feeds … (3/4)</vt:lpstr>
      <vt:lpstr>Handling infant feeds … (4/4)</vt:lpstr>
      <vt:lpstr> Formula preparation and care (1/1) </vt:lpstr>
      <vt:lpstr>Summary (1/1)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6. Mortuary IPC for Handling Human Remains</dc:title>
  <dc:creator>yayene Tad</dc:creator>
  <cp:lastModifiedBy>moh</cp:lastModifiedBy>
  <cp:revision>57</cp:revision>
  <dcterms:created xsi:type="dcterms:W3CDTF">2018-12-11T15:00:38Z</dcterms:created>
  <dcterms:modified xsi:type="dcterms:W3CDTF">2019-09-23T08:01:53Z</dcterms:modified>
</cp:coreProperties>
</file>