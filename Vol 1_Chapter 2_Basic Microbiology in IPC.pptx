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3" r:id="rId3"/>
    <p:sldId id="257" r:id="rId4"/>
    <p:sldId id="274" r:id="rId5"/>
    <p:sldId id="258" r:id="rId6"/>
    <p:sldId id="259" r:id="rId7"/>
    <p:sldId id="275" r:id="rId8"/>
    <p:sldId id="260" r:id="rId9"/>
    <p:sldId id="261" r:id="rId10"/>
    <p:sldId id="277" r:id="rId11"/>
    <p:sldId id="262" r:id="rId12"/>
    <p:sldId id="264" r:id="rId13"/>
    <p:sldId id="265" r:id="rId14"/>
    <p:sldId id="276" r:id="rId15"/>
    <p:sldId id="263" r:id="rId16"/>
    <p:sldId id="278" r:id="rId17"/>
    <p:sldId id="266" r:id="rId18"/>
    <p:sldId id="268" r:id="rId19"/>
    <p:sldId id="279" r:id="rId20"/>
    <p:sldId id="267" r:id="rId21"/>
    <p:sldId id="269" r:id="rId22"/>
    <p:sldId id="270" r:id="rId23"/>
    <p:sldId id="271" r:id="rId24"/>
    <p:sldId id="272" r:id="rId2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=""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=""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22" autoAdjust="0"/>
    <p:restoredTop sz="94660"/>
  </p:normalViewPr>
  <p:slideViewPr>
    <p:cSldViewPr snapToGrid="0">
      <p:cViewPr>
        <p:scale>
          <a:sx n="66" d="100"/>
          <a:sy n="66" d="100"/>
        </p:scale>
        <p:origin x="-1446" y="-1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jpe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 shadeToTitle="1">
        <a:gradFill flip="none" rotWithShape="1">
          <a:gsLst>
            <a:gs pos="0">
              <a:schemeClr val="accent2">
                <a:lumMod val="0"/>
                <a:lumOff val="100000"/>
                <a:alpha val="88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1" y="109834"/>
            <a:ext cx="9274629" cy="6598881"/>
            <a:chOff x="0" y="211434"/>
            <a:chExt cx="9278874" cy="6958648"/>
          </a:xfrm>
          <a:noFill/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7" y="211434"/>
              <a:ext cx="9278197" cy="6958648"/>
            </a:xfrm>
            <a:prstGeom prst="rect">
              <a:avLst/>
            </a:prstGeom>
            <a:grpFill/>
          </p:spPr>
        </p:pic>
        <p:sp>
          <p:nvSpPr>
            <p:cNvPr id="11" name="Rectangle 10"/>
            <p:cNvSpPr/>
            <p:nvPr/>
          </p:nvSpPr>
          <p:spPr>
            <a:xfrm>
              <a:off x="1515532" y="1682076"/>
              <a:ext cx="6112935" cy="3656814"/>
            </a:xfrm>
            <a:prstGeom prst="rect">
              <a:avLst/>
            </a:prstGeom>
            <a:grp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  <a:grpFill/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  <a:grpFill/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56663" y="1879926"/>
            <a:ext cx="5820386" cy="1528328"/>
          </a:xfrm>
        </p:spPr>
        <p:txBody>
          <a:bodyPr anchor="b">
            <a:noAutofit/>
          </a:bodyPr>
          <a:lstStyle>
            <a:lvl1pPr marL="0" marR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lang="en-US" sz="3600" b="1" smtClean="0">
                <a:effectLst/>
              </a:defRPr>
            </a:lvl1pPr>
          </a:lstStyle>
          <a:p>
            <a:r>
              <a:rPr lang="en-US" altLang="en-US" smtClean="0">
                <a:solidFill>
                  <a:prstClr val="black"/>
                </a:solidFill>
              </a:rPr>
              <a:t>Click to edit Master title style</a:t>
            </a:r>
            <a:endParaRPr lang="en-US" altLang="en-US" dirty="0">
              <a:solidFill>
                <a:prstClr val="black"/>
              </a:solidFill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32655" y="3597482"/>
            <a:ext cx="4478694" cy="1012902"/>
          </a:xfrm>
        </p:spPr>
        <p:txBody>
          <a:bodyPr anchor="t">
            <a:normAutofit/>
          </a:bodyPr>
          <a:lstStyle>
            <a:lvl1pPr marL="0" indent="0" algn="ctr">
              <a:buNone/>
              <a:defRPr sz="3200" b="0" i="0"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671243" y="4972192"/>
            <a:ext cx="972156" cy="361810"/>
          </a:xfrm>
        </p:spPr>
        <p:txBody>
          <a:bodyPr/>
          <a:lstStyle/>
          <a:p>
            <a:fld id="{AB9002C7-96F3-46B4-9C1A-589154AB2074}" type="datetimeFigureOut">
              <a:rPr lang="en-US" smtClean="0"/>
              <a:t>12/22/2018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5" y="4972197"/>
            <a:ext cx="3749307" cy="361809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1349" y="4972195"/>
            <a:ext cx="726150" cy="361809"/>
          </a:xfrm>
        </p:spPr>
        <p:txBody>
          <a:bodyPr/>
          <a:lstStyle/>
          <a:p>
            <a:fld id="{CB59CE76-EF07-43E0-858F-5CD794600DA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6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" name="Group 8"/>
          <p:cNvGrpSpPr/>
          <p:nvPr/>
        </p:nvGrpSpPr>
        <p:grpSpPr>
          <a:xfrm>
            <a:off x="2979691" y="76754"/>
            <a:ext cx="3029102" cy="1229383"/>
            <a:chOff x="2823850" y="0"/>
            <a:chExt cx="3344655" cy="1558429"/>
          </a:xfrm>
        </p:grpSpPr>
        <p:pic>
          <p:nvPicPr>
            <p:cNvPr id="16" name="Picture 15" descr="Ethiopia_MOH"/>
            <p:cNvPicPr/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4364" y="0"/>
              <a:ext cx="1083629" cy="1033072"/>
            </a:xfrm>
            <a:prstGeom prst="ellipse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7" name="TextBox 6"/>
            <p:cNvSpPr txBox="1"/>
            <p:nvPr userDrawn="1"/>
          </p:nvSpPr>
          <p:spPr>
            <a:xfrm>
              <a:off x="2823850" y="1037574"/>
              <a:ext cx="3344655" cy="52085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800" smtClean="0">
                  <a:solidFill>
                    <a:srgbClr val="0066FF"/>
                  </a:solidFill>
                  <a:effectLst/>
                  <a:latin typeface="Britannic Bold" charset="0"/>
                  <a:ea typeface="Calibri" charset="0"/>
                  <a:cs typeface="Times New Roman" charset="0"/>
                </a:rPr>
                <a:t>Federal Ministry of Health</a:t>
              </a:r>
              <a:endParaRPr lang="en-US" sz="1600" smtClean="0">
                <a:effectLst/>
                <a:latin typeface="Calibri" charset="0"/>
                <a:ea typeface="Calibri" charset="0"/>
                <a:cs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64388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gradFill flip="none" rotWithShape="1">
          <a:gsLst>
            <a:gs pos="23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6" y="2356260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7" y="1030778"/>
            <a:ext cx="6798735" cy="1188426"/>
          </a:xfrm>
        </p:spPr>
        <p:txBody>
          <a:bodyPr>
            <a:noAutofit/>
          </a:bodyPr>
          <a:lstStyle>
            <a:lvl1pPr>
              <a:defRPr sz="4800" b="1" u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56670" y="5960533"/>
            <a:ext cx="850200" cy="279400"/>
          </a:xfrm>
        </p:spPr>
        <p:txBody>
          <a:bodyPr/>
          <a:lstStyle/>
          <a:p>
            <a:fld id="{AB9002C7-96F3-46B4-9C1A-589154AB2074}" type="datetimeFigureOut">
              <a:rPr lang="en-US" smtClean="0"/>
              <a:t>12/22/2018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06871" y="5960533"/>
            <a:ext cx="724155" cy="279400"/>
          </a:xfrm>
        </p:spPr>
        <p:txBody>
          <a:bodyPr/>
          <a:lstStyle/>
          <a:p>
            <a:fld id="{CB59CE76-EF07-43E0-858F-5CD794600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5604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gradFill flip="none" rotWithShape="1">
          <a:gsLst>
            <a:gs pos="0">
              <a:schemeClr val="accent3">
                <a:lumMod val="0"/>
                <a:lumOff val="100000"/>
                <a:alpha val="93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6" y="1641414"/>
            <a:ext cx="6595533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6" y="3734862"/>
            <a:ext cx="6595533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002C7-96F3-46B4-9C1A-589154AB2074}" type="datetimeFigureOut">
              <a:rPr lang="en-US" smtClean="0"/>
              <a:t>12/22/2018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80092" y="5960533"/>
            <a:ext cx="865640" cy="279400"/>
          </a:xfrm>
        </p:spPr>
        <p:txBody>
          <a:bodyPr/>
          <a:lstStyle/>
          <a:p>
            <a:fld id="{CB59CE76-EF07-43E0-858F-5CD794600DA7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7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0397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6" y="2356260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1052396"/>
            <a:ext cx="6798735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7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002C7-96F3-46B4-9C1A-589154AB2074}" type="datetimeFigureOut">
              <a:rPr lang="en-US" smtClean="0"/>
              <a:t>12/22/2018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580091" y="5934460"/>
            <a:ext cx="765888" cy="305477"/>
          </a:xfrm>
        </p:spPr>
        <p:txBody>
          <a:bodyPr/>
          <a:lstStyle/>
          <a:p>
            <a:fld id="{CB59CE76-EF07-43E0-858F-5CD794600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443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002C7-96F3-46B4-9C1A-589154AB2074}" type="datetimeFigureOut">
              <a:rPr lang="en-US" smtClean="0"/>
              <a:t>12/22/2018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9CE76-EF07-43E0-858F-5CD794600DA7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7" y="2354670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013817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40"/>
            <a:ext cx="6798735" cy="130386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002C7-96F3-46B4-9C1A-589154AB2074}" type="datetimeFigureOut">
              <a:rPr lang="en-US" smtClean="0"/>
              <a:t>12/22/2018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9CE76-EF07-43E0-858F-5CD794600DA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7" y="2354670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37624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002C7-96F3-46B4-9C1A-589154AB2074}" type="datetimeFigureOut">
              <a:rPr lang="en-US" smtClean="0"/>
              <a:t>12/22/2018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9CE76-EF07-43E0-858F-5CD794600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07494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7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5" y="982136"/>
            <a:ext cx="3855538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7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002C7-96F3-46B4-9C1A-589154AB2074}" type="datetimeFigureOut">
              <a:rPr lang="en-US" smtClean="0"/>
              <a:t>12/22/2018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9CE76-EF07-43E0-858F-5CD794600DA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92529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71" y="1032933"/>
            <a:ext cx="2929462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7" y="3255432"/>
            <a:ext cx="3632202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002C7-96F3-46B4-9C1A-589154AB2074}" type="datetimeFigureOut">
              <a:rPr lang="en-US" smtClean="0"/>
              <a:t>12/22/2018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9CE76-EF07-43E0-858F-5CD794600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4546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7" y="4815415"/>
            <a:ext cx="6798735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2" y="1032937"/>
            <a:ext cx="7091481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7" y="5382153"/>
            <a:ext cx="6798735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002C7-96F3-46B4-9C1A-589154AB2074}" type="datetimeFigureOut">
              <a:rPr lang="en-US" smtClean="0"/>
              <a:t>12/22/2018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9CE76-EF07-43E0-858F-5CD794600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5223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7" y="906874"/>
            <a:ext cx="6798735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002C7-96F3-46B4-9C1A-589154AB2074}" type="datetimeFigureOut">
              <a:rPr lang="en-US" smtClean="0"/>
              <a:t>12/22/2018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9CE76-EF07-43E0-858F-5CD794600DA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7" y="4140199"/>
            <a:ext cx="6606426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75331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4" y="982132"/>
            <a:ext cx="6400251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2" y="3352800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4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002C7-96F3-46B4-9C1A-589154AB2074}" type="datetimeFigureOut">
              <a:rPr lang="en-US" smtClean="0"/>
              <a:t>12/22/2018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9CE76-EF07-43E0-858F-5CD794600DA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71" y="905362"/>
            <a:ext cx="45731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5" y="2827870"/>
            <a:ext cx="45731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7" y="4140199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853800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70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70" y="4777381"/>
            <a:ext cx="6798729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002C7-96F3-46B4-9C1A-589154AB2074}" type="datetimeFigureOut">
              <a:rPr lang="en-US" smtClean="0"/>
              <a:t>12/22/2018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9CE76-EF07-43E0-858F-5CD794600DA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62090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8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70" y="3639312"/>
            <a:ext cx="6798729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002C7-96F3-46B4-9C1A-589154AB2074}" type="datetimeFigureOut">
              <a:rPr lang="en-US" smtClean="0"/>
              <a:t>12/22/2018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9CE76-EF07-43E0-858F-5CD794600DA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2" y="896895"/>
            <a:ext cx="45731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9" y="2607728"/>
            <a:ext cx="45731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7" y="3429000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080449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82135"/>
            <a:ext cx="6798735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70" y="3566160"/>
            <a:ext cx="6798729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7" y="4470403"/>
            <a:ext cx="6798735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002C7-96F3-46B4-9C1A-589154AB2074}" type="datetimeFigureOut">
              <a:rPr lang="en-US" smtClean="0"/>
              <a:t>12/22/2018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9CE76-EF07-43E0-858F-5CD794600DA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2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91839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6" y="2490139"/>
            <a:ext cx="6798736" cy="3385733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002C7-96F3-46B4-9C1A-589154AB2074}" type="datetimeFigureOut">
              <a:rPr lang="en-US" smtClean="0"/>
              <a:t>12/22/2018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9CE76-EF07-43E0-858F-5CD794600DA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7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29234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9" y="906877"/>
            <a:ext cx="1618929" cy="496899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9" y="906877"/>
            <a:ext cx="4915509" cy="4968993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9002C7-96F3-46B4-9C1A-589154AB2074}" type="datetimeFigureOut">
              <a:rPr lang="en-US" smtClean="0"/>
              <a:t>12/22/2018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59CE76-EF07-43E0-858F-5CD794600DA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7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3541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5.jpe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2" y="0"/>
            <a:ext cx="9152466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7" y="915340"/>
            <a:ext cx="6798735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2490139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1" y="5935136"/>
            <a:ext cx="673086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AB9002C7-96F3-46B4-9C1A-589154AB2074}" type="datetimeFigureOut">
              <a:rPr lang="en-US" smtClean="0"/>
              <a:t>12/22/2018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7" y="5960533"/>
            <a:ext cx="5104666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29757" y="5960533"/>
            <a:ext cx="945846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B59CE76-EF07-43E0-858F-5CD794600DA7}" type="slidenum">
              <a:rPr lang="en-US" smtClean="0"/>
              <a:t>‹#›</a:t>
            </a:fld>
            <a:endParaRPr lang="en-US"/>
          </a:p>
        </p:txBody>
      </p:sp>
      <p:grpSp>
        <p:nvGrpSpPr>
          <p:cNvPr id="12" name="Group 11"/>
          <p:cNvGrpSpPr/>
          <p:nvPr/>
        </p:nvGrpSpPr>
        <p:grpSpPr>
          <a:xfrm>
            <a:off x="3372583" y="4075"/>
            <a:ext cx="2407299" cy="981605"/>
            <a:chOff x="2823850" y="0"/>
            <a:chExt cx="3344655" cy="1466289"/>
          </a:xfrm>
        </p:grpSpPr>
        <p:pic>
          <p:nvPicPr>
            <p:cNvPr id="13" name="Picture 12" descr="Ethiopia_MOH"/>
            <p:cNvPicPr/>
            <p:nvPr userDrawn="1"/>
          </p:nvPicPr>
          <p:blipFill>
            <a:blip r:embed="rId2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54364" y="0"/>
              <a:ext cx="1083629" cy="1033072"/>
            </a:xfrm>
            <a:prstGeom prst="ellipse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4" name="TextBox 13"/>
            <p:cNvSpPr txBox="1"/>
            <p:nvPr userDrawn="1"/>
          </p:nvSpPr>
          <p:spPr>
            <a:xfrm>
              <a:off x="2823850" y="1037575"/>
              <a:ext cx="3344655" cy="4287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15000"/>
                </a:lnSpc>
                <a:spcAft>
                  <a:spcPts val="1000"/>
                </a:spcAft>
              </a:pPr>
              <a:r>
                <a:rPr lang="en-US" sz="1100" dirty="0" smtClean="0">
                  <a:solidFill>
                    <a:srgbClr val="0066FF"/>
                  </a:solidFill>
                  <a:effectLst/>
                  <a:latin typeface="Britannic Bold" charset="0"/>
                  <a:ea typeface="Calibri" charset="0"/>
                  <a:cs typeface="Times New Roman" charset="0"/>
                </a:rPr>
                <a:t>Federal Ministry of Health</a:t>
              </a:r>
              <a:endParaRPr lang="en-US" sz="1100" dirty="0" smtClean="0">
                <a:effectLst/>
                <a:latin typeface="Calibri" charset="0"/>
                <a:ea typeface="Calibri" charset="0"/>
                <a:cs typeface="Times New Roman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529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83657" y="1625600"/>
            <a:ext cx="5776686" cy="1782654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r>
              <a:rPr lang="en-US" sz="4000" dirty="0" smtClean="0">
                <a:latin typeface="Calibri" panose="020F0502020204030204" pitchFamily="34" charset="0"/>
                <a:cs typeface="Arial" panose="020B0604020202020204" pitchFamily="34" charset="0"/>
              </a:rPr>
              <a:t/>
            </a:r>
            <a:br>
              <a:rPr lang="en-US" sz="4000" dirty="0" smtClean="0">
                <a:latin typeface="Calibri" panose="020F0502020204030204" pitchFamily="34" charset="0"/>
                <a:cs typeface="Arial" panose="020B0604020202020204" pitchFamily="34" charset="0"/>
              </a:rPr>
            </a:br>
            <a:r>
              <a:rPr lang="en-US" sz="4000" dirty="0" smtClean="0">
                <a:latin typeface="Calibri" panose="020F0502020204030204" pitchFamily="34" charset="0"/>
                <a:cs typeface="Arial" panose="020B0604020202020204" pitchFamily="34" charset="0"/>
              </a:rPr>
              <a:t/>
            </a:r>
            <a:br>
              <a:rPr lang="en-US" sz="4000" dirty="0" smtClean="0">
                <a:latin typeface="Calibri" panose="020F0502020204030204" pitchFamily="34" charset="0"/>
                <a:cs typeface="Arial" panose="020B0604020202020204" pitchFamily="34" charset="0"/>
              </a:rPr>
            </a:br>
            <a:r>
              <a:rPr lang="en-US" sz="4000" dirty="0" smtClean="0">
                <a:latin typeface="Calibri" panose="020F0502020204030204" pitchFamily="34" charset="0"/>
                <a:cs typeface="Arial" panose="020B0604020202020204" pitchFamily="34" charset="0"/>
              </a:rPr>
              <a:t>   </a:t>
            </a:r>
            <a:r>
              <a:rPr lang="en-US" dirty="0" smtClean="0">
                <a:cs typeface="Arial" panose="020B0604020202020204" pitchFamily="34" charset="0"/>
              </a:rPr>
              <a:t>Volume 1_Section 1</a:t>
            </a:r>
            <a:br>
              <a:rPr lang="en-US" dirty="0" smtClean="0">
                <a:cs typeface="Arial" panose="020B0604020202020204" pitchFamily="34" charset="0"/>
              </a:rPr>
            </a:br>
            <a:r>
              <a:rPr lang="en-US" dirty="0" smtClean="0">
                <a:cs typeface="Arial" panose="020B0604020202020204" pitchFamily="34" charset="0"/>
              </a:rPr>
              <a:t/>
            </a:r>
            <a:br>
              <a:rPr lang="en-US" dirty="0" smtClean="0">
                <a:cs typeface="Arial" panose="020B0604020202020204" pitchFamily="34" charset="0"/>
              </a:rPr>
            </a:br>
            <a:r>
              <a:rPr lang="en-US" dirty="0" smtClean="0">
                <a:cs typeface="Arial" panose="020B0604020202020204" pitchFamily="34" charset="0"/>
              </a:rPr>
              <a:t>Chapter 2: Basic Microbiology </a:t>
            </a: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subTitle" idx="1"/>
          </p:nvPr>
        </p:nvSpPr>
        <p:spPr>
          <a:xfrm>
            <a:off x="2332655" y="3582967"/>
            <a:ext cx="4478694" cy="1012902"/>
          </a:xfrm>
        </p:spPr>
        <p:txBody>
          <a:bodyPr>
            <a:normAutofit fontScale="85000" lnSpcReduction="10000"/>
          </a:bodyPr>
          <a:lstStyle/>
          <a:p>
            <a:r>
              <a:rPr lang="en-US" b="1" dirty="0">
                <a:ln w="3175" cmpd="sng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</a:rPr>
              <a:t>IPC and PS for Healthcare Setting in Ethiopia</a:t>
            </a:r>
          </a:p>
        </p:txBody>
      </p:sp>
    </p:spTree>
    <p:extLst>
      <p:ext uri="{BB962C8B-B14F-4D97-AF65-F5344CB8AC3E}">
        <p14:creationId xmlns:p14="http://schemas.microsoft.com/office/powerpoint/2010/main" val="2268342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> </a:t>
            </a:r>
            <a:br>
              <a:rPr lang="en-US" b="1" dirty="0" smtClean="0"/>
            </a:br>
            <a:r>
              <a:rPr lang="en-US" sz="4400" b="1" dirty="0" smtClean="0">
                <a:cs typeface="Arial" panose="020B0604020202020204" pitchFamily="34" charset="0"/>
              </a:rPr>
              <a:t>Chapter </a:t>
            </a:r>
            <a:r>
              <a:rPr lang="en-US" sz="4400" dirty="0" smtClean="0">
                <a:cs typeface="Arial" panose="020B0604020202020204" pitchFamily="34" charset="0"/>
              </a:rPr>
              <a:t>Outline </a:t>
            </a:r>
            <a:r>
              <a:rPr lang="en-US" sz="4400" dirty="0">
                <a:cs typeface="Arial" panose="020B0604020202020204" pitchFamily="34" charset="0"/>
              </a:rPr>
              <a:t/>
            </a:r>
            <a:br>
              <a:rPr lang="en-US" sz="4400" dirty="0">
                <a:cs typeface="Arial" panose="020B0604020202020204" pitchFamily="34" charset="0"/>
              </a:rPr>
            </a:br>
            <a:endParaRPr lang="en-US" sz="4400" dirty="0">
              <a:cs typeface="Arial" panose="020B0604020202020204" pitchFamily="34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8285" y="2490139"/>
            <a:ext cx="7649029" cy="3751004"/>
          </a:xfrm>
        </p:spPr>
        <p:txBody>
          <a:bodyPr>
            <a:noAutofit/>
          </a:bodyPr>
          <a:lstStyle/>
          <a:p>
            <a:pPr algn="just"/>
            <a:r>
              <a:rPr lang="en-US" sz="2400" dirty="0" smtClean="0">
                <a:cs typeface="Arial" panose="020B0604020202020204" pitchFamily="34" charset="0"/>
              </a:rPr>
              <a:t>PPP 2.1: Basic features of microorganism</a:t>
            </a:r>
          </a:p>
          <a:p>
            <a:pPr algn="just"/>
            <a:r>
              <a:rPr lang="en-US" sz="2400" dirty="0" smtClean="0">
                <a:cs typeface="Arial" panose="020B0604020202020204" pitchFamily="34" charset="0"/>
              </a:rPr>
              <a:t>PPP 2.2: Classification and identification of microorganisms </a:t>
            </a:r>
          </a:p>
          <a:p>
            <a:pPr algn="just"/>
            <a:r>
              <a:rPr lang="en-US" sz="2400" dirty="0" smtClean="0">
                <a:cs typeface="Arial" panose="020B0604020202020204" pitchFamily="34" charset="0"/>
              </a:rPr>
              <a:t>PPP 2.3: How microbes cause disease</a:t>
            </a:r>
          </a:p>
          <a:p>
            <a:pPr algn="just"/>
            <a:r>
              <a:rPr lang="en-US" sz="2400" dirty="0" smtClean="0">
                <a:cs typeface="Arial" panose="020B0604020202020204" pitchFamily="34" charset="0"/>
              </a:rPr>
              <a:t>PPP 2.4: Specimen collection and transport</a:t>
            </a:r>
          </a:p>
          <a:p>
            <a:pPr algn="just" defTabSz="465138"/>
            <a:r>
              <a:rPr lang="en-US" sz="2400" dirty="0">
                <a:cs typeface="Arial" panose="020B0604020202020204" pitchFamily="34" charset="0"/>
              </a:rPr>
              <a:t>PPP 2.5: Common techniques for identifying microorganisms</a:t>
            </a:r>
          </a:p>
          <a:p>
            <a:pPr algn="just"/>
            <a:r>
              <a:rPr lang="en-US" sz="2400" dirty="0" smtClean="0">
                <a:cs typeface="Arial" panose="020B0604020202020204" pitchFamily="34" charset="0"/>
              </a:rPr>
              <a:t>PPP 2.6: Characteristics of microorganisms of interest for infection prevention and control</a:t>
            </a:r>
            <a:endParaRPr lang="en-US" sz="24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81149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4400" dirty="0">
                <a:cs typeface="Arial" panose="020B0604020202020204" pitchFamily="34" charset="0"/>
              </a:rPr>
              <a:t> Learning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3771" y="2490139"/>
            <a:ext cx="7590971" cy="3692947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spcAft>
                <a:spcPts val="2400"/>
              </a:spcAft>
              <a:buNone/>
            </a:pPr>
            <a:r>
              <a:rPr lang="en-US" sz="2600" dirty="0" smtClean="0">
                <a:cs typeface="Arial" panose="020B0604020202020204" pitchFamily="34" charset="0"/>
              </a:rPr>
              <a:t>By the end of this chapter, participants will be able to:</a:t>
            </a:r>
          </a:p>
          <a:p>
            <a:pPr lvl="0" algn="just"/>
            <a:r>
              <a:rPr lang="en-US" sz="2600" dirty="0" smtClean="0">
                <a:cs typeface="Arial" panose="020B0604020202020204" pitchFamily="34" charset="0"/>
              </a:rPr>
              <a:t>Describe </a:t>
            </a:r>
            <a:r>
              <a:rPr lang="en-US" sz="2600" dirty="0">
                <a:cs typeface="Arial" panose="020B0604020202020204" pitchFamily="34" charset="0"/>
              </a:rPr>
              <a:t>the Basic features of microorganisms</a:t>
            </a:r>
          </a:p>
          <a:p>
            <a:pPr lvl="0" algn="just"/>
            <a:r>
              <a:rPr lang="en-US" sz="2600" dirty="0">
                <a:cs typeface="Arial" panose="020B0604020202020204" pitchFamily="34" charset="0"/>
              </a:rPr>
              <a:t>Identify the Classifications and identification of microorganisms</a:t>
            </a:r>
          </a:p>
          <a:p>
            <a:pPr lvl="0" algn="just"/>
            <a:r>
              <a:rPr lang="en-US" sz="2600" dirty="0">
                <a:cs typeface="Arial" panose="020B0604020202020204" pitchFamily="34" charset="0"/>
              </a:rPr>
              <a:t>Recognize</a:t>
            </a:r>
            <a:r>
              <a:rPr lang="en-US" sz="2600" b="1" dirty="0">
                <a:cs typeface="Arial" panose="020B0604020202020204" pitchFamily="34" charset="0"/>
              </a:rPr>
              <a:t> </a:t>
            </a:r>
            <a:r>
              <a:rPr lang="en-US" sz="2600" dirty="0">
                <a:cs typeface="Arial" panose="020B0604020202020204" pitchFamily="34" charset="0"/>
              </a:rPr>
              <a:t>how the  microorganisms cause disease</a:t>
            </a:r>
          </a:p>
          <a:p>
            <a:pPr lvl="0" algn="just"/>
            <a:r>
              <a:rPr lang="en-US" sz="2600" dirty="0">
                <a:cs typeface="Arial" panose="020B0604020202020204" pitchFamily="34" charset="0"/>
              </a:rPr>
              <a:t>Explain Specimen collection and transport</a:t>
            </a:r>
          </a:p>
          <a:p>
            <a:pPr lvl="0" algn="just"/>
            <a:r>
              <a:rPr lang="en-US" sz="2600" dirty="0">
                <a:cs typeface="Arial" panose="020B0604020202020204" pitchFamily="34" charset="0"/>
              </a:rPr>
              <a:t>Identify common techniques for identifying microorganisms</a:t>
            </a:r>
          </a:p>
          <a:p>
            <a:pPr lvl="0" algn="just"/>
            <a:r>
              <a:rPr lang="en-US" sz="2600" dirty="0">
                <a:cs typeface="Arial" panose="020B0604020202020204" pitchFamily="34" charset="0"/>
              </a:rPr>
              <a:t>Describe the characteristics of microorganisms of interest for infection prevention and control</a:t>
            </a:r>
          </a:p>
          <a:p>
            <a:pPr algn="just"/>
            <a:endParaRPr lang="en-US" sz="2400" dirty="0"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0232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5400" b="1" dirty="0" smtClean="0"/>
              <a:t>PPP 2.1: Basic futures of Microorganism</a:t>
            </a:r>
            <a:endParaRPr lang="en-US" b="1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7096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Overview 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7657" y="2490140"/>
            <a:ext cx="7663543" cy="3170432"/>
          </a:xfrm>
        </p:spPr>
        <p:txBody>
          <a:bodyPr/>
          <a:lstStyle/>
          <a:p>
            <a:pPr algn="just"/>
            <a:endParaRPr lang="en-US" sz="2400" dirty="0" smtClean="0">
              <a:cs typeface="Arial" panose="020B0604020202020204" pitchFamily="34" charset="0"/>
            </a:endParaRPr>
          </a:p>
          <a:p>
            <a:pPr algn="just"/>
            <a:r>
              <a:rPr lang="en-US" sz="2400" dirty="0" smtClean="0">
                <a:cs typeface="Arial" panose="020B0604020202020204" pitchFamily="34" charset="0"/>
              </a:rPr>
              <a:t>A </a:t>
            </a:r>
            <a:r>
              <a:rPr lang="en-US" sz="2400" dirty="0">
                <a:cs typeface="Arial" panose="020B0604020202020204" pitchFamily="34" charset="0"/>
              </a:rPr>
              <a:t>basic knowledge of the microscopic organisms that commonly cause infections and the methods used by the clinical laboratory to identify and examine them is important in the day-to-day work of the IPC team</a:t>
            </a:r>
            <a:r>
              <a:rPr lang="en-US" sz="2400" dirty="0"/>
              <a:t>.</a:t>
            </a:r>
          </a:p>
          <a:p>
            <a:pPr algn="just"/>
            <a:endParaRPr lang="en-US" sz="2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20007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Features of Microorganisms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5" y="2490139"/>
            <a:ext cx="7009191" cy="3444997"/>
          </a:xfrm>
        </p:spPr>
        <p:txBody>
          <a:bodyPr/>
          <a:lstStyle/>
          <a:p>
            <a:pPr algn="just"/>
            <a:r>
              <a:rPr lang="en-US" dirty="0"/>
              <a:t>Microscopic size</a:t>
            </a:r>
          </a:p>
          <a:p>
            <a:pPr algn="just"/>
            <a:r>
              <a:rPr lang="en-US" dirty="0"/>
              <a:t>Rapid rate of reproduction</a:t>
            </a:r>
          </a:p>
          <a:p>
            <a:pPr algn="just"/>
            <a:r>
              <a:rPr lang="en-US" dirty="0"/>
              <a:t>Tendency to spread from one place to another</a:t>
            </a:r>
          </a:p>
          <a:p>
            <a:pPr algn="just"/>
            <a:r>
              <a:rPr lang="en-US" dirty="0"/>
              <a:t>Ability to resist eradication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01682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43426" y="1641414"/>
            <a:ext cx="7344228" cy="1822514"/>
          </a:xfrm>
        </p:spPr>
        <p:txBody>
          <a:bodyPr>
            <a:noAutofit/>
          </a:bodyPr>
          <a:lstStyle/>
          <a:p>
            <a:r>
              <a:rPr lang="en-US" b="1" dirty="0" smtClean="0"/>
              <a:t>PPP 2.2: </a:t>
            </a:r>
            <a:br>
              <a:rPr lang="en-US" b="1" dirty="0" smtClean="0"/>
            </a:br>
            <a:r>
              <a:rPr lang="en-US" b="1" dirty="0" smtClean="0"/>
              <a:t>Classifications </a:t>
            </a:r>
            <a:r>
              <a:rPr lang="en-US" b="1" dirty="0"/>
              <a:t>and Identification of Microorganisms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9180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1030778"/>
            <a:ext cx="7924800" cy="1188426"/>
          </a:xfrm>
        </p:spPr>
        <p:txBody>
          <a:bodyPr/>
          <a:lstStyle/>
          <a:p>
            <a:r>
              <a:rPr lang="en-US" sz="4000" b="1" dirty="0"/>
              <a:t>Classifications and </a:t>
            </a:r>
            <a:r>
              <a:rPr lang="en-US" sz="4000" b="1" dirty="0" smtClean="0"/>
              <a:t>Identification </a:t>
            </a:r>
            <a:r>
              <a:rPr lang="en-US" sz="4000" b="1" dirty="0"/>
              <a:t>of </a:t>
            </a:r>
            <a:r>
              <a:rPr lang="en-US" sz="4000" b="1" dirty="0" smtClean="0"/>
              <a:t>Microorganisms 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99" y="2490139"/>
            <a:ext cx="7489371" cy="3780032"/>
          </a:xfrm>
        </p:spPr>
        <p:txBody>
          <a:bodyPr>
            <a:normAutofit fontScale="77500" lnSpcReduction="20000"/>
          </a:bodyPr>
          <a:lstStyle/>
          <a:p>
            <a:pPr algn="just"/>
            <a:r>
              <a:rPr lang="en-US" dirty="0"/>
              <a:t>The names of bacteria, viruses, fungi, and parasites follow the naming convention of the biological classification </a:t>
            </a:r>
            <a:r>
              <a:rPr lang="en-US" dirty="0" smtClean="0"/>
              <a:t>system</a:t>
            </a:r>
          </a:p>
          <a:p>
            <a:pPr algn="just"/>
            <a:r>
              <a:rPr lang="en-US" dirty="0"/>
              <a:t>Their names contain two terms and are written in italic letters. The </a:t>
            </a:r>
            <a:r>
              <a:rPr lang="en-US" dirty="0" smtClean="0"/>
              <a:t>first term </a:t>
            </a:r>
            <a:r>
              <a:rPr lang="en-US" dirty="0"/>
              <a:t>is the genus name; the second term is the species </a:t>
            </a:r>
            <a:r>
              <a:rPr lang="en-US" dirty="0" smtClean="0"/>
              <a:t>name</a:t>
            </a:r>
          </a:p>
          <a:p>
            <a:pPr marL="0" indent="0" algn="just">
              <a:buNone/>
            </a:pPr>
            <a:r>
              <a:rPr lang="en-US" i="1" dirty="0" smtClean="0"/>
              <a:t>    </a:t>
            </a:r>
            <a:r>
              <a:rPr lang="en-US" i="1" dirty="0" err="1" smtClean="0"/>
              <a:t>e.g.Staphylococcus</a:t>
            </a:r>
            <a:r>
              <a:rPr lang="en-US" i="1" dirty="0" smtClean="0"/>
              <a:t> </a:t>
            </a:r>
            <a:r>
              <a:rPr lang="en-US" i="1" dirty="0" err="1" smtClean="0"/>
              <a:t>aureus</a:t>
            </a:r>
            <a:endParaRPr lang="en-US" i="1" dirty="0" smtClean="0"/>
          </a:p>
          <a:p>
            <a:pPr algn="just"/>
            <a:r>
              <a:rPr lang="en-US" dirty="0"/>
              <a:t>Viruses are named by their family/subfamily, genera, and species. For example, influenza virus is from the family </a:t>
            </a:r>
            <a:r>
              <a:rPr lang="en-US" dirty="0" err="1"/>
              <a:t>Orthomyxoviridae</a:t>
            </a:r>
            <a:r>
              <a:rPr lang="en-US" dirty="0"/>
              <a:t>, in general </a:t>
            </a:r>
            <a:r>
              <a:rPr lang="en-US" i="1" dirty="0"/>
              <a:t>Influenza A, B,</a:t>
            </a:r>
            <a:r>
              <a:rPr lang="en-US" dirty="0"/>
              <a:t> and </a:t>
            </a:r>
            <a:r>
              <a:rPr lang="en-US" i="1" dirty="0"/>
              <a:t>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4559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Bacteria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algn="just"/>
            <a:r>
              <a:rPr lang="en-US" dirty="0" smtClean="0"/>
              <a:t>Bacteria </a:t>
            </a:r>
            <a:r>
              <a:rPr lang="en-US" dirty="0"/>
              <a:t>are single-cell </a:t>
            </a:r>
            <a:r>
              <a:rPr lang="en-US" dirty="0" smtClean="0"/>
              <a:t>organisms </a:t>
            </a:r>
            <a:r>
              <a:rPr lang="en-US" dirty="0"/>
              <a:t>with a well-defined cell wall </a:t>
            </a:r>
            <a:endParaRPr lang="en-US" dirty="0" smtClean="0"/>
          </a:p>
          <a:p>
            <a:pPr lvl="0" algn="just"/>
            <a:r>
              <a:rPr lang="en-US" dirty="0"/>
              <a:t>Cytoplasm, which contains the other cell contents</a:t>
            </a:r>
          </a:p>
          <a:p>
            <a:pPr lvl="0" algn="just"/>
            <a:r>
              <a:rPr lang="en-US" dirty="0"/>
              <a:t>Ribosomes, which produce proteins for cell function</a:t>
            </a:r>
          </a:p>
          <a:p>
            <a:pPr algn="just"/>
            <a:r>
              <a:rPr lang="en-US" dirty="0"/>
              <a:t>Genetic material</a:t>
            </a:r>
            <a:r>
              <a:rPr lang="en-US" i="1" dirty="0"/>
              <a:t>,</a:t>
            </a:r>
            <a:r>
              <a:rPr lang="en-US" dirty="0"/>
              <a:t> which is composed of a bacterial chromosome made of double-stranded DNA </a:t>
            </a:r>
          </a:p>
        </p:txBody>
      </p:sp>
    </p:spTree>
    <p:extLst>
      <p:ext uri="{BB962C8B-B14F-4D97-AF65-F5344CB8AC3E}">
        <p14:creationId xmlns:p14="http://schemas.microsoft.com/office/powerpoint/2010/main" val="6924331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78466" y="1524000"/>
            <a:ext cx="6595533" cy="1939928"/>
          </a:xfrm>
        </p:spPr>
        <p:txBody>
          <a:bodyPr>
            <a:noAutofit/>
          </a:bodyPr>
          <a:lstStyle/>
          <a:p>
            <a:r>
              <a:rPr lang="en-US" sz="4400" b="1" dirty="0">
                <a:cs typeface="Arial" panose="020B0604020202020204" pitchFamily="34" charset="0"/>
              </a:rPr>
              <a:t>PPP 2.3</a:t>
            </a:r>
            <a:r>
              <a:rPr lang="en-US" sz="4400" b="1" dirty="0" smtClean="0">
                <a:cs typeface="Arial" panose="020B0604020202020204" pitchFamily="34" charset="0"/>
              </a:rPr>
              <a:t>:</a:t>
            </a:r>
            <a:br>
              <a:rPr lang="en-US" sz="4400" b="1" dirty="0" smtClean="0">
                <a:cs typeface="Arial" panose="020B0604020202020204" pitchFamily="34" charset="0"/>
              </a:rPr>
            </a:br>
            <a:r>
              <a:rPr lang="en-US" sz="4400" b="1" dirty="0" smtClean="0">
                <a:cs typeface="Arial" panose="020B0604020202020204" pitchFamily="34" charset="0"/>
              </a:rPr>
              <a:t> </a:t>
            </a:r>
            <a:r>
              <a:rPr lang="en-US" sz="4400" b="1" dirty="0">
                <a:cs typeface="Arial" panose="020B0604020202020204" pitchFamily="34" charset="0"/>
              </a:rPr>
              <a:t>How microbes cause </a:t>
            </a:r>
            <a:r>
              <a:rPr lang="en-US" sz="4400" b="1" dirty="0" smtClean="0">
                <a:cs typeface="Arial" panose="020B0604020202020204" pitchFamily="34" charset="0"/>
              </a:rPr>
              <a:t>disease</a:t>
            </a:r>
            <a:endParaRPr lang="en-US" sz="4400" b="1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81086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Microbial Pathogenesis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76866" y="2490139"/>
            <a:ext cx="6798736" cy="3591347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/>
              <a:t>Normal Flora/Commensal </a:t>
            </a:r>
            <a:r>
              <a:rPr lang="en-US" b="1" dirty="0" err="1"/>
              <a:t>Microbiota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  e.g. staphylococci </a:t>
            </a:r>
            <a:r>
              <a:rPr lang="en-US" dirty="0"/>
              <a:t>on the skin </a:t>
            </a:r>
            <a:r>
              <a:rPr lang="en-US" dirty="0" smtClean="0"/>
              <a:t> </a:t>
            </a:r>
          </a:p>
          <a:p>
            <a:pPr marL="0" indent="0">
              <a:spcAft>
                <a:spcPts val="2400"/>
              </a:spcAft>
              <a:buNone/>
            </a:pPr>
            <a:r>
              <a:rPr lang="en-US" i="1" dirty="0"/>
              <a:t> </a:t>
            </a:r>
            <a:r>
              <a:rPr lang="en-US" i="1" dirty="0" smtClean="0"/>
              <a:t>          E</a:t>
            </a:r>
            <a:r>
              <a:rPr lang="en-US" i="1" dirty="0"/>
              <a:t>. coli</a:t>
            </a:r>
            <a:r>
              <a:rPr lang="en-US" dirty="0"/>
              <a:t> in the gut. </a:t>
            </a:r>
            <a:endParaRPr lang="en-US" dirty="0" smtClean="0"/>
          </a:p>
          <a:p>
            <a:r>
              <a:rPr lang="en-US" b="1" dirty="0"/>
              <a:t>Colonization</a:t>
            </a:r>
            <a:endParaRPr lang="en-US" dirty="0"/>
          </a:p>
          <a:p>
            <a:pPr marL="0" indent="0">
              <a:buNone/>
            </a:pPr>
            <a:r>
              <a:rPr lang="en-US" i="1" dirty="0" smtClean="0"/>
              <a:t>   e.g. Neisseria </a:t>
            </a:r>
            <a:r>
              <a:rPr lang="en-US" i="1" dirty="0" err="1"/>
              <a:t>meningitidis</a:t>
            </a:r>
            <a:r>
              <a:rPr lang="en-US" dirty="0"/>
              <a:t> in the throat, </a:t>
            </a:r>
            <a:endParaRPr lang="en-US" dirty="0" smtClean="0"/>
          </a:p>
          <a:p>
            <a:pPr marL="0" indent="0">
              <a:buNone/>
            </a:pPr>
            <a:r>
              <a:rPr lang="en-US" i="1" dirty="0"/>
              <a:t> </a:t>
            </a:r>
            <a:r>
              <a:rPr lang="en-US" i="1" dirty="0" smtClean="0"/>
              <a:t>         Salmonella</a:t>
            </a:r>
            <a:r>
              <a:rPr lang="en-US" dirty="0" smtClean="0"/>
              <a:t> </a:t>
            </a:r>
            <a:r>
              <a:rPr lang="en-US" dirty="0"/>
              <a:t>species in the gut, </a:t>
            </a:r>
            <a:endParaRPr lang="en-US" dirty="0" smtClean="0"/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methicillin-resistant </a:t>
            </a:r>
            <a:r>
              <a:rPr lang="en-US" i="1" dirty="0"/>
              <a:t>S. </a:t>
            </a:r>
            <a:r>
              <a:rPr lang="en-US" i="1" dirty="0" err="1"/>
              <a:t>aureus</a:t>
            </a:r>
            <a:r>
              <a:rPr lang="en-US" dirty="0"/>
              <a:t> (MRSA) in the nose, </a:t>
            </a:r>
            <a:r>
              <a:rPr lang="en-US" dirty="0" smtClean="0"/>
              <a:t>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yeast </a:t>
            </a:r>
            <a:r>
              <a:rPr lang="en-US" dirty="0"/>
              <a:t>in the genital tract.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81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Infection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2" y="2422886"/>
            <a:ext cx="7886700" cy="3812135"/>
          </a:xfrm>
        </p:spPr>
        <p:txBody>
          <a:bodyPr/>
          <a:lstStyle/>
          <a:p>
            <a:pPr algn="just"/>
            <a:r>
              <a:rPr lang="en-US" dirty="0" smtClean="0"/>
              <a:t>An </a:t>
            </a:r>
            <a:r>
              <a:rPr lang="en-US" dirty="0"/>
              <a:t>infection usually causes clinically apparent symptoms or sometimes may cause no symptoms and be subclinical. </a:t>
            </a:r>
            <a:endParaRPr lang="en-US" dirty="0" smtClean="0"/>
          </a:p>
          <a:p>
            <a:pPr algn="just"/>
            <a:r>
              <a:rPr lang="en-US" dirty="0" smtClean="0"/>
              <a:t>Symptoms </a:t>
            </a:r>
            <a:r>
              <a:rPr lang="en-US" dirty="0"/>
              <a:t>vary according to the type of microorganism and the location of the infection.</a:t>
            </a:r>
          </a:p>
        </p:txBody>
      </p:sp>
    </p:spTree>
    <p:extLst>
      <p:ext uri="{BB962C8B-B14F-4D97-AF65-F5344CB8AC3E}">
        <p14:creationId xmlns:p14="http://schemas.microsoft.com/office/powerpoint/2010/main" val="1158638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7" y="1030778"/>
            <a:ext cx="6951133" cy="1188426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Sources </a:t>
            </a:r>
            <a:r>
              <a:rPr lang="en-US" b="1" dirty="0"/>
              <a:t>of </a:t>
            </a:r>
            <a:r>
              <a:rPr lang="en-US" b="1" dirty="0" smtClean="0"/>
              <a:t>Microorganisms in the health care facilities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patient (endogenous): </a:t>
            </a:r>
          </a:p>
          <a:p>
            <a:r>
              <a:rPr lang="en-US" dirty="0"/>
              <a:t>Another person (exogenous cross-infection): </a:t>
            </a:r>
          </a:p>
          <a:p>
            <a:r>
              <a:rPr lang="en-US" dirty="0"/>
              <a:t>The health care environment: </a:t>
            </a:r>
          </a:p>
        </p:txBody>
      </p:sp>
    </p:spTree>
    <p:extLst>
      <p:ext uri="{BB962C8B-B14F-4D97-AF65-F5344CB8AC3E}">
        <p14:creationId xmlns:p14="http://schemas.microsoft.com/office/powerpoint/2010/main" val="7645102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278466" y="1494971"/>
            <a:ext cx="6595533" cy="1968957"/>
          </a:xfrm>
        </p:spPr>
        <p:txBody>
          <a:bodyPr>
            <a:noAutofit/>
          </a:bodyPr>
          <a:lstStyle/>
          <a:p>
            <a:r>
              <a:rPr lang="en-US" sz="4400" b="1" dirty="0" smtClean="0">
                <a:cs typeface="Arial" panose="020B0604020202020204" pitchFamily="34" charset="0"/>
              </a:rPr>
              <a:t/>
            </a:r>
            <a:br>
              <a:rPr lang="en-US" sz="4400" b="1" dirty="0" smtClean="0">
                <a:cs typeface="Arial" panose="020B0604020202020204" pitchFamily="34" charset="0"/>
              </a:rPr>
            </a:br>
            <a:r>
              <a:rPr lang="en-US" sz="4400" b="1" dirty="0">
                <a:cs typeface="Arial" panose="020B0604020202020204" pitchFamily="34" charset="0"/>
              </a:rPr>
              <a:t/>
            </a:r>
            <a:br>
              <a:rPr lang="en-US" sz="4400" b="1" dirty="0">
                <a:cs typeface="Arial" panose="020B0604020202020204" pitchFamily="34" charset="0"/>
              </a:rPr>
            </a:br>
            <a:r>
              <a:rPr lang="en-US" sz="4400" b="1" dirty="0" smtClean="0">
                <a:cs typeface="Arial" panose="020B0604020202020204" pitchFamily="34" charset="0"/>
              </a:rPr>
              <a:t/>
            </a:r>
            <a:br>
              <a:rPr lang="en-US" sz="4400" b="1" dirty="0" smtClean="0">
                <a:cs typeface="Arial" panose="020B0604020202020204" pitchFamily="34" charset="0"/>
              </a:rPr>
            </a:br>
            <a:r>
              <a:rPr lang="en-US" sz="4400" b="1" dirty="0">
                <a:cs typeface="Arial" panose="020B0604020202020204" pitchFamily="34" charset="0"/>
              </a:rPr>
              <a:t/>
            </a:r>
            <a:br>
              <a:rPr lang="en-US" sz="4400" b="1" dirty="0">
                <a:cs typeface="Arial" panose="020B0604020202020204" pitchFamily="34" charset="0"/>
              </a:rPr>
            </a:br>
            <a:r>
              <a:rPr lang="en-US" sz="4400" b="1" dirty="0" smtClean="0">
                <a:cs typeface="Arial" panose="020B0604020202020204" pitchFamily="34" charset="0"/>
              </a:rPr>
              <a:t>PPP </a:t>
            </a:r>
            <a:r>
              <a:rPr lang="en-US" sz="4400" b="1" dirty="0">
                <a:cs typeface="Arial" panose="020B0604020202020204" pitchFamily="34" charset="0"/>
              </a:rPr>
              <a:t>2.4: </a:t>
            </a:r>
            <a:r>
              <a:rPr lang="en-US" sz="4400" b="1" dirty="0" smtClean="0">
                <a:cs typeface="Arial" panose="020B0604020202020204" pitchFamily="34" charset="0"/>
              </a:rPr>
              <a:t/>
            </a:r>
            <a:br>
              <a:rPr lang="en-US" sz="4400" b="1" dirty="0" smtClean="0">
                <a:cs typeface="Arial" panose="020B0604020202020204" pitchFamily="34" charset="0"/>
              </a:rPr>
            </a:br>
            <a:r>
              <a:rPr lang="en-US" sz="4400" b="1" dirty="0" smtClean="0">
                <a:cs typeface="Arial" panose="020B0604020202020204" pitchFamily="34" charset="0"/>
              </a:rPr>
              <a:t>Specimen Collection </a:t>
            </a:r>
            <a:r>
              <a:rPr lang="en-US" sz="4400" b="1" dirty="0">
                <a:cs typeface="Arial" panose="020B0604020202020204" pitchFamily="34" charset="0"/>
              </a:rPr>
              <a:t>and </a:t>
            </a:r>
            <a:r>
              <a:rPr lang="en-US" sz="4400" b="1" dirty="0" smtClean="0">
                <a:cs typeface="Arial" panose="020B0604020202020204" pitchFamily="34" charset="0"/>
              </a:rPr>
              <a:t>Transport </a:t>
            </a:r>
            <a:endParaRPr lang="en-US" sz="4400" b="1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89295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Specimen collection and transport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7943" y="2490139"/>
            <a:ext cx="7257143" cy="3444997"/>
          </a:xfrm>
        </p:spPr>
        <p:txBody>
          <a:bodyPr>
            <a:normAutofit fontScale="92500" lnSpcReduction="20000"/>
          </a:bodyPr>
          <a:lstStyle/>
          <a:p>
            <a:pPr algn="just"/>
            <a:r>
              <a:rPr lang="en-US" dirty="0"/>
              <a:t>specimens are usually obtained to help identify the location and cause in order to guide diagnosis and treatment</a:t>
            </a:r>
            <a:r>
              <a:rPr lang="en-US" dirty="0" smtClean="0"/>
              <a:t>.</a:t>
            </a:r>
          </a:p>
          <a:p>
            <a:pPr algn="just"/>
            <a:r>
              <a:rPr lang="en-US" dirty="0"/>
              <a:t>The IPC team should be aware of optimal specimen collection </a:t>
            </a:r>
            <a:r>
              <a:rPr lang="en-US" dirty="0" smtClean="0"/>
              <a:t>techniques</a:t>
            </a:r>
          </a:p>
          <a:p>
            <a:pPr algn="just"/>
            <a:r>
              <a:rPr lang="en-US" dirty="0"/>
              <a:t>the microbiology laboratory should provide information on specific procedures for collection and transport of specimens. </a:t>
            </a:r>
          </a:p>
        </p:txBody>
      </p:sp>
    </p:spTree>
    <p:extLst>
      <p:ext uri="{BB962C8B-B14F-4D97-AF65-F5344CB8AC3E}">
        <p14:creationId xmlns:p14="http://schemas.microsoft.com/office/powerpoint/2010/main" val="14793769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b="1" dirty="0">
                <a:cs typeface="Arial" panose="020B0604020202020204" pitchFamily="34" charset="0"/>
              </a:rPr>
              <a:t>PPP 2.5: </a:t>
            </a:r>
            <a:r>
              <a:rPr lang="en-US" b="1" dirty="0" smtClean="0">
                <a:cs typeface="Arial" panose="020B0604020202020204" pitchFamily="34" charset="0"/>
              </a:rPr>
              <a:t/>
            </a:r>
            <a:br>
              <a:rPr lang="en-US" b="1" dirty="0" smtClean="0">
                <a:cs typeface="Arial" panose="020B0604020202020204" pitchFamily="34" charset="0"/>
              </a:rPr>
            </a:br>
            <a:r>
              <a:rPr lang="en-US" b="1" dirty="0" smtClean="0">
                <a:cs typeface="Arial" panose="020B0604020202020204" pitchFamily="34" charset="0"/>
              </a:rPr>
              <a:t>Common </a:t>
            </a:r>
            <a:r>
              <a:rPr lang="en-US" b="1" dirty="0">
                <a:cs typeface="Arial" panose="020B0604020202020204" pitchFamily="34" charset="0"/>
              </a:rPr>
              <a:t>techniques for identifying </a:t>
            </a:r>
            <a:r>
              <a:rPr lang="en-US" b="1" dirty="0" smtClean="0">
                <a:cs typeface="Arial" panose="020B0604020202020204" pitchFamily="34" charset="0"/>
              </a:rPr>
              <a:t>microorganisms</a:t>
            </a:r>
            <a:endParaRPr lang="en-US" b="1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99930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341" y="1030778"/>
            <a:ext cx="7264402" cy="1188426"/>
          </a:xfrm>
        </p:spPr>
        <p:txBody>
          <a:bodyPr/>
          <a:lstStyle/>
          <a:p>
            <a:r>
              <a:rPr lang="en-US" b="1" dirty="0"/>
              <a:t>Common techniques for identifying microorganism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Direct examination of wet-mount </a:t>
            </a:r>
          </a:p>
          <a:p>
            <a:r>
              <a:rPr lang="en-US" dirty="0" smtClean="0"/>
              <a:t>Smear</a:t>
            </a:r>
          </a:p>
          <a:p>
            <a:r>
              <a:rPr lang="en-US" dirty="0" smtClean="0"/>
              <a:t>Staining. </a:t>
            </a:r>
            <a:endParaRPr lang="en-US" dirty="0"/>
          </a:p>
          <a:p>
            <a:r>
              <a:rPr lang="en-US" dirty="0"/>
              <a:t>Gram stain</a:t>
            </a:r>
          </a:p>
          <a:p>
            <a:r>
              <a:rPr lang="en-US" dirty="0"/>
              <a:t>Acid-fast stain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7237769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057" y="1030778"/>
            <a:ext cx="8040914" cy="1188426"/>
          </a:xfrm>
        </p:spPr>
        <p:txBody>
          <a:bodyPr/>
          <a:lstStyle/>
          <a:p>
            <a:r>
              <a:rPr lang="en-US" sz="4000" dirty="0"/>
              <a:t>Common techniques for identifying microorganism </a:t>
            </a:r>
            <a:r>
              <a:rPr lang="en-US" sz="4000" dirty="0" smtClean="0"/>
              <a:t>cont’d…</a:t>
            </a:r>
            <a:endParaRPr lang="en-US" sz="40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Plating and culture</a:t>
            </a:r>
          </a:p>
          <a:p>
            <a:r>
              <a:rPr lang="en-US" dirty="0"/>
              <a:t>Antimicrobial susceptibility testing (AST): </a:t>
            </a:r>
          </a:p>
          <a:p>
            <a:r>
              <a:rPr lang="en-US" dirty="0" smtClean="0"/>
              <a:t>An </a:t>
            </a:r>
            <a:r>
              <a:rPr lang="en-US" dirty="0" err="1"/>
              <a:t>antibiogram</a:t>
            </a:r>
            <a:r>
              <a:rPr lang="en-US" dirty="0"/>
              <a:t> </a:t>
            </a:r>
          </a:p>
          <a:p>
            <a:r>
              <a:rPr lang="en-US" dirty="0"/>
              <a:t>Immunology/serologic testing</a:t>
            </a:r>
          </a:p>
          <a:p>
            <a:r>
              <a:rPr lang="en-US" dirty="0"/>
              <a:t>Molecular diagnostic methods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5913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696686" y="1117601"/>
            <a:ext cx="7750628" cy="2346328"/>
          </a:xfrm>
        </p:spPr>
        <p:txBody>
          <a:bodyPr>
            <a:noAutofit/>
          </a:bodyPr>
          <a:lstStyle/>
          <a:p>
            <a:r>
              <a:rPr lang="en-US" b="1" dirty="0">
                <a:cs typeface="Arial" panose="020B0604020202020204" pitchFamily="34" charset="0"/>
              </a:rPr>
              <a:t>PPP 2.6: </a:t>
            </a:r>
            <a:r>
              <a:rPr lang="en-US" b="1" dirty="0" smtClean="0">
                <a:cs typeface="Arial" panose="020B0604020202020204" pitchFamily="34" charset="0"/>
              </a:rPr>
              <a:t/>
            </a:r>
            <a:br>
              <a:rPr lang="en-US" b="1" dirty="0" smtClean="0">
                <a:cs typeface="Arial" panose="020B0604020202020204" pitchFamily="34" charset="0"/>
              </a:rPr>
            </a:br>
            <a:r>
              <a:rPr lang="en-US" b="1" dirty="0" smtClean="0">
                <a:cs typeface="Arial" panose="020B0604020202020204" pitchFamily="34" charset="0"/>
              </a:rPr>
              <a:t>Characteristics </a:t>
            </a:r>
            <a:r>
              <a:rPr lang="en-US" b="1" dirty="0">
                <a:cs typeface="Arial" panose="020B0604020202020204" pitchFamily="34" charset="0"/>
              </a:rPr>
              <a:t>of </a:t>
            </a:r>
            <a:r>
              <a:rPr lang="en-US" b="1" dirty="0" smtClean="0">
                <a:cs typeface="Arial" panose="020B0604020202020204" pitchFamily="34" charset="0"/>
              </a:rPr>
              <a:t>Microorganisms </a:t>
            </a:r>
            <a:r>
              <a:rPr lang="en-US" b="1" dirty="0">
                <a:cs typeface="Arial" panose="020B0604020202020204" pitchFamily="34" charset="0"/>
              </a:rPr>
              <a:t>of </a:t>
            </a:r>
            <a:r>
              <a:rPr lang="en-US" b="1" dirty="0" smtClean="0">
                <a:cs typeface="Arial" panose="020B0604020202020204" pitchFamily="34" charset="0"/>
              </a:rPr>
              <a:t>Interest </a:t>
            </a:r>
            <a:r>
              <a:rPr lang="en-US" b="1" dirty="0">
                <a:cs typeface="Arial" panose="020B0604020202020204" pitchFamily="34" charset="0"/>
              </a:rPr>
              <a:t>for </a:t>
            </a:r>
            <a:r>
              <a:rPr lang="en-US" b="1" dirty="0" smtClean="0">
                <a:cs typeface="Arial" panose="020B0604020202020204" pitchFamily="34" charset="0"/>
              </a:rPr>
              <a:t>Infection Prevention </a:t>
            </a:r>
            <a:r>
              <a:rPr lang="en-US" b="1" dirty="0">
                <a:cs typeface="Arial" panose="020B0604020202020204" pitchFamily="34" charset="0"/>
              </a:rPr>
              <a:t>and C</a:t>
            </a:r>
            <a:r>
              <a:rPr lang="en-US" b="1" dirty="0" smtClean="0">
                <a:cs typeface="Arial" panose="020B0604020202020204" pitchFamily="34" charset="0"/>
              </a:rPr>
              <a:t>ontrol</a:t>
            </a:r>
            <a:endParaRPr lang="en-US" b="1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3380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0571" y="957943"/>
            <a:ext cx="7982858" cy="1364343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sz="3600" b="1" dirty="0" smtClean="0"/>
              <a:t>Characteristics </a:t>
            </a:r>
            <a:r>
              <a:rPr lang="en-US" sz="3600" b="1" dirty="0"/>
              <a:t>of Organisms Commonly Associated with Health Care-Associated </a:t>
            </a:r>
            <a:r>
              <a:rPr lang="en-US" sz="3600" b="1" dirty="0" smtClean="0"/>
              <a:t>Infections (HAIs)</a:t>
            </a:r>
            <a:r>
              <a:rPr lang="en-US" sz="3600" dirty="0"/>
              <a:t/>
            </a:r>
            <a:br>
              <a:rPr lang="en-US" sz="3600" dirty="0"/>
            </a:b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0252" y="2736445"/>
            <a:ext cx="7886700" cy="2787377"/>
          </a:xfrm>
        </p:spPr>
        <p:txBody>
          <a:bodyPr/>
          <a:lstStyle/>
          <a:p>
            <a:r>
              <a:rPr lang="en-US" dirty="0"/>
              <a:t> </a:t>
            </a:r>
            <a:r>
              <a:rPr lang="en-US" i="1" dirty="0"/>
              <a:t>Are able to survive on the hands of HCWs, </a:t>
            </a:r>
          </a:p>
          <a:p>
            <a:r>
              <a:rPr lang="en-US" i="1" dirty="0" smtClean="0"/>
              <a:t> </a:t>
            </a:r>
            <a:r>
              <a:rPr lang="en-US" i="1" dirty="0"/>
              <a:t>Can survive dryness, heat, and disinfectants </a:t>
            </a:r>
          </a:p>
          <a:p>
            <a:r>
              <a:rPr lang="en-US" i="1" dirty="0" smtClean="0"/>
              <a:t>  </a:t>
            </a:r>
            <a:r>
              <a:rPr lang="en-US" i="1" dirty="0"/>
              <a:t>Live in blood and body fluids </a:t>
            </a:r>
          </a:p>
          <a:p>
            <a:r>
              <a:rPr lang="en-US" i="1" dirty="0"/>
              <a:t> </a:t>
            </a:r>
            <a:r>
              <a:rPr lang="en-US" i="1" dirty="0" smtClean="0"/>
              <a:t>Thrive </a:t>
            </a:r>
            <a:r>
              <a:rPr lang="en-US" i="1" dirty="0"/>
              <a:t>in damp areas</a:t>
            </a:r>
          </a:p>
        </p:txBody>
      </p:sp>
    </p:spTree>
    <p:extLst>
      <p:ext uri="{BB962C8B-B14F-4D97-AF65-F5344CB8AC3E}">
        <p14:creationId xmlns:p14="http://schemas.microsoft.com/office/powerpoint/2010/main" val="389285812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Characteristics of Organisms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 smtClean="0"/>
              <a:t>   Colonize </a:t>
            </a:r>
            <a:r>
              <a:rPr lang="en-US" i="1" dirty="0"/>
              <a:t>patients and staff, </a:t>
            </a:r>
            <a:endParaRPr lang="en-US" dirty="0"/>
          </a:p>
          <a:p>
            <a:r>
              <a:rPr lang="en-US" i="1" dirty="0"/>
              <a:t>   </a:t>
            </a:r>
            <a:r>
              <a:rPr lang="en-US" i="1" dirty="0" smtClean="0"/>
              <a:t> </a:t>
            </a:r>
            <a:r>
              <a:rPr lang="en-US" i="1" dirty="0"/>
              <a:t>Are small in size </a:t>
            </a:r>
            <a:endParaRPr lang="en-US" dirty="0"/>
          </a:p>
          <a:p>
            <a:r>
              <a:rPr lang="en-US" i="1" dirty="0"/>
              <a:t> </a:t>
            </a:r>
            <a:r>
              <a:rPr lang="en-US" i="1" dirty="0" smtClean="0"/>
              <a:t>  Able </a:t>
            </a:r>
            <a:r>
              <a:rPr lang="en-US" i="1" dirty="0"/>
              <a:t>to float long distances on air currents </a:t>
            </a:r>
            <a:endParaRPr lang="en-US" dirty="0"/>
          </a:p>
          <a:p>
            <a:r>
              <a:rPr lang="en-US" i="1" dirty="0"/>
              <a:t>   </a:t>
            </a:r>
            <a:r>
              <a:rPr lang="en-US" i="1" dirty="0" smtClean="0"/>
              <a:t>Are </a:t>
            </a:r>
            <a:r>
              <a:rPr lang="en-US" i="1" dirty="0"/>
              <a:t>resistant to antimicrobials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91421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/>
            </a:r>
            <a:br>
              <a:rPr lang="en-US" b="1" dirty="0" smtClean="0"/>
            </a:br>
            <a:r>
              <a:rPr lang="en-US" b="1" dirty="0" smtClean="0"/>
              <a:t>Potential </a:t>
            </a:r>
            <a:r>
              <a:rPr lang="en-US" b="1" dirty="0"/>
              <a:t>Microbial Agents of Bioterrorism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 smtClean="0"/>
          </a:p>
          <a:p>
            <a:r>
              <a:rPr lang="en-US" dirty="0" smtClean="0"/>
              <a:t>Bacteria</a:t>
            </a:r>
            <a:r>
              <a:rPr lang="en-US" dirty="0"/>
              <a:t>, viruses, and toxins could all be potentially used as agents of bioterrorism</a:t>
            </a:r>
          </a:p>
        </p:txBody>
      </p:sp>
    </p:spTree>
    <p:extLst>
      <p:ext uri="{BB962C8B-B14F-4D97-AF65-F5344CB8AC3E}">
        <p14:creationId xmlns:p14="http://schemas.microsoft.com/office/powerpoint/2010/main" val="13563874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74054" y="972456"/>
            <a:ext cx="7126515" cy="1248229"/>
          </a:xfrm>
        </p:spPr>
        <p:txBody>
          <a:bodyPr>
            <a:noAutofit/>
          </a:bodyPr>
          <a:lstStyle/>
          <a:p>
            <a:r>
              <a:rPr kumimoji="0" lang="en-US" sz="36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Agents That Can Be Used for Bioterrorism </a:t>
            </a:r>
            <a:endParaRPr lang="en-US" sz="3600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921685932"/>
              </p:ext>
            </p:extLst>
          </p:nvPr>
        </p:nvGraphicFramePr>
        <p:xfrm>
          <a:off x="1683657" y="2525484"/>
          <a:ext cx="5965372" cy="3137408"/>
        </p:xfrm>
        <a:graphic>
          <a:graphicData uri="http://schemas.openxmlformats.org/drawingml/2006/table">
            <a:tbl>
              <a:tblPr firstRow="1" firstCol="1" bandRow="1">
                <a:tableStyleId>{69012ECD-51FC-41F1-AA8D-1B2483CD663E}</a:tableStyleId>
              </a:tblPr>
              <a:tblGrid>
                <a:gridCol w="2699657"/>
                <a:gridCol w="3265715"/>
              </a:tblGrid>
              <a:tr h="24486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</a:rPr>
                        <a:t>Disease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</a:rPr>
                        <a:t>Microorganism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</a:tr>
              <a:tr h="2448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</a:rPr>
                        <a:t>Anthrax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</a:rPr>
                        <a:t>Bacillus </a:t>
                      </a:r>
                      <a:r>
                        <a:rPr lang="en-US" sz="2000" dirty="0" err="1">
                          <a:effectLst/>
                        </a:rPr>
                        <a:t>anthracis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</a:tr>
              <a:tr h="2448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</a:rPr>
                        <a:t>Botulism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</a:rPr>
                        <a:t>Clostridium botulism toxin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</a:tr>
              <a:tr h="2448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</a:rPr>
                        <a:t>Plague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</a:rPr>
                        <a:t>Yersinia </a:t>
                      </a:r>
                      <a:r>
                        <a:rPr lang="en-US" sz="2000" dirty="0" err="1">
                          <a:effectLst/>
                        </a:rPr>
                        <a:t>pestis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</a:tr>
              <a:tr h="2448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</a:rPr>
                        <a:t>Smallpox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 err="1">
                          <a:effectLst/>
                        </a:rPr>
                        <a:t>Variola</a:t>
                      </a:r>
                      <a:r>
                        <a:rPr lang="en-US" sz="2000" dirty="0">
                          <a:effectLst/>
                        </a:rPr>
                        <a:t> major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</a:tr>
              <a:tr h="244860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>
                          <a:effectLst/>
                        </a:rPr>
                        <a:t>Tularemia 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000"/>
                        </a:spcAft>
                      </a:pPr>
                      <a:r>
                        <a:rPr lang="en-US" sz="2000" dirty="0" err="1">
                          <a:effectLst/>
                        </a:rPr>
                        <a:t>Francisella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tularensis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</a:tr>
              <a:tr h="63541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smtClean="0">
                          <a:effectLst/>
                        </a:rPr>
                        <a:t>Viral </a:t>
                      </a:r>
                      <a:r>
                        <a:rPr lang="en-US" sz="2000" dirty="0">
                          <a:effectLst/>
                        </a:rPr>
                        <a:t>hemorrhagic fever (Ebola, </a:t>
                      </a:r>
                      <a:r>
                        <a:rPr lang="en-US" sz="2000" dirty="0" err="1" smtClean="0">
                          <a:effectLst/>
                        </a:rPr>
                        <a:t>Marburg,Lassa</a:t>
                      </a:r>
                      <a:r>
                        <a:rPr lang="en-US" sz="2000" dirty="0">
                          <a:effectLst/>
                        </a:rPr>
                        <a:t>, </a:t>
                      </a:r>
                      <a:r>
                        <a:rPr lang="en-US" sz="2000" dirty="0" err="1">
                          <a:effectLst/>
                        </a:rPr>
                        <a:t>Machupo</a:t>
                      </a:r>
                      <a:r>
                        <a:rPr lang="en-US" sz="2000" dirty="0">
                          <a:effectLst/>
                        </a:rPr>
                        <a:t>) </a:t>
                      </a:r>
                      <a:endParaRPr lang="en-US" sz="2000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Filoviruses</a:t>
                      </a:r>
                      <a:r>
                        <a:rPr lang="en-US" sz="2000" dirty="0">
                          <a:effectLst/>
                        </a:rPr>
                        <a:t> and </a:t>
                      </a:r>
                      <a:r>
                        <a:rPr lang="en-US" sz="2000" dirty="0" err="1">
                          <a:effectLst/>
                        </a:rPr>
                        <a:t>arenaviruses</a:t>
                      </a:r>
                      <a:endParaRPr lang="en-US" sz="2000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1435" marR="51435" marT="0" marB="0"/>
                </a:tc>
              </a:tr>
            </a:tbl>
          </a:graphicData>
        </a:graphic>
      </p:graphicFrame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0" y="90102"/>
            <a:ext cx="235962" cy="2769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2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42714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S</a:t>
            </a:r>
            <a:r>
              <a:rPr lang="en-US" b="1" dirty="0" smtClean="0"/>
              <a:t>ummary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0" algn="just"/>
            <a:r>
              <a:rPr lang="en-US" dirty="0" smtClean="0"/>
              <a:t>Remind </a:t>
            </a:r>
            <a:r>
              <a:rPr lang="en-US" dirty="0"/>
              <a:t>participants the learning objectives of the chapter using the PPP </a:t>
            </a:r>
          </a:p>
          <a:p>
            <a:pPr lvl="0" algn="just"/>
            <a:r>
              <a:rPr lang="en-US" dirty="0"/>
              <a:t>Ask the participants if they have questions related to the chapter.</a:t>
            </a:r>
          </a:p>
          <a:p>
            <a:pPr lvl="0" algn="just"/>
            <a:r>
              <a:rPr lang="en-US" dirty="0"/>
              <a:t>Summarize the module by presenting the summary points of the chapter from the PPP.</a:t>
            </a:r>
          </a:p>
          <a:p>
            <a:pPr algn="just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3834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Theme5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resentation1" id="{FF8D033B-E2B8-2549-8206-D2592AE46FED}" vid="{E3C3ECE2-B6B8-A844-8217-32346E25080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Theme5</Template>
  <TotalTime>178</TotalTime>
  <Words>657</Words>
  <Application>Microsoft Office PowerPoint</Application>
  <PresentationFormat>On-screen Show (4:3)</PresentationFormat>
  <Paragraphs>106</Paragraphs>
  <Slides>24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Theme5</vt:lpstr>
      <vt:lpstr>     Volume 1_Section 1  Chapter 2: Basic Microbiology </vt:lpstr>
      <vt:lpstr>  Chapter Outline  </vt:lpstr>
      <vt:lpstr>  Learning Objective</vt:lpstr>
      <vt:lpstr>PPP 2.1: Basic futures of Microorganism</vt:lpstr>
      <vt:lpstr> Overview  </vt:lpstr>
      <vt:lpstr> Features of Microorganisms </vt:lpstr>
      <vt:lpstr>PPP 2.2:  Classifications and Identification of Microorganisms</vt:lpstr>
      <vt:lpstr>Classifications and Identification of Microorganisms </vt:lpstr>
      <vt:lpstr> Bacteria </vt:lpstr>
      <vt:lpstr>PPP 2.3:  How microbes cause disease</vt:lpstr>
      <vt:lpstr>Microbial Pathogenesis</vt:lpstr>
      <vt:lpstr> Infection </vt:lpstr>
      <vt:lpstr> Sources of Microorganisms in the health care facilities </vt:lpstr>
      <vt:lpstr>    PPP 2.4:  Specimen Collection and Transport </vt:lpstr>
      <vt:lpstr>Specimen collection and transport </vt:lpstr>
      <vt:lpstr>PPP 2.5:  Common techniques for identifying microorganisms</vt:lpstr>
      <vt:lpstr>Common techniques for identifying microorganism </vt:lpstr>
      <vt:lpstr>Common techniques for identifying microorganism cont’d…</vt:lpstr>
      <vt:lpstr>PPP 2.6:  Characteristics of Microorganisms of Interest for Infection Prevention and Control</vt:lpstr>
      <vt:lpstr>  Characteristics of Organisms Commonly Associated with Health Care-Associated Infections (HAIs)  </vt:lpstr>
      <vt:lpstr>Characteristics of Organisms</vt:lpstr>
      <vt:lpstr> Potential Microbial Agents of Bioterrorism </vt:lpstr>
      <vt:lpstr>Agents That Can Be Used for Bioterrorism </vt:lpstr>
      <vt:lpstr> Summary 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VOL2: Infection Prevention and Control and Patient Safety for Health Care Settings in Ethiopia</dc:title>
  <dc:creator>yayene Tad</dc:creator>
  <cp:lastModifiedBy>user</cp:lastModifiedBy>
  <cp:revision>25</cp:revision>
  <dcterms:created xsi:type="dcterms:W3CDTF">2018-12-10T05:57:09Z</dcterms:created>
  <dcterms:modified xsi:type="dcterms:W3CDTF">2018-12-22T09:18:05Z</dcterms:modified>
</cp:coreProperties>
</file>