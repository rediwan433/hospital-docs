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83" r:id="rId12"/>
    <p:sldId id="269" r:id="rId13"/>
    <p:sldId id="270" r:id="rId14"/>
    <p:sldId id="267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4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>
        <p:scale>
          <a:sx n="76" d="100"/>
          <a:sy n="76" d="100"/>
        </p:scale>
        <p:origin x="-49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D1719E-AD6D-47A8-B0EB-C3300B5BD765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C59FDC-4388-4C43-8A32-258851429EE5}">
      <dgm:prSet phldrT="[Text]"/>
      <dgm:spPr>
        <a:solidFill>
          <a:srgbClr val="0070C0"/>
        </a:solidFill>
      </dgm:spPr>
      <dgm:t>
        <a:bodyPr/>
        <a:lstStyle/>
        <a:p>
          <a:r>
            <a:rPr lang="en-US" b="1" dirty="0" smtClean="0"/>
            <a:t>Act</a:t>
          </a:r>
          <a:endParaRPr lang="en-US" b="1" dirty="0"/>
        </a:p>
      </dgm:t>
    </dgm:pt>
    <dgm:pt modelId="{7D76C9F9-B2D1-49CA-80C8-77EF0935B738}" type="parTrans" cxnId="{B73A9705-DD3F-4657-ACB5-FDBC24E40BE0}">
      <dgm:prSet/>
      <dgm:spPr/>
      <dgm:t>
        <a:bodyPr/>
        <a:lstStyle/>
        <a:p>
          <a:endParaRPr lang="en-US"/>
        </a:p>
      </dgm:t>
    </dgm:pt>
    <dgm:pt modelId="{F197EF26-01A3-414A-AF31-C3B3A39DBC45}" type="sibTrans" cxnId="{B73A9705-DD3F-4657-ACB5-FDBC24E40BE0}">
      <dgm:prSet/>
      <dgm:spPr/>
      <dgm:t>
        <a:bodyPr/>
        <a:lstStyle/>
        <a:p>
          <a:endParaRPr lang="en-US"/>
        </a:p>
      </dgm:t>
    </dgm:pt>
    <dgm:pt modelId="{44216738-468C-451D-894C-B26CB3E037AF}">
      <dgm:prSet phldrT="[Text]" custT="1"/>
      <dgm:spPr/>
      <dgm:t>
        <a:bodyPr/>
        <a:lstStyle/>
        <a:p>
          <a:pPr algn="just"/>
          <a:r>
            <a:rPr lang="en-US" sz="2000" dirty="0" smtClean="0"/>
            <a:t>What changes are to be made on the next cycle </a:t>
          </a:r>
          <a:endParaRPr lang="en-US" sz="2000" dirty="0"/>
        </a:p>
      </dgm:t>
    </dgm:pt>
    <dgm:pt modelId="{314E3099-89F8-475E-A768-EF724826A703}" type="parTrans" cxnId="{F089119F-651C-4682-A727-C7C250A2C859}">
      <dgm:prSet/>
      <dgm:spPr/>
      <dgm:t>
        <a:bodyPr/>
        <a:lstStyle/>
        <a:p>
          <a:endParaRPr lang="en-US"/>
        </a:p>
      </dgm:t>
    </dgm:pt>
    <dgm:pt modelId="{BDA4D954-965B-4F3B-AEDD-DBCEF1EEBBE2}" type="sibTrans" cxnId="{F089119F-651C-4682-A727-C7C250A2C859}">
      <dgm:prSet/>
      <dgm:spPr/>
      <dgm:t>
        <a:bodyPr/>
        <a:lstStyle/>
        <a:p>
          <a:endParaRPr lang="en-US"/>
        </a:p>
      </dgm:t>
    </dgm:pt>
    <dgm:pt modelId="{08DCB3CB-837F-4D58-A963-74F7AC08B1B6}">
      <dgm:prSet phldrT="[Text]"/>
      <dgm:spPr>
        <a:solidFill>
          <a:schemeClr val="accent6"/>
        </a:solidFill>
      </dgm:spPr>
      <dgm:t>
        <a:bodyPr/>
        <a:lstStyle/>
        <a:p>
          <a:r>
            <a:rPr lang="en-US" b="1" dirty="0" smtClean="0"/>
            <a:t>Plan</a:t>
          </a:r>
          <a:endParaRPr lang="en-US" b="1" dirty="0"/>
        </a:p>
      </dgm:t>
    </dgm:pt>
    <dgm:pt modelId="{DDAE7289-3169-4356-9D98-0D93995F9A4A}" type="parTrans" cxnId="{24363263-3D8C-4969-9A3A-D3CCAA66F99F}">
      <dgm:prSet/>
      <dgm:spPr/>
      <dgm:t>
        <a:bodyPr/>
        <a:lstStyle/>
        <a:p>
          <a:endParaRPr lang="en-US"/>
        </a:p>
      </dgm:t>
    </dgm:pt>
    <dgm:pt modelId="{E3AA15E5-E294-4D13-AD94-E28358058C8E}" type="sibTrans" cxnId="{24363263-3D8C-4969-9A3A-D3CCAA66F99F}">
      <dgm:prSet/>
      <dgm:spPr/>
      <dgm:t>
        <a:bodyPr/>
        <a:lstStyle/>
        <a:p>
          <a:endParaRPr lang="en-US"/>
        </a:p>
      </dgm:t>
    </dgm:pt>
    <dgm:pt modelId="{D17F4AC5-D350-4731-9B69-498F294ADFEA}">
      <dgm:prSet phldrT="[Text]" custT="1"/>
      <dgm:spPr/>
      <dgm:t>
        <a:bodyPr/>
        <a:lstStyle/>
        <a:p>
          <a:r>
            <a:rPr lang="en-US" sz="1600" dirty="0" smtClean="0"/>
            <a:t>Objective</a:t>
          </a:r>
          <a:endParaRPr lang="en-US" sz="1600" dirty="0"/>
        </a:p>
      </dgm:t>
    </dgm:pt>
    <dgm:pt modelId="{00AEBE58-4798-402B-B023-DD4BBDDE6112}" type="parTrans" cxnId="{817CB4C0-6764-4E10-9A14-90C2861E1442}">
      <dgm:prSet/>
      <dgm:spPr/>
      <dgm:t>
        <a:bodyPr/>
        <a:lstStyle/>
        <a:p>
          <a:endParaRPr lang="en-US"/>
        </a:p>
      </dgm:t>
    </dgm:pt>
    <dgm:pt modelId="{3F2BCA67-3163-49E3-8B8F-38F9B4465912}" type="sibTrans" cxnId="{817CB4C0-6764-4E10-9A14-90C2861E1442}">
      <dgm:prSet/>
      <dgm:spPr/>
      <dgm:t>
        <a:bodyPr/>
        <a:lstStyle/>
        <a:p>
          <a:endParaRPr lang="en-US"/>
        </a:p>
      </dgm:t>
    </dgm:pt>
    <dgm:pt modelId="{F3E32C27-2352-49C3-AD71-6B72B031766F}">
      <dgm:prSet phldrT="[Text]"/>
      <dgm:spPr/>
      <dgm:t>
        <a:bodyPr/>
        <a:lstStyle/>
        <a:p>
          <a:r>
            <a:rPr lang="en-US" b="1" dirty="0" smtClean="0"/>
            <a:t>Do</a:t>
          </a:r>
          <a:endParaRPr lang="en-US" b="1" dirty="0"/>
        </a:p>
      </dgm:t>
    </dgm:pt>
    <dgm:pt modelId="{6FD76BEF-C499-4495-AD4C-F947E6FD2E08}" type="parTrans" cxnId="{5CE9F0A4-6E28-475B-B9BF-F021261BAA08}">
      <dgm:prSet/>
      <dgm:spPr/>
      <dgm:t>
        <a:bodyPr/>
        <a:lstStyle/>
        <a:p>
          <a:endParaRPr lang="en-US"/>
        </a:p>
      </dgm:t>
    </dgm:pt>
    <dgm:pt modelId="{C8162CC3-9A3E-49A2-92AC-F8F8791B8F00}" type="sibTrans" cxnId="{5CE9F0A4-6E28-475B-B9BF-F021261BAA08}">
      <dgm:prSet/>
      <dgm:spPr/>
      <dgm:t>
        <a:bodyPr/>
        <a:lstStyle/>
        <a:p>
          <a:endParaRPr lang="en-US"/>
        </a:p>
      </dgm:t>
    </dgm:pt>
    <dgm:pt modelId="{4E4FC7E9-2C87-47B0-A443-1AAF49D99A75}">
      <dgm:prSet phldrT="[Text]" custT="1"/>
      <dgm:spPr/>
      <dgm:t>
        <a:bodyPr/>
        <a:lstStyle/>
        <a:p>
          <a:pPr marL="0"/>
          <a:r>
            <a:rPr lang="en-US" sz="1800" dirty="0" smtClean="0"/>
            <a:t>Carry out the plan</a:t>
          </a:r>
          <a:endParaRPr lang="en-US" sz="1800" dirty="0"/>
        </a:p>
      </dgm:t>
    </dgm:pt>
    <dgm:pt modelId="{1EA83BCE-ABCE-4ADB-AF9A-D1AC72509802}" type="parTrans" cxnId="{8420AFD9-B045-4C74-9150-1A0B4BD0BB4D}">
      <dgm:prSet/>
      <dgm:spPr/>
      <dgm:t>
        <a:bodyPr/>
        <a:lstStyle/>
        <a:p>
          <a:endParaRPr lang="en-US"/>
        </a:p>
      </dgm:t>
    </dgm:pt>
    <dgm:pt modelId="{7D0BFA46-1419-4111-8BEF-08E90B0791E9}" type="sibTrans" cxnId="{8420AFD9-B045-4C74-9150-1A0B4BD0BB4D}">
      <dgm:prSet/>
      <dgm:spPr/>
      <dgm:t>
        <a:bodyPr/>
        <a:lstStyle/>
        <a:p>
          <a:endParaRPr lang="en-US"/>
        </a:p>
      </dgm:t>
    </dgm:pt>
    <dgm:pt modelId="{140D1832-C663-4425-8F83-BFEB6BB57354}">
      <dgm:prSet phldrT="[Text]"/>
      <dgm:spPr>
        <a:solidFill>
          <a:srgbClr val="7030A0"/>
        </a:solidFill>
      </dgm:spPr>
      <dgm:t>
        <a:bodyPr/>
        <a:lstStyle/>
        <a:p>
          <a:r>
            <a:rPr lang="en-US" b="1" dirty="0" smtClean="0"/>
            <a:t>Study</a:t>
          </a:r>
          <a:endParaRPr lang="en-US" b="1" dirty="0"/>
        </a:p>
      </dgm:t>
    </dgm:pt>
    <dgm:pt modelId="{2AE2C27E-7B2C-4FA7-99D9-A35033DB82BA}" type="parTrans" cxnId="{4D57609D-8683-40A6-B1C8-1BD48CDE970B}">
      <dgm:prSet/>
      <dgm:spPr/>
      <dgm:t>
        <a:bodyPr/>
        <a:lstStyle/>
        <a:p>
          <a:endParaRPr lang="en-US"/>
        </a:p>
      </dgm:t>
    </dgm:pt>
    <dgm:pt modelId="{4DCD40A1-6118-47B2-9D40-3FCD1E45C818}" type="sibTrans" cxnId="{4D57609D-8683-40A6-B1C8-1BD48CDE970B}">
      <dgm:prSet/>
      <dgm:spPr/>
      <dgm:t>
        <a:bodyPr/>
        <a:lstStyle/>
        <a:p>
          <a:endParaRPr lang="en-US"/>
        </a:p>
      </dgm:t>
    </dgm:pt>
    <dgm:pt modelId="{80B711FF-FEC4-4FF0-8B3B-FD534277B5C0}">
      <dgm:prSet phldrT="[Text]" custT="1"/>
      <dgm:spPr/>
      <dgm:t>
        <a:bodyPr/>
        <a:lstStyle/>
        <a:p>
          <a:r>
            <a:rPr lang="en-US" sz="1800" dirty="0" smtClean="0"/>
            <a:t>Complete the Data Analysis</a:t>
          </a:r>
          <a:endParaRPr lang="en-US" sz="1800" dirty="0"/>
        </a:p>
      </dgm:t>
    </dgm:pt>
    <dgm:pt modelId="{FA29AA2D-05BB-4053-B024-8A9F49C48C59}" type="parTrans" cxnId="{03615B54-13F1-4DBB-8390-74D411BE9D63}">
      <dgm:prSet/>
      <dgm:spPr/>
      <dgm:t>
        <a:bodyPr/>
        <a:lstStyle/>
        <a:p>
          <a:endParaRPr lang="en-US"/>
        </a:p>
      </dgm:t>
    </dgm:pt>
    <dgm:pt modelId="{0770D1FE-B258-4FF6-91F1-E51998DAA43D}" type="sibTrans" cxnId="{03615B54-13F1-4DBB-8390-74D411BE9D63}">
      <dgm:prSet/>
      <dgm:spPr/>
      <dgm:t>
        <a:bodyPr/>
        <a:lstStyle/>
        <a:p>
          <a:endParaRPr lang="en-US"/>
        </a:p>
      </dgm:t>
    </dgm:pt>
    <dgm:pt modelId="{07654D79-3570-4A82-97FE-378769BE59DE}">
      <dgm:prSet phldrT="[Text]" custT="1"/>
      <dgm:spPr/>
      <dgm:t>
        <a:bodyPr/>
        <a:lstStyle/>
        <a:p>
          <a:r>
            <a:rPr lang="en-US" sz="1600" dirty="0" smtClean="0"/>
            <a:t>Question and Predictions</a:t>
          </a:r>
          <a:endParaRPr lang="en-US" sz="1600" dirty="0"/>
        </a:p>
      </dgm:t>
    </dgm:pt>
    <dgm:pt modelId="{A3BF46EB-54F1-4383-8855-26529C7B8A88}" type="parTrans" cxnId="{7E269149-2ABE-4CB7-9483-91254B9BBD06}">
      <dgm:prSet/>
      <dgm:spPr/>
      <dgm:t>
        <a:bodyPr/>
        <a:lstStyle/>
        <a:p>
          <a:endParaRPr lang="en-US"/>
        </a:p>
      </dgm:t>
    </dgm:pt>
    <dgm:pt modelId="{2806F5F5-95B1-40CB-B1F1-12245159726B}" type="sibTrans" cxnId="{7E269149-2ABE-4CB7-9483-91254B9BBD06}">
      <dgm:prSet/>
      <dgm:spPr/>
      <dgm:t>
        <a:bodyPr/>
        <a:lstStyle/>
        <a:p>
          <a:endParaRPr lang="en-US"/>
        </a:p>
      </dgm:t>
    </dgm:pt>
    <dgm:pt modelId="{C72B4626-4695-4F7F-940B-9A2DAC91EB95}">
      <dgm:prSet phldrT="[Text]" custT="1"/>
      <dgm:spPr/>
      <dgm:t>
        <a:bodyPr/>
        <a:lstStyle/>
        <a:p>
          <a:r>
            <a:rPr lang="en-US" sz="1600" dirty="0" smtClean="0"/>
            <a:t>Plan to carry out the cycle (Who, What, Where, When)</a:t>
          </a:r>
          <a:endParaRPr lang="en-US" sz="1600" dirty="0"/>
        </a:p>
      </dgm:t>
    </dgm:pt>
    <dgm:pt modelId="{C884A804-9CCD-4978-807D-842CF421F756}" type="parTrans" cxnId="{4EBB1535-F6B7-4A95-A1CF-8D1757E6E369}">
      <dgm:prSet/>
      <dgm:spPr/>
      <dgm:t>
        <a:bodyPr/>
        <a:lstStyle/>
        <a:p>
          <a:endParaRPr lang="en-US"/>
        </a:p>
      </dgm:t>
    </dgm:pt>
    <dgm:pt modelId="{40FE3DFE-7107-4A1C-9D50-D16771820486}" type="sibTrans" cxnId="{4EBB1535-F6B7-4A95-A1CF-8D1757E6E369}">
      <dgm:prSet/>
      <dgm:spPr/>
      <dgm:t>
        <a:bodyPr/>
        <a:lstStyle/>
        <a:p>
          <a:endParaRPr lang="en-US"/>
        </a:p>
      </dgm:t>
    </dgm:pt>
    <dgm:pt modelId="{87DB2667-7DFB-472F-B40B-EB606D702DC2}">
      <dgm:prSet phldrT="[Text]" custT="1"/>
      <dgm:spPr/>
      <dgm:t>
        <a:bodyPr/>
        <a:lstStyle/>
        <a:p>
          <a:pPr marL="171450"/>
          <a:r>
            <a:rPr lang="en-US" sz="1800" dirty="0" smtClean="0"/>
            <a:t>Document Problem and Unexpected Observation</a:t>
          </a:r>
          <a:endParaRPr lang="en-US" sz="1800" dirty="0"/>
        </a:p>
      </dgm:t>
    </dgm:pt>
    <dgm:pt modelId="{C2E90C9E-220D-408B-A536-F07527AAB203}" type="parTrans" cxnId="{8B75EE01-B3A0-425B-8FA7-0602CC3D25BC}">
      <dgm:prSet/>
      <dgm:spPr/>
      <dgm:t>
        <a:bodyPr/>
        <a:lstStyle/>
        <a:p>
          <a:endParaRPr lang="en-US"/>
        </a:p>
      </dgm:t>
    </dgm:pt>
    <dgm:pt modelId="{CABBD3D8-4FB1-4C3A-A925-9930959866A4}" type="sibTrans" cxnId="{8B75EE01-B3A0-425B-8FA7-0602CC3D25BC}">
      <dgm:prSet/>
      <dgm:spPr/>
      <dgm:t>
        <a:bodyPr/>
        <a:lstStyle/>
        <a:p>
          <a:endParaRPr lang="en-US"/>
        </a:p>
      </dgm:t>
    </dgm:pt>
    <dgm:pt modelId="{C5480B95-FDA4-4C61-8FAA-9BCD6780B594}">
      <dgm:prSet phldrT="[Text]" custT="1"/>
      <dgm:spPr/>
      <dgm:t>
        <a:bodyPr/>
        <a:lstStyle/>
        <a:p>
          <a:pPr marL="171450"/>
          <a:r>
            <a:rPr lang="en-US" sz="1800" dirty="0" smtClean="0"/>
            <a:t>Begin Data Analysis</a:t>
          </a:r>
          <a:endParaRPr lang="en-US" sz="1800" dirty="0"/>
        </a:p>
      </dgm:t>
    </dgm:pt>
    <dgm:pt modelId="{EA7A9F57-B452-492D-B51A-4B503B2E2EA5}" type="parTrans" cxnId="{DDC9ECE2-45FF-404E-985B-74A1D2DBBDA5}">
      <dgm:prSet/>
      <dgm:spPr/>
      <dgm:t>
        <a:bodyPr/>
        <a:lstStyle/>
        <a:p>
          <a:endParaRPr lang="en-US"/>
        </a:p>
      </dgm:t>
    </dgm:pt>
    <dgm:pt modelId="{82147344-17AD-4203-8E3B-96F0A9DD4DA6}" type="sibTrans" cxnId="{DDC9ECE2-45FF-404E-985B-74A1D2DBBDA5}">
      <dgm:prSet/>
      <dgm:spPr/>
      <dgm:t>
        <a:bodyPr/>
        <a:lstStyle/>
        <a:p>
          <a:endParaRPr lang="en-US"/>
        </a:p>
      </dgm:t>
    </dgm:pt>
    <dgm:pt modelId="{A90444EC-2A8D-4035-A2D1-BA0A6C98EE80}">
      <dgm:prSet phldrT="[Text]" custT="1"/>
      <dgm:spPr/>
      <dgm:t>
        <a:bodyPr/>
        <a:lstStyle/>
        <a:p>
          <a:r>
            <a:rPr lang="en-US" sz="1800" dirty="0" smtClean="0"/>
            <a:t>Compare Data to Predictions</a:t>
          </a:r>
          <a:endParaRPr lang="en-US" sz="1800" dirty="0"/>
        </a:p>
      </dgm:t>
    </dgm:pt>
    <dgm:pt modelId="{A5C019ED-3C91-4B3E-9DD0-046E7A4AD16D}" type="parTrans" cxnId="{2CB5765B-93FC-458E-8B55-5E2AC7EB2713}">
      <dgm:prSet/>
      <dgm:spPr/>
      <dgm:t>
        <a:bodyPr/>
        <a:lstStyle/>
        <a:p>
          <a:endParaRPr lang="en-US"/>
        </a:p>
      </dgm:t>
    </dgm:pt>
    <dgm:pt modelId="{DDAEE4EB-2106-4989-98D5-312985E76871}" type="sibTrans" cxnId="{2CB5765B-93FC-458E-8B55-5E2AC7EB2713}">
      <dgm:prSet/>
      <dgm:spPr/>
      <dgm:t>
        <a:bodyPr/>
        <a:lstStyle/>
        <a:p>
          <a:endParaRPr lang="en-US"/>
        </a:p>
      </dgm:t>
    </dgm:pt>
    <dgm:pt modelId="{735DA8BB-1078-4254-99B1-BBC1A078773A}">
      <dgm:prSet phldrT="[Text]" custT="1"/>
      <dgm:spPr/>
      <dgm:t>
        <a:bodyPr/>
        <a:lstStyle/>
        <a:p>
          <a:r>
            <a:rPr lang="en-US" sz="1800" dirty="0" smtClean="0"/>
            <a:t>Summarize What was Learned </a:t>
          </a:r>
          <a:endParaRPr lang="en-US" sz="1800" dirty="0"/>
        </a:p>
      </dgm:t>
    </dgm:pt>
    <dgm:pt modelId="{021F1825-A499-4270-A2AE-05FF1097428D}" type="parTrans" cxnId="{18AADD65-A807-4477-9247-AA0DE377C127}">
      <dgm:prSet/>
      <dgm:spPr/>
      <dgm:t>
        <a:bodyPr/>
        <a:lstStyle/>
        <a:p>
          <a:endParaRPr lang="en-US"/>
        </a:p>
      </dgm:t>
    </dgm:pt>
    <dgm:pt modelId="{DD14D4D2-E56B-460E-A3BC-BF4321912CEA}" type="sibTrans" cxnId="{18AADD65-A807-4477-9247-AA0DE377C127}">
      <dgm:prSet/>
      <dgm:spPr/>
      <dgm:t>
        <a:bodyPr/>
        <a:lstStyle/>
        <a:p>
          <a:endParaRPr lang="en-US"/>
        </a:p>
      </dgm:t>
    </dgm:pt>
    <dgm:pt modelId="{A2FD5DD2-532F-416D-A5C8-7C5217F95F41}" type="pres">
      <dgm:prSet presAssocID="{CAD1719E-AD6D-47A8-B0EB-C3300B5BD765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3EF0F77-0DE3-4EBF-8ADD-AAFEE758E764}" type="pres">
      <dgm:prSet presAssocID="{CAD1719E-AD6D-47A8-B0EB-C3300B5BD765}" presName="children" presStyleCnt="0"/>
      <dgm:spPr/>
    </dgm:pt>
    <dgm:pt modelId="{5B289430-077F-4F58-931E-843F9DD93120}" type="pres">
      <dgm:prSet presAssocID="{CAD1719E-AD6D-47A8-B0EB-C3300B5BD765}" presName="child1group" presStyleCnt="0"/>
      <dgm:spPr/>
    </dgm:pt>
    <dgm:pt modelId="{75B68010-AEBD-4533-853D-B3E01E4A6016}" type="pres">
      <dgm:prSet presAssocID="{CAD1719E-AD6D-47A8-B0EB-C3300B5BD765}" presName="child1" presStyleLbl="bgAcc1" presStyleIdx="0" presStyleCnt="4" custScaleX="165941" custLinFactNeighborX="-17332" custLinFactNeighborY="14047"/>
      <dgm:spPr/>
      <dgm:t>
        <a:bodyPr/>
        <a:lstStyle/>
        <a:p>
          <a:endParaRPr lang="en-US"/>
        </a:p>
      </dgm:t>
    </dgm:pt>
    <dgm:pt modelId="{5F504A1B-523A-453F-8FE6-0591CB0B0C5F}" type="pres">
      <dgm:prSet presAssocID="{CAD1719E-AD6D-47A8-B0EB-C3300B5BD765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F2908F-7BE6-4C8E-889E-2BE26717CB20}" type="pres">
      <dgm:prSet presAssocID="{CAD1719E-AD6D-47A8-B0EB-C3300B5BD765}" presName="child2group" presStyleCnt="0"/>
      <dgm:spPr/>
    </dgm:pt>
    <dgm:pt modelId="{E7786086-1719-4674-BF29-DE33E58E54D9}" type="pres">
      <dgm:prSet presAssocID="{CAD1719E-AD6D-47A8-B0EB-C3300B5BD765}" presName="child2" presStyleLbl="bgAcc1" presStyleIdx="1" presStyleCnt="4" custScaleX="220294" custScaleY="119050" custLinFactNeighborX="35114" custLinFactNeighborY="28094"/>
      <dgm:spPr/>
      <dgm:t>
        <a:bodyPr/>
        <a:lstStyle/>
        <a:p>
          <a:endParaRPr lang="en-US"/>
        </a:p>
      </dgm:t>
    </dgm:pt>
    <dgm:pt modelId="{48FD31BC-5031-4D71-B601-75630FBD636D}" type="pres">
      <dgm:prSet presAssocID="{CAD1719E-AD6D-47A8-B0EB-C3300B5BD765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16290A-92AE-405F-A6C8-BA3D3D374E63}" type="pres">
      <dgm:prSet presAssocID="{CAD1719E-AD6D-47A8-B0EB-C3300B5BD765}" presName="child3group" presStyleCnt="0"/>
      <dgm:spPr/>
    </dgm:pt>
    <dgm:pt modelId="{A2EEF1AB-AB3D-4481-80DD-917447D2BABF}" type="pres">
      <dgm:prSet presAssocID="{CAD1719E-AD6D-47A8-B0EB-C3300B5BD765}" presName="child3" presStyleLbl="bgAcc1" presStyleIdx="2" presStyleCnt="4" custScaleX="202577" custScaleY="135797" custLinFactNeighborX="42521" custLinFactNeighborY="-31975"/>
      <dgm:spPr/>
      <dgm:t>
        <a:bodyPr/>
        <a:lstStyle/>
        <a:p>
          <a:endParaRPr lang="en-US"/>
        </a:p>
      </dgm:t>
    </dgm:pt>
    <dgm:pt modelId="{B67D8D99-B5F6-4212-88A7-73121A256919}" type="pres">
      <dgm:prSet presAssocID="{CAD1719E-AD6D-47A8-B0EB-C3300B5BD765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C74342-A52F-4994-B795-39A3989531F9}" type="pres">
      <dgm:prSet presAssocID="{CAD1719E-AD6D-47A8-B0EB-C3300B5BD765}" presName="child4group" presStyleCnt="0"/>
      <dgm:spPr/>
    </dgm:pt>
    <dgm:pt modelId="{622AA83F-CBD8-4282-B8E6-D3C9E72CE311}" type="pres">
      <dgm:prSet presAssocID="{CAD1719E-AD6D-47A8-B0EB-C3300B5BD765}" presName="child4" presStyleLbl="bgAcc1" presStyleIdx="3" presStyleCnt="4" custScaleX="240817" custLinFactNeighborX="-36388" custLinFactNeighborY="-15324"/>
      <dgm:spPr/>
      <dgm:t>
        <a:bodyPr/>
        <a:lstStyle/>
        <a:p>
          <a:endParaRPr lang="en-US"/>
        </a:p>
      </dgm:t>
    </dgm:pt>
    <dgm:pt modelId="{ACDC7891-0FAA-4C6E-8786-AE0E24CC0301}" type="pres">
      <dgm:prSet presAssocID="{CAD1719E-AD6D-47A8-B0EB-C3300B5BD765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DFD332-605C-445C-A15D-27C4A9CE3094}" type="pres">
      <dgm:prSet presAssocID="{CAD1719E-AD6D-47A8-B0EB-C3300B5BD765}" presName="childPlaceholder" presStyleCnt="0"/>
      <dgm:spPr/>
    </dgm:pt>
    <dgm:pt modelId="{71768F86-06E9-49C8-A1A6-EFB339F2D7A4}" type="pres">
      <dgm:prSet presAssocID="{CAD1719E-AD6D-47A8-B0EB-C3300B5BD765}" presName="circle" presStyleCnt="0"/>
      <dgm:spPr/>
    </dgm:pt>
    <dgm:pt modelId="{2C9ED262-57DB-4715-A4D4-AB62E90037A7}" type="pres">
      <dgm:prSet presAssocID="{CAD1719E-AD6D-47A8-B0EB-C3300B5BD765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AA8E96-ADC5-41A1-BBA2-03137F4CB44E}" type="pres">
      <dgm:prSet presAssocID="{CAD1719E-AD6D-47A8-B0EB-C3300B5BD765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969A7E-FE46-49D6-B5B2-0931C19126F8}" type="pres">
      <dgm:prSet presAssocID="{CAD1719E-AD6D-47A8-B0EB-C3300B5BD765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18349A-A2F4-4EC0-BBB7-27375DE0E058}" type="pres">
      <dgm:prSet presAssocID="{CAD1719E-AD6D-47A8-B0EB-C3300B5BD765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BBB78C-9B11-49B3-8799-7941AA170155}" type="pres">
      <dgm:prSet presAssocID="{CAD1719E-AD6D-47A8-B0EB-C3300B5BD765}" presName="quadrantPlaceholder" presStyleCnt="0"/>
      <dgm:spPr/>
    </dgm:pt>
    <dgm:pt modelId="{D06637A6-920E-40DF-BB4F-5B1BB69524E4}" type="pres">
      <dgm:prSet presAssocID="{CAD1719E-AD6D-47A8-B0EB-C3300B5BD765}" presName="center1" presStyleLbl="fgShp" presStyleIdx="0" presStyleCnt="2" custScaleX="142845" custScaleY="165390"/>
      <dgm:spPr>
        <a:solidFill>
          <a:srgbClr val="00B050"/>
        </a:solidFill>
      </dgm:spPr>
    </dgm:pt>
    <dgm:pt modelId="{518104DC-DE3E-4726-B52F-7661FECC3DD3}" type="pres">
      <dgm:prSet presAssocID="{CAD1719E-AD6D-47A8-B0EB-C3300B5BD765}" presName="center2" presStyleLbl="fgShp" presStyleIdx="1" presStyleCnt="2" custScaleX="136628" custScaleY="145652"/>
      <dgm:spPr>
        <a:solidFill>
          <a:srgbClr val="00B050"/>
        </a:solidFill>
      </dgm:spPr>
    </dgm:pt>
  </dgm:ptLst>
  <dgm:cxnLst>
    <dgm:cxn modelId="{E790D6DF-5E7C-40D9-A0B4-A009374A016D}" type="presOf" srcId="{4E4FC7E9-2C87-47B0-A443-1AAF49D99A75}" destId="{A2EEF1AB-AB3D-4481-80DD-917447D2BABF}" srcOrd="0" destOrd="0" presId="urn:microsoft.com/office/officeart/2005/8/layout/cycle4"/>
    <dgm:cxn modelId="{4D57609D-8683-40A6-B1C8-1BD48CDE970B}" srcId="{CAD1719E-AD6D-47A8-B0EB-C3300B5BD765}" destId="{140D1832-C663-4425-8F83-BFEB6BB57354}" srcOrd="3" destOrd="0" parTransId="{2AE2C27E-7B2C-4FA7-99D9-A35033DB82BA}" sibTransId="{4DCD40A1-6118-47B2-9D40-3FCD1E45C818}"/>
    <dgm:cxn modelId="{E2417909-EAC4-4BCC-8A13-BB8673181881}" type="presOf" srcId="{44216738-468C-451D-894C-B26CB3E037AF}" destId="{75B68010-AEBD-4533-853D-B3E01E4A6016}" srcOrd="0" destOrd="0" presId="urn:microsoft.com/office/officeart/2005/8/layout/cycle4"/>
    <dgm:cxn modelId="{DDFD93AB-F99D-457D-994D-D69EE08A1569}" type="presOf" srcId="{44216738-468C-451D-894C-B26CB3E037AF}" destId="{5F504A1B-523A-453F-8FE6-0591CB0B0C5F}" srcOrd="1" destOrd="0" presId="urn:microsoft.com/office/officeart/2005/8/layout/cycle4"/>
    <dgm:cxn modelId="{AF10059D-A547-44E3-8E5A-69A119FAF32F}" type="presOf" srcId="{C5480B95-FDA4-4C61-8FAA-9BCD6780B594}" destId="{A2EEF1AB-AB3D-4481-80DD-917447D2BABF}" srcOrd="0" destOrd="2" presId="urn:microsoft.com/office/officeart/2005/8/layout/cycle4"/>
    <dgm:cxn modelId="{18AADD65-A807-4477-9247-AA0DE377C127}" srcId="{140D1832-C663-4425-8F83-BFEB6BB57354}" destId="{735DA8BB-1078-4254-99B1-BBC1A078773A}" srcOrd="2" destOrd="0" parTransId="{021F1825-A499-4270-A2AE-05FF1097428D}" sibTransId="{DD14D4D2-E56B-460E-A3BC-BF4321912CEA}"/>
    <dgm:cxn modelId="{E761A5F7-9468-4A83-BDFD-7B4702728D40}" type="presOf" srcId="{07654D79-3570-4A82-97FE-378769BE59DE}" destId="{48FD31BC-5031-4D71-B601-75630FBD636D}" srcOrd="1" destOrd="1" presId="urn:microsoft.com/office/officeart/2005/8/layout/cycle4"/>
    <dgm:cxn modelId="{2CB5765B-93FC-458E-8B55-5E2AC7EB2713}" srcId="{140D1832-C663-4425-8F83-BFEB6BB57354}" destId="{A90444EC-2A8D-4035-A2D1-BA0A6C98EE80}" srcOrd="1" destOrd="0" parTransId="{A5C019ED-3C91-4B3E-9DD0-046E7A4AD16D}" sibTransId="{DDAEE4EB-2106-4989-98D5-312985E76871}"/>
    <dgm:cxn modelId="{CCDC549D-C5D2-43DB-9068-C79E6DECAFD1}" type="presOf" srcId="{C5480B95-FDA4-4C61-8FAA-9BCD6780B594}" destId="{B67D8D99-B5F6-4212-88A7-73121A256919}" srcOrd="1" destOrd="2" presId="urn:microsoft.com/office/officeart/2005/8/layout/cycle4"/>
    <dgm:cxn modelId="{8F2FCF25-13F1-433F-9897-CACDD26D82F5}" type="presOf" srcId="{87DB2667-7DFB-472F-B40B-EB606D702DC2}" destId="{A2EEF1AB-AB3D-4481-80DD-917447D2BABF}" srcOrd="0" destOrd="1" presId="urn:microsoft.com/office/officeart/2005/8/layout/cycle4"/>
    <dgm:cxn modelId="{DDC9ECE2-45FF-404E-985B-74A1D2DBBDA5}" srcId="{F3E32C27-2352-49C3-AD71-6B72B031766F}" destId="{C5480B95-FDA4-4C61-8FAA-9BCD6780B594}" srcOrd="2" destOrd="0" parTransId="{EA7A9F57-B452-492D-B51A-4B503B2E2EA5}" sibTransId="{82147344-17AD-4203-8E3B-96F0A9DD4DA6}"/>
    <dgm:cxn modelId="{2B58CAAB-0C3D-455A-917B-70208FF775E1}" type="presOf" srcId="{CAD1719E-AD6D-47A8-B0EB-C3300B5BD765}" destId="{A2FD5DD2-532F-416D-A5C8-7C5217F95F41}" srcOrd="0" destOrd="0" presId="urn:microsoft.com/office/officeart/2005/8/layout/cycle4"/>
    <dgm:cxn modelId="{F85CCA93-67EB-47AC-BA83-7E77BD65ED2B}" type="presOf" srcId="{735DA8BB-1078-4254-99B1-BBC1A078773A}" destId="{622AA83F-CBD8-4282-B8E6-D3C9E72CE311}" srcOrd="0" destOrd="2" presId="urn:microsoft.com/office/officeart/2005/8/layout/cycle4"/>
    <dgm:cxn modelId="{0297F7EB-0535-41B0-A2A0-1077800D39BA}" type="presOf" srcId="{87DB2667-7DFB-472F-B40B-EB606D702DC2}" destId="{B67D8D99-B5F6-4212-88A7-73121A256919}" srcOrd="1" destOrd="1" presId="urn:microsoft.com/office/officeart/2005/8/layout/cycle4"/>
    <dgm:cxn modelId="{8E111249-49A6-4846-AB05-2A1BA5B9C67D}" type="presOf" srcId="{D17F4AC5-D350-4731-9B69-498F294ADFEA}" destId="{48FD31BC-5031-4D71-B601-75630FBD636D}" srcOrd="1" destOrd="0" presId="urn:microsoft.com/office/officeart/2005/8/layout/cycle4"/>
    <dgm:cxn modelId="{77084CBC-744F-41DE-8A9A-BDE67C2C2C14}" type="presOf" srcId="{07654D79-3570-4A82-97FE-378769BE59DE}" destId="{E7786086-1719-4674-BF29-DE33E58E54D9}" srcOrd="0" destOrd="1" presId="urn:microsoft.com/office/officeart/2005/8/layout/cycle4"/>
    <dgm:cxn modelId="{F089119F-651C-4682-A727-C7C250A2C859}" srcId="{E6C59FDC-4388-4C43-8A32-258851429EE5}" destId="{44216738-468C-451D-894C-B26CB3E037AF}" srcOrd="0" destOrd="0" parTransId="{314E3099-89F8-475E-A768-EF724826A703}" sibTransId="{BDA4D954-965B-4F3B-AEDD-DBCEF1EEBBE2}"/>
    <dgm:cxn modelId="{8B75EE01-B3A0-425B-8FA7-0602CC3D25BC}" srcId="{F3E32C27-2352-49C3-AD71-6B72B031766F}" destId="{87DB2667-7DFB-472F-B40B-EB606D702DC2}" srcOrd="1" destOrd="0" parTransId="{C2E90C9E-220D-408B-A536-F07527AAB203}" sibTransId="{CABBD3D8-4FB1-4C3A-A925-9930959866A4}"/>
    <dgm:cxn modelId="{8F07F5E3-45E4-417D-8704-9A894FDDD4F4}" type="presOf" srcId="{140D1832-C663-4425-8F83-BFEB6BB57354}" destId="{5418349A-A2F4-4EC0-BBB7-27375DE0E058}" srcOrd="0" destOrd="0" presId="urn:microsoft.com/office/officeart/2005/8/layout/cycle4"/>
    <dgm:cxn modelId="{8420AFD9-B045-4C74-9150-1A0B4BD0BB4D}" srcId="{F3E32C27-2352-49C3-AD71-6B72B031766F}" destId="{4E4FC7E9-2C87-47B0-A443-1AAF49D99A75}" srcOrd="0" destOrd="0" parTransId="{1EA83BCE-ABCE-4ADB-AF9A-D1AC72509802}" sibTransId="{7D0BFA46-1419-4111-8BEF-08E90B0791E9}"/>
    <dgm:cxn modelId="{337248CE-17EF-45BE-86CF-BFF1AB949A87}" type="presOf" srcId="{C72B4626-4695-4F7F-940B-9A2DAC91EB95}" destId="{48FD31BC-5031-4D71-B601-75630FBD636D}" srcOrd="1" destOrd="2" presId="urn:microsoft.com/office/officeart/2005/8/layout/cycle4"/>
    <dgm:cxn modelId="{B8BF2110-2F28-4032-9660-639F66F517EC}" type="presOf" srcId="{08DCB3CB-837F-4D58-A963-74F7AC08B1B6}" destId="{F6AA8E96-ADC5-41A1-BBA2-03137F4CB44E}" srcOrd="0" destOrd="0" presId="urn:microsoft.com/office/officeart/2005/8/layout/cycle4"/>
    <dgm:cxn modelId="{351ED905-17EB-43A9-87A2-90B76E257A1D}" type="presOf" srcId="{E6C59FDC-4388-4C43-8A32-258851429EE5}" destId="{2C9ED262-57DB-4715-A4D4-AB62E90037A7}" srcOrd="0" destOrd="0" presId="urn:microsoft.com/office/officeart/2005/8/layout/cycle4"/>
    <dgm:cxn modelId="{24363263-3D8C-4969-9A3A-D3CCAA66F99F}" srcId="{CAD1719E-AD6D-47A8-B0EB-C3300B5BD765}" destId="{08DCB3CB-837F-4D58-A963-74F7AC08B1B6}" srcOrd="1" destOrd="0" parTransId="{DDAE7289-3169-4356-9D98-0D93995F9A4A}" sibTransId="{E3AA15E5-E294-4D13-AD94-E28358058C8E}"/>
    <dgm:cxn modelId="{453EC916-9F4D-47EA-91AC-179203923DB4}" type="presOf" srcId="{D17F4AC5-D350-4731-9B69-498F294ADFEA}" destId="{E7786086-1719-4674-BF29-DE33E58E54D9}" srcOrd="0" destOrd="0" presId="urn:microsoft.com/office/officeart/2005/8/layout/cycle4"/>
    <dgm:cxn modelId="{C0954512-68B7-474B-BFA5-5C7846EA280D}" type="presOf" srcId="{80B711FF-FEC4-4FF0-8B3B-FD534277B5C0}" destId="{ACDC7891-0FAA-4C6E-8786-AE0E24CC0301}" srcOrd="1" destOrd="0" presId="urn:microsoft.com/office/officeart/2005/8/layout/cycle4"/>
    <dgm:cxn modelId="{4EBB1535-F6B7-4A95-A1CF-8D1757E6E369}" srcId="{08DCB3CB-837F-4D58-A963-74F7AC08B1B6}" destId="{C72B4626-4695-4F7F-940B-9A2DAC91EB95}" srcOrd="2" destOrd="0" parTransId="{C884A804-9CCD-4978-807D-842CF421F756}" sibTransId="{40FE3DFE-7107-4A1C-9D50-D16771820486}"/>
    <dgm:cxn modelId="{CC33764B-2CD8-4EA0-AB98-275FB25DAD45}" type="presOf" srcId="{A90444EC-2A8D-4035-A2D1-BA0A6C98EE80}" destId="{ACDC7891-0FAA-4C6E-8786-AE0E24CC0301}" srcOrd="1" destOrd="1" presId="urn:microsoft.com/office/officeart/2005/8/layout/cycle4"/>
    <dgm:cxn modelId="{8C052800-1D9E-4C89-B1E4-1D7B643DB5ED}" type="presOf" srcId="{4E4FC7E9-2C87-47B0-A443-1AAF49D99A75}" destId="{B67D8D99-B5F6-4212-88A7-73121A256919}" srcOrd="1" destOrd="0" presId="urn:microsoft.com/office/officeart/2005/8/layout/cycle4"/>
    <dgm:cxn modelId="{4ACCE733-9F40-4CFB-B91E-8CED48C87521}" type="presOf" srcId="{735DA8BB-1078-4254-99B1-BBC1A078773A}" destId="{ACDC7891-0FAA-4C6E-8786-AE0E24CC0301}" srcOrd="1" destOrd="2" presId="urn:microsoft.com/office/officeart/2005/8/layout/cycle4"/>
    <dgm:cxn modelId="{817CB4C0-6764-4E10-9A14-90C2861E1442}" srcId="{08DCB3CB-837F-4D58-A963-74F7AC08B1B6}" destId="{D17F4AC5-D350-4731-9B69-498F294ADFEA}" srcOrd="0" destOrd="0" parTransId="{00AEBE58-4798-402B-B023-DD4BBDDE6112}" sibTransId="{3F2BCA67-3163-49E3-8B8F-38F9B4465912}"/>
    <dgm:cxn modelId="{B73A9705-DD3F-4657-ACB5-FDBC24E40BE0}" srcId="{CAD1719E-AD6D-47A8-B0EB-C3300B5BD765}" destId="{E6C59FDC-4388-4C43-8A32-258851429EE5}" srcOrd="0" destOrd="0" parTransId="{7D76C9F9-B2D1-49CA-80C8-77EF0935B738}" sibTransId="{F197EF26-01A3-414A-AF31-C3B3A39DBC45}"/>
    <dgm:cxn modelId="{5CE9F0A4-6E28-475B-B9BF-F021261BAA08}" srcId="{CAD1719E-AD6D-47A8-B0EB-C3300B5BD765}" destId="{F3E32C27-2352-49C3-AD71-6B72B031766F}" srcOrd="2" destOrd="0" parTransId="{6FD76BEF-C499-4495-AD4C-F947E6FD2E08}" sibTransId="{C8162CC3-9A3E-49A2-92AC-F8F8791B8F00}"/>
    <dgm:cxn modelId="{703073F7-CA71-47BA-BA26-A9E88D7EE6BC}" type="presOf" srcId="{F3E32C27-2352-49C3-AD71-6B72B031766F}" destId="{DF969A7E-FE46-49D6-B5B2-0931C19126F8}" srcOrd="0" destOrd="0" presId="urn:microsoft.com/office/officeart/2005/8/layout/cycle4"/>
    <dgm:cxn modelId="{0B3F1E64-707E-4899-B614-D0CA8427BF17}" type="presOf" srcId="{80B711FF-FEC4-4FF0-8B3B-FD534277B5C0}" destId="{622AA83F-CBD8-4282-B8E6-D3C9E72CE311}" srcOrd="0" destOrd="0" presId="urn:microsoft.com/office/officeart/2005/8/layout/cycle4"/>
    <dgm:cxn modelId="{7E269149-2ABE-4CB7-9483-91254B9BBD06}" srcId="{08DCB3CB-837F-4D58-A963-74F7AC08B1B6}" destId="{07654D79-3570-4A82-97FE-378769BE59DE}" srcOrd="1" destOrd="0" parTransId="{A3BF46EB-54F1-4383-8855-26529C7B8A88}" sibTransId="{2806F5F5-95B1-40CB-B1F1-12245159726B}"/>
    <dgm:cxn modelId="{03615B54-13F1-4DBB-8390-74D411BE9D63}" srcId="{140D1832-C663-4425-8F83-BFEB6BB57354}" destId="{80B711FF-FEC4-4FF0-8B3B-FD534277B5C0}" srcOrd="0" destOrd="0" parTransId="{FA29AA2D-05BB-4053-B024-8A9F49C48C59}" sibTransId="{0770D1FE-B258-4FF6-91F1-E51998DAA43D}"/>
    <dgm:cxn modelId="{7B553EB4-D8F7-4690-9F25-36222E8FDD1C}" type="presOf" srcId="{C72B4626-4695-4F7F-940B-9A2DAC91EB95}" destId="{E7786086-1719-4674-BF29-DE33E58E54D9}" srcOrd="0" destOrd="2" presId="urn:microsoft.com/office/officeart/2005/8/layout/cycle4"/>
    <dgm:cxn modelId="{3DB63BED-52FA-43AF-9AF2-FFB18CBBD39F}" type="presOf" srcId="{A90444EC-2A8D-4035-A2D1-BA0A6C98EE80}" destId="{622AA83F-CBD8-4282-B8E6-D3C9E72CE311}" srcOrd="0" destOrd="1" presId="urn:microsoft.com/office/officeart/2005/8/layout/cycle4"/>
    <dgm:cxn modelId="{AFF741F5-4E67-4230-9AE5-54A259FAA052}" type="presParOf" srcId="{A2FD5DD2-532F-416D-A5C8-7C5217F95F41}" destId="{33EF0F77-0DE3-4EBF-8ADD-AAFEE758E764}" srcOrd="0" destOrd="0" presId="urn:microsoft.com/office/officeart/2005/8/layout/cycle4"/>
    <dgm:cxn modelId="{290EDCFD-A94D-4939-BF12-FC6EAE853BAA}" type="presParOf" srcId="{33EF0F77-0DE3-4EBF-8ADD-AAFEE758E764}" destId="{5B289430-077F-4F58-931E-843F9DD93120}" srcOrd="0" destOrd="0" presId="urn:microsoft.com/office/officeart/2005/8/layout/cycle4"/>
    <dgm:cxn modelId="{7156B7C1-5EB8-4B00-AB01-5231AC3407FC}" type="presParOf" srcId="{5B289430-077F-4F58-931E-843F9DD93120}" destId="{75B68010-AEBD-4533-853D-B3E01E4A6016}" srcOrd="0" destOrd="0" presId="urn:microsoft.com/office/officeart/2005/8/layout/cycle4"/>
    <dgm:cxn modelId="{70056FC9-C79B-4400-AE65-5A3264947414}" type="presParOf" srcId="{5B289430-077F-4F58-931E-843F9DD93120}" destId="{5F504A1B-523A-453F-8FE6-0591CB0B0C5F}" srcOrd="1" destOrd="0" presId="urn:microsoft.com/office/officeart/2005/8/layout/cycle4"/>
    <dgm:cxn modelId="{678E7689-0BD5-476E-944C-8B6A7503BE72}" type="presParOf" srcId="{33EF0F77-0DE3-4EBF-8ADD-AAFEE758E764}" destId="{C2F2908F-7BE6-4C8E-889E-2BE26717CB20}" srcOrd="1" destOrd="0" presId="urn:microsoft.com/office/officeart/2005/8/layout/cycle4"/>
    <dgm:cxn modelId="{476B46B0-8333-49DF-A9FE-A1F58697CC0A}" type="presParOf" srcId="{C2F2908F-7BE6-4C8E-889E-2BE26717CB20}" destId="{E7786086-1719-4674-BF29-DE33E58E54D9}" srcOrd="0" destOrd="0" presId="urn:microsoft.com/office/officeart/2005/8/layout/cycle4"/>
    <dgm:cxn modelId="{05C3756B-1762-4B64-B626-4ADEDAD36CB6}" type="presParOf" srcId="{C2F2908F-7BE6-4C8E-889E-2BE26717CB20}" destId="{48FD31BC-5031-4D71-B601-75630FBD636D}" srcOrd="1" destOrd="0" presId="urn:microsoft.com/office/officeart/2005/8/layout/cycle4"/>
    <dgm:cxn modelId="{AC06A231-6426-4A12-8708-EBFA535975A8}" type="presParOf" srcId="{33EF0F77-0DE3-4EBF-8ADD-AAFEE758E764}" destId="{3316290A-92AE-405F-A6C8-BA3D3D374E63}" srcOrd="2" destOrd="0" presId="urn:microsoft.com/office/officeart/2005/8/layout/cycle4"/>
    <dgm:cxn modelId="{08304601-EDA6-4AC2-B21C-980F0014DC4F}" type="presParOf" srcId="{3316290A-92AE-405F-A6C8-BA3D3D374E63}" destId="{A2EEF1AB-AB3D-4481-80DD-917447D2BABF}" srcOrd="0" destOrd="0" presId="urn:microsoft.com/office/officeart/2005/8/layout/cycle4"/>
    <dgm:cxn modelId="{A662ED6D-BF8E-4AB2-A3A7-7E9D86FF04CD}" type="presParOf" srcId="{3316290A-92AE-405F-A6C8-BA3D3D374E63}" destId="{B67D8D99-B5F6-4212-88A7-73121A256919}" srcOrd="1" destOrd="0" presId="urn:microsoft.com/office/officeart/2005/8/layout/cycle4"/>
    <dgm:cxn modelId="{0EE0ACFB-7C6E-4DEC-82B6-DCEF1EC5DEA8}" type="presParOf" srcId="{33EF0F77-0DE3-4EBF-8ADD-AAFEE758E764}" destId="{5AC74342-A52F-4994-B795-39A3989531F9}" srcOrd="3" destOrd="0" presId="urn:microsoft.com/office/officeart/2005/8/layout/cycle4"/>
    <dgm:cxn modelId="{17E305BC-0514-42F2-AE21-55D2071A5AAA}" type="presParOf" srcId="{5AC74342-A52F-4994-B795-39A3989531F9}" destId="{622AA83F-CBD8-4282-B8E6-D3C9E72CE311}" srcOrd="0" destOrd="0" presId="urn:microsoft.com/office/officeart/2005/8/layout/cycle4"/>
    <dgm:cxn modelId="{38E1D625-ABEB-4879-940A-9FF89109FCFC}" type="presParOf" srcId="{5AC74342-A52F-4994-B795-39A3989531F9}" destId="{ACDC7891-0FAA-4C6E-8786-AE0E24CC0301}" srcOrd="1" destOrd="0" presId="urn:microsoft.com/office/officeart/2005/8/layout/cycle4"/>
    <dgm:cxn modelId="{62458410-0BBF-4347-B651-D849D2B0B35A}" type="presParOf" srcId="{33EF0F77-0DE3-4EBF-8ADD-AAFEE758E764}" destId="{04DFD332-605C-445C-A15D-27C4A9CE3094}" srcOrd="4" destOrd="0" presId="urn:microsoft.com/office/officeart/2005/8/layout/cycle4"/>
    <dgm:cxn modelId="{4ACD2179-F332-41C1-8AC9-272126E6BD50}" type="presParOf" srcId="{A2FD5DD2-532F-416D-A5C8-7C5217F95F41}" destId="{71768F86-06E9-49C8-A1A6-EFB339F2D7A4}" srcOrd="1" destOrd="0" presId="urn:microsoft.com/office/officeart/2005/8/layout/cycle4"/>
    <dgm:cxn modelId="{89BB678A-E3B5-423B-AA25-9A59E48A26FE}" type="presParOf" srcId="{71768F86-06E9-49C8-A1A6-EFB339F2D7A4}" destId="{2C9ED262-57DB-4715-A4D4-AB62E90037A7}" srcOrd="0" destOrd="0" presId="urn:microsoft.com/office/officeart/2005/8/layout/cycle4"/>
    <dgm:cxn modelId="{62629061-59E0-4FA8-A632-D11208B4BEFA}" type="presParOf" srcId="{71768F86-06E9-49C8-A1A6-EFB339F2D7A4}" destId="{F6AA8E96-ADC5-41A1-BBA2-03137F4CB44E}" srcOrd="1" destOrd="0" presId="urn:microsoft.com/office/officeart/2005/8/layout/cycle4"/>
    <dgm:cxn modelId="{FE07AE6F-A719-40B9-93FD-DDE1FF46EB20}" type="presParOf" srcId="{71768F86-06E9-49C8-A1A6-EFB339F2D7A4}" destId="{DF969A7E-FE46-49D6-B5B2-0931C19126F8}" srcOrd="2" destOrd="0" presId="urn:microsoft.com/office/officeart/2005/8/layout/cycle4"/>
    <dgm:cxn modelId="{736DF362-401F-4346-BBA4-88B31E00803D}" type="presParOf" srcId="{71768F86-06E9-49C8-A1A6-EFB339F2D7A4}" destId="{5418349A-A2F4-4EC0-BBB7-27375DE0E058}" srcOrd="3" destOrd="0" presId="urn:microsoft.com/office/officeart/2005/8/layout/cycle4"/>
    <dgm:cxn modelId="{7FEEBB2F-E1F0-439F-9F08-9DE4E1A2B56B}" type="presParOf" srcId="{71768F86-06E9-49C8-A1A6-EFB339F2D7A4}" destId="{2BBBB78C-9B11-49B3-8799-7941AA170155}" srcOrd="4" destOrd="0" presId="urn:microsoft.com/office/officeart/2005/8/layout/cycle4"/>
    <dgm:cxn modelId="{59B8D6BA-AE98-44C8-90FB-9D9191D6C946}" type="presParOf" srcId="{A2FD5DD2-532F-416D-A5C8-7C5217F95F41}" destId="{D06637A6-920E-40DF-BB4F-5B1BB69524E4}" srcOrd="2" destOrd="0" presId="urn:microsoft.com/office/officeart/2005/8/layout/cycle4"/>
    <dgm:cxn modelId="{2D5FA95B-4A94-4FBA-8C5E-6CAA651D8FB0}" type="presParOf" srcId="{A2FD5DD2-532F-416D-A5C8-7C5217F95F41}" destId="{518104DC-DE3E-4726-B52F-7661FECC3DD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EF1AB-AB3D-4481-80DD-917447D2BABF}">
      <dsp:nvSpPr>
        <dsp:cNvPr id="0" name=""/>
        <dsp:cNvSpPr/>
      </dsp:nvSpPr>
      <dsp:spPr>
        <a:xfrm>
          <a:off x="5443539" y="1982042"/>
          <a:ext cx="3861137" cy="1676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Carry out the plan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Document Problem and Unexpected Observation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Begin Data Analysis</a:t>
          </a:r>
          <a:endParaRPr lang="en-US" sz="1800" kern="1200" dirty="0"/>
        </a:p>
      </dsp:txBody>
      <dsp:txXfrm>
        <a:off x="6638710" y="2438030"/>
        <a:ext cx="2629136" cy="1183815"/>
      </dsp:txXfrm>
    </dsp:sp>
    <dsp:sp modelId="{622AA83F-CBD8-4282-B8E6-D3C9E72CE311}">
      <dsp:nvSpPr>
        <dsp:cNvPr id="0" name=""/>
        <dsp:cNvSpPr/>
      </dsp:nvSpPr>
      <dsp:spPr>
        <a:xfrm>
          <a:off x="465291" y="2408611"/>
          <a:ext cx="4589996" cy="12346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Complete the Data Analysis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Compare Data to Predictions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Summarize What was Learned </a:t>
          </a:r>
          <a:endParaRPr lang="en-US" sz="1800" kern="1200" dirty="0"/>
        </a:p>
      </dsp:txBody>
      <dsp:txXfrm>
        <a:off x="492412" y="2744398"/>
        <a:ext cx="3158755" cy="871754"/>
      </dsp:txXfrm>
    </dsp:sp>
    <dsp:sp modelId="{E7786086-1719-4674-BF29-DE33E58E54D9}">
      <dsp:nvSpPr>
        <dsp:cNvPr id="0" name=""/>
        <dsp:cNvSpPr/>
      </dsp:nvSpPr>
      <dsp:spPr>
        <a:xfrm>
          <a:off x="5133517" y="203418"/>
          <a:ext cx="4198825" cy="14698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Objective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Question and Predictions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Plan to carry out the cycle (Who, What, Where, When)</a:t>
          </a:r>
          <a:endParaRPr lang="en-US" sz="1600" kern="1200" dirty="0"/>
        </a:p>
      </dsp:txBody>
      <dsp:txXfrm>
        <a:off x="6425453" y="235706"/>
        <a:ext cx="2874601" cy="1037823"/>
      </dsp:txXfrm>
    </dsp:sp>
    <dsp:sp modelId="{75B68010-AEBD-4533-853D-B3E01E4A6016}">
      <dsp:nvSpPr>
        <dsp:cNvPr id="0" name=""/>
        <dsp:cNvSpPr/>
      </dsp:nvSpPr>
      <dsp:spPr>
        <a:xfrm>
          <a:off x="1542072" y="147586"/>
          <a:ext cx="3162852" cy="12346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What changes are to be made on the next cycle </a:t>
          </a:r>
          <a:endParaRPr lang="en-US" sz="2000" kern="1200" dirty="0"/>
        </a:p>
      </dsp:txBody>
      <dsp:txXfrm>
        <a:off x="1569193" y="174707"/>
        <a:ext cx="2159754" cy="871754"/>
      </dsp:txXfrm>
    </dsp:sp>
    <dsp:sp modelId="{2C9ED262-57DB-4715-A4D4-AB62E90037A7}">
      <dsp:nvSpPr>
        <dsp:cNvPr id="0" name=""/>
        <dsp:cNvSpPr/>
      </dsp:nvSpPr>
      <dsp:spPr>
        <a:xfrm>
          <a:off x="3201722" y="245770"/>
          <a:ext cx="1670652" cy="1670652"/>
        </a:xfrm>
        <a:prstGeom prst="pieWedge">
          <a:avLst/>
        </a:prstGeom>
        <a:solidFill>
          <a:srgbClr val="0070C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Act</a:t>
          </a:r>
          <a:endParaRPr lang="en-US" sz="2600" b="1" kern="1200" dirty="0"/>
        </a:p>
      </dsp:txBody>
      <dsp:txXfrm>
        <a:off x="3691045" y="735093"/>
        <a:ext cx="1181329" cy="1181329"/>
      </dsp:txXfrm>
    </dsp:sp>
    <dsp:sp modelId="{F6AA8E96-ADC5-41A1-BBA2-03137F4CB44E}">
      <dsp:nvSpPr>
        <dsp:cNvPr id="0" name=""/>
        <dsp:cNvSpPr/>
      </dsp:nvSpPr>
      <dsp:spPr>
        <a:xfrm rot="5400000">
          <a:off x="4949541" y="245770"/>
          <a:ext cx="1670652" cy="1670652"/>
        </a:xfrm>
        <a:prstGeom prst="pieWedge">
          <a:avLst/>
        </a:prstGeom>
        <a:solidFill>
          <a:schemeClr val="accent6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Plan</a:t>
          </a:r>
          <a:endParaRPr lang="en-US" sz="2600" b="1" kern="1200" dirty="0"/>
        </a:p>
      </dsp:txBody>
      <dsp:txXfrm rot="-5400000">
        <a:off x="4949541" y="735093"/>
        <a:ext cx="1181329" cy="1181329"/>
      </dsp:txXfrm>
    </dsp:sp>
    <dsp:sp modelId="{DF969A7E-FE46-49D6-B5B2-0931C19126F8}">
      <dsp:nvSpPr>
        <dsp:cNvPr id="0" name=""/>
        <dsp:cNvSpPr/>
      </dsp:nvSpPr>
      <dsp:spPr>
        <a:xfrm rot="10800000">
          <a:off x="4949541" y="1993589"/>
          <a:ext cx="1670652" cy="167065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Do</a:t>
          </a:r>
          <a:endParaRPr lang="en-US" sz="2600" b="1" kern="1200" dirty="0"/>
        </a:p>
      </dsp:txBody>
      <dsp:txXfrm rot="10800000">
        <a:off x="4949541" y="1993589"/>
        <a:ext cx="1181329" cy="1181329"/>
      </dsp:txXfrm>
    </dsp:sp>
    <dsp:sp modelId="{5418349A-A2F4-4EC0-BBB7-27375DE0E058}">
      <dsp:nvSpPr>
        <dsp:cNvPr id="0" name=""/>
        <dsp:cNvSpPr/>
      </dsp:nvSpPr>
      <dsp:spPr>
        <a:xfrm rot="16200000">
          <a:off x="3201722" y="1993589"/>
          <a:ext cx="1670652" cy="1670652"/>
        </a:xfrm>
        <a:prstGeom prst="pieWedge">
          <a:avLst/>
        </a:prstGeom>
        <a:solidFill>
          <a:srgbClr val="7030A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Study</a:t>
          </a:r>
          <a:endParaRPr lang="en-US" sz="2600" b="1" kern="1200" dirty="0"/>
        </a:p>
      </dsp:txBody>
      <dsp:txXfrm rot="5400000">
        <a:off x="3691045" y="1993589"/>
        <a:ext cx="1181329" cy="1181329"/>
      </dsp:txXfrm>
    </dsp:sp>
    <dsp:sp modelId="{D06637A6-920E-40DF-BB4F-5B1BB69524E4}">
      <dsp:nvSpPr>
        <dsp:cNvPr id="0" name=""/>
        <dsp:cNvSpPr/>
      </dsp:nvSpPr>
      <dsp:spPr>
        <a:xfrm>
          <a:off x="4498980" y="1443765"/>
          <a:ext cx="823956" cy="829565"/>
        </a:xfrm>
        <a:prstGeom prst="circularArrow">
          <a:avLst/>
        </a:prstGeom>
        <a:solidFill>
          <a:srgbClr val="00B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104DC-DE3E-4726-B52F-7661FECC3DD3}">
      <dsp:nvSpPr>
        <dsp:cNvPr id="0" name=""/>
        <dsp:cNvSpPr/>
      </dsp:nvSpPr>
      <dsp:spPr>
        <a:xfrm rot="10800000">
          <a:off x="4516910" y="1686182"/>
          <a:ext cx="788095" cy="730563"/>
        </a:xfrm>
        <a:prstGeom prst="circularArrow">
          <a:avLst/>
        </a:prstGeom>
        <a:solidFill>
          <a:srgbClr val="00B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66172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884" y="1879926"/>
            <a:ext cx="7760513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0204" y="3597481"/>
            <a:ext cx="5971593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61655" y="4972192"/>
            <a:ext cx="1296208" cy="361810"/>
          </a:xfrm>
        </p:spPr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4972194"/>
            <a:ext cx="4999075" cy="3618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797" y="4972193"/>
            <a:ext cx="968201" cy="361809"/>
          </a:xfrm>
        </p:spPr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72920" y="76751"/>
            <a:ext cx="4038801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75561" y="5960533"/>
            <a:ext cx="1133600" cy="279400"/>
          </a:xfrm>
        </p:spPr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9161" y="5960533"/>
            <a:ext cx="965539" cy="279400"/>
          </a:xfrm>
        </p:spPr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06788" y="5960533"/>
            <a:ext cx="1154187" cy="279400"/>
          </a:xfrm>
        </p:spPr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052394"/>
            <a:ext cx="906497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06788" y="5934457"/>
            <a:ext cx="1021184" cy="305477"/>
          </a:xfrm>
        </p:spPr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35133"/>
            <a:ext cx="897447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F4C35D7-3488-490E-82D5-866F35D597AC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3007" y="5960533"/>
            <a:ext cx="126112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D12848-5C47-4E2C-A32C-515F432C1024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96777" y="4072"/>
            <a:ext cx="3209731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884" y="1497724"/>
            <a:ext cx="7760513" cy="1910530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VOLUME 2:  SECTION 3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CHAPTER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MANAGING OVER  IPC 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PROGRAM MANAGEMENT AND GOVERNANCE </a:t>
            </a:r>
            <a:endParaRPr lang="en-US" sz="2000" b="1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47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Chapter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Structure </a:t>
            </a:r>
            <a:r>
              <a:rPr lang="en-US" dirty="0"/>
              <a:t>and organization of IPC </a:t>
            </a:r>
            <a:r>
              <a:rPr lang="en-US" dirty="0" smtClean="0"/>
              <a:t>  </a:t>
            </a:r>
            <a:endParaRPr lang="en-US" dirty="0"/>
          </a:p>
          <a:p>
            <a:pPr lvl="0"/>
            <a:r>
              <a:rPr lang="en-US" dirty="0"/>
              <a:t>Principles of emergency management</a:t>
            </a:r>
          </a:p>
          <a:p>
            <a:pPr lvl="0"/>
            <a:r>
              <a:rPr lang="en-US" dirty="0"/>
              <a:t>Role of health care facility</a:t>
            </a:r>
          </a:p>
          <a:p>
            <a:pPr lvl="0"/>
            <a:r>
              <a:rPr lang="en-US" dirty="0"/>
              <a:t>Information sharing and communication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00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</a:t>
            </a:r>
            <a:r>
              <a:rPr lang="en-US" dirty="0" smtClean="0"/>
              <a:t>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9154" y="2490136"/>
            <a:ext cx="9064981" cy="3847602"/>
          </a:xfrm>
        </p:spPr>
        <p:txBody>
          <a:bodyPr>
            <a:normAutofit fontScale="77500" lnSpcReduction="20000"/>
          </a:bodyPr>
          <a:lstStyle/>
          <a:p>
            <a:pPr lvl="0" algn="just"/>
            <a:r>
              <a:rPr lang="en-US" dirty="0" smtClean="0"/>
              <a:t>Describe  </a:t>
            </a:r>
            <a:r>
              <a:rPr lang="en-US" dirty="0"/>
              <a:t>the structure and organization of IPC and PS program management </a:t>
            </a:r>
          </a:p>
          <a:p>
            <a:pPr lvl="0" algn="just"/>
            <a:r>
              <a:rPr lang="en-US" dirty="0"/>
              <a:t>Identify  the  roles and responsibilities of </a:t>
            </a:r>
            <a:r>
              <a:rPr lang="en-US" dirty="0" smtClean="0"/>
              <a:t>HCWs involved </a:t>
            </a:r>
            <a:r>
              <a:rPr lang="en-US" dirty="0"/>
              <a:t>in IPC programs</a:t>
            </a:r>
          </a:p>
          <a:p>
            <a:pPr lvl="0" algn="just"/>
            <a:r>
              <a:rPr lang="en-US" dirty="0"/>
              <a:t>Explain the attributes of effective </a:t>
            </a:r>
            <a:r>
              <a:rPr lang="en-US" dirty="0" smtClean="0"/>
              <a:t>IPC and PS programs </a:t>
            </a:r>
            <a:endParaRPr lang="en-US" dirty="0"/>
          </a:p>
          <a:p>
            <a:pPr lvl="0" algn="just"/>
            <a:r>
              <a:rPr lang="en-US" dirty="0"/>
              <a:t>Mention the core components of IPC/PS programs. </a:t>
            </a:r>
          </a:p>
          <a:p>
            <a:pPr lvl="0" algn="just"/>
            <a:r>
              <a:rPr lang="en-US" dirty="0"/>
              <a:t>Describe the major </a:t>
            </a:r>
            <a:r>
              <a:rPr lang="en-US" dirty="0" smtClean="0"/>
              <a:t>IPC Activities</a:t>
            </a:r>
            <a:endParaRPr lang="en-US" dirty="0"/>
          </a:p>
          <a:p>
            <a:pPr lvl="0" algn="just"/>
            <a:r>
              <a:rPr lang="en-US" dirty="0"/>
              <a:t>Explain the continuous  improvement of  IP and PS practices  using model for improvement.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9154" y="2490136"/>
            <a:ext cx="9064981" cy="364265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 smtClean="0"/>
              <a:t>Proper </a:t>
            </a:r>
            <a:r>
              <a:rPr lang="en-US" b="1" dirty="0"/>
              <a:t>management </a:t>
            </a:r>
            <a:r>
              <a:rPr lang="en-US" dirty="0"/>
              <a:t>of infection prevention </a:t>
            </a:r>
            <a:r>
              <a:rPr lang="en-US" smtClean="0"/>
              <a:t>and Control </a:t>
            </a:r>
            <a:r>
              <a:rPr lang="en-US" dirty="0"/>
              <a:t>programs at various levels of implementation has paramount importance for the success and fulfillment of basic strategic objectives for </a:t>
            </a:r>
            <a:r>
              <a:rPr lang="en-US" dirty="0">
                <a:solidFill>
                  <a:srgbClr val="0070C0"/>
                </a:solidFill>
              </a:rPr>
              <a:t>improving health outcomes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a </a:t>
            </a:r>
            <a:r>
              <a:rPr lang="en-US" dirty="0">
                <a:solidFill>
                  <a:srgbClr val="0070C0"/>
                </a:solidFill>
              </a:rPr>
              <a:t>key component </a:t>
            </a:r>
            <a:r>
              <a:rPr lang="en-US" dirty="0"/>
              <a:t>of </a:t>
            </a:r>
            <a:r>
              <a:rPr lang="en-US" b="1" dirty="0"/>
              <a:t>health</a:t>
            </a:r>
            <a:r>
              <a:rPr lang="en-US" dirty="0"/>
              <a:t> </a:t>
            </a:r>
            <a:r>
              <a:rPr lang="en-US" b="1" dirty="0"/>
              <a:t>system strengthening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Due </a:t>
            </a:r>
            <a:r>
              <a:rPr lang="en-US" dirty="0"/>
              <a:t>to the fact that available </a:t>
            </a:r>
            <a:r>
              <a:rPr lang="en-US" b="1" dirty="0"/>
              <a:t>resources</a:t>
            </a:r>
            <a:r>
              <a:rPr lang="en-US" dirty="0"/>
              <a:t> are invariably </a:t>
            </a:r>
            <a:r>
              <a:rPr lang="en-US" b="1" dirty="0"/>
              <a:t>limited</a:t>
            </a:r>
            <a:r>
              <a:rPr lang="en-US" dirty="0"/>
              <a:t>, careful </a:t>
            </a:r>
            <a:r>
              <a:rPr lang="en-US" dirty="0">
                <a:solidFill>
                  <a:srgbClr val="0070C0"/>
                </a:solidFill>
              </a:rPr>
              <a:t>planning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rgbClr val="0070C0"/>
                </a:solidFill>
              </a:rPr>
              <a:t> implementing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monitoring</a:t>
            </a:r>
            <a:r>
              <a:rPr lang="en-US" dirty="0"/>
              <a:t> activities on a regular basis are all essential from primary tertiary level in the health care system. </a:t>
            </a:r>
          </a:p>
        </p:txBody>
      </p:sp>
    </p:spTree>
    <p:extLst>
      <p:ext uri="{BB962C8B-B14F-4D97-AF65-F5344CB8AC3E}">
        <p14:creationId xmlns:p14="http://schemas.microsoft.com/office/powerpoint/2010/main" val="25769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Structure and Organization of IPC  programs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698" y="2364828"/>
            <a:ext cx="10247586" cy="3862551"/>
          </a:xfrm>
        </p:spPr>
        <p:txBody>
          <a:bodyPr/>
          <a:lstStyle/>
          <a:p>
            <a:pPr algn="just"/>
            <a:r>
              <a:rPr lang="en-US" dirty="0" smtClean="0"/>
              <a:t>Having </a:t>
            </a:r>
            <a:r>
              <a:rPr lang="en-US" dirty="0"/>
              <a:t>a </a:t>
            </a:r>
            <a:r>
              <a:rPr lang="en-US" b="1" dirty="0"/>
              <a:t>robust</a:t>
            </a:r>
            <a:r>
              <a:rPr lang="en-US" dirty="0"/>
              <a:t> </a:t>
            </a:r>
            <a:r>
              <a:rPr lang="en-US" b="1" dirty="0"/>
              <a:t>structure</a:t>
            </a:r>
            <a:r>
              <a:rPr lang="en-US" dirty="0"/>
              <a:t> and </a:t>
            </a:r>
            <a:r>
              <a:rPr lang="en-US" b="1" dirty="0"/>
              <a:t>capacity</a:t>
            </a:r>
            <a:r>
              <a:rPr lang="en-US" dirty="0"/>
              <a:t> in IPC </a:t>
            </a:r>
            <a:r>
              <a:rPr lang="en-US" dirty="0" smtClean="0"/>
              <a:t>at </a:t>
            </a:r>
            <a:r>
              <a:rPr lang="en-US" dirty="0"/>
              <a:t>national and local levels </a:t>
            </a:r>
            <a:endParaRPr lang="en-US" dirty="0" smtClean="0"/>
          </a:p>
          <a:p>
            <a:pPr algn="just"/>
            <a:r>
              <a:rPr lang="en-US" dirty="0"/>
              <a:t>S</a:t>
            </a:r>
            <a:r>
              <a:rPr lang="en-US" dirty="0" smtClean="0"/>
              <a:t>trengthens </a:t>
            </a:r>
            <a:r>
              <a:rPr lang="en-US" dirty="0"/>
              <a:t>the ability to plan and implement all </a:t>
            </a:r>
            <a:r>
              <a:rPr lang="en-US" dirty="0">
                <a:solidFill>
                  <a:srgbClr val="0070C0"/>
                </a:solidFill>
              </a:rPr>
              <a:t>core components</a:t>
            </a:r>
            <a:r>
              <a:rPr lang="en-US" dirty="0"/>
              <a:t> of IPC and also respond to communicable disease </a:t>
            </a:r>
            <a:r>
              <a:rPr lang="en-US" dirty="0" smtClean="0"/>
              <a:t>emergencies.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9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Structure and Organization of IPC and PS </a:t>
            </a:r>
            <a:r>
              <a:rPr lang="en-US" b="1" dirty="0" smtClean="0"/>
              <a:t>programs cont’d…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569157" y="3290561"/>
            <a:ext cx="4450080" cy="2999882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IPC </a:t>
            </a:r>
            <a:r>
              <a:rPr lang="en-US" dirty="0"/>
              <a:t>programs at national and facility level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IPC </a:t>
            </a:r>
            <a:r>
              <a:rPr lang="en-US" dirty="0"/>
              <a:t>guidelines at national and facility level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IPC </a:t>
            </a:r>
            <a:r>
              <a:rPr lang="en-US" dirty="0"/>
              <a:t>education and training at national and facility level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Surveillance </a:t>
            </a:r>
            <a:r>
              <a:rPr lang="en-US" dirty="0"/>
              <a:t>of HAIs at national and facility level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639616" y="2485107"/>
            <a:ext cx="9062637" cy="576262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WHO Core Components of IPC are: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6189109" y="3243262"/>
            <a:ext cx="4450080" cy="3204835"/>
          </a:xfrm>
        </p:spPr>
        <p:txBody>
          <a:bodyPr>
            <a:normAutofit fontScale="85000" lnSpcReduction="10000"/>
          </a:bodyPr>
          <a:lstStyle/>
          <a:p>
            <a:pPr marL="457200" indent="-457200" algn="just">
              <a:buFont typeface="+mj-lt"/>
              <a:buAutoNum type="arabicPeriod" startAt="5"/>
            </a:pPr>
            <a:r>
              <a:rPr lang="en-US" dirty="0"/>
              <a:t>Multimodal strategies for implementing IPC activities at national and facility level 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smtClean="0"/>
              <a:t>Monitoring </a:t>
            </a:r>
            <a:r>
              <a:rPr lang="en-US" dirty="0"/>
              <a:t>and evaluations and feedback at national and facility level 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smtClean="0"/>
              <a:t>Workload</a:t>
            </a:r>
            <a:r>
              <a:rPr lang="en-US" dirty="0"/>
              <a:t>, staffing, and bed occupancy at the facility level 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dirty="0" smtClean="0"/>
              <a:t>Built </a:t>
            </a:r>
            <a:r>
              <a:rPr lang="en-US" dirty="0"/>
              <a:t>environment, materials, and equipment for IPC at facility level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42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three primary goals for facility-level IPC programs are 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solidFill>
                  <a:srgbClr val="0070C0"/>
                </a:solidFill>
              </a:rPr>
              <a:t>Protect patients </a:t>
            </a:r>
            <a:r>
              <a:rPr lang="en-US" dirty="0"/>
              <a:t>from </a:t>
            </a:r>
            <a:r>
              <a:rPr lang="en-US" b="1" dirty="0"/>
              <a:t>health care associated infections </a:t>
            </a:r>
            <a:r>
              <a:rPr lang="en-US" dirty="0"/>
              <a:t>and </a:t>
            </a:r>
            <a:r>
              <a:rPr lang="en-US" b="1" dirty="0"/>
              <a:t>other health related </a:t>
            </a:r>
            <a:r>
              <a:rPr lang="en-US" b="1" dirty="0" smtClean="0"/>
              <a:t>hazard</a:t>
            </a:r>
            <a:endParaRPr lang="en-US" b="1" dirty="0"/>
          </a:p>
          <a:p>
            <a:pPr lvl="0"/>
            <a:r>
              <a:rPr lang="en-US" dirty="0">
                <a:solidFill>
                  <a:srgbClr val="0070C0"/>
                </a:solidFill>
              </a:rPr>
              <a:t>Protect HCWs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visitors</a:t>
            </a:r>
            <a:r>
              <a:rPr lang="en-US" dirty="0"/>
              <a:t>, and others in the health care environment </a:t>
            </a:r>
          </a:p>
          <a:p>
            <a:r>
              <a:rPr lang="en-US" dirty="0"/>
              <a:t>Achieve this protection in the most </a:t>
            </a:r>
            <a:r>
              <a:rPr lang="en-US" dirty="0">
                <a:solidFill>
                  <a:srgbClr val="0070C0"/>
                </a:solidFill>
              </a:rPr>
              <a:t>cost-effective</a:t>
            </a:r>
            <a:r>
              <a:rPr lang="en-US" dirty="0"/>
              <a:t> manner within the constraints of available resource</a:t>
            </a:r>
          </a:p>
        </p:txBody>
      </p:sp>
    </p:spTree>
    <p:extLst>
      <p:ext uri="{BB962C8B-B14F-4D97-AF65-F5344CB8AC3E}">
        <p14:creationId xmlns:p14="http://schemas.microsoft.com/office/powerpoint/2010/main" val="336469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524" y="1030778"/>
            <a:ext cx="10231821" cy="1188426"/>
          </a:xfrm>
        </p:spPr>
        <p:txBody>
          <a:bodyPr>
            <a:noAutofit/>
          </a:bodyPr>
          <a:lstStyle/>
          <a:p>
            <a:r>
              <a:rPr lang="en-US" sz="3600" b="1" dirty="0"/>
              <a:t>Some considerations and examples for possible IPC/PS program </a:t>
            </a:r>
            <a:r>
              <a:rPr lang="en-US" sz="3600" b="1" dirty="0" smtClean="0"/>
              <a:t>structure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166" y="2490136"/>
            <a:ext cx="10326413" cy="376877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All responsibilities of the program are carried out by </a:t>
            </a:r>
            <a:r>
              <a:rPr lang="en-US" dirty="0" smtClean="0"/>
              <a:t>IPC </a:t>
            </a:r>
            <a:r>
              <a:rPr lang="en-US" dirty="0" smtClean="0">
                <a:solidFill>
                  <a:srgbClr val="0070C0"/>
                </a:solidFill>
              </a:rPr>
              <a:t>focal </a:t>
            </a:r>
            <a:r>
              <a:rPr lang="en-US" dirty="0">
                <a:solidFill>
                  <a:srgbClr val="0070C0"/>
                </a:solidFill>
              </a:rPr>
              <a:t>staff </a:t>
            </a:r>
            <a:r>
              <a:rPr lang="en-US" dirty="0"/>
              <a:t>and are </a:t>
            </a:r>
            <a:r>
              <a:rPr lang="en-US" b="1" dirty="0"/>
              <a:t>guided </a:t>
            </a:r>
            <a:r>
              <a:rPr lang="en-US" dirty="0"/>
              <a:t>by a </a:t>
            </a:r>
            <a:r>
              <a:rPr lang="en-US" dirty="0">
                <a:solidFill>
                  <a:srgbClr val="0070C0"/>
                </a:solidFill>
              </a:rPr>
              <a:t>health care epidemiologist</a:t>
            </a:r>
            <a:r>
              <a:rPr lang="en-US" dirty="0"/>
              <a:t>/</a:t>
            </a:r>
            <a:r>
              <a:rPr lang="en-US" dirty="0">
                <a:solidFill>
                  <a:srgbClr val="0070C0"/>
                </a:solidFill>
              </a:rPr>
              <a:t>infectious disease physician </a:t>
            </a:r>
            <a:r>
              <a:rPr lang="en-US" dirty="0"/>
              <a:t>or other physicians with </a:t>
            </a:r>
            <a:r>
              <a:rPr lang="en-US" b="1" dirty="0"/>
              <a:t>relevant </a:t>
            </a:r>
            <a:r>
              <a:rPr lang="en-US" b="1" dirty="0" smtClean="0"/>
              <a:t>expertise</a:t>
            </a:r>
            <a:endParaRPr lang="en-US" b="1" dirty="0"/>
          </a:p>
          <a:p>
            <a:pPr algn="just"/>
            <a:r>
              <a:rPr lang="en-US" dirty="0"/>
              <a:t>The </a:t>
            </a:r>
            <a:r>
              <a:rPr lang="en-US" dirty="0" smtClean="0"/>
              <a:t>IPC </a:t>
            </a:r>
            <a:r>
              <a:rPr lang="en-US" dirty="0"/>
              <a:t>team is composed of the </a:t>
            </a:r>
            <a:r>
              <a:rPr lang="en-US" dirty="0">
                <a:solidFill>
                  <a:srgbClr val="0070C0"/>
                </a:solidFill>
              </a:rPr>
              <a:t>IPC focal staff</a:t>
            </a:r>
            <a:r>
              <a:rPr lang="en-US" dirty="0"/>
              <a:t>/</a:t>
            </a:r>
            <a:r>
              <a:rPr lang="en-US" dirty="0">
                <a:solidFill>
                  <a:srgbClr val="0070C0"/>
                </a:solidFill>
              </a:rPr>
              <a:t>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chair of the committee</a:t>
            </a:r>
          </a:p>
        </p:txBody>
      </p:sp>
    </p:spTree>
    <p:extLst>
      <p:ext uri="{BB962C8B-B14F-4D97-AF65-F5344CB8AC3E}">
        <p14:creationId xmlns:p14="http://schemas.microsoft.com/office/powerpoint/2010/main" val="395899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808" y="1030778"/>
            <a:ext cx="10515600" cy="1188426"/>
          </a:xfrm>
        </p:spPr>
        <p:txBody>
          <a:bodyPr/>
          <a:lstStyle/>
          <a:p>
            <a:r>
              <a:rPr lang="en-US" sz="4000" dirty="0"/>
              <a:t>Some considerations and examples for possible IPC/PS program </a:t>
            </a:r>
            <a:r>
              <a:rPr lang="en-US" sz="4000" dirty="0" smtClean="0"/>
              <a:t>structure cont’d…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759" y="2380593"/>
            <a:ext cx="10263351" cy="381525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 </a:t>
            </a:r>
            <a:r>
              <a:rPr lang="en-US" dirty="0" smtClean="0"/>
              <a:t>IPC </a:t>
            </a:r>
            <a:r>
              <a:rPr lang="en-US" dirty="0"/>
              <a:t>committee is the </a:t>
            </a:r>
            <a:r>
              <a:rPr lang="en-US" dirty="0">
                <a:solidFill>
                  <a:srgbClr val="0070C0"/>
                </a:solidFill>
              </a:rPr>
              <a:t>central decision-making body</a:t>
            </a:r>
            <a:r>
              <a:rPr lang="en-US" dirty="0"/>
              <a:t> reporting to the </a:t>
            </a:r>
            <a:r>
              <a:rPr lang="en-US" b="1" dirty="0"/>
              <a:t>medical staff administration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b="1" dirty="0"/>
              <a:t>Multidisciplinary</a:t>
            </a:r>
            <a:r>
              <a:rPr lang="en-US" dirty="0"/>
              <a:t> support is obtained via </a:t>
            </a:r>
            <a:r>
              <a:rPr lang="en-US" dirty="0">
                <a:solidFill>
                  <a:srgbClr val="0070C0"/>
                </a:solidFill>
              </a:rPr>
              <a:t>quality improvement teams</a:t>
            </a:r>
            <a:r>
              <a:rPr lang="en-US" dirty="0"/>
              <a:t> that meet regularly and are responsible for </a:t>
            </a:r>
            <a:r>
              <a:rPr lang="en-US" b="1" dirty="0"/>
              <a:t>planning</a:t>
            </a:r>
            <a:r>
              <a:rPr lang="en-US" dirty="0"/>
              <a:t>, </a:t>
            </a:r>
            <a:r>
              <a:rPr lang="en-US" b="1" dirty="0"/>
              <a:t>policy development</a:t>
            </a:r>
            <a:r>
              <a:rPr lang="en-US" dirty="0"/>
              <a:t>, </a:t>
            </a:r>
            <a:r>
              <a:rPr lang="en-US" b="1" dirty="0"/>
              <a:t>interventions</a:t>
            </a:r>
            <a:r>
              <a:rPr lang="en-US" dirty="0"/>
              <a:t>, and </a:t>
            </a:r>
            <a:r>
              <a:rPr lang="en-US" b="1" dirty="0"/>
              <a:t>decision-making</a:t>
            </a:r>
            <a:r>
              <a:rPr lang="en-US" dirty="0"/>
              <a:t> rather than via an IPC team.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530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807" y="1030778"/>
            <a:ext cx="10531365" cy="1188426"/>
          </a:xfrm>
        </p:spPr>
        <p:txBody>
          <a:bodyPr/>
          <a:lstStyle/>
          <a:p>
            <a:r>
              <a:rPr lang="en-US" sz="3600" dirty="0"/>
              <a:t>Some considerations and examples for possible </a:t>
            </a:r>
            <a:r>
              <a:rPr lang="en-US" sz="3600" dirty="0" smtClean="0"/>
              <a:t>IPC </a:t>
            </a:r>
            <a:r>
              <a:rPr lang="en-US" sz="3600" dirty="0"/>
              <a:t>program structure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9154" y="2490136"/>
            <a:ext cx="9064981" cy="373724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IPC </a:t>
            </a:r>
            <a:r>
              <a:rPr lang="en-US" dirty="0"/>
              <a:t>staffs </a:t>
            </a:r>
            <a:r>
              <a:rPr lang="en-US" dirty="0" smtClean="0"/>
              <a:t>should have </a:t>
            </a:r>
            <a:r>
              <a:rPr lang="en-US" b="1" dirty="0">
                <a:solidFill>
                  <a:srgbClr val="0070C0"/>
                </a:solidFill>
              </a:rPr>
              <a:t>designated hours each week </a:t>
            </a:r>
            <a:r>
              <a:rPr lang="en-US" dirty="0"/>
              <a:t>(</a:t>
            </a:r>
            <a:r>
              <a:rPr lang="en-US" b="1" dirty="0"/>
              <a:t>less than full time</a:t>
            </a:r>
            <a:r>
              <a:rPr lang="en-US" dirty="0"/>
              <a:t>) to </a:t>
            </a:r>
            <a:r>
              <a:rPr lang="en-US" dirty="0">
                <a:solidFill>
                  <a:srgbClr val="0070C0"/>
                </a:solidFill>
              </a:rPr>
              <a:t>dedicate to </a:t>
            </a:r>
            <a:r>
              <a:rPr lang="en-US" dirty="0" smtClean="0">
                <a:solidFill>
                  <a:srgbClr val="0070C0"/>
                </a:solidFill>
              </a:rPr>
              <a:t>IPC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r>
              <a:rPr lang="en-US" dirty="0"/>
              <a:t>If one IPC/PS staff member attends multiple clinics or facilities for </a:t>
            </a:r>
            <a:r>
              <a:rPr lang="en-US" dirty="0" smtClean="0"/>
              <a:t>IPC </a:t>
            </a:r>
            <a:r>
              <a:rPr lang="en-US" dirty="0"/>
              <a:t>activity, a structure like an </a:t>
            </a:r>
            <a:r>
              <a:rPr lang="en-US" dirty="0">
                <a:solidFill>
                  <a:srgbClr val="0070C0"/>
                </a:solidFill>
              </a:rPr>
              <a:t>IPC committee is important</a:t>
            </a:r>
            <a:r>
              <a:rPr lang="en-US" dirty="0"/>
              <a:t> for maintaining support and </a:t>
            </a:r>
            <a:r>
              <a:rPr lang="en-US" dirty="0" smtClean="0"/>
              <a:t>oversight</a:t>
            </a:r>
            <a:endParaRPr lang="en-US" dirty="0"/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IPC focal staff </a:t>
            </a:r>
            <a:r>
              <a:rPr lang="en-US" dirty="0"/>
              <a:t>report to the </a:t>
            </a:r>
            <a:r>
              <a:rPr lang="en-US" dirty="0" smtClean="0">
                <a:solidFill>
                  <a:srgbClr val="0070C0"/>
                </a:solidFill>
              </a:rPr>
              <a:t>IPC </a:t>
            </a:r>
            <a:r>
              <a:rPr lang="en-US" dirty="0">
                <a:solidFill>
                  <a:srgbClr val="0070C0"/>
                </a:solidFill>
              </a:rPr>
              <a:t>Committee </a:t>
            </a:r>
            <a:r>
              <a:rPr lang="en-US" dirty="0"/>
              <a:t>and are overseen by a separate administrative </a:t>
            </a:r>
            <a:r>
              <a:rPr lang="en-US" dirty="0" smtClean="0"/>
              <a:t>area.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5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IPC Program Staff Structure at HCF Level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953" y="2364828"/>
            <a:ext cx="7078716" cy="3910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332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745" y="1030778"/>
            <a:ext cx="10720552" cy="1188426"/>
          </a:xfrm>
        </p:spPr>
        <p:txBody>
          <a:bodyPr>
            <a:normAutofit/>
          </a:bodyPr>
          <a:lstStyle/>
          <a:p>
            <a:r>
              <a:rPr lang="en-US" sz="3100" b="1" dirty="0" smtClean="0"/>
              <a:t>Roles and Responsibilities of Healthcare </a:t>
            </a:r>
            <a:r>
              <a:rPr lang="en-US" sz="3100" dirty="0"/>
              <a:t>W</a:t>
            </a:r>
            <a:r>
              <a:rPr lang="en-US" sz="3100" b="1" dirty="0" smtClean="0"/>
              <a:t>orkers (</a:t>
            </a:r>
            <a:r>
              <a:rPr lang="en-US" sz="3100" dirty="0" smtClean="0"/>
              <a:t>HC</a:t>
            </a:r>
            <a:r>
              <a:rPr lang="en-US" sz="3100" dirty="0"/>
              <a:t>W</a:t>
            </a:r>
            <a:r>
              <a:rPr lang="en-US" sz="3100" b="1" dirty="0" smtClean="0"/>
              <a:t>s) involved in IPC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9154" y="2490136"/>
            <a:ext cx="9064981" cy="373724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 Administrative </a:t>
            </a:r>
            <a:r>
              <a:rPr lang="en-US" b="1" dirty="0"/>
              <a:t>leadership</a:t>
            </a:r>
            <a:r>
              <a:rPr lang="en-US" dirty="0"/>
              <a:t>: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reporting structure for the IPC program </a:t>
            </a:r>
            <a:r>
              <a:rPr lang="en-US" dirty="0">
                <a:solidFill>
                  <a:srgbClr val="0070C0"/>
                </a:solidFill>
              </a:rPr>
              <a:t>varies among health care facilities</a:t>
            </a:r>
            <a:r>
              <a:rPr lang="en-US" dirty="0"/>
              <a:t> and can be </a:t>
            </a:r>
            <a:r>
              <a:rPr lang="en-US" b="1" dirty="0"/>
              <a:t>adapted to fit to the local context </a:t>
            </a:r>
            <a:r>
              <a:rPr lang="en-US" dirty="0"/>
              <a:t>of the </a:t>
            </a:r>
            <a:r>
              <a:rPr lang="en-US" dirty="0" smtClean="0"/>
              <a:t>facility.</a:t>
            </a:r>
          </a:p>
          <a:p>
            <a:pPr algn="just"/>
            <a:r>
              <a:rPr lang="en-US" dirty="0" smtClean="0"/>
              <a:t>One </a:t>
            </a:r>
            <a:r>
              <a:rPr lang="en-US" dirty="0"/>
              <a:t>or more </a:t>
            </a:r>
            <a:r>
              <a:rPr lang="en-US" b="1" dirty="0"/>
              <a:t>health care administrators </a:t>
            </a:r>
            <a:r>
              <a:rPr lang="en-US" dirty="0"/>
              <a:t>will supervise the </a:t>
            </a:r>
            <a:r>
              <a:rPr lang="en-US" dirty="0">
                <a:solidFill>
                  <a:srgbClr val="0070C0"/>
                </a:solidFill>
              </a:rPr>
              <a:t>leader of the IPC program </a:t>
            </a:r>
            <a:r>
              <a:rPr lang="en-US" dirty="0"/>
              <a:t>and will </a:t>
            </a:r>
            <a:r>
              <a:rPr lang="en-US" b="1" dirty="0"/>
              <a:t>take an active role </a:t>
            </a:r>
            <a:r>
              <a:rPr lang="en-US" dirty="0"/>
              <a:t>in </a:t>
            </a:r>
            <a:r>
              <a:rPr lang="en-US" dirty="0">
                <a:solidFill>
                  <a:srgbClr val="0070C0"/>
                </a:solidFill>
              </a:rPr>
              <a:t>helping to shape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support the program’s priorities and plans. 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9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572" y="1030778"/>
            <a:ext cx="10515599" cy="1188426"/>
          </a:xfrm>
        </p:spPr>
        <p:txBody>
          <a:bodyPr/>
          <a:lstStyle/>
          <a:p>
            <a:r>
              <a:rPr lang="en-US" sz="3200" dirty="0"/>
              <a:t>Roles and Responsibilities of Healthcare Workers (HCWs) involved in IPC </a:t>
            </a:r>
            <a:r>
              <a:rPr lang="en-US" sz="3200" dirty="0" smtClean="0"/>
              <a:t>Programs cont’d…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056" y="2412124"/>
            <a:ext cx="10184524" cy="420939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   IPC/PS </a:t>
            </a:r>
            <a:r>
              <a:rPr lang="en-US" b="1" dirty="0"/>
              <a:t>committee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The purpose of the committee is to </a:t>
            </a:r>
            <a:r>
              <a:rPr lang="en-US" b="1" dirty="0"/>
              <a:t>guide and support the use of recommended practices</a:t>
            </a:r>
            <a:r>
              <a:rPr lang="en-US" dirty="0"/>
              <a:t> and to review and resolve related problems that may arise. </a:t>
            </a:r>
            <a:endParaRPr lang="en-US" dirty="0" smtClean="0"/>
          </a:p>
          <a:p>
            <a:pPr algn="just"/>
            <a:r>
              <a:rPr lang="en-US" dirty="0" smtClean="0"/>
              <a:t>Additionally</a:t>
            </a:r>
            <a:r>
              <a:rPr lang="en-US" dirty="0"/>
              <a:t>, the committee </a:t>
            </a:r>
            <a:r>
              <a:rPr lang="en-US" b="1" dirty="0"/>
              <a:t>advocates for resources </a:t>
            </a:r>
            <a:r>
              <a:rPr lang="en-US" dirty="0"/>
              <a:t>required for effective implementation of the IPC program.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committee should include representatives from different wards and units, including </a:t>
            </a:r>
            <a:r>
              <a:rPr lang="en-US" b="1" dirty="0"/>
              <a:t>procurement</a:t>
            </a:r>
            <a:r>
              <a:rPr lang="en-US" dirty="0"/>
              <a:t>, </a:t>
            </a:r>
            <a:r>
              <a:rPr lang="en-US" b="1" dirty="0"/>
              <a:t>laboratory</a:t>
            </a:r>
            <a:r>
              <a:rPr lang="en-US" dirty="0"/>
              <a:t>, </a:t>
            </a:r>
            <a:r>
              <a:rPr lang="en-US" b="1" dirty="0"/>
              <a:t>sterilization,</a:t>
            </a:r>
            <a:r>
              <a:rPr lang="en-US" dirty="0"/>
              <a:t> </a:t>
            </a:r>
            <a:r>
              <a:rPr lang="en-US" b="1" dirty="0"/>
              <a:t>environmental cleaning…etc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IPC committee should </a:t>
            </a:r>
            <a:r>
              <a:rPr lang="en-US" b="1" dirty="0"/>
              <a:t>meet on a regular basis, usually monthly</a:t>
            </a:r>
            <a:r>
              <a:rPr lang="en-US" dirty="0"/>
              <a:t>, to review the available IPC data and any problems or issues that are identified but the IPC team (usually composed of key persons involved in the </a:t>
            </a:r>
            <a:r>
              <a:rPr lang="en-US" dirty="0" smtClean="0"/>
              <a:t>day-today activity)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3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573" y="1030778"/>
            <a:ext cx="10547130" cy="1188426"/>
          </a:xfrm>
        </p:spPr>
        <p:txBody>
          <a:bodyPr/>
          <a:lstStyle/>
          <a:p>
            <a:r>
              <a:rPr lang="en-US" sz="3200" dirty="0"/>
              <a:t>Roles and Responsibilities of Healthcare Workers (HCWs) involved in IPC Programs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6" y="2270235"/>
            <a:ext cx="10421007" cy="389408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1" dirty="0" smtClean="0"/>
              <a:t> Task </a:t>
            </a:r>
            <a:r>
              <a:rPr lang="en-US" b="1" dirty="0"/>
              <a:t>forces/working groups</a:t>
            </a:r>
            <a:r>
              <a:rPr lang="en-US" dirty="0"/>
              <a:t>: 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may be permanent or temporary groups, and may be created as needed to provide input and oversight </a:t>
            </a:r>
            <a:r>
              <a:rPr lang="en-US" b="1" dirty="0"/>
              <a:t>for a particular issue</a:t>
            </a:r>
            <a:r>
              <a:rPr lang="en-US" b="1" dirty="0" smtClean="0"/>
              <a:t>.</a:t>
            </a:r>
          </a:p>
          <a:p>
            <a:pPr algn="just"/>
            <a:r>
              <a:rPr lang="en-US" dirty="0" smtClean="0"/>
              <a:t>Task </a:t>
            </a:r>
            <a:r>
              <a:rPr lang="en-US" dirty="0"/>
              <a:t>forces/working groups should consist of individuals with </a:t>
            </a:r>
            <a:r>
              <a:rPr lang="en-US" dirty="0">
                <a:solidFill>
                  <a:srgbClr val="0070C0"/>
                </a:solidFill>
              </a:rPr>
              <a:t>multidisciplinary expertise </a:t>
            </a:r>
            <a:r>
              <a:rPr lang="en-US" dirty="0"/>
              <a:t>and should be granted </a:t>
            </a:r>
            <a:r>
              <a:rPr lang="en-US" b="1" dirty="0"/>
              <a:t>authority to make decisions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advise and oversee </a:t>
            </a: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IPC leadership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team</a:t>
            </a:r>
            <a:r>
              <a:rPr lang="en-US" dirty="0"/>
              <a:t> in addressing the issue. 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30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807" y="1030778"/>
            <a:ext cx="10562896" cy="1188426"/>
          </a:xfrm>
        </p:spPr>
        <p:txBody>
          <a:bodyPr/>
          <a:lstStyle/>
          <a:p>
            <a:r>
              <a:rPr lang="en-US" sz="3200" dirty="0"/>
              <a:t>Roles and Responsibilities of Healthcare Workers (HCWs) involved in IPC Programs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228" y="2286000"/>
            <a:ext cx="10373710" cy="39886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/>
              <a:t>Organizational </a:t>
            </a:r>
            <a:r>
              <a:rPr lang="en-US" b="1" dirty="0"/>
              <a:t>oversight from top </a:t>
            </a:r>
            <a:r>
              <a:rPr lang="en-US" b="1" dirty="0" smtClean="0"/>
              <a:t>facility leadership</a:t>
            </a:r>
            <a:r>
              <a:rPr lang="en-US" dirty="0"/>
              <a:t>: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person or group with </a:t>
            </a:r>
            <a:r>
              <a:rPr lang="en-US" b="1" dirty="0"/>
              <a:t>organizational authority </a:t>
            </a:r>
            <a:r>
              <a:rPr lang="en-US" dirty="0"/>
              <a:t>should </a:t>
            </a:r>
            <a:r>
              <a:rPr lang="en-US" b="1" dirty="0">
                <a:solidFill>
                  <a:srgbClr val="0070C0"/>
                </a:solidFill>
              </a:rPr>
              <a:t>periodically review </a:t>
            </a:r>
            <a:r>
              <a:rPr lang="en-US" dirty="0"/>
              <a:t>the status of </a:t>
            </a:r>
            <a:r>
              <a:rPr lang="en-US" b="1" dirty="0">
                <a:solidFill>
                  <a:srgbClr val="0070C0"/>
                </a:solidFill>
              </a:rPr>
              <a:t>HAIs</a:t>
            </a:r>
            <a:r>
              <a:rPr lang="en-US" b="1" dirty="0"/>
              <a:t> </a:t>
            </a:r>
            <a:r>
              <a:rPr lang="en-US" dirty="0"/>
              <a:t>at the facility and the </a:t>
            </a:r>
            <a:r>
              <a:rPr lang="en-US" b="1" dirty="0"/>
              <a:t>effectiveness of measures </a:t>
            </a:r>
            <a:r>
              <a:rPr lang="en-US" dirty="0"/>
              <a:t>designed to contain </a:t>
            </a:r>
            <a:r>
              <a:rPr lang="en-US" dirty="0" smtClean="0"/>
              <a:t>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47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103" y="1030778"/>
            <a:ext cx="10499835" cy="1188426"/>
          </a:xfrm>
        </p:spPr>
        <p:txBody>
          <a:bodyPr/>
          <a:lstStyle/>
          <a:p>
            <a:r>
              <a:rPr lang="en-US" sz="3200" dirty="0"/>
              <a:t>Roles and Responsibilities of Healthcare Workers (HCWs) involved in IPC Programs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/>
              <a:t>National </a:t>
            </a:r>
            <a:r>
              <a:rPr lang="en-US" b="1" dirty="0"/>
              <a:t>or regional public health authorities</a:t>
            </a:r>
            <a:r>
              <a:rPr lang="en-US" dirty="0"/>
              <a:t>: </a:t>
            </a:r>
            <a:endParaRPr lang="en-US" dirty="0" smtClean="0"/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Public </a:t>
            </a:r>
            <a:r>
              <a:rPr lang="en-US" dirty="0">
                <a:solidFill>
                  <a:srgbClr val="0070C0"/>
                </a:solidFill>
              </a:rPr>
              <a:t>health authorities </a:t>
            </a:r>
            <a:r>
              <a:rPr lang="en-US" dirty="0"/>
              <a:t>work closely with and support the </a:t>
            </a:r>
            <a:r>
              <a:rPr lang="en-US" b="1" dirty="0"/>
              <a:t>facility-level IPC program</a:t>
            </a:r>
            <a:r>
              <a:rPr lang="en-US" dirty="0"/>
              <a:t>, providing </a:t>
            </a:r>
            <a:r>
              <a:rPr lang="en-US" dirty="0">
                <a:solidFill>
                  <a:srgbClr val="0070C0"/>
                </a:solidFill>
              </a:rPr>
              <a:t>expertise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partnership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assistance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guidance documents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support for outbreak investigations</a:t>
            </a:r>
            <a:r>
              <a:rPr lang="en-US" dirty="0"/>
              <a:t>, and </a:t>
            </a:r>
            <a:r>
              <a:rPr lang="en-US" dirty="0">
                <a:solidFill>
                  <a:srgbClr val="0070C0"/>
                </a:solidFill>
              </a:rPr>
              <a:t>authority to enforce IPC measures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078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Roles and responsibilities of facility level staffs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b="1" dirty="0"/>
              <a:t>organization and structure </a:t>
            </a:r>
            <a:r>
              <a:rPr lang="en-US" dirty="0"/>
              <a:t>of a facility’s IPC program, should have a </a:t>
            </a:r>
            <a:r>
              <a:rPr lang="en-US" b="1" dirty="0"/>
              <a:t>clear concept </a:t>
            </a:r>
            <a:r>
              <a:rPr lang="en-US" dirty="0"/>
              <a:t>of the </a:t>
            </a:r>
            <a:r>
              <a:rPr lang="en-US" b="1" dirty="0">
                <a:solidFill>
                  <a:srgbClr val="0070C0"/>
                </a:solidFill>
              </a:rPr>
              <a:t>composition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</a:rPr>
              <a:t>roles</a:t>
            </a:r>
            <a:r>
              <a:rPr lang="en-US" dirty="0"/>
              <a:t>, and </a:t>
            </a:r>
            <a:r>
              <a:rPr lang="en-US" b="1" dirty="0">
                <a:solidFill>
                  <a:srgbClr val="0070C0"/>
                </a:solidFill>
              </a:rPr>
              <a:t>responsibilities</a:t>
            </a:r>
            <a:r>
              <a:rPr lang="en-US" dirty="0"/>
              <a:t> of important </a:t>
            </a:r>
            <a:r>
              <a:rPr lang="en-US" b="1" dirty="0">
                <a:solidFill>
                  <a:srgbClr val="0070C0"/>
                </a:solidFill>
              </a:rPr>
              <a:t>program staff</a:t>
            </a:r>
            <a:r>
              <a:rPr lang="en-US" dirty="0"/>
              <a:t>, including the </a:t>
            </a:r>
            <a:r>
              <a:rPr lang="en-US" b="1" dirty="0"/>
              <a:t>IPC committee</a:t>
            </a:r>
            <a:r>
              <a:rPr lang="en-US" dirty="0"/>
              <a:t>, </a:t>
            </a:r>
            <a:r>
              <a:rPr lang="en-US" b="1" dirty="0"/>
              <a:t>program leader</a:t>
            </a:r>
            <a:r>
              <a:rPr lang="en-US" dirty="0"/>
              <a:t>, </a:t>
            </a:r>
            <a:r>
              <a:rPr lang="en-US" b="1" dirty="0"/>
              <a:t>IPC task forces</a:t>
            </a:r>
            <a:r>
              <a:rPr lang="en-US" dirty="0"/>
              <a:t>, and </a:t>
            </a:r>
            <a:r>
              <a:rPr lang="en-US" b="1" dirty="0"/>
              <a:t>facility staff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2215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Attributes for Effective </a:t>
            </a:r>
            <a:r>
              <a:rPr lang="en-US" sz="3600" b="1" cap="all" dirty="0" smtClean="0"/>
              <a:t>IPC</a:t>
            </a:r>
            <a:r>
              <a:rPr lang="en-US" sz="3600" cap="all" dirty="0" smtClean="0"/>
              <a:t> </a:t>
            </a:r>
            <a:r>
              <a:rPr lang="en-US" sz="3600" b="1" dirty="0" smtClean="0"/>
              <a:t>Programs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07" y="2317532"/>
            <a:ext cx="10499834" cy="397291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successful </a:t>
            </a:r>
            <a:r>
              <a:rPr lang="en-US" dirty="0" smtClean="0">
                <a:solidFill>
                  <a:srgbClr val="0070C0"/>
                </a:solidFill>
              </a:rPr>
              <a:t>IPC </a:t>
            </a:r>
            <a:r>
              <a:rPr lang="en-US" dirty="0">
                <a:solidFill>
                  <a:srgbClr val="0070C0"/>
                </a:solidFill>
              </a:rPr>
              <a:t>program </a:t>
            </a:r>
            <a:r>
              <a:rPr lang="en-US" dirty="0"/>
              <a:t>must be able to </a:t>
            </a:r>
            <a:r>
              <a:rPr lang="en-US" b="1" dirty="0"/>
              <a:t>effectively guide</a:t>
            </a:r>
            <a:r>
              <a:rPr lang="en-US" dirty="0"/>
              <a:t>, </a:t>
            </a:r>
            <a:r>
              <a:rPr lang="en-US" b="1" dirty="0"/>
              <a:t>support</a:t>
            </a:r>
            <a:r>
              <a:rPr lang="en-US" dirty="0"/>
              <a:t>, and </a:t>
            </a:r>
            <a:r>
              <a:rPr lang="en-US" b="1" dirty="0"/>
              <a:t>assess IPC </a:t>
            </a:r>
            <a:r>
              <a:rPr lang="en-US" dirty="0" smtClean="0"/>
              <a:t>at </a:t>
            </a:r>
            <a:r>
              <a:rPr lang="en-US" dirty="0"/>
              <a:t>the facility. </a:t>
            </a:r>
            <a:endParaRPr lang="en-US" dirty="0" smtClean="0"/>
          </a:p>
          <a:p>
            <a:pPr algn="just"/>
            <a:r>
              <a:rPr lang="en-US" dirty="0" smtClean="0"/>
              <a:t>Some </a:t>
            </a:r>
            <a:r>
              <a:rPr lang="en-US" dirty="0"/>
              <a:t>of these attributes will be managed by </a:t>
            </a:r>
            <a:r>
              <a:rPr lang="en-US" b="1" dirty="0"/>
              <a:t>senior facility leadership</a:t>
            </a:r>
            <a:r>
              <a:rPr lang="en-US" dirty="0"/>
              <a:t> and some by those </a:t>
            </a:r>
            <a:r>
              <a:rPr lang="en-US" b="1" dirty="0"/>
              <a:t>designated as responsible and accountable</a:t>
            </a:r>
            <a:r>
              <a:rPr lang="en-US" dirty="0"/>
              <a:t> for the facility’s IPC </a:t>
            </a:r>
            <a:r>
              <a:rPr lang="en-US" dirty="0" smtClean="0"/>
              <a:t> </a:t>
            </a:r>
            <a:r>
              <a:rPr lang="en-US" dirty="0"/>
              <a:t>program.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57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for Effective </a:t>
            </a:r>
            <a:r>
              <a:rPr lang="en-US" cap="all" dirty="0"/>
              <a:t>IPC </a:t>
            </a:r>
            <a:r>
              <a:rPr lang="en-US" cap="all" dirty="0" smtClean="0"/>
              <a:t> </a:t>
            </a:r>
            <a:r>
              <a:rPr lang="en-US" dirty="0" smtClean="0"/>
              <a:t>Programs 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822" y="2317532"/>
            <a:ext cx="10200288" cy="4035972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 An IPC program </a:t>
            </a:r>
            <a:r>
              <a:rPr lang="en-US" b="1" dirty="0" smtClean="0"/>
              <a:t>to succeed</a:t>
            </a:r>
            <a:r>
              <a:rPr lang="en-US" dirty="0" smtClean="0"/>
              <a:t>, the program must acquire and retain the following attributes: 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</a:rPr>
              <a:t>Designated staff member/Team </a:t>
            </a:r>
            <a:r>
              <a:rPr lang="en-US" dirty="0"/>
              <a:t>who is responsible and accountable for IPC at the </a:t>
            </a:r>
            <a:r>
              <a:rPr lang="en-US" dirty="0" smtClean="0"/>
              <a:t>facility</a:t>
            </a:r>
            <a:endParaRPr lang="en-US" dirty="0"/>
          </a:p>
          <a:p>
            <a:pPr lvl="1" algn="just"/>
            <a:r>
              <a:rPr lang="en-US" dirty="0">
                <a:solidFill>
                  <a:srgbClr val="0070C0"/>
                </a:solidFill>
              </a:rPr>
              <a:t>Competent </a:t>
            </a:r>
            <a:r>
              <a:rPr lang="en-US" dirty="0" smtClean="0">
                <a:solidFill>
                  <a:srgbClr val="0070C0"/>
                </a:solidFill>
              </a:rPr>
              <a:t>IPC </a:t>
            </a:r>
            <a:r>
              <a:rPr lang="en-US" dirty="0">
                <a:solidFill>
                  <a:srgbClr val="0070C0"/>
                </a:solidFill>
              </a:rPr>
              <a:t>Program leaders </a:t>
            </a:r>
            <a:r>
              <a:rPr lang="en-US" dirty="0"/>
              <a:t>with appropriate training and education 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</a:rPr>
              <a:t>Formal authority granted </a:t>
            </a:r>
            <a:r>
              <a:rPr lang="en-US" dirty="0"/>
              <a:t>to the </a:t>
            </a:r>
            <a:r>
              <a:rPr lang="en-US" dirty="0" smtClean="0"/>
              <a:t>IPC  </a:t>
            </a:r>
            <a:r>
              <a:rPr lang="en-US" dirty="0"/>
              <a:t>program 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7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Attributes for Effective </a:t>
            </a:r>
            <a:r>
              <a:rPr lang="en-US" sz="3600" cap="all" dirty="0"/>
              <a:t>IPC </a:t>
            </a:r>
            <a:r>
              <a:rPr lang="en-US" sz="3600" cap="all" dirty="0" smtClean="0"/>
              <a:t> </a:t>
            </a:r>
            <a:r>
              <a:rPr lang="en-US" sz="3600" dirty="0"/>
              <a:t>Programs cont’d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056" y="2490136"/>
            <a:ext cx="9562080" cy="3674181"/>
          </a:xfrm>
        </p:spPr>
        <p:txBody>
          <a:bodyPr>
            <a:normAutofit/>
          </a:bodyPr>
          <a:lstStyle/>
          <a:p>
            <a:pPr lvl="1" algn="just"/>
            <a:r>
              <a:rPr lang="en-US" dirty="0" smtClean="0">
                <a:solidFill>
                  <a:srgbClr val="0070C0"/>
                </a:solidFill>
              </a:rPr>
              <a:t>Tangible support </a:t>
            </a:r>
            <a:r>
              <a:rPr lang="en-US" dirty="0" smtClean="0"/>
              <a:t>from facility leadership </a:t>
            </a:r>
          </a:p>
          <a:p>
            <a:pPr lvl="1" algn="just"/>
            <a:r>
              <a:rPr lang="en-US" dirty="0" smtClean="0">
                <a:solidFill>
                  <a:srgbClr val="0070C0"/>
                </a:solidFill>
              </a:rPr>
              <a:t>Adequate resources </a:t>
            </a:r>
            <a:r>
              <a:rPr lang="en-US" dirty="0" smtClean="0"/>
              <a:t>for IPC activities </a:t>
            </a:r>
          </a:p>
          <a:p>
            <a:pPr lvl="1" algn="just"/>
            <a:r>
              <a:rPr lang="en-US" dirty="0" smtClean="0">
                <a:solidFill>
                  <a:srgbClr val="0070C0"/>
                </a:solidFill>
              </a:rPr>
              <a:t>Partnerships with key stakeholders </a:t>
            </a:r>
            <a:r>
              <a:rPr lang="en-US" dirty="0" smtClean="0"/>
              <a:t>and front-line HCWs </a:t>
            </a:r>
          </a:p>
          <a:p>
            <a:pPr lvl="1" algn="just"/>
            <a:r>
              <a:rPr lang="en-US" dirty="0" smtClean="0">
                <a:solidFill>
                  <a:srgbClr val="0070C0"/>
                </a:solidFill>
              </a:rPr>
              <a:t>Effective communication </a:t>
            </a:r>
            <a:r>
              <a:rPr lang="en-US" dirty="0" smtClean="0"/>
              <a:t>about IPC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21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Major</a:t>
            </a:r>
            <a:r>
              <a:rPr lang="en-US" b="1" cap="all" dirty="0" smtClean="0"/>
              <a:t> IPC  </a:t>
            </a:r>
            <a:r>
              <a:rPr lang="en-US" b="1" dirty="0" smtClean="0"/>
              <a:t>Program</a:t>
            </a:r>
            <a:r>
              <a:rPr lang="en-US" b="1" cap="all" dirty="0" smtClean="0"/>
              <a:t> </a:t>
            </a:r>
            <a:r>
              <a:rPr lang="en-US" b="1" dirty="0" smtClean="0"/>
              <a:t>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103" y="2333297"/>
            <a:ext cx="10468303" cy="3972909"/>
          </a:xfrm>
        </p:spPr>
        <p:txBody>
          <a:bodyPr/>
          <a:lstStyle/>
          <a:p>
            <a:pPr algn="just"/>
            <a:r>
              <a:rPr lang="en-US" dirty="0" smtClean="0"/>
              <a:t>Successful IPC </a:t>
            </a:r>
            <a:r>
              <a:rPr lang="en-US" dirty="0"/>
              <a:t>programs are </a:t>
            </a:r>
            <a:endParaRPr lang="en-US" dirty="0" smtClean="0"/>
          </a:p>
          <a:p>
            <a:pPr lvl="1" algn="just"/>
            <a:r>
              <a:rPr lang="en-US" dirty="0"/>
              <a:t>B</a:t>
            </a:r>
            <a:r>
              <a:rPr lang="en-US" dirty="0" smtClean="0"/>
              <a:t>ased </a:t>
            </a:r>
            <a:r>
              <a:rPr lang="en-US" dirty="0"/>
              <a:t>on </a:t>
            </a:r>
            <a:r>
              <a:rPr lang="en-US" dirty="0">
                <a:solidFill>
                  <a:srgbClr val="0070C0"/>
                </a:solidFill>
              </a:rPr>
              <a:t>understanding the facility’s problems </a:t>
            </a:r>
            <a:r>
              <a:rPr lang="en-US" dirty="0"/>
              <a:t>and </a:t>
            </a:r>
            <a:r>
              <a:rPr lang="en-US" dirty="0" smtClean="0">
                <a:solidFill>
                  <a:srgbClr val="0070C0"/>
                </a:solidFill>
              </a:rPr>
              <a:t>needs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prioritizing activities</a:t>
            </a:r>
            <a:r>
              <a:rPr lang="en-US" dirty="0"/>
              <a:t>, and </a:t>
            </a:r>
            <a:r>
              <a:rPr lang="en-US" dirty="0">
                <a:solidFill>
                  <a:srgbClr val="0070C0"/>
                </a:solidFill>
              </a:rPr>
              <a:t>using available resources</a:t>
            </a:r>
            <a:r>
              <a:rPr lang="en-US" dirty="0"/>
              <a:t> </a:t>
            </a:r>
            <a:r>
              <a:rPr lang="en-US" b="1" dirty="0" smtClean="0"/>
              <a:t>effectively.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3332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</a:t>
            </a:r>
            <a:r>
              <a:rPr lang="en-US" cap="all" dirty="0"/>
              <a:t> IPC </a:t>
            </a:r>
            <a:r>
              <a:rPr lang="en-US" dirty="0" smtClean="0"/>
              <a:t>Program</a:t>
            </a:r>
            <a:r>
              <a:rPr lang="en-US" cap="all" dirty="0" smtClean="0"/>
              <a:t> </a:t>
            </a:r>
            <a:r>
              <a:rPr lang="en-US" dirty="0" smtClean="0"/>
              <a:t>Activities 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75" y="2380594"/>
            <a:ext cx="10594427" cy="3831020"/>
          </a:xfrm>
        </p:spPr>
        <p:txBody>
          <a:bodyPr>
            <a:normAutofit/>
          </a:bodyPr>
          <a:lstStyle/>
          <a:p>
            <a:r>
              <a:rPr lang="en-US" dirty="0" smtClean="0"/>
              <a:t>The major </a:t>
            </a:r>
            <a:r>
              <a:rPr lang="en-US" dirty="0"/>
              <a:t>activities </a:t>
            </a:r>
            <a:r>
              <a:rPr lang="en-US" dirty="0" smtClean="0"/>
              <a:t>to be e </a:t>
            </a:r>
            <a:r>
              <a:rPr lang="en-US" dirty="0"/>
              <a:t>carried out: </a:t>
            </a:r>
          </a:p>
          <a:p>
            <a:pPr lvl="1"/>
            <a:r>
              <a:rPr lang="en-US" dirty="0"/>
              <a:t>Facility Infection Prevention and Control </a:t>
            </a:r>
            <a:r>
              <a:rPr lang="en-US" dirty="0">
                <a:solidFill>
                  <a:srgbClr val="0070C0"/>
                </a:solidFill>
              </a:rPr>
              <a:t>Risk </a:t>
            </a:r>
            <a:r>
              <a:rPr lang="en-US" dirty="0" smtClean="0">
                <a:solidFill>
                  <a:srgbClr val="0070C0"/>
                </a:solidFill>
              </a:rPr>
              <a:t>Assessment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Program </a:t>
            </a:r>
            <a:r>
              <a:rPr lang="en-US" dirty="0">
                <a:solidFill>
                  <a:srgbClr val="0070C0"/>
                </a:solidFill>
              </a:rPr>
              <a:t>planning</a:t>
            </a:r>
            <a:r>
              <a:rPr lang="en-US" dirty="0" smtClean="0"/>
              <a:t>,</a:t>
            </a:r>
            <a:endParaRPr lang="en-US" dirty="0"/>
          </a:p>
          <a:p>
            <a:pPr lvl="1"/>
            <a:r>
              <a:rPr lang="en-US" b="1" dirty="0"/>
              <a:t>Implementation strategies </a:t>
            </a:r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evidence-based </a:t>
            </a:r>
            <a:r>
              <a:rPr lang="en-US" dirty="0" smtClean="0">
                <a:solidFill>
                  <a:srgbClr val="0070C0"/>
                </a:solidFill>
              </a:rPr>
              <a:t>practice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IPC Program </a:t>
            </a:r>
            <a:r>
              <a:rPr lang="en-US" dirty="0">
                <a:solidFill>
                  <a:srgbClr val="0070C0"/>
                </a:solidFill>
              </a:rPr>
              <a:t>evaluation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5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Quality Improvement Strategies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Managing </a:t>
            </a:r>
            <a:r>
              <a:rPr lang="en-US" i="1" dirty="0"/>
              <a:t>processes</a:t>
            </a:r>
            <a:r>
              <a:rPr lang="en-US" dirty="0"/>
              <a:t> </a:t>
            </a:r>
          </a:p>
          <a:p>
            <a:r>
              <a:rPr lang="en-US" i="1" dirty="0"/>
              <a:t>Continuous measurement</a:t>
            </a:r>
            <a:endParaRPr lang="en-US" dirty="0"/>
          </a:p>
          <a:p>
            <a:r>
              <a:rPr lang="en-US" i="1" dirty="0"/>
              <a:t>Collecting data</a:t>
            </a:r>
            <a:endParaRPr lang="en-US" dirty="0"/>
          </a:p>
          <a:p>
            <a:r>
              <a:rPr lang="en-US" i="1" dirty="0"/>
              <a:t>Engaging the appropriate HCWs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9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Deming’s PDSA Cycle and Key Elements of Each Step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923872"/>
              </p:ext>
            </p:extLst>
          </p:nvPr>
        </p:nvGraphicFramePr>
        <p:xfrm>
          <a:off x="1040519" y="2490788"/>
          <a:ext cx="9821917" cy="3910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95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Develop common goal, </a:t>
            </a:r>
            <a:endParaRPr lang="en-US" b="1" i="1" dirty="0" smtClean="0"/>
          </a:p>
          <a:p>
            <a:r>
              <a:rPr lang="en-US" b="1" i="1" dirty="0" smtClean="0"/>
              <a:t>Involve </a:t>
            </a:r>
            <a:r>
              <a:rPr lang="en-US" b="1" i="1" dirty="0"/>
              <a:t>stakeholders</a:t>
            </a:r>
            <a:r>
              <a:rPr lang="en-US" b="1" i="1" dirty="0" smtClean="0"/>
              <a:t>,</a:t>
            </a:r>
          </a:p>
          <a:p>
            <a:r>
              <a:rPr lang="en-US" b="1" i="1" dirty="0" smtClean="0"/>
              <a:t>Involve </a:t>
            </a:r>
            <a:r>
              <a:rPr lang="en-US" b="1" i="1" dirty="0"/>
              <a:t>all staff, </a:t>
            </a:r>
            <a:r>
              <a:rPr lang="en-US" b="1" i="1" dirty="0" smtClean="0"/>
              <a:t> </a:t>
            </a:r>
          </a:p>
          <a:p>
            <a:r>
              <a:rPr lang="en-US" b="1" i="1" dirty="0" smtClean="0"/>
              <a:t>Monitor </a:t>
            </a:r>
            <a:r>
              <a:rPr lang="en-US" b="1" i="1" dirty="0"/>
              <a:t>and Demonstrate commitment and consistency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9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    Strong IPC program is critical for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Reducing HAI’s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AMR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/>
              <a:t>Ensuring patient safety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/>
              <a:t>Outbreaks </a:t>
            </a:r>
            <a:r>
              <a:rPr lang="en-US" dirty="0" smtClean="0"/>
              <a:t>response</a:t>
            </a:r>
            <a:endParaRPr lang="en-US" dirty="0" smtClean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Improving quality of care </a:t>
            </a:r>
          </a:p>
        </p:txBody>
      </p:sp>
    </p:spTree>
    <p:extLst>
      <p:ext uri="{BB962C8B-B14F-4D97-AF65-F5344CB8AC3E}">
        <p14:creationId xmlns:p14="http://schemas.microsoft.com/office/powerpoint/2010/main" val="752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5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Theme5</Template>
  <TotalTime>3186</TotalTime>
  <Words>1280</Words>
  <Application>Microsoft Office PowerPoint</Application>
  <PresentationFormat>Custom</PresentationFormat>
  <Paragraphs>122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Theme5</vt:lpstr>
      <vt:lpstr>VOLUME 2:  SECTION 3     CHAPTER 2: MANAGING OVER  IPC PROGRAM</vt:lpstr>
      <vt:lpstr>Chapter Content</vt:lpstr>
      <vt:lpstr>Learning Objectives </vt:lpstr>
      <vt:lpstr>Overview</vt:lpstr>
      <vt:lpstr>Structure and Organization of IPC  programs </vt:lpstr>
      <vt:lpstr>Structure and Organization of IPC and PS programs cont’d… </vt:lpstr>
      <vt:lpstr>The three primary goals for facility-level IPC programs are to</vt:lpstr>
      <vt:lpstr>Some considerations and examples for possible IPC/PS program structure</vt:lpstr>
      <vt:lpstr>Some considerations and examples for possible IPC/PS program structure cont’d…</vt:lpstr>
      <vt:lpstr>Some considerations and examples for possible IPC program structure cont’d…</vt:lpstr>
      <vt:lpstr>IPC Program Staff Structure at HCF Level</vt:lpstr>
      <vt:lpstr>Roles and Responsibilities of Healthcare Workers (HCWs) involved in IPC Programs</vt:lpstr>
      <vt:lpstr>Roles and Responsibilities of Healthcare Workers (HCWs) involved in IPC Programs cont’d…</vt:lpstr>
      <vt:lpstr>Roles and Responsibilities of Healthcare Workers (HCWs) involved in IPC Programs cont’d…</vt:lpstr>
      <vt:lpstr>Roles and Responsibilities of Healthcare Workers (HCWs) involved in IPC Programs cont’d…</vt:lpstr>
      <vt:lpstr>Roles and Responsibilities of Healthcare Workers (HCWs) involved in IPC Programs cont’d…</vt:lpstr>
      <vt:lpstr>Roles and responsibilities of facility level staffs</vt:lpstr>
      <vt:lpstr>Attributes for Effective IPC Programs</vt:lpstr>
      <vt:lpstr>Attributes for Effective IPC  Programs cont’d…</vt:lpstr>
      <vt:lpstr>Attributes for Effective IPC  Programs cont’d…</vt:lpstr>
      <vt:lpstr>Major IPC  Program Activities</vt:lpstr>
      <vt:lpstr>Major IPC Program Activities cont’d…</vt:lpstr>
      <vt:lpstr>Quality Improvement Strategies </vt:lpstr>
      <vt:lpstr>Deming’s PDSA Cycle and Key Elements of Each Step</vt:lpstr>
      <vt:lpstr>Change management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yayene Tad</dc:creator>
  <cp:lastModifiedBy>moh</cp:lastModifiedBy>
  <cp:revision>44</cp:revision>
  <dcterms:created xsi:type="dcterms:W3CDTF">2018-12-13T20:34:01Z</dcterms:created>
  <dcterms:modified xsi:type="dcterms:W3CDTF">2019-09-23T14:01:04Z</dcterms:modified>
</cp:coreProperties>
</file>