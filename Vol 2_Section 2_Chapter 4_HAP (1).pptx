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5"/>
  </p:notesMasterIdLst>
  <p:sldIdLst>
    <p:sldId id="256" r:id="rId2"/>
    <p:sldId id="270" r:id="rId3"/>
    <p:sldId id="305" r:id="rId4"/>
    <p:sldId id="257" r:id="rId5"/>
    <p:sldId id="306" r:id="rId6"/>
    <p:sldId id="307" r:id="rId7"/>
    <p:sldId id="309" r:id="rId8"/>
    <p:sldId id="310" r:id="rId9"/>
    <p:sldId id="311" r:id="rId10"/>
    <p:sldId id="312" r:id="rId11"/>
    <p:sldId id="315" r:id="rId12"/>
    <p:sldId id="316" r:id="rId13"/>
    <p:sldId id="313" r:id="rId14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6" y="-72"/>
      </p:cViewPr>
      <p:guideLst>
        <p:guide orient="horz" pos="2160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4FD2E-C0D3-40B5-8DD1-9D796D061956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3C637-F117-4624-A596-DF844667A7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3557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3419" y="1879926"/>
            <a:ext cx="7741314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597481"/>
            <a:ext cx="5956820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2948" y="4972192"/>
            <a:ext cx="1293001" cy="361810"/>
          </a:xfrm>
        </p:spPr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56239" y="4972194"/>
            <a:ext cx="4986707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9329" y="4972193"/>
            <a:ext cx="965806" cy="361809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86438" y="3471329"/>
            <a:ext cx="680057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63090" y="76751"/>
            <a:ext cx="4028810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54593" y="5960533"/>
            <a:ext cx="1130796" cy="279400"/>
          </a:xfrm>
        </p:spPr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85389" y="5960533"/>
            <a:ext cx="963150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03" y="1641413"/>
            <a:ext cx="8772290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03" y="3734860"/>
            <a:ext cx="8772290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81785" y="5960533"/>
            <a:ext cx="1151331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0405" y="3599392"/>
            <a:ext cx="877228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052394"/>
            <a:ext cx="9042553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273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214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81784" y="5934457"/>
            <a:ext cx="1018658" cy="305477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5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5275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98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98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2" y="915338"/>
            <a:ext cx="904255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388534"/>
            <a:ext cx="3374030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826" y="982133"/>
            <a:ext cx="5128001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1" y="3031065"/>
            <a:ext cx="3374030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0404" y="2912533"/>
            <a:ext cx="31037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883832"/>
            <a:ext cx="48309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3663" y="1032933"/>
            <a:ext cx="3896288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2" y="3255432"/>
            <a:ext cx="4830954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4815415"/>
            <a:ext cx="9042553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4961" y="1032934"/>
            <a:ext cx="9431918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3" y="5382153"/>
            <a:ext cx="9042553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06873"/>
            <a:ext cx="9042553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275666"/>
            <a:ext cx="9042555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4" y="4140199"/>
            <a:ext cx="87867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09" y="982132"/>
            <a:ext cx="8512555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28322" y="3352800"/>
            <a:ext cx="7837626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69" y="4343401"/>
            <a:ext cx="904255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0489" y="905362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825" y="2827870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0404" y="4140199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7" y="3308581"/>
            <a:ext cx="904254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6" y="4777381"/>
            <a:ext cx="904254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73" y="982132"/>
            <a:ext cx="8412693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639312"/>
            <a:ext cx="904254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529667"/>
            <a:ext cx="904255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67851" y="896895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4495" y="2607728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0404" y="342900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982132"/>
            <a:ext cx="9042553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566160"/>
            <a:ext cx="9042547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3" y="4470401"/>
            <a:ext cx="90425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9" y="3429000"/>
            <a:ext cx="878677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2" y="2490136"/>
            <a:ext cx="9042555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867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88" y="906874"/>
            <a:ext cx="215323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5" y="906874"/>
            <a:ext cx="6537798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06748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17309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5273" y="915338"/>
            <a:ext cx="9042553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2490136"/>
            <a:ext cx="9042555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4593" y="5935133"/>
            <a:ext cx="89522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2EA2C9-3E80-4651-AEDB-66CBFBE914A4}" type="datetimeFigureOut">
              <a:rPr lang="en-US" smtClean="0"/>
              <a:pPr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5272" y="5960533"/>
            <a:ext cx="678938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19" y="5960533"/>
            <a:ext cx="125800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85653" y="4072"/>
            <a:ext cx="3201790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19" y="1752600"/>
            <a:ext cx="7499800" cy="2286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sz="2800" dirty="0">
                <a:latin typeface="Times New Roman" pitchFamily="18" charset="0"/>
                <a:cs typeface="Times New Roman" pitchFamily="18" charset="0"/>
              </a:rPr>
            </a:b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VOLUME 2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: SECTION 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CHAPTER 4 :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HEALTH CARE ASSOCIATED PNEUMONIA (INCLUDING VENTILATOR ASSOCIATED PNEUMONIA)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886200"/>
            <a:ext cx="5956820" cy="724182"/>
          </a:xfrm>
        </p:spPr>
        <p:txBody>
          <a:bodyPr>
            <a:normAutofit/>
          </a:bodyPr>
          <a:lstStyle/>
          <a:p>
            <a:r>
              <a:rPr lang="en-US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endParaRPr lang="en-US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905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295400"/>
            <a:ext cx="10438911" cy="99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Chapter Outline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5" y="2438400"/>
            <a:ext cx="9932168" cy="38100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Chapter contents</a:t>
            </a:r>
          </a:p>
          <a:p>
            <a:pPr lvl="0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1.1: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1.2: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Risk factors for hospital-acquired pneumonia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1.3: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Strategies for preventing health care associated pneumonia (including VAP).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1.4: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Monitoring, surveillance of health care associated pneumonia (including VAP)</a:t>
            </a:r>
          </a:p>
          <a:p>
            <a:pPr>
              <a:lnSpc>
                <a:spcPct val="17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PPP 1.5: Summary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519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4000" dirty="0" smtClean="0">
                <a:latin typeface="Times New Roman" pitchFamily="18" charset="0"/>
                <a:cs typeface="Times New Roman" pitchFamily="18" charset="0"/>
              </a:rPr>
              <a:t>Chapter </a:t>
            </a:r>
            <a:r>
              <a:rPr lang="en-GB" sz="4000" dirty="0">
                <a:latin typeface="Times New Roman" pitchFamily="18" charset="0"/>
                <a:cs typeface="Times New Roman" pitchFamily="18" charset="0"/>
              </a:rPr>
              <a:t>contents: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lvl="0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Risk factors for hospital-acquired pneumonia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Strategies for preventing health care associated pneumonia (including VAP).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Monitoring, surveillance of health care associated pneumonia (including VA).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Summary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43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66800"/>
            <a:ext cx="10438911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Chapter Objective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362200"/>
            <a:ext cx="10134865" cy="38100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  <a:spcAft>
                <a:spcPts val="1800"/>
              </a:spcAft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At the end of this module, participants will be able to:</a:t>
            </a:r>
          </a:p>
          <a:p>
            <a:pPr lvl="0">
              <a:lnSpc>
                <a:spcPct val="17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Understand Epidemiology and mechanisms of hospital-acquired pneumonia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Identify Risk factors for hospital-acquired pneumonia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Identify Strategies for preventing ventilator-associated pneumonia and other hospital-acquired pneumonias in adults, children, and infants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Understand Monitoring and surveillance of ventilator-associated pneumonia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4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Health care associated pneumonia accounts for 15% of all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HAIs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VAP accounts for 32% of all infections acquired in intensive care units 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majority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of non-ventilator-associated pneumonia and VAP is caused by bacteria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97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3600" dirty="0">
                <a:latin typeface="Times New Roman" pitchFamily="18" charset="0"/>
                <a:cs typeface="Times New Roman" pitchFamily="18" charset="0"/>
              </a:rPr>
              <a:t>major risk factors for HAP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GB" sz="7200" dirty="0" smtClean="0">
                <a:latin typeface="Times New Roman" pitchFamily="18" charset="0"/>
                <a:cs typeface="Times New Roman" pitchFamily="18" charset="0"/>
              </a:rPr>
              <a:t>Surgery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Intubation and mechanical </a:t>
            </a:r>
            <a:r>
              <a:rPr lang="en-GB" sz="7200" dirty="0" smtClean="0">
                <a:latin typeface="Times New Roman" pitchFamily="18" charset="0"/>
                <a:cs typeface="Times New Roman" pitchFamily="18" charset="0"/>
              </a:rPr>
              <a:t>ventilation. 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Aspiration of stomach or </a:t>
            </a:r>
            <a:r>
              <a:rPr lang="en-GB" sz="7200" dirty="0" err="1">
                <a:latin typeface="Times New Roman" pitchFamily="18" charset="0"/>
                <a:cs typeface="Times New Roman" pitchFamily="18" charset="0"/>
              </a:rPr>
              <a:t>oropharyngeal</a:t>
            </a: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 fluids contaminated with colonizing organisms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7200" dirty="0" err="1">
                <a:latin typeface="Times New Roman" pitchFamily="18" charset="0"/>
                <a:cs typeface="Times New Roman" pitchFamily="18" charset="0"/>
              </a:rPr>
              <a:t>Enteral</a:t>
            </a: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 feeding in a supine body position 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7200" dirty="0" err="1">
                <a:latin typeface="Times New Roman" pitchFamily="18" charset="0"/>
                <a:cs typeface="Times New Roman" pitchFamily="18" charset="0"/>
              </a:rPr>
              <a:t>Subglottic</a:t>
            </a: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 pooling of secretions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7200" dirty="0" err="1">
                <a:latin typeface="Times New Roman" pitchFamily="18" charset="0"/>
                <a:cs typeface="Times New Roman" pitchFamily="18" charset="0"/>
              </a:rPr>
              <a:t>Oropharyngeal</a:t>
            </a: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 colonization 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7200" dirty="0">
                <a:latin typeface="Times New Roman" pitchFamily="18" charset="0"/>
                <a:cs typeface="Times New Roman" pitchFamily="18" charset="0"/>
              </a:rPr>
              <a:t>Stress ulcer </a:t>
            </a:r>
            <a:r>
              <a:rPr lang="en-GB" sz="7200" dirty="0" smtClean="0">
                <a:latin typeface="Times New Roman" pitchFamily="18" charset="0"/>
                <a:cs typeface="Times New Roman" pitchFamily="18" charset="0"/>
              </a:rPr>
              <a:t>prophylaxis</a:t>
            </a:r>
            <a:r>
              <a:rPr lang="en-GB" sz="3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0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Strategies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Preventing Health Care Associated Pneumonia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</a:rPr>
              <a:t>Reducing the Risk of Pneumonia among All Patients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following procedures should be followed to prevent transmission of pathogens: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Perform hand hygiene including after contact with body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secretions.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Wear clean gloves when handling respiratory secretions or objects contaminated with respiratory secretions.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Wear a gown when contact with respiratory secretions from a patient is anticipated and change it after soiling occurs and before providing care to another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patient</a:t>
            </a:r>
            <a:r>
              <a:rPr lang="en-GB" sz="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Cont…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lnSpc>
                <a:spcPct val="16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Use single-use respiratory care items where possible 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6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Teach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patients to cough or sneeze into a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tissue.</a:t>
            </a:r>
          </a:p>
          <a:p>
            <a:pPr lvl="0">
              <a:lnSpc>
                <a:spcPct val="16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Avoid crowding patients in wards or outpatient treatment areas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6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Space beds 1 meter (3 feet) or more from other beds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6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Place only one person in a bed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04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Consider placing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patients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in a head-to-foot position to increase the distance between the patients’ faces if the beds are pushed close together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Ensure proper air ventilation in the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room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Provide airborne infection isolation rooms or single, well-ventilated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rooms.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Clean hard surfaces that are frequently touched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68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Prevention of Ventilator-Associated Pneumonia in Patients of All Ages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5119" y="2514600"/>
            <a:ext cx="9042555" cy="344499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Ensure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following IPC practices for all patients on a ventilator.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Perform hand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hygiene.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aseptic technique for intubation and other procedures that involve manipulation of 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endotracheal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tube and the ventilator circuit</a:t>
            </a:r>
          </a:p>
          <a:p>
            <a:pPr lvl="0">
              <a:lnSpc>
                <a:spcPct val="17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single-use respiratory care items where possible; </a:t>
            </a:r>
          </a:p>
          <a:p>
            <a:pPr lvl="0">
              <a:lnSpc>
                <a:spcPct val="17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Maintain aseptic technique when suctioning mucus via an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endotracheal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tube</a:t>
            </a:r>
          </a:p>
        </p:txBody>
      </p:sp>
    </p:spTree>
    <p:extLst>
      <p:ext uri="{BB962C8B-B14F-4D97-AF65-F5344CB8AC3E}">
        <p14:creationId xmlns:p14="http://schemas.microsoft.com/office/powerpoint/2010/main" val="1293246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Monitoring And Surveillance Of Infections Related To Health Care-Associated Pneumonia (Including VAP)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8000" b="1" dirty="0" smtClean="0">
                <a:latin typeface="Times New Roman" pitchFamily="18" charset="0"/>
                <a:cs typeface="Times New Roman" pitchFamily="18" charset="0"/>
              </a:rPr>
              <a:t>Steps </a:t>
            </a:r>
            <a:r>
              <a:rPr lang="en-GB" sz="8000" b="1" dirty="0">
                <a:latin typeface="Times New Roman" pitchFamily="18" charset="0"/>
                <a:cs typeface="Times New Roman" pitchFamily="18" charset="0"/>
              </a:rPr>
              <a:t>in the HAP Surveillance Process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8000" dirty="0">
                <a:latin typeface="Times New Roman" pitchFamily="18" charset="0"/>
                <a:cs typeface="Times New Roman" pitchFamily="18" charset="0"/>
              </a:rPr>
              <a:t>Decide which procedures to monitor </a:t>
            </a:r>
            <a:endParaRPr lang="en-GB" sz="8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8000" dirty="0" smtClean="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n-GB" sz="8000" dirty="0">
                <a:latin typeface="Times New Roman" pitchFamily="18" charset="0"/>
                <a:cs typeface="Times New Roman" pitchFamily="18" charset="0"/>
              </a:rPr>
              <a:t>the numerator and denominator: for VAP surveillance, the numerator is the number of cases of VAP, and the denominator is the number of ventilator-days during the same time period. 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GB" sz="8000" dirty="0">
                <a:latin typeface="Times New Roman" pitchFamily="18" charset="0"/>
                <a:cs typeface="Times New Roman" pitchFamily="18" charset="0"/>
              </a:rPr>
              <a:t>Establish the definition to be used to identify cases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20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Cont..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Develop a process to identify cases </a:t>
            </a:r>
          </a:p>
          <a:p>
            <a:pPr lvl="0">
              <a:lnSpc>
                <a:spcPct val="15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Perform surveillance systematically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Collate data and prepare reports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Initiate quality improvement activities as necessary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use of mechanical ventilators is increasing among newborn,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pediatric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, and adult patients in low- and middle-income countries. VAP is one of the most common HAIs, resulting in increased health care costs as well as increased mortality among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intubated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patients on mechanical ventilators. Applying specific prevention measures recommended in this chapter, including proper compliance with recommended IPC practices, will help reduce the risk of VAP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34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6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657</TotalTime>
  <Words>593</Words>
  <Application>Microsoft Office PowerPoint</Application>
  <PresentationFormat>Custom</PresentationFormat>
  <Paragraphs>69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Theme6</vt:lpstr>
      <vt:lpstr>    VOLUME 2: SECTION 2  CHAPTER 4 : HEALTH CARE ASSOCIATED PNEUMONIA (INCLUDING VENTILATOR ASSOCIATED PNEUMONIA)</vt:lpstr>
      <vt:lpstr>Chapter Outline</vt:lpstr>
      <vt:lpstr> Chapter contents:  </vt:lpstr>
      <vt:lpstr>Chapter Objective</vt:lpstr>
      <vt:lpstr>Overview</vt:lpstr>
      <vt:lpstr> The major risk factors for HAP </vt:lpstr>
      <vt:lpstr> Strategies For Preventing Health Care Associated Pneumonia </vt:lpstr>
      <vt:lpstr>Cont…</vt:lpstr>
      <vt:lpstr>Cont..</vt:lpstr>
      <vt:lpstr>Prevention of Ventilator-Associated Pneumonia in Patients of All Ages </vt:lpstr>
      <vt:lpstr>Monitoring And Surveillance Of Infections Related To Health Care-Associated Pneumonia (Including VAP) </vt:lpstr>
      <vt:lpstr>Cont..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Infection Prevention and Patient Safety</dc:title>
  <dc:creator>user</dc:creator>
  <cp:lastModifiedBy>moh</cp:lastModifiedBy>
  <cp:revision>72</cp:revision>
  <dcterms:created xsi:type="dcterms:W3CDTF">2018-12-17T08:49:22Z</dcterms:created>
  <dcterms:modified xsi:type="dcterms:W3CDTF">2019-09-27T07:06:43Z</dcterms:modified>
</cp:coreProperties>
</file>