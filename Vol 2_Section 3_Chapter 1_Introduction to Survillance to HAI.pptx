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93" r:id="rId2"/>
    <p:sldId id="257" r:id="rId3"/>
    <p:sldId id="256" r:id="rId4"/>
    <p:sldId id="303" r:id="rId5"/>
    <p:sldId id="258" r:id="rId6"/>
    <p:sldId id="300" r:id="rId7"/>
    <p:sldId id="259" r:id="rId8"/>
    <p:sldId id="301" r:id="rId9"/>
    <p:sldId id="260" r:id="rId10"/>
    <p:sldId id="261" r:id="rId11"/>
    <p:sldId id="262" r:id="rId12"/>
    <p:sldId id="302" r:id="rId13"/>
    <p:sldId id="263" r:id="rId14"/>
    <p:sldId id="264" r:id="rId15"/>
    <p:sldId id="265" r:id="rId16"/>
    <p:sldId id="304" r:id="rId17"/>
    <p:sldId id="266" r:id="rId18"/>
    <p:sldId id="267" r:id="rId19"/>
    <p:sldId id="268" r:id="rId20"/>
    <p:sldId id="269" r:id="rId21"/>
    <p:sldId id="270" r:id="rId22"/>
    <p:sldId id="294" r:id="rId23"/>
    <p:sldId id="271" r:id="rId24"/>
    <p:sldId id="274" r:id="rId25"/>
    <p:sldId id="276" r:id="rId26"/>
    <p:sldId id="275" r:id="rId27"/>
    <p:sldId id="278" r:id="rId28"/>
    <p:sldId id="279" r:id="rId29"/>
    <p:sldId id="280" r:id="rId30"/>
    <p:sldId id="281" r:id="rId31"/>
    <p:sldId id="282" r:id="rId32"/>
    <p:sldId id="283" r:id="rId33"/>
    <p:sldId id="298" r:id="rId34"/>
    <p:sldId id="284" r:id="rId35"/>
    <p:sldId id="285" r:id="rId36"/>
    <p:sldId id="286" r:id="rId37"/>
    <p:sldId id="287" r:id="rId38"/>
    <p:sldId id="288" r:id="rId39"/>
    <p:sldId id="295" r:id="rId40"/>
    <p:sldId id="289" r:id="rId41"/>
    <p:sldId id="290" r:id="rId42"/>
    <p:sldId id="291" r:id="rId43"/>
    <p:sldId id="306" r:id="rId44"/>
    <p:sldId id="296" r:id="rId45"/>
    <p:sldId id="297" r:id="rId46"/>
    <p:sldId id="292"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52" autoAdjust="0"/>
    <p:restoredTop sz="95948"/>
  </p:normalViewPr>
  <p:slideViewPr>
    <p:cSldViewPr snapToGrid="0">
      <p:cViewPr>
        <p:scale>
          <a:sx n="76" d="100"/>
          <a:sy n="76" d="100"/>
        </p:scale>
        <p:origin x="-498"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0185D3-80E1-45A6-B0DE-B229F091C416}" type="doc">
      <dgm:prSet loTypeId="urn:microsoft.com/office/officeart/2005/8/layout/cycle8" loCatId="cycle" qsTypeId="urn:microsoft.com/office/officeart/2005/8/quickstyle/simple1" qsCatId="simple" csTypeId="urn:microsoft.com/office/officeart/2005/8/colors/accent1_2" csCatId="accent1" phldr="1"/>
      <dgm:spPr/>
    </dgm:pt>
    <dgm:pt modelId="{0261F4BE-F678-47B7-A078-164DC7D7662D}">
      <dgm:prSet phldrT="[Text]" custT="1"/>
      <dgm:spPr>
        <a:solidFill>
          <a:srgbClr val="0070C0"/>
        </a:solidFill>
      </dgm:spPr>
      <dgm:t>
        <a:bodyPr/>
        <a:lstStyle/>
        <a:p>
          <a:r>
            <a:rPr lang="en-US" sz="1800" b="1" dirty="0" smtClean="0"/>
            <a:t>Plan Surveillance</a:t>
          </a:r>
          <a:endParaRPr lang="en-US" sz="1800" b="1" dirty="0"/>
        </a:p>
      </dgm:t>
    </dgm:pt>
    <dgm:pt modelId="{2DD0E7F5-E38A-4B7C-B9DF-A37AF8049DD8}" type="parTrans" cxnId="{FFAE3F92-1A69-4E03-B793-D4840B52F1A8}">
      <dgm:prSet/>
      <dgm:spPr/>
      <dgm:t>
        <a:bodyPr/>
        <a:lstStyle/>
        <a:p>
          <a:endParaRPr lang="en-US"/>
        </a:p>
      </dgm:t>
    </dgm:pt>
    <dgm:pt modelId="{7B3C643B-184F-4F39-8F82-C031FBE470CB}" type="sibTrans" cxnId="{FFAE3F92-1A69-4E03-B793-D4840B52F1A8}">
      <dgm:prSet/>
      <dgm:spPr/>
      <dgm:t>
        <a:bodyPr/>
        <a:lstStyle/>
        <a:p>
          <a:endParaRPr lang="en-US"/>
        </a:p>
      </dgm:t>
    </dgm:pt>
    <dgm:pt modelId="{39532B50-C536-4480-96FE-A98D64682581}">
      <dgm:prSet phldrT="[Text]" custT="1"/>
      <dgm:spPr>
        <a:solidFill>
          <a:srgbClr val="C00000"/>
        </a:solidFill>
      </dgm:spPr>
      <dgm:t>
        <a:bodyPr/>
        <a:lstStyle/>
        <a:p>
          <a:r>
            <a:rPr lang="en-US" sz="1800" b="1" dirty="0" smtClean="0"/>
            <a:t>Analyze Surveillance Feedback Result </a:t>
          </a:r>
          <a:endParaRPr lang="en-US" sz="1800" b="1" dirty="0"/>
        </a:p>
      </dgm:t>
    </dgm:pt>
    <dgm:pt modelId="{CECB784A-4DE2-4E7E-A350-850B17BBED6E}" type="parTrans" cxnId="{F83876B8-3C49-42AB-8C58-6483FDAF91CF}">
      <dgm:prSet/>
      <dgm:spPr/>
      <dgm:t>
        <a:bodyPr/>
        <a:lstStyle/>
        <a:p>
          <a:endParaRPr lang="en-US"/>
        </a:p>
      </dgm:t>
    </dgm:pt>
    <dgm:pt modelId="{75233540-97A8-43BB-AA1E-E05FAF176D2F}" type="sibTrans" cxnId="{F83876B8-3C49-42AB-8C58-6483FDAF91CF}">
      <dgm:prSet/>
      <dgm:spPr/>
      <dgm:t>
        <a:bodyPr/>
        <a:lstStyle/>
        <a:p>
          <a:endParaRPr lang="en-US"/>
        </a:p>
      </dgm:t>
    </dgm:pt>
    <dgm:pt modelId="{7917B58B-70AB-4333-BDD2-381B69C8ED3B}">
      <dgm:prSet phldrT="[Text]" custT="1"/>
      <dgm:spPr/>
      <dgm:t>
        <a:bodyPr/>
        <a:lstStyle/>
        <a:p>
          <a:r>
            <a:rPr lang="en-US" sz="1600" b="1" dirty="0" smtClean="0"/>
            <a:t>Implement Performance Improvement</a:t>
          </a:r>
          <a:endParaRPr lang="en-US" sz="1600" b="1" dirty="0"/>
        </a:p>
      </dgm:t>
    </dgm:pt>
    <dgm:pt modelId="{8AB92112-CB23-41B2-83E3-91E30F7BBE05}" type="parTrans" cxnId="{C52C0307-EB49-4ECE-BCE2-2AB1530F73A2}">
      <dgm:prSet/>
      <dgm:spPr/>
      <dgm:t>
        <a:bodyPr/>
        <a:lstStyle/>
        <a:p>
          <a:endParaRPr lang="en-US"/>
        </a:p>
      </dgm:t>
    </dgm:pt>
    <dgm:pt modelId="{8CAFF34F-F537-435F-A0A3-76EE43AC5FCF}" type="sibTrans" cxnId="{C52C0307-EB49-4ECE-BCE2-2AB1530F73A2}">
      <dgm:prSet/>
      <dgm:spPr/>
      <dgm:t>
        <a:bodyPr/>
        <a:lstStyle/>
        <a:p>
          <a:endParaRPr lang="en-US"/>
        </a:p>
      </dgm:t>
    </dgm:pt>
    <dgm:pt modelId="{72F3B0E0-82A9-4B96-A224-031D4C77D720}">
      <dgm:prSet phldrT="[Text]" custT="1"/>
      <dgm:spPr>
        <a:solidFill>
          <a:srgbClr val="7030A0"/>
        </a:solidFill>
      </dgm:spPr>
      <dgm:t>
        <a:bodyPr/>
        <a:lstStyle/>
        <a:p>
          <a:r>
            <a:rPr lang="en-US" sz="1800" b="1" dirty="0" smtClean="0"/>
            <a:t>Implement Surveillance</a:t>
          </a:r>
          <a:endParaRPr lang="en-US" sz="1800" b="1" dirty="0"/>
        </a:p>
      </dgm:t>
    </dgm:pt>
    <dgm:pt modelId="{342C0251-F5E9-4964-9F7F-60FE4BEEA5FD}" type="parTrans" cxnId="{1151278E-CDAC-484D-AB51-B24C91E048AE}">
      <dgm:prSet/>
      <dgm:spPr/>
      <dgm:t>
        <a:bodyPr/>
        <a:lstStyle/>
        <a:p>
          <a:endParaRPr lang="en-US"/>
        </a:p>
      </dgm:t>
    </dgm:pt>
    <dgm:pt modelId="{85FFB18E-C359-4B0C-BD7C-CA5B310E4EBB}" type="sibTrans" cxnId="{1151278E-CDAC-484D-AB51-B24C91E048AE}">
      <dgm:prSet/>
      <dgm:spPr/>
      <dgm:t>
        <a:bodyPr/>
        <a:lstStyle/>
        <a:p>
          <a:endParaRPr lang="en-US"/>
        </a:p>
      </dgm:t>
    </dgm:pt>
    <dgm:pt modelId="{FC5D7F1D-3C47-4D93-899A-7140412A4568}" type="pres">
      <dgm:prSet presAssocID="{270185D3-80E1-45A6-B0DE-B229F091C416}" presName="compositeShape" presStyleCnt="0">
        <dgm:presLayoutVars>
          <dgm:chMax val="7"/>
          <dgm:dir/>
          <dgm:resizeHandles val="exact"/>
        </dgm:presLayoutVars>
      </dgm:prSet>
      <dgm:spPr/>
    </dgm:pt>
    <dgm:pt modelId="{65E802F9-E2A0-47A8-A4D3-4AC77E88E8DC}" type="pres">
      <dgm:prSet presAssocID="{270185D3-80E1-45A6-B0DE-B229F091C416}" presName="wedge1" presStyleLbl="node1" presStyleIdx="0" presStyleCnt="4"/>
      <dgm:spPr/>
      <dgm:t>
        <a:bodyPr/>
        <a:lstStyle/>
        <a:p>
          <a:endParaRPr lang="en-US"/>
        </a:p>
      </dgm:t>
    </dgm:pt>
    <dgm:pt modelId="{026D0389-1AF6-403A-925E-73783E204058}" type="pres">
      <dgm:prSet presAssocID="{270185D3-80E1-45A6-B0DE-B229F091C416}" presName="dummy1a" presStyleCnt="0"/>
      <dgm:spPr/>
    </dgm:pt>
    <dgm:pt modelId="{AFD90D47-F57E-4EF6-9CAD-35085343180C}" type="pres">
      <dgm:prSet presAssocID="{270185D3-80E1-45A6-B0DE-B229F091C416}" presName="dummy1b" presStyleCnt="0"/>
      <dgm:spPr/>
    </dgm:pt>
    <dgm:pt modelId="{17763021-C852-494D-AAC4-FC9F921A7D4B}" type="pres">
      <dgm:prSet presAssocID="{270185D3-80E1-45A6-B0DE-B229F091C416}" presName="wedge1Tx" presStyleLbl="node1" presStyleIdx="0" presStyleCnt="4">
        <dgm:presLayoutVars>
          <dgm:chMax val="0"/>
          <dgm:chPref val="0"/>
          <dgm:bulletEnabled val="1"/>
        </dgm:presLayoutVars>
      </dgm:prSet>
      <dgm:spPr/>
      <dgm:t>
        <a:bodyPr/>
        <a:lstStyle/>
        <a:p>
          <a:endParaRPr lang="en-US"/>
        </a:p>
      </dgm:t>
    </dgm:pt>
    <dgm:pt modelId="{DAAF2D20-B6C7-4FFD-8EDE-78458A221C32}" type="pres">
      <dgm:prSet presAssocID="{270185D3-80E1-45A6-B0DE-B229F091C416}" presName="wedge2" presStyleLbl="node1" presStyleIdx="1" presStyleCnt="4"/>
      <dgm:spPr/>
      <dgm:t>
        <a:bodyPr/>
        <a:lstStyle/>
        <a:p>
          <a:endParaRPr lang="en-US"/>
        </a:p>
      </dgm:t>
    </dgm:pt>
    <dgm:pt modelId="{E20C277E-9128-4284-8AF3-15BEE4DDB4F9}" type="pres">
      <dgm:prSet presAssocID="{270185D3-80E1-45A6-B0DE-B229F091C416}" presName="dummy2a" presStyleCnt="0"/>
      <dgm:spPr/>
    </dgm:pt>
    <dgm:pt modelId="{6F50FB3D-F3B6-4B7D-9166-69609C6C414A}" type="pres">
      <dgm:prSet presAssocID="{270185D3-80E1-45A6-B0DE-B229F091C416}" presName="dummy2b" presStyleCnt="0"/>
      <dgm:spPr/>
    </dgm:pt>
    <dgm:pt modelId="{975F85B3-1EAF-4E93-888D-7D56E550C01A}" type="pres">
      <dgm:prSet presAssocID="{270185D3-80E1-45A6-B0DE-B229F091C416}" presName="wedge2Tx" presStyleLbl="node1" presStyleIdx="1" presStyleCnt="4">
        <dgm:presLayoutVars>
          <dgm:chMax val="0"/>
          <dgm:chPref val="0"/>
          <dgm:bulletEnabled val="1"/>
        </dgm:presLayoutVars>
      </dgm:prSet>
      <dgm:spPr/>
      <dgm:t>
        <a:bodyPr/>
        <a:lstStyle/>
        <a:p>
          <a:endParaRPr lang="en-US"/>
        </a:p>
      </dgm:t>
    </dgm:pt>
    <dgm:pt modelId="{2C268D16-7F23-47C1-A683-CA4BA714880C}" type="pres">
      <dgm:prSet presAssocID="{270185D3-80E1-45A6-B0DE-B229F091C416}" presName="wedge3" presStyleLbl="node1" presStyleIdx="2" presStyleCnt="4"/>
      <dgm:spPr/>
      <dgm:t>
        <a:bodyPr/>
        <a:lstStyle/>
        <a:p>
          <a:endParaRPr lang="en-US"/>
        </a:p>
      </dgm:t>
    </dgm:pt>
    <dgm:pt modelId="{E72C39EE-03EE-47A7-BBDA-D28BE27FE30A}" type="pres">
      <dgm:prSet presAssocID="{270185D3-80E1-45A6-B0DE-B229F091C416}" presName="dummy3a" presStyleCnt="0"/>
      <dgm:spPr/>
    </dgm:pt>
    <dgm:pt modelId="{1C929891-CBD9-4E69-9461-414207828F2F}" type="pres">
      <dgm:prSet presAssocID="{270185D3-80E1-45A6-B0DE-B229F091C416}" presName="dummy3b" presStyleCnt="0"/>
      <dgm:spPr/>
    </dgm:pt>
    <dgm:pt modelId="{DFC5BB42-B5BD-4F36-AF35-B0D3FBF98093}" type="pres">
      <dgm:prSet presAssocID="{270185D3-80E1-45A6-B0DE-B229F091C416}" presName="wedge3Tx" presStyleLbl="node1" presStyleIdx="2" presStyleCnt="4">
        <dgm:presLayoutVars>
          <dgm:chMax val="0"/>
          <dgm:chPref val="0"/>
          <dgm:bulletEnabled val="1"/>
        </dgm:presLayoutVars>
      </dgm:prSet>
      <dgm:spPr/>
      <dgm:t>
        <a:bodyPr/>
        <a:lstStyle/>
        <a:p>
          <a:endParaRPr lang="en-US"/>
        </a:p>
      </dgm:t>
    </dgm:pt>
    <dgm:pt modelId="{47F90511-193F-4B4F-AA0E-AB3483AD1050}" type="pres">
      <dgm:prSet presAssocID="{270185D3-80E1-45A6-B0DE-B229F091C416}" presName="wedge4" presStyleLbl="node1" presStyleIdx="3" presStyleCnt="4"/>
      <dgm:spPr/>
      <dgm:t>
        <a:bodyPr/>
        <a:lstStyle/>
        <a:p>
          <a:endParaRPr lang="en-US"/>
        </a:p>
      </dgm:t>
    </dgm:pt>
    <dgm:pt modelId="{C9FE5DF1-C9E3-4F83-9DF5-1354CEB8BFE7}" type="pres">
      <dgm:prSet presAssocID="{270185D3-80E1-45A6-B0DE-B229F091C416}" presName="dummy4a" presStyleCnt="0"/>
      <dgm:spPr/>
    </dgm:pt>
    <dgm:pt modelId="{C9DBB1F8-CBF9-4BD2-9259-326C46538429}" type="pres">
      <dgm:prSet presAssocID="{270185D3-80E1-45A6-B0DE-B229F091C416}" presName="dummy4b" presStyleCnt="0"/>
      <dgm:spPr/>
    </dgm:pt>
    <dgm:pt modelId="{CC2A4F50-9F5A-439D-8645-CCDBB73170E1}" type="pres">
      <dgm:prSet presAssocID="{270185D3-80E1-45A6-B0DE-B229F091C416}" presName="wedge4Tx" presStyleLbl="node1" presStyleIdx="3" presStyleCnt="4">
        <dgm:presLayoutVars>
          <dgm:chMax val="0"/>
          <dgm:chPref val="0"/>
          <dgm:bulletEnabled val="1"/>
        </dgm:presLayoutVars>
      </dgm:prSet>
      <dgm:spPr/>
      <dgm:t>
        <a:bodyPr/>
        <a:lstStyle/>
        <a:p>
          <a:endParaRPr lang="en-US"/>
        </a:p>
      </dgm:t>
    </dgm:pt>
    <dgm:pt modelId="{6A8F73DE-3DEC-4D7C-A263-C9CD89DABAA9}" type="pres">
      <dgm:prSet presAssocID="{7B3C643B-184F-4F39-8F82-C031FBE470CB}" presName="arrowWedge1" presStyleLbl="fgSibTrans2D1" presStyleIdx="0" presStyleCnt="4"/>
      <dgm:spPr>
        <a:solidFill>
          <a:srgbClr val="00B050"/>
        </a:solidFill>
      </dgm:spPr>
    </dgm:pt>
    <dgm:pt modelId="{2D7C118E-AA0B-431D-8FCB-4EADA195A4EE}" type="pres">
      <dgm:prSet presAssocID="{85FFB18E-C359-4B0C-BD7C-CA5B310E4EBB}" presName="arrowWedge2" presStyleLbl="fgSibTrans2D1" presStyleIdx="1" presStyleCnt="4" custScaleX="100368"/>
      <dgm:spPr>
        <a:solidFill>
          <a:srgbClr val="00B050"/>
        </a:solidFill>
      </dgm:spPr>
    </dgm:pt>
    <dgm:pt modelId="{9DDEB577-A5C7-4EC2-A0F4-34FBF147021C}" type="pres">
      <dgm:prSet presAssocID="{75233540-97A8-43BB-AA1E-E05FAF176D2F}" presName="arrowWedge3" presStyleLbl="fgSibTrans2D1" presStyleIdx="2" presStyleCnt="4"/>
      <dgm:spPr>
        <a:solidFill>
          <a:srgbClr val="00B050"/>
        </a:solidFill>
      </dgm:spPr>
    </dgm:pt>
    <dgm:pt modelId="{7E829373-7D58-4139-A734-DE154BA743EC}" type="pres">
      <dgm:prSet presAssocID="{8CAFF34F-F537-435F-A0A3-76EE43AC5FCF}" presName="arrowWedge4" presStyleLbl="fgSibTrans2D1" presStyleIdx="3" presStyleCnt="4"/>
      <dgm:spPr>
        <a:solidFill>
          <a:srgbClr val="00B050"/>
        </a:solidFill>
      </dgm:spPr>
    </dgm:pt>
  </dgm:ptLst>
  <dgm:cxnLst>
    <dgm:cxn modelId="{B079CA7E-A8D5-4940-B162-F242188033AE}" type="presOf" srcId="{7917B58B-70AB-4333-BDD2-381B69C8ED3B}" destId="{CC2A4F50-9F5A-439D-8645-CCDBB73170E1}" srcOrd="1" destOrd="0" presId="urn:microsoft.com/office/officeart/2005/8/layout/cycle8"/>
    <dgm:cxn modelId="{4EFDD226-B96F-47E8-9652-7E75D99DC8D4}" type="presOf" srcId="{39532B50-C536-4480-96FE-A98D64682581}" destId="{2C268D16-7F23-47C1-A683-CA4BA714880C}" srcOrd="0" destOrd="0" presId="urn:microsoft.com/office/officeart/2005/8/layout/cycle8"/>
    <dgm:cxn modelId="{FFAE3F92-1A69-4E03-B793-D4840B52F1A8}" srcId="{270185D3-80E1-45A6-B0DE-B229F091C416}" destId="{0261F4BE-F678-47B7-A078-164DC7D7662D}" srcOrd="0" destOrd="0" parTransId="{2DD0E7F5-E38A-4B7C-B9DF-A37AF8049DD8}" sibTransId="{7B3C643B-184F-4F39-8F82-C031FBE470CB}"/>
    <dgm:cxn modelId="{E8A1816A-08CF-41D9-8811-829F75FAF5DC}" type="presOf" srcId="{72F3B0E0-82A9-4B96-A224-031D4C77D720}" destId="{DAAF2D20-B6C7-4FFD-8EDE-78458A221C32}" srcOrd="0" destOrd="0" presId="urn:microsoft.com/office/officeart/2005/8/layout/cycle8"/>
    <dgm:cxn modelId="{0B875520-7F65-4EC3-9726-6542A241538E}" type="presOf" srcId="{270185D3-80E1-45A6-B0DE-B229F091C416}" destId="{FC5D7F1D-3C47-4D93-899A-7140412A4568}" srcOrd="0" destOrd="0" presId="urn:microsoft.com/office/officeart/2005/8/layout/cycle8"/>
    <dgm:cxn modelId="{3BF88F7E-8DAE-4FB2-92A1-5AF78E78FFA0}" type="presOf" srcId="{39532B50-C536-4480-96FE-A98D64682581}" destId="{DFC5BB42-B5BD-4F36-AF35-B0D3FBF98093}" srcOrd="1" destOrd="0" presId="urn:microsoft.com/office/officeart/2005/8/layout/cycle8"/>
    <dgm:cxn modelId="{F6F2B583-C72A-4EFF-9EC8-FE0FA8EBD1DC}" type="presOf" srcId="{0261F4BE-F678-47B7-A078-164DC7D7662D}" destId="{17763021-C852-494D-AAC4-FC9F921A7D4B}" srcOrd="1" destOrd="0" presId="urn:microsoft.com/office/officeart/2005/8/layout/cycle8"/>
    <dgm:cxn modelId="{C52C0307-EB49-4ECE-BCE2-2AB1530F73A2}" srcId="{270185D3-80E1-45A6-B0DE-B229F091C416}" destId="{7917B58B-70AB-4333-BDD2-381B69C8ED3B}" srcOrd="3" destOrd="0" parTransId="{8AB92112-CB23-41B2-83E3-91E30F7BBE05}" sibTransId="{8CAFF34F-F537-435F-A0A3-76EE43AC5FCF}"/>
    <dgm:cxn modelId="{3510DBDC-3582-4DD4-B7D8-47A2BA7D5C01}" type="presOf" srcId="{72F3B0E0-82A9-4B96-A224-031D4C77D720}" destId="{975F85B3-1EAF-4E93-888D-7D56E550C01A}" srcOrd="1" destOrd="0" presId="urn:microsoft.com/office/officeart/2005/8/layout/cycle8"/>
    <dgm:cxn modelId="{62052389-21B7-4BE2-B186-98B5E7549DD1}" type="presOf" srcId="{7917B58B-70AB-4333-BDD2-381B69C8ED3B}" destId="{47F90511-193F-4B4F-AA0E-AB3483AD1050}" srcOrd="0" destOrd="0" presId="urn:microsoft.com/office/officeart/2005/8/layout/cycle8"/>
    <dgm:cxn modelId="{F83876B8-3C49-42AB-8C58-6483FDAF91CF}" srcId="{270185D3-80E1-45A6-B0DE-B229F091C416}" destId="{39532B50-C536-4480-96FE-A98D64682581}" srcOrd="2" destOrd="0" parTransId="{CECB784A-4DE2-4E7E-A350-850B17BBED6E}" sibTransId="{75233540-97A8-43BB-AA1E-E05FAF176D2F}"/>
    <dgm:cxn modelId="{1151278E-CDAC-484D-AB51-B24C91E048AE}" srcId="{270185D3-80E1-45A6-B0DE-B229F091C416}" destId="{72F3B0E0-82A9-4B96-A224-031D4C77D720}" srcOrd="1" destOrd="0" parTransId="{342C0251-F5E9-4964-9F7F-60FE4BEEA5FD}" sibTransId="{85FFB18E-C359-4B0C-BD7C-CA5B310E4EBB}"/>
    <dgm:cxn modelId="{4BC9DB3D-387D-4677-AA22-EDD047D5183B}" type="presOf" srcId="{0261F4BE-F678-47B7-A078-164DC7D7662D}" destId="{65E802F9-E2A0-47A8-A4D3-4AC77E88E8DC}" srcOrd="0" destOrd="0" presId="urn:microsoft.com/office/officeart/2005/8/layout/cycle8"/>
    <dgm:cxn modelId="{2CFBCD58-723B-4BF2-98E2-DC427152338B}" type="presParOf" srcId="{FC5D7F1D-3C47-4D93-899A-7140412A4568}" destId="{65E802F9-E2A0-47A8-A4D3-4AC77E88E8DC}" srcOrd="0" destOrd="0" presId="urn:microsoft.com/office/officeart/2005/8/layout/cycle8"/>
    <dgm:cxn modelId="{25091166-7445-43A8-8BAB-E2C61D8DA257}" type="presParOf" srcId="{FC5D7F1D-3C47-4D93-899A-7140412A4568}" destId="{026D0389-1AF6-403A-925E-73783E204058}" srcOrd="1" destOrd="0" presId="urn:microsoft.com/office/officeart/2005/8/layout/cycle8"/>
    <dgm:cxn modelId="{B7978565-8801-45DE-A0D9-43B99E080A84}" type="presParOf" srcId="{FC5D7F1D-3C47-4D93-899A-7140412A4568}" destId="{AFD90D47-F57E-4EF6-9CAD-35085343180C}" srcOrd="2" destOrd="0" presId="urn:microsoft.com/office/officeart/2005/8/layout/cycle8"/>
    <dgm:cxn modelId="{A1647E6E-F7EC-4634-AA5F-AA22137E14AE}" type="presParOf" srcId="{FC5D7F1D-3C47-4D93-899A-7140412A4568}" destId="{17763021-C852-494D-AAC4-FC9F921A7D4B}" srcOrd="3" destOrd="0" presId="urn:microsoft.com/office/officeart/2005/8/layout/cycle8"/>
    <dgm:cxn modelId="{60F0C853-E86C-4056-86EA-7436143C807C}" type="presParOf" srcId="{FC5D7F1D-3C47-4D93-899A-7140412A4568}" destId="{DAAF2D20-B6C7-4FFD-8EDE-78458A221C32}" srcOrd="4" destOrd="0" presId="urn:microsoft.com/office/officeart/2005/8/layout/cycle8"/>
    <dgm:cxn modelId="{EB96EB3E-E377-4E4B-8167-49126EAAA52E}" type="presParOf" srcId="{FC5D7F1D-3C47-4D93-899A-7140412A4568}" destId="{E20C277E-9128-4284-8AF3-15BEE4DDB4F9}" srcOrd="5" destOrd="0" presId="urn:microsoft.com/office/officeart/2005/8/layout/cycle8"/>
    <dgm:cxn modelId="{67E8F3DA-74C8-471B-82D3-CE04466FC7AD}" type="presParOf" srcId="{FC5D7F1D-3C47-4D93-899A-7140412A4568}" destId="{6F50FB3D-F3B6-4B7D-9166-69609C6C414A}" srcOrd="6" destOrd="0" presId="urn:microsoft.com/office/officeart/2005/8/layout/cycle8"/>
    <dgm:cxn modelId="{FA10479D-F807-4BA2-B006-6FF6C81DF276}" type="presParOf" srcId="{FC5D7F1D-3C47-4D93-899A-7140412A4568}" destId="{975F85B3-1EAF-4E93-888D-7D56E550C01A}" srcOrd="7" destOrd="0" presId="urn:microsoft.com/office/officeart/2005/8/layout/cycle8"/>
    <dgm:cxn modelId="{B92447B1-DCC2-444D-9B4D-6D3D0EA5CD21}" type="presParOf" srcId="{FC5D7F1D-3C47-4D93-899A-7140412A4568}" destId="{2C268D16-7F23-47C1-A683-CA4BA714880C}" srcOrd="8" destOrd="0" presId="urn:microsoft.com/office/officeart/2005/8/layout/cycle8"/>
    <dgm:cxn modelId="{BBD2140E-52CB-4525-9F91-D05065B37909}" type="presParOf" srcId="{FC5D7F1D-3C47-4D93-899A-7140412A4568}" destId="{E72C39EE-03EE-47A7-BBDA-D28BE27FE30A}" srcOrd="9" destOrd="0" presId="urn:microsoft.com/office/officeart/2005/8/layout/cycle8"/>
    <dgm:cxn modelId="{B9426E90-9FFE-419F-AC88-DBA003962639}" type="presParOf" srcId="{FC5D7F1D-3C47-4D93-899A-7140412A4568}" destId="{1C929891-CBD9-4E69-9461-414207828F2F}" srcOrd="10" destOrd="0" presId="urn:microsoft.com/office/officeart/2005/8/layout/cycle8"/>
    <dgm:cxn modelId="{2C71A0A0-365E-4E3F-85A3-5C87AAF4B2CA}" type="presParOf" srcId="{FC5D7F1D-3C47-4D93-899A-7140412A4568}" destId="{DFC5BB42-B5BD-4F36-AF35-B0D3FBF98093}" srcOrd="11" destOrd="0" presId="urn:microsoft.com/office/officeart/2005/8/layout/cycle8"/>
    <dgm:cxn modelId="{0E54782F-A8F0-49A9-8B86-85EEFE8F6567}" type="presParOf" srcId="{FC5D7F1D-3C47-4D93-899A-7140412A4568}" destId="{47F90511-193F-4B4F-AA0E-AB3483AD1050}" srcOrd="12" destOrd="0" presId="urn:microsoft.com/office/officeart/2005/8/layout/cycle8"/>
    <dgm:cxn modelId="{BAF65018-1AC8-4349-8B5C-9E07C5259D75}" type="presParOf" srcId="{FC5D7F1D-3C47-4D93-899A-7140412A4568}" destId="{C9FE5DF1-C9E3-4F83-9DF5-1354CEB8BFE7}" srcOrd="13" destOrd="0" presId="urn:microsoft.com/office/officeart/2005/8/layout/cycle8"/>
    <dgm:cxn modelId="{9AB1CC1B-EE68-4AEC-AD65-C10169508089}" type="presParOf" srcId="{FC5D7F1D-3C47-4D93-899A-7140412A4568}" destId="{C9DBB1F8-CBF9-4BD2-9259-326C46538429}" srcOrd="14" destOrd="0" presId="urn:microsoft.com/office/officeart/2005/8/layout/cycle8"/>
    <dgm:cxn modelId="{E7575F98-7767-46EB-A750-BE825551388D}" type="presParOf" srcId="{FC5D7F1D-3C47-4D93-899A-7140412A4568}" destId="{CC2A4F50-9F5A-439D-8645-CCDBB73170E1}" srcOrd="15" destOrd="0" presId="urn:microsoft.com/office/officeart/2005/8/layout/cycle8"/>
    <dgm:cxn modelId="{1F1BB1B5-DE0D-4CA2-A81C-F031A3A5B954}" type="presParOf" srcId="{FC5D7F1D-3C47-4D93-899A-7140412A4568}" destId="{6A8F73DE-3DEC-4D7C-A263-C9CD89DABAA9}" srcOrd="16" destOrd="0" presId="urn:microsoft.com/office/officeart/2005/8/layout/cycle8"/>
    <dgm:cxn modelId="{06CCC556-54F5-42A9-99BF-F69A1AB138E3}" type="presParOf" srcId="{FC5D7F1D-3C47-4D93-899A-7140412A4568}" destId="{2D7C118E-AA0B-431D-8FCB-4EADA195A4EE}" srcOrd="17" destOrd="0" presId="urn:microsoft.com/office/officeart/2005/8/layout/cycle8"/>
    <dgm:cxn modelId="{1FF6CD0D-97A5-4712-9BB8-C69CBD5EFC83}" type="presParOf" srcId="{FC5D7F1D-3C47-4D93-899A-7140412A4568}" destId="{9DDEB577-A5C7-4EC2-A0F4-34FBF147021C}" srcOrd="18" destOrd="0" presId="urn:microsoft.com/office/officeart/2005/8/layout/cycle8"/>
    <dgm:cxn modelId="{CDBD6469-371B-499D-965A-3A7AB10E3AF5}" type="presParOf" srcId="{FC5D7F1D-3C47-4D93-899A-7140412A4568}" destId="{7E829373-7D58-4139-A734-DE154BA743EC}" srcOrd="19"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shadeToTitle="1">
        <a:gradFill flip="none" rotWithShape="1">
          <a:gsLst>
            <a:gs pos="0">
              <a:schemeClr val="accent2">
                <a:lumMod val="0"/>
                <a:lumOff val="100000"/>
                <a:alpha val="88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grpSp>
        <p:nvGrpSpPr>
          <p:cNvPr id="18" name="Group 17"/>
          <p:cNvGrpSpPr/>
          <p:nvPr/>
        </p:nvGrpSpPr>
        <p:grpSpPr>
          <a:xfrm>
            <a:off x="1" y="109831"/>
            <a:ext cx="12366172" cy="6598881"/>
            <a:chOff x="0" y="211434"/>
            <a:chExt cx="9278874" cy="6958648"/>
          </a:xfrm>
          <a:noFill/>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7" y="211434"/>
              <a:ext cx="9278197" cy="6958648"/>
            </a:xfrm>
            <a:prstGeom prst="rect">
              <a:avLst/>
            </a:prstGeom>
            <a:grpFill/>
          </p:spPr>
        </p:pic>
        <p:sp>
          <p:nvSpPr>
            <p:cNvPr id="11" name="Rectangle 10"/>
            <p:cNvSpPr/>
            <p:nvPr/>
          </p:nvSpPr>
          <p:spPr>
            <a:xfrm>
              <a:off x="1515532" y="1682076"/>
              <a:ext cx="6112935" cy="3656814"/>
            </a:xfrm>
            <a:prstGeom prst="rect">
              <a:avLst/>
            </a:prstGeom>
            <a:grp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a:grpFill/>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a:grpFill/>
          </p:spPr>
        </p:pic>
      </p:grpSp>
      <p:sp>
        <p:nvSpPr>
          <p:cNvPr id="2" name="Title 1"/>
          <p:cNvSpPr>
            <a:spLocks noGrp="1"/>
          </p:cNvSpPr>
          <p:nvPr>
            <p:ph type="ctrTitle"/>
          </p:nvPr>
        </p:nvSpPr>
        <p:spPr>
          <a:xfrm>
            <a:off x="2208884" y="1879926"/>
            <a:ext cx="7760513" cy="1528328"/>
          </a:xfrm>
        </p:spPr>
        <p:txBody>
          <a:bodyPr anchor="b">
            <a:noAutofit/>
          </a:bodyPr>
          <a:lstStyle>
            <a:lvl1pPr marL="0" marR="0" indent="0" algn="ctr" defTabSz="457200" rtl="0" eaLnBrk="1" fontAlgn="auto" latinLnBrk="0" hangingPunct="1">
              <a:lnSpc>
                <a:spcPct val="100000"/>
              </a:lnSpc>
              <a:spcBef>
                <a:spcPct val="0"/>
              </a:spcBef>
              <a:spcAft>
                <a:spcPts val="0"/>
              </a:spcAft>
              <a:buClrTx/>
              <a:buSzTx/>
              <a:buFontTx/>
              <a:buNone/>
              <a:tabLst/>
              <a:defRPr lang="en-US" sz="3600" b="1" smtClean="0">
                <a:effectLst/>
              </a:defRPr>
            </a:lvl1pPr>
          </a:lstStyle>
          <a:p>
            <a:r>
              <a:rPr lang="en-US" altLang="en-US" smtClean="0">
                <a:solidFill>
                  <a:prstClr val="black"/>
                </a:solidFill>
              </a:rPr>
              <a:t>Click to edit Master title style</a:t>
            </a:r>
            <a:endParaRPr lang="en-US" altLang="en-US" dirty="0">
              <a:solidFill>
                <a:prstClr val="black"/>
              </a:solidFill>
            </a:endParaRPr>
          </a:p>
        </p:txBody>
      </p:sp>
      <p:sp>
        <p:nvSpPr>
          <p:cNvPr id="3" name="Subtitle 2"/>
          <p:cNvSpPr>
            <a:spLocks noGrp="1"/>
          </p:cNvSpPr>
          <p:nvPr>
            <p:ph type="subTitle" idx="1"/>
          </p:nvPr>
        </p:nvSpPr>
        <p:spPr>
          <a:xfrm>
            <a:off x="3110204" y="3597481"/>
            <a:ext cx="5971593" cy="1012902"/>
          </a:xfrm>
        </p:spPr>
        <p:txBody>
          <a:bodyPr anchor="t">
            <a:normAutofit/>
          </a:bodyPr>
          <a:lstStyle>
            <a:lvl1pPr marL="0" indent="0" algn="ctr">
              <a:buNone/>
              <a:defRPr sz="3200" b="0" i="0">
                <a:solidFill>
                  <a:schemeClr val="tx1"/>
                </a:solidFill>
                <a:latin typeface="Arial" charset="0"/>
                <a:ea typeface="Arial" charset="0"/>
                <a:cs typeface="Arial"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61655" y="4972192"/>
            <a:ext cx="1296208" cy="361810"/>
          </a:xfrm>
        </p:spPr>
        <p:txBody>
          <a:bodyPr/>
          <a:lstStyle/>
          <a:p>
            <a:fld id="{D7FA4B46-59DC-4A79-B29E-574FB5E43556}" type="datetimeFigureOut">
              <a:rPr lang="en-US" smtClean="0"/>
              <a:t>9/23/2019</a:t>
            </a:fld>
            <a:endParaRPr lang="en-US"/>
          </a:p>
        </p:txBody>
      </p:sp>
      <p:sp>
        <p:nvSpPr>
          <p:cNvPr id="5" name="Footer Placeholder 4"/>
          <p:cNvSpPr>
            <a:spLocks noGrp="1"/>
          </p:cNvSpPr>
          <p:nvPr>
            <p:ph type="ftr" sz="quarter" idx="11"/>
          </p:nvPr>
        </p:nvSpPr>
        <p:spPr>
          <a:xfrm>
            <a:off x="2562579" y="4972194"/>
            <a:ext cx="4999075" cy="361809"/>
          </a:xfrm>
        </p:spPr>
        <p:txBody>
          <a:bodyPr/>
          <a:lstStyle/>
          <a:p>
            <a:endParaRPr lang="en-US"/>
          </a:p>
        </p:txBody>
      </p:sp>
      <p:sp>
        <p:nvSpPr>
          <p:cNvPr id="6" name="Slide Number Placeholder 5"/>
          <p:cNvSpPr>
            <a:spLocks noGrp="1"/>
          </p:cNvSpPr>
          <p:nvPr>
            <p:ph type="sldNum" sz="quarter" idx="12"/>
          </p:nvPr>
        </p:nvSpPr>
        <p:spPr>
          <a:xfrm>
            <a:off x="9081797" y="4972193"/>
            <a:ext cx="968201" cy="361809"/>
          </a:xfrm>
        </p:spPr>
        <p:txBody>
          <a:bodyPr/>
          <a:lstStyle/>
          <a:p>
            <a:fld id="{8EB7F9C2-E212-45FF-A8A3-0BB4531D96D3}" type="slidenum">
              <a:rPr lang="en-US" smtClean="0"/>
              <a:t>‹#›</a:t>
            </a:fld>
            <a:endParaRPr lang="en-US"/>
          </a:p>
        </p:txBody>
      </p:sp>
      <p:cxnSp>
        <p:nvCxnSpPr>
          <p:cNvPr id="15" name="Straight Connector 14"/>
          <p:cNvCxnSpPr/>
          <p:nvPr/>
        </p:nvCxnSpPr>
        <p:spPr>
          <a:xfrm>
            <a:off x="2693101" y="3471329"/>
            <a:ext cx="6817444" cy="0"/>
          </a:xfrm>
          <a:prstGeom prst="line">
            <a:avLst/>
          </a:prstGeom>
          <a:ln w="15875"/>
        </p:spPr>
        <p:style>
          <a:lnRef idx="2">
            <a:schemeClr val="accent1"/>
          </a:lnRef>
          <a:fillRef idx="0">
            <a:schemeClr val="accent1"/>
          </a:fillRef>
          <a:effectRef idx="1">
            <a:schemeClr val="accent1"/>
          </a:effectRef>
          <a:fontRef idx="minor">
            <a:schemeClr val="tx1"/>
          </a:fontRef>
        </p:style>
      </p:cxnSp>
      <p:grpSp>
        <p:nvGrpSpPr>
          <p:cNvPr id="9" name="Group 8"/>
          <p:cNvGrpSpPr/>
          <p:nvPr/>
        </p:nvGrpSpPr>
        <p:grpSpPr>
          <a:xfrm>
            <a:off x="3972920" y="76751"/>
            <a:ext cx="4038801" cy="1229383"/>
            <a:chOff x="2823850" y="0"/>
            <a:chExt cx="3344655" cy="1558429"/>
          </a:xfrm>
        </p:grpSpPr>
        <p:pic>
          <p:nvPicPr>
            <p:cNvPr id="16" name="Picture 15" descr="Ethiopia_MOH"/>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7" name="TextBox 6"/>
            <p:cNvSpPr txBox="1"/>
            <p:nvPr userDrawn="1"/>
          </p:nvSpPr>
          <p:spPr>
            <a:xfrm>
              <a:off x="2823850" y="1037574"/>
              <a:ext cx="3344655" cy="520855"/>
            </a:xfrm>
            <a:prstGeom prst="rect">
              <a:avLst/>
            </a:prstGeom>
            <a:noFill/>
          </p:spPr>
          <p:txBody>
            <a:bodyPr wrap="square" rtlCol="0">
              <a:spAutoFit/>
            </a:bodyPr>
            <a:lstStyle/>
            <a:p>
              <a:pPr algn="ctr">
                <a:lnSpc>
                  <a:spcPct val="115000"/>
                </a:lnSpc>
                <a:spcAft>
                  <a:spcPts val="1000"/>
                </a:spcAft>
              </a:pPr>
              <a:r>
                <a:rPr lang="en-US" sz="1800" smtClean="0">
                  <a:solidFill>
                    <a:srgbClr val="0066FF"/>
                  </a:solidFill>
                  <a:effectLst/>
                  <a:latin typeface="Britannic Bold" charset="0"/>
                  <a:ea typeface="Calibri" charset="0"/>
                  <a:cs typeface="Times New Roman" charset="0"/>
                </a:rPr>
                <a:t>Federal Ministry of Health</a:t>
              </a:r>
              <a:endParaRPr lang="en-US" sz="160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716438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flip="none" rotWithShape="1">
          <a:gsLst>
            <a:gs pos="23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7" name="Straight Connector 6"/>
          <p:cNvCxnSpPr/>
          <p:nvPr/>
        </p:nvCxnSpPr>
        <p:spPr>
          <a:xfrm>
            <a:off x="1704620" y="235626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9155" y="1030778"/>
            <a:ext cx="9064979" cy="1188426"/>
          </a:xfrm>
        </p:spPr>
        <p:txBody>
          <a:bodyPr>
            <a:noAutofit/>
          </a:bodyPr>
          <a:lstStyle>
            <a:lvl1pPr>
              <a:defRPr sz="4800" b="1" u="none"/>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3200"/>
            </a:lvl1pPr>
            <a:lvl2pPr>
              <a:defRPr sz="2800"/>
            </a:lvl2pPr>
            <a:lvl3pPr>
              <a:defRPr sz="2400"/>
            </a:lvl3pPr>
            <a:lvl4pPr>
              <a:defRPr sz="2000"/>
            </a:lvl4pPr>
            <a:lvl5pPr>
              <a:defRPr sz="18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475561" y="5960533"/>
            <a:ext cx="1133600" cy="279400"/>
          </a:xfrm>
        </p:spPr>
        <p:txBody>
          <a:bodyPr/>
          <a:lstStyle/>
          <a:p>
            <a:fld id="{D7FA4B46-59DC-4A79-B29E-574FB5E43556}"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609161" y="5960533"/>
            <a:ext cx="965539" cy="279400"/>
          </a:xfrm>
        </p:spPr>
        <p:txBody>
          <a:bodyPr/>
          <a:lstStyle/>
          <a:p>
            <a:fld id="{8EB7F9C2-E212-45FF-A8A3-0BB4531D96D3}" type="slidenum">
              <a:rPr lang="en-US" smtClean="0"/>
              <a:t>‹#›</a:t>
            </a:fld>
            <a:endParaRPr lang="en-US"/>
          </a:p>
        </p:txBody>
      </p:sp>
    </p:spTree>
    <p:extLst>
      <p:ext uri="{BB962C8B-B14F-4D97-AF65-F5344CB8AC3E}">
        <p14:creationId xmlns:p14="http://schemas.microsoft.com/office/powerpoint/2010/main" val="104056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flip="none" rotWithShape="1">
          <a:gsLst>
            <a:gs pos="0">
              <a:schemeClr val="accent3">
                <a:lumMod val="0"/>
                <a:lumOff val="100000"/>
                <a:alpha val="93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04620" y="1641413"/>
            <a:ext cx="8794045"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704620" y="3734860"/>
            <a:ext cx="8794045"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FA4B46-59DC-4A79-B29E-574FB5E43556}"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106788" y="5960533"/>
            <a:ext cx="1154187" cy="279400"/>
          </a:xfrm>
        </p:spPr>
        <p:txBody>
          <a:bodyPr/>
          <a:lstStyle/>
          <a:p>
            <a:fld id="{8EB7F9C2-E212-45FF-A8A3-0BB4531D96D3}" type="slidenum">
              <a:rPr lang="en-US" smtClean="0"/>
              <a:t>‹#›</a:t>
            </a:fld>
            <a:endParaRPr lang="en-US"/>
          </a:p>
        </p:txBody>
      </p:sp>
      <p:cxnSp>
        <p:nvCxnSpPr>
          <p:cNvPr id="31" name="Straight Connector 30"/>
          <p:cNvCxnSpPr/>
          <p:nvPr/>
        </p:nvCxnSpPr>
        <p:spPr>
          <a:xfrm>
            <a:off x="1704622" y="3599392"/>
            <a:ext cx="879404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03977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cxnSp>
        <p:nvCxnSpPr>
          <p:cNvPr id="8" name="Straight Connector 7"/>
          <p:cNvCxnSpPr/>
          <p:nvPr/>
        </p:nvCxnSpPr>
        <p:spPr>
          <a:xfrm>
            <a:off x="1704620" y="235626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9153" y="1052394"/>
            <a:ext cx="9064979"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569155" y="2487168"/>
            <a:ext cx="445008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93536" y="2487168"/>
            <a:ext cx="4450080" cy="3447288"/>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7FA4B46-59DC-4A79-B29E-574FB5E43556}" type="datetimeFigureOut">
              <a:rPr lang="en-US" smtClean="0"/>
              <a:t>9/23/2019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106788" y="5934457"/>
            <a:ext cx="1021184" cy="305477"/>
          </a:xfrm>
        </p:spPr>
        <p:txBody>
          <a:bodyPr/>
          <a:lstStyle/>
          <a:p>
            <a:fld id="{8EB7F9C2-E212-45FF-A8A3-0BB4531D96D3}" type="slidenum">
              <a:rPr lang="en-US" smtClean="0"/>
              <a:t>‹#›</a:t>
            </a:fld>
            <a:endParaRPr lang="en-US"/>
          </a:p>
        </p:txBody>
      </p:sp>
    </p:spTree>
    <p:extLst>
      <p:ext uri="{BB962C8B-B14F-4D97-AF65-F5344CB8AC3E}">
        <p14:creationId xmlns:p14="http://schemas.microsoft.com/office/powerpoint/2010/main" val="213744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569157" y="2658533"/>
            <a:ext cx="44500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569157" y="3243263"/>
            <a:ext cx="445008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9109" y="2658533"/>
            <a:ext cx="44500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9109" y="3243263"/>
            <a:ext cx="4450080" cy="270662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7FA4B46-59DC-4A79-B29E-574FB5E43556}" type="datetimeFigureOut">
              <a:rPr lang="en-US" smtClean="0"/>
              <a:t>9/23/2019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EB7F9C2-E212-45FF-A8A3-0BB4531D96D3}" type="slidenum">
              <a:rPr lang="en-US" smtClean="0"/>
              <a:t>‹#›</a:t>
            </a:fld>
            <a:endParaRPr lang="en-US"/>
          </a:p>
        </p:txBody>
      </p:sp>
      <p:cxnSp>
        <p:nvCxnSpPr>
          <p:cNvPr id="41" name="Straight Connector 40"/>
          <p:cNvCxnSpPr/>
          <p:nvPr/>
        </p:nvCxnSpPr>
        <p:spPr>
          <a:xfrm>
            <a:off x="1704622" y="235467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01381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flip="none" rotWithShape="1">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4" y="915338"/>
            <a:ext cx="9064980"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7FA4B46-59DC-4A79-B29E-574FB5E43556}" type="datetimeFigureOut">
              <a:rPr lang="en-US" smtClean="0"/>
              <a:t>9/23/2019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EB7F9C2-E212-45FF-A8A3-0BB4531D96D3}" type="slidenum">
              <a:rPr lang="en-US" smtClean="0"/>
              <a:t>‹#›</a:t>
            </a:fld>
            <a:endParaRPr lang="en-US"/>
          </a:p>
        </p:txBody>
      </p:sp>
      <p:cxnSp>
        <p:nvCxnSpPr>
          <p:cNvPr id="14" name="Straight Connector 13"/>
          <p:cNvCxnSpPr/>
          <p:nvPr/>
        </p:nvCxnSpPr>
        <p:spPr>
          <a:xfrm>
            <a:off x="1704622" y="235467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376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FA4B46-59DC-4A79-B29E-574FB5E43556}" type="datetimeFigureOut">
              <a:rPr lang="en-US" smtClean="0"/>
              <a:t>9/23/2019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EB7F9C2-E212-45FF-A8A3-0BB4531D96D3}" type="slidenum">
              <a:rPr lang="en-US" smtClean="0"/>
              <a:t>‹#›</a:t>
            </a:fld>
            <a:endParaRPr lang="en-US"/>
          </a:p>
        </p:txBody>
      </p:sp>
    </p:spTree>
    <p:extLst>
      <p:ext uri="{BB962C8B-B14F-4D97-AF65-F5344CB8AC3E}">
        <p14:creationId xmlns:p14="http://schemas.microsoft.com/office/powerpoint/2010/main" val="640749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3" y="1388534"/>
            <a:ext cx="3382397"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93417" y="982133"/>
            <a:ext cx="5140719" cy="4893735"/>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569153" y="3031065"/>
            <a:ext cx="3382397"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FA4B46-59DC-4A79-B29E-574FB5E43556}" type="datetimeFigureOut">
              <a:rPr lang="en-US" smtClean="0"/>
              <a:t>9/23/2019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B7F9C2-E212-45FF-A8A3-0BB4531D96D3}" type="slidenum">
              <a:rPr lang="en-US" smtClean="0"/>
              <a:t>‹#›</a:t>
            </a:fld>
            <a:endParaRPr lang="en-US"/>
          </a:p>
        </p:txBody>
      </p:sp>
      <p:cxnSp>
        <p:nvCxnSpPr>
          <p:cNvPr id="16" name="Straight Connector 15"/>
          <p:cNvCxnSpPr/>
          <p:nvPr/>
        </p:nvCxnSpPr>
        <p:spPr>
          <a:xfrm>
            <a:off x="1704621" y="2912533"/>
            <a:ext cx="311145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2529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3" y="1883832"/>
            <a:ext cx="4842936"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6910759" y="1032933"/>
            <a:ext cx="3905951"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9154" y="3255432"/>
            <a:ext cx="4842935"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FA4B46-59DC-4A79-B29E-574FB5E43556}" type="datetimeFigureOut">
              <a:rPr lang="en-US" smtClean="0"/>
              <a:t>9/23/2019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B7F9C2-E212-45FF-A8A3-0BB4531D96D3}" type="slidenum">
              <a:rPr lang="en-US" smtClean="0"/>
              <a:t>‹#›</a:t>
            </a:fld>
            <a:endParaRPr lang="en-US"/>
          </a:p>
        </p:txBody>
      </p:sp>
    </p:spTree>
    <p:extLst>
      <p:ext uri="{BB962C8B-B14F-4D97-AF65-F5344CB8AC3E}">
        <p14:creationId xmlns:p14="http://schemas.microsoft.com/office/powerpoint/2010/main" val="1554546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5" y="4815415"/>
            <a:ext cx="9064979"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68347" y="1032934"/>
            <a:ext cx="9455309"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569155" y="5382153"/>
            <a:ext cx="9064979"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FA4B46-59DC-4A79-B29E-574FB5E43556}" type="datetimeFigureOut">
              <a:rPr lang="en-US" smtClean="0"/>
              <a:t>9/23/2019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EB7F9C2-E212-45FF-A8A3-0BB4531D96D3}" type="slidenum">
              <a:rPr lang="en-US" smtClean="0"/>
              <a:t>‹#›</a:t>
            </a:fld>
            <a:endParaRPr lang="en-US"/>
          </a:p>
        </p:txBody>
      </p:sp>
    </p:spTree>
    <p:extLst>
      <p:ext uri="{BB962C8B-B14F-4D97-AF65-F5344CB8AC3E}">
        <p14:creationId xmlns:p14="http://schemas.microsoft.com/office/powerpoint/2010/main" val="9805223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5" y="906873"/>
            <a:ext cx="9064979"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9154" y="4275666"/>
            <a:ext cx="9064981"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FA4B46-59DC-4A79-B29E-574FB5E43556}"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7F9C2-E212-45FF-A8A3-0BB4531D96D3}" type="slidenum">
              <a:rPr lang="en-US" smtClean="0"/>
              <a:t>‹#›</a:t>
            </a:fld>
            <a:endParaRPr lang="en-US"/>
          </a:p>
        </p:txBody>
      </p:sp>
      <p:cxnSp>
        <p:nvCxnSpPr>
          <p:cNvPr id="15" name="Straight Connector 14"/>
          <p:cNvCxnSpPr/>
          <p:nvPr/>
        </p:nvCxnSpPr>
        <p:spPr>
          <a:xfrm>
            <a:off x="1704621" y="4140199"/>
            <a:ext cx="880856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5331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779111" y="982132"/>
            <a:ext cx="8533667"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133600" y="3352800"/>
            <a:ext cx="7857064"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1569151" y="4343401"/>
            <a:ext cx="9064984"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FA4B46-59DC-4A79-B29E-574FB5E43556}"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7F9C2-E212-45FF-A8A3-0BB4531D96D3}" type="slidenum">
              <a:rPr lang="en-US" smtClean="0"/>
              <a:t>‹#›</a:t>
            </a:fld>
            <a:endParaRPr lang="en-US"/>
          </a:p>
        </p:txBody>
      </p:sp>
      <p:sp>
        <p:nvSpPr>
          <p:cNvPr id="14" name="TextBox 13"/>
          <p:cNvSpPr txBox="1"/>
          <p:nvPr/>
        </p:nvSpPr>
        <p:spPr>
          <a:xfrm>
            <a:off x="1133293" y="905362"/>
            <a:ext cx="60975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10178005" y="2827870"/>
            <a:ext cx="60975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704622" y="4140199"/>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285380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9" y="3308581"/>
            <a:ext cx="9064971"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569158" y="4777381"/>
            <a:ext cx="9064973"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FA4B46-59DC-4A79-B29E-574FB5E43556}"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7F9C2-E212-45FF-A8A3-0BB4531D96D3}" type="slidenum">
              <a:rPr lang="en-US" smtClean="0"/>
              <a:t>‹#›</a:t>
            </a:fld>
            <a:endParaRPr lang="en-US"/>
          </a:p>
        </p:txBody>
      </p:sp>
    </p:spTree>
    <p:extLst>
      <p:ext uri="{BB962C8B-B14F-4D97-AF65-F5344CB8AC3E}">
        <p14:creationId xmlns:p14="http://schemas.microsoft.com/office/powerpoint/2010/main" val="1746209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879222" y="982132"/>
            <a:ext cx="8433557"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8" name="Text Placeholder 2"/>
          <p:cNvSpPr>
            <a:spLocks noGrp="1"/>
          </p:cNvSpPr>
          <p:nvPr>
            <p:ph type="body" idx="13"/>
          </p:nvPr>
        </p:nvSpPr>
        <p:spPr>
          <a:xfrm>
            <a:off x="1569158" y="3639312"/>
            <a:ext cx="9064973"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9154" y="4529667"/>
            <a:ext cx="9064981"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FA4B46-59DC-4A79-B29E-574FB5E43556}"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7F9C2-E212-45FF-A8A3-0BB4531D96D3}" type="slidenum">
              <a:rPr lang="en-US" smtClean="0"/>
              <a:t>‹#›</a:t>
            </a:fld>
            <a:endParaRPr lang="en-US"/>
          </a:p>
        </p:txBody>
      </p:sp>
      <p:sp>
        <p:nvSpPr>
          <p:cNvPr id="12" name="TextBox 11"/>
          <p:cNvSpPr txBox="1"/>
          <p:nvPr/>
        </p:nvSpPr>
        <p:spPr>
          <a:xfrm>
            <a:off x="1170747" y="896895"/>
            <a:ext cx="60975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199729" y="2607728"/>
            <a:ext cx="60975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704622" y="342900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908044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569153" y="982132"/>
            <a:ext cx="9064979"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569158" y="3566160"/>
            <a:ext cx="9064973"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3" name="Text Placeholder 2"/>
          <p:cNvSpPr>
            <a:spLocks noGrp="1"/>
          </p:cNvSpPr>
          <p:nvPr>
            <p:ph type="body" idx="1"/>
          </p:nvPr>
        </p:nvSpPr>
        <p:spPr>
          <a:xfrm>
            <a:off x="1569155" y="4470401"/>
            <a:ext cx="9064979"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FA4B46-59DC-4A79-B29E-574FB5E43556}"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7F9C2-E212-45FF-A8A3-0BB4531D96D3}" type="slidenum">
              <a:rPr lang="en-US" smtClean="0"/>
              <a:t>‹#›</a:t>
            </a:fld>
            <a:endParaRPr lang="en-US"/>
          </a:p>
        </p:txBody>
      </p:sp>
      <p:cxnSp>
        <p:nvCxnSpPr>
          <p:cNvPr id="15" name="Straight Connector 14"/>
          <p:cNvCxnSpPr/>
          <p:nvPr/>
        </p:nvCxnSpPr>
        <p:spPr>
          <a:xfrm>
            <a:off x="1704626" y="3429000"/>
            <a:ext cx="880856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39183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9154" y="2490136"/>
            <a:ext cx="9064981" cy="338573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7FA4B46-59DC-4A79-B29E-574FB5E43556}"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7F9C2-E212-45FF-A8A3-0BB4531D96D3}" type="slidenum">
              <a:rPr lang="en-US" smtClean="0"/>
              <a:t>‹#›</a:t>
            </a:fld>
            <a:endParaRPr lang="en-US"/>
          </a:p>
        </p:txBody>
      </p:sp>
      <p:cxnSp>
        <p:nvCxnSpPr>
          <p:cNvPr id="14" name="Straight Connector 13"/>
          <p:cNvCxnSpPr/>
          <p:nvPr/>
        </p:nvCxnSpPr>
        <p:spPr>
          <a:xfrm>
            <a:off x="1704622" y="2354670"/>
            <a:ext cx="880856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29234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75556" y="906874"/>
            <a:ext cx="2158573"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569157" y="906874"/>
            <a:ext cx="6554012" cy="4968993"/>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7FA4B46-59DC-4A79-B29E-574FB5E43556}" type="datetimeFigureOut">
              <a:rPr lang="en-US" smtClean="0"/>
              <a:t>9/23/2019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EB7F9C2-E212-45FF-A8A3-0BB4531D96D3}" type="slidenum">
              <a:rPr lang="en-US" smtClean="0"/>
              <a:t>‹#›</a:t>
            </a:fld>
            <a:endParaRPr lang="en-US"/>
          </a:p>
        </p:txBody>
      </p:sp>
      <p:cxnSp>
        <p:nvCxnSpPr>
          <p:cNvPr id="14" name="Straight Connector 13"/>
          <p:cNvCxnSpPr/>
          <p:nvPr/>
        </p:nvCxnSpPr>
        <p:spPr>
          <a:xfrm>
            <a:off x="8327349" y="906874"/>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4354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5.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accent3">
                <a:lumMod val="0"/>
                <a:lumOff val="100000"/>
              </a:schemeClr>
            </a:gs>
            <a:gs pos="35000">
              <a:schemeClr val="accent3">
                <a:lumMod val="0"/>
                <a:lumOff val="100000"/>
              </a:schemeClr>
            </a:gs>
            <a:gs pos="100000">
              <a:schemeClr val="accent3">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grpSp>
        <p:nvGrpSpPr>
          <p:cNvPr id="7" name="Group 6"/>
          <p:cNvGrpSpPr/>
          <p:nvPr/>
        </p:nvGrpSpPr>
        <p:grpSpPr>
          <a:xfrm>
            <a:off x="1" y="0"/>
            <a:ext cx="12203289"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569155" y="915338"/>
            <a:ext cx="9064979"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569154" y="2490136"/>
            <a:ext cx="9064981" cy="3444997"/>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475561" y="5935133"/>
            <a:ext cx="897447" cy="304801"/>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7FA4B46-59DC-4A79-B29E-574FB5E43556}" type="datetimeFigureOut">
              <a:rPr lang="en-US" smtClean="0"/>
              <a:t>9/23/2019</a:t>
            </a:fld>
            <a:endParaRPr lang="en-US"/>
          </a:p>
        </p:txBody>
      </p:sp>
      <p:sp>
        <p:nvSpPr>
          <p:cNvPr id="5" name="Footer Placeholder 4"/>
          <p:cNvSpPr>
            <a:spLocks noGrp="1"/>
          </p:cNvSpPr>
          <p:nvPr>
            <p:ph type="ftr" sz="quarter" idx="3"/>
          </p:nvPr>
        </p:nvSpPr>
        <p:spPr>
          <a:xfrm>
            <a:off x="1569154" y="5960533"/>
            <a:ext cx="6806223"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9373007" y="5960533"/>
            <a:ext cx="1261128"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EB7F9C2-E212-45FF-A8A3-0BB4531D96D3}" type="slidenum">
              <a:rPr lang="en-US" smtClean="0"/>
              <a:t>‹#›</a:t>
            </a:fld>
            <a:endParaRPr lang="en-US"/>
          </a:p>
        </p:txBody>
      </p:sp>
      <p:grpSp>
        <p:nvGrpSpPr>
          <p:cNvPr id="12" name="Group 11"/>
          <p:cNvGrpSpPr/>
          <p:nvPr/>
        </p:nvGrpSpPr>
        <p:grpSpPr>
          <a:xfrm>
            <a:off x="4496777" y="4072"/>
            <a:ext cx="3209731" cy="981605"/>
            <a:chOff x="2823850" y="0"/>
            <a:chExt cx="3344655" cy="1466289"/>
          </a:xfrm>
        </p:grpSpPr>
        <p:pic>
          <p:nvPicPr>
            <p:cNvPr id="13" name="Picture 12" descr="Ethiopia_MOH"/>
            <p:cNvPicPr/>
            <p:nvPr userDrawn="1"/>
          </p:nvPicPr>
          <p:blipFill>
            <a:blip r:embed="rId21" cstate="print">
              <a:extLst>
                <a:ext uri="{28A0092B-C50C-407E-A947-70E740481C1C}">
                  <a14:useLocalDpi xmlns:a14="http://schemas.microsoft.com/office/drawing/2010/main" val="0"/>
                </a:ext>
              </a:extLst>
            </a:blip>
            <a:srcRect/>
            <a:stretch>
              <a:fillRect/>
            </a:stretch>
          </p:blipFill>
          <p:spPr bwMode="auto">
            <a:xfrm>
              <a:off x="3954364" y="0"/>
              <a:ext cx="1083629" cy="1033072"/>
            </a:xfrm>
            <a:prstGeom prst="ellipse">
              <a:avLst/>
            </a:prstGeom>
            <a:noFill/>
            <a:ln w="9525">
              <a:noFill/>
              <a:miter lim="800000"/>
              <a:headEnd/>
              <a:tailEnd/>
            </a:ln>
          </p:spPr>
        </p:pic>
        <p:sp>
          <p:nvSpPr>
            <p:cNvPr id="14" name="TextBox 13"/>
            <p:cNvSpPr txBox="1"/>
            <p:nvPr userDrawn="1"/>
          </p:nvSpPr>
          <p:spPr>
            <a:xfrm>
              <a:off x="2823850" y="1037575"/>
              <a:ext cx="3344655" cy="428714"/>
            </a:xfrm>
            <a:prstGeom prst="rect">
              <a:avLst/>
            </a:prstGeom>
            <a:noFill/>
          </p:spPr>
          <p:txBody>
            <a:bodyPr wrap="square" rtlCol="0">
              <a:spAutoFit/>
            </a:bodyPr>
            <a:lstStyle/>
            <a:p>
              <a:pPr algn="ctr">
                <a:lnSpc>
                  <a:spcPct val="115000"/>
                </a:lnSpc>
                <a:spcAft>
                  <a:spcPts val="1000"/>
                </a:spcAft>
              </a:pPr>
              <a:r>
                <a:rPr lang="en-US" sz="1100" dirty="0" smtClean="0">
                  <a:solidFill>
                    <a:srgbClr val="0066FF"/>
                  </a:solidFill>
                  <a:effectLst/>
                  <a:latin typeface="Britannic Bold" charset="0"/>
                  <a:ea typeface="Calibri" charset="0"/>
                  <a:cs typeface="Times New Roman" charset="0"/>
                </a:rPr>
                <a:t>Federal Ministry of Health</a:t>
              </a:r>
              <a:endParaRPr lang="en-US" sz="1100" dirty="0" smtClean="0">
                <a:effectLst/>
                <a:latin typeface="Calibri" charset="0"/>
                <a:ea typeface="Calibri" charset="0"/>
                <a:cs typeface="Times New Roman" charset="0"/>
              </a:endParaRPr>
            </a:p>
          </p:txBody>
        </p:sp>
      </p:grpSp>
    </p:spTree>
    <p:extLst>
      <p:ext uri="{BB962C8B-B14F-4D97-AF65-F5344CB8AC3E}">
        <p14:creationId xmlns:p14="http://schemas.microsoft.com/office/powerpoint/2010/main" val="11552993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2208884" y="1569308"/>
            <a:ext cx="7760513" cy="1838946"/>
          </a:xfrm>
        </p:spPr>
        <p:txBody>
          <a:bodyPr/>
          <a:lstStyle/>
          <a:p>
            <a:r>
              <a:rPr lang="en-US" sz="2800" dirty="0" smtClean="0">
                <a:latin typeface="Times New Roman" pitchFamily="18" charset="0"/>
                <a:cs typeface="Times New Roman" pitchFamily="18" charset="0"/>
              </a:rPr>
              <a:t>VOLUME 2:  SECTION 3</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CHAPTER 1: </a:t>
            </a:r>
            <a:br>
              <a:rPr lang="en-US" sz="2800" dirty="0" smtClean="0">
                <a:latin typeface="Times New Roman" pitchFamily="18" charset="0"/>
                <a:cs typeface="Times New Roman" pitchFamily="18" charset="0"/>
              </a:rPr>
            </a:br>
            <a:r>
              <a:rPr lang="en-US" sz="2800" dirty="0" smtClean="0">
                <a:latin typeface="Times New Roman" pitchFamily="18" charset="0"/>
                <a:cs typeface="Times New Roman" pitchFamily="18" charset="0"/>
              </a:rPr>
              <a:t>INTRODUCTION TO SURVEILLANCE OF HAI</a:t>
            </a:r>
            <a:endParaRPr lang="en-US" sz="2800" dirty="0">
              <a:latin typeface="Times New Roman" pitchFamily="18" charset="0"/>
              <a:cs typeface="Times New Roman" pitchFamily="18" charset="0"/>
            </a:endParaRPr>
          </a:p>
        </p:txBody>
      </p:sp>
      <p:sp>
        <p:nvSpPr>
          <p:cNvPr id="3" name="Content Placeholder 2"/>
          <p:cNvSpPr>
            <a:spLocks noGrp="1"/>
          </p:cNvSpPr>
          <p:nvPr>
            <p:ph type="subTitle" idx="1"/>
          </p:nvPr>
        </p:nvSpPr>
        <p:spPr>
          <a:xfrm>
            <a:off x="2304789" y="3597481"/>
            <a:ext cx="7440459" cy="1012902"/>
          </a:xfrm>
        </p:spPr>
        <p:txBody>
          <a:bodyPr>
            <a:normAutofit lnSpcReduction="10000"/>
          </a:bodyPr>
          <a:lstStyle/>
          <a:p>
            <a:pPr marL="0" indent="0">
              <a:buNone/>
            </a:pPr>
            <a:r>
              <a:rPr lang="en-US" b="1" dirty="0" smtClean="0">
                <a:latin typeface="+mj-lt"/>
              </a:rPr>
              <a:t>BASIC SURVEILLANCE AND BIOSTATISTICS </a:t>
            </a:r>
            <a:r>
              <a:rPr lang="en-US" b="1" dirty="0" smtClean="0">
                <a:latin typeface="+mj-lt"/>
              </a:rPr>
              <a:t>  </a:t>
            </a:r>
            <a:r>
              <a:rPr lang="en-US" b="1" dirty="0" smtClean="0"/>
              <a:t> </a:t>
            </a:r>
            <a:endParaRPr lang="en-US" dirty="0"/>
          </a:p>
        </p:txBody>
      </p:sp>
    </p:spTree>
    <p:extLst>
      <p:ext uri="{BB962C8B-B14F-4D97-AF65-F5344CB8AC3E}">
        <p14:creationId xmlns:p14="http://schemas.microsoft.com/office/powerpoint/2010/main" val="45607306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  </a:t>
            </a:r>
            <a:r>
              <a:rPr lang="en-US" sz="4000" dirty="0" smtClean="0"/>
              <a:t>Chapter Content</a:t>
            </a:r>
            <a:endParaRPr lang="en-US" sz="4000" dirty="0"/>
          </a:p>
        </p:txBody>
      </p:sp>
      <p:sp>
        <p:nvSpPr>
          <p:cNvPr id="3" name="Content Placeholder 2"/>
          <p:cNvSpPr>
            <a:spLocks noGrp="1"/>
          </p:cNvSpPr>
          <p:nvPr>
            <p:ph idx="1"/>
          </p:nvPr>
        </p:nvSpPr>
        <p:spPr/>
        <p:txBody>
          <a:bodyPr>
            <a:normAutofit fontScale="92500" lnSpcReduction="20000"/>
          </a:bodyPr>
          <a:lstStyle/>
          <a:p>
            <a:pPr lvl="1" algn="just"/>
            <a:r>
              <a:rPr lang="en-US" sz="2800" dirty="0" smtClean="0"/>
              <a:t>Characteristics </a:t>
            </a:r>
            <a:r>
              <a:rPr lang="en-US" sz="2800" dirty="0"/>
              <a:t>and types of surveillance</a:t>
            </a:r>
          </a:p>
          <a:p>
            <a:pPr lvl="1" algn="just"/>
            <a:r>
              <a:rPr lang="en-US" sz="2800" dirty="0"/>
              <a:t>Purposes of conducting surveillance</a:t>
            </a:r>
          </a:p>
          <a:p>
            <a:pPr lvl="1" algn="just"/>
            <a:r>
              <a:rPr lang="en-US" sz="2800" dirty="0"/>
              <a:t>Prioritizing surveillance for HAIs</a:t>
            </a:r>
          </a:p>
          <a:p>
            <a:pPr lvl="1" algn="just"/>
            <a:r>
              <a:rPr lang="en-US" sz="2800" dirty="0"/>
              <a:t>Designing surveillance program</a:t>
            </a:r>
          </a:p>
          <a:p>
            <a:pPr lvl="1" algn="just"/>
            <a:r>
              <a:rPr lang="en-US" sz="2800" dirty="0"/>
              <a:t>Implementing Program</a:t>
            </a:r>
          </a:p>
          <a:p>
            <a:pPr lvl="1" algn="just"/>
            <a:r>
              <a:rPr lang="en-US" sz="2800" dirty="0"/>
              <a:t>Data collection and analysis</a:t>
            </a:r>
          </a:p>
          <a:p>
            <a:pPr lvl="1" algn="just"/>
            <a:r>
              <a:rPr lang="en-US" sz="2800" dirty="0"/>
              <a:t>Performance improvement</a:t>
            </a:r>
          </a:p>
          <a:p>
            <a:pPr algn="just"/>
            <a:endParaRPr lang="en-US" dirty="0"/>
          </a:p>
        </p:txBody>
      </p:sp>
    </p:spTree>
    <p:extLst>
      <p:ext uri="{BB962C8B-B14F-4D97-AF65-F5344CB8AC3E}">
        <p14:creationId xmlns:p14="http://schemas.microsoft.com/office/powerpoint/2010/main" val="13475198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t>
            </a:r>
            <a:br>
              <a:rPr lang="en-US" b="1" dirty="0" smtClean="0"/>
            </a:br>
            <a:r>
              <a:rPr lang="en-US" b="1" dirty="0"/>
              <a:t/>
            </a:r>
            <a:br>
              <a:rPr lang="en-US" b="1" dirty="0"/>
            </a:br>
            <a:r>
              <a:rPr lang="en-US" b="1" dirty="0" smtClean="0"/>
              <a:t/>
            </a:r>
            <a:br>
              <a:rPr lang="en-US" b="1" dirty="0" smtClean="0"/>
            </a:br>
            <a:r>
              <a:rPr lang="en-US" dirty="0"/>
              <a:t>Learning Objectives</a:t>
            </a:r>
            <a:r>
              <a:rPr lang="en-US" b="1" dirty="0" smtClean="0"/>
              <a:t/>
            </a:r>
            <a:br>
              <a:rPr lang="en-US" b="1" dirty="0" smtClean="0"/>
            </a:br>
            <a:r>
              <a:rPr lang="en-US" b="1" dirty="0"/>
              <a:t/>
            </a:r>
            <a:br>
              <a:rPr lang="en-US" b="1" dirty="0"/>
            </a:br>
            <a:r>
              <a:rPr lang="en-US" b="1" dirty="0" smtClean="0"/>
              <a:t>  </a:t>
            </a:r>
            <a:endParaRPr lang="en-US" sz="4400" dirty="0"/>
          </a:p>
        </p:txBody>
      </p:sp>
      <p:sp>
        <p:nvSpPr>
          <p:cNvPr id="3" name="Subtitle 2"/>
          <p:cNvSpPr>
            <a:spLocks noGrp="1"/>
          </p:cNvSpPr>
          <p:nvPr>
            <p:ph idx="1"/>
          </p:nvPr>
        </p:nvSpPr>
        <p:spPr/>
        <p:txBody>
          <a:bodyPr>
            <a:normAutofit fontScale="85000" lnSpcReduction="20000"/>
          </a:bodyPr>
          <a:lstStyle/>
          <a:p>
            <a:pPr algn="just"/>
            <a:r>
              <a:rPr lang="en-US" sz="2800" dirty="0" smtClean="0"/>
              <a:t>Identify </a:t>
            </a:r>
            <a:r>
              <a:rPr lang="en-US" sz="2800" dirty="0"/>
              <a:t>the characteristics and types of surveillance for health </a:t>
            </a:r>
            <a:r>
              <a:rPr lang="en-US" sz="2800" dirty="0" smtClean="0"/>
              <a:t>care associated </a:t>
            </a:r>
            <a:r>
              <a:rPr lang="en-US" sz="2800" dirty="0"/>
              <a:t>infections (</a:t>
            </a:r>
            <a:r>
              <a:rPr lang="en-US" sz="2800" dirty="0" smtClean="0"/>
              <a:t>HAIs)</a:t>
            </a:r>
          </a:p>
          <a:p>
            <a:pPr algn="just"/>
            <a:r>
              <a:rPr lang="en-US" sz="2800" dirty="0" smtClean="0"/>
              <a:t>Describe </a:t>
            </a:r>
            <a:r>
              <a:rPr lang="en-US" sz="2800" dirty="0"/>
              <a:t>the purposes of conducting surveillance </a:t>
            </a:r>
          </a:p>
          <a:p>
            <a:pPr algn="just"/>
            <a:r>
              <a:rPr lang="en-US" sz="2800" dirty="0" smtClean="0"/>
              <a:t>Identify </a:t>
            </a:r>
            <a:r>
              <a:rPr lang="en-US" sz="2800" dirty="0"/>
              <a:t>how to Prioritizing surveillance for </a:t>
            </a:r>
            <a:r>
              <a:rPr lang="en-US" sz="2800" dirty="0" smtClean="0"/>
              <a:t>HAIs</a:t>
            </a:r>
          </a:p>
          <a:p>
            <a:pPr algn="just"/>
            <a:r>
              <a:rPr lang="en-US" sz="2800" dirty="0" smtClean="0"/>
              <a:t>Describe </a:t>
            </a:r>
            <a:r>
              <a:rPr lang="en-US" sz="2800" dirty="0"/>
              <a:t>the designing of HAI surveillance program  </a:t>
            </a:r>
          </a:p>
          <a:p>
            <a:pPr algn="just"/>
            <a:r>
              <a:rPr lang="en-US" sz="2800" dirty="0" smtClean="0"/>
              <a:t>Explain </a:t>
            </a:r>
            <a:r>
              <a:rPr lang="en-US" sz="2800" dirty="0"/>
              <a:t>program implementation </a:t>
            </a:r>
          </a:p>
          <a:p>
            <a:pPr algn="just"/>
            <a:r>
              <a:rPr lang="en-US" sz="2800" dirty="0" smtClean="0"/>
              <a:t>Describe </a:t>
            </a:r>
            <a:r>
              <a:rPr lang="en-US" sz="2800" dirty="0"/>
              <a:t>data analysis and </a:t>
            </a:r>
            <a:r>
              <a:rPr lang="en-US" sz="2800" dirty="0" smtClean="0"/>
              <a:t>feedback</a:t>
            </a:r>
          </a:p>
          <a:p>
            <a:pPr algn="just"/>
            <a:r>
              <a:rPr lang="en-US" sz="2800" dirty="0" smtClean="0"/>
              <a:t>Identify </a:t>
            </a:r>
            <a:r>
              <a:rPr lang="en-US" sz="2800" dirty="0"/>
              <a:t>Performance improvement  </a:t>
            </a:r>
          </a:p>
          <a:p>
            <a:pPr algn="just"/>
            <a:endParaRPr lang="en-US" sz="2800" dirty="0"/>
          </a:p>
        </p:txBody>
      </p:sp>
    </p:spTree>
    <p:extLst>
      <p:ext uri="{BB962C8B-B14F-4D97-AF65-F5344CB8AC3E}">
        <p14:creationId xmlns:p14="http://schemas.microsoft.com/office/powerpoint/2010/main" val="21230800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sz="4400" dirty="0" smtClean="0"/>
              <a:t>PPP 13.1: </a:t>
            </a:r>
            <a:br>
              <a:rPr lang="en-US" sz="4400" dirty="0" smtClean="0"/>
            </a:br>
            <a:r>
              <a:rPr lang="en-US" sz="4400" dirty="0" smtClean="0"/>
              <a:t>Overview</a:t>
            </a:r>
            <a:endParaRPr lang="en-US" sz="4400"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1760589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  </a:t>
            </a:r>
            <a:r>
              <a:rPr lang="en-US" sz="4000" b="1" dirty="0" smtClean="0"/>
              <a:t>Overview</a:t>
            </a:r>
            <a:endParaRPr lang="en-US" sz="4000" dirty="0"/>
          </a:p>
        </p:txBody>
      </p:sp>
      <p:sp>
        <p:nvSpPr>
          <p:cNvPr id="3" name="Content Placeholder 2"/>
          <p:cNvSpPr>
            <a:spLocks noGrp="1"/>
          </p:cNvSpPr>
          <p:nvPr>
            <p:ph idx="1"/>
          </p:nvPr>
        </p:nvSpPr>
        <p:spPr/>
        <p:txBody>
          <a:bodyPr/>
          <a:lstStyle/>
          <a:p>
            <a:pPr algn="just"/>
            <a:r>
              <a:rPr lang="en-US" dirty="0" smtClean="0"/>
              <a:t>Health </a:t>
            </a:r>
            <a:r>
              <a:rPr lang="en-US" dirty="0"/>
              <a:t>surveillance </a:t>
            </a:r>
            <a:r>
              <a:rPr lang="en-US" dirty="0" smtClean="0"/>
              <a:t>is  </a:t>
            </a:r>
            <a:r>
              <a:rPr lang="en-US" dirty="0"/>
              <a:t>“the </a:t>
            </a:r>
            <a:r>
              <a:rPr lang="en-US" dirty="0">
                <a:solidFill>
                  <a:srgbClr val="0070C0"/>
                </a:solidFill>
              </a:rPr>
              <a:t>ongoing systematic </a:t>
            </a:r>
            <a:r>
              <a:rPr lang="en-US" dirty="0"/>
              <a:t>collection, analysis, and interpretation of health data essential for planning, implementing and evaluating public health activities.”  </a:t>
            </a:r>
          </a:p>
        </p:txBody>
      </p:sp>
    </p:spTree>
    <p:extLst>
      <p:ext uri="{BB962C8B-B14F-4D97-AF65-F5344CB8AC3E}">
        <p14:creationId xmlns:p14="http://schemas.microsoft.com/office/powerpoint/2010/main" val="19491144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4800" b="1" dirty="0" smtClean="0"/>
              <a:t>PPP 13.2: </a:t>
            </a:r>
            <a:br>
              <a:rPr lang="en-US" sz="4800" b="1" dirty="0" smtClean="0"/>
            </a:br>
            <a:r>
              <a:rPr lang="en-US" sz="4800" b="1" dirty="0" smtClean="0"/>
              <a:t>Characteristics of Surveillance</a:t>
            </a:r>
            <a:endParaRPr lang="en-US" sz="4800" b="1" dirty="0"/>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6880419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Characteristics of Effective Surveillance</a:t>
            </a:r>
            <a:endParaRPr lang="en-US" dirty="0"/>
          </a:p>
        </p:txBody>
      </p:sp>
      <p:sp>
        <p:nvSpPr>
          <p:cNvPr id="3" name="Content Placeholder 2"/>
          <p:cNvSpPr>
            <a:spLocks noGrp="1"/>
          </p:cNvSpPr>
          <p:nvPr>
            <p:ph idx="1"/>
          </p:nvPr>
        </p:nvSpPr>
        <p:spPr>
          <a:xfrm>
            <a:off x="1569154" y="2490135"/>
            <a:ext cx="9064981" cy="4010418"/>
          </a:xfrm>
        </p:spPr>
        <p:txBody>
          <a:bodyPr>
            <a:normAutofit fontScale="92500" lnSpcReduction="10000"/>
          </a:bodyPr>
          <a:lstStyle/>
          <a:p>
            <a:pPr lvl="0" algn="just"/>
            <a:r>
              <a:rPr lang="en-US" dirty="0"/>
              <a:t>Surveillance is based upon </a:t>
            </a:r>
            <a:r>
              <a:rPr lang="en-US" dirty="0">
                <a:solidFill>
                  <a:srgbClr val="0070C0"/>
                </a:solidFill>
              </a:rPr>
              <a:t>sound epidemiological</a:t>
            </a:r>
            <a:r>
              <a:rPr lang="en-US" dirty="0"/>
              <a:t> and </a:t>
            </a:r>
            <a:r>
              <a:rPr lang="en-US" dirty="0">
                <a:solidFill>
                  <a:srgbClr val="0070C0"/>
                </a:solidFill>
              </a:rPr>
              <a:t>statistical </a:t>
            </a:r>
            <a:r>
              <a:rPr lang="en-US" dirty="0" smtClean="0">
                <a:solidFill>
                  <a:srgbClr val="0070C0"/>
                </a:solidFill>
              </a:rPr>
              <a:t>principles</a:t>
            </a:r>
            <a:endParaRPr lang="en-US" dirty="0">
              <a:solidFill>
                <a:srgbClr val="0070C0"/>
              </a:solidFill>
            </a:endParaRPr>
          </a:p>
          <a:p>
            <a:pPr lvl="0" algn="just"/>
            <a:r>
              <a:rPr lang="en-US" dirty="0"/>
              <a:t>Data are properly </a:t>
            </a:r>
            <a:r>
              <a:rPr lang="en-US" b="1" dirty="0"/>
              <a:t>collected</a:t>
            </a:r>
            <a:r>
              <a:rPr lang="en-US" dirty="0"/>
              <a:t> and </a:t>
            </a:r>
            <a:r>
              <a:rPr lang="en-US" b="1" dirty="0"/>
              <a:t>analyzed</a:t>
            </a:r>
            <a:r>
              <a:rPr lang="en-US" dirty="0"/>
              <a:t>. </a:t>
            </a:r>
          </a:p>
          <a:p>
            <a:pPr lvl="0" algn="just"/>
            <a:r>
              <a:rPr lang="en-US" dirty="0"/>
              <a:t>Information is shared in a </a:t>
            </a:r>
            <a:r>
              <a:rPr lang="en-US" b="1" dirty="0"/>
              <a:t>timely manner </a:t>
            </a:r>
            <a:r>
              <a:rPr lang="en-US" dirty="0"/>
              <a:t>with those who can act to improve IPC practices and the quality of care. </a:t>
            </a:r>
            <a:endParaRPr lang="en-US" dirty="0" smtClean="0"/>
          </a:p>
          <a:p>
            <a:pPr lvl="0" algn="just"/>
            <a:r>
              <a:rPr lang="en-US" dirty="0" smtClean="0"/>
              <a:t>Efforts </a:t>
            </a:r>
            <a:r>
              <a:rPr lang="en-US" dirty="0"/>
              <a:t>to improve </a:t>
            </a:r>
            <a:r>
              <a:rPr lang="en-US" b="1" dirty="0"/>
              <a:t>practices</a:t>
            </a:r>
            <a:r>
              <a:rPr lang="en-US" dirty="0"/>
              <a:t> and </a:t>
            </a:r>
            <a:r>
              <a:rPr lang="en-US" b="1" dirty="0"/>
              <a:t>decrease HAI</a:t>
            </a:r>
            <a:r>
              <a:rPr lang="en-US" dirty="0"/>
              <a:t> are a critical part of the surveillance plan.</a:t>
            </a:r>
          </a:p>
          <a:p>
            <a:pPr algn="just"/>
            <a:endParaRPr lang="en-US" dirty="0"/>
          </a:p>
        </p:txBody>
      </p:sp>
    </p:spTree>
    <p:extLst>
      <p:ext uri="{BB962C8B-B14F-4D97-AF65-F5344CB8AC3E}">
        <p14:creationId xmlns:p14="http://schemas.microsoft.com/office/powerpoint/2010/main" val="6859311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5400" b="1" dirty="0" smtClean="0"/>
              <a:t>PPP 12.3:</a:t>
            </a:r>
            <a:br>
              <a:rPr lang="en-US" sz="5400" b="1" dirty="0" smtClean="0"/>
            </a:br>
            <a:r>
              <a:rPr lang="en-US" sz="5400" b="1" dirty="0" smtClean="0"/>
              <a:t>Types of Surveillance</a:t>
            </a:r>
            <a:endParaRPr lang="en-US" sz="5400" b="1"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1178853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Surveillance </a:t>
            </a:r>
            <a:endParaRPr lang="en-US" dirty="0"/>
          </a:p>
        </p:txBody>
      </p:sp>
      <p:sp>
        <p:nvSpPr>
          <p:cNvPr id="3" name="Content Placeholder 2"/>
          <p:cNvSpPr>
            <a:spLocks noGrp="1"/>
          </p:cNvSpPr>
          <p:nvPr>
            <p:ph idx="1"/>
          </p:nvPr>
        </p:nvSpPr>
        <p:spPr>
          <a:xfrm>
            <a:off x="1569154" y="2490136"/>
            <a:ext cx="9064981" cy="3861238"/>
          </a:xfrm>
        </p:spPr>
        <p:txBody>
          <a:bodyPr>
            <a:normAutofit/>
          </a:bodyPr>
          <a:lstStyle/>
          <a:p>
            <a:pPr algn="just"/>
            <a:r>
              <a:rPr lang="en-US" sz="3600" b="1" dirty="0" smtClean="0"/>
              <a:t>Outcome </a:t>
            </a:r>
            <a:r>
              <a:rPr lang="en-US" sz="3600" b="1" dirty="0"/>
              <a:t>surveillance: </a:t>
            </a:r>
            <a:r>
              <a:rPr lang="en-US" sz="3600" dirty="0"/>
              <a:t>monitoring of specific HAIs (e.g., SSIs, catheter-associated urinary tract infections [CAUTIs], diarrhea), or </a:t>
            </a:r>
          </a:p>
          <a:p>
            <a:pPr algn="just"/>
            <a:r>
              <a:rPr lang="en-US" sz="3600" b="1" dirty="0"/>
              <a:t>Process surveillance:</a:t>
            </a:r>
            <a:r>
              <a:rPr lang="en-US" sz="3600" dirty="0"/>
              <a:t> monitoring of patient care practices, including IPC practices </a:t>
            </a:r>
          </a:p>
        </p:txBody>
      </p:sp>
    </p:spTree>
    <p:extLst>
      <p:ext uri="{BB962C8B-B14F-4D97-AF65-F5344CB8AC3E}">
        <p14:creationId xmlns:p14="http://schemas.microsoft.com/office/powerpoint/2010/main" val="34393910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Types of Surveillance </a:t>
            </a:r>
            <a:r>
              <a:rPr lang="en-US" dirty="0" smtClean="0"/>
              <a:t>cont’d</a:t>
            </a:r>
            <a:r>
              <a:rPr lang="en-US" b="1" dirty="0" smtClean="0"/>
              <a:t>…</a:t>
            </a:r>
            <a:endParaRPr lang="en-US" dirty="0"/>
          </a:p>
        </p:txBody>
      </p:sp>
      <p:sp>
        <p:nvSpPr>
          <p:cNvPr id="3" name="Content Placeholder 2"/>
          <p:cNvSpPr>
            <a:spLocks noGrp="1"/>
          </p:cNvSpPr>
          <p:nvPr>
            <p:ph idx="1"/>
          </p:nvPr>
        </p:nvSpPr>
        <p:spPr>
          <a:xfrm>
            <a:off x="1645919" y="2541688"/>
            <a:ext cx="8927869" cy="3277222"/>
          </a:xfrm>
        </p:spPr>
        <p:txBody>
          <a:bodyPr/>
          <a:lstStyle/>
          <a:p>
            <a:pPr algn="just"/>
            <a:r>
              <a:rPr lang="en-US" b="1" dirty="0" smtClean="0"/>
              <a:t>Continuous: </a:t>
            </a:r>
            <a:r>
              <a:rPr lang="en-US" dirty="0" smtClean="0"/>
              <a:t>data </a:t>
            </a:r>
            <a:r>
              <a:rPr lang="en-US" dirty="0"/>
              <a:t>are collected continuously on a routine basis, or </a:t>
            </a:r>
            <a:endParaRPr lang="en-US" dirty="0" smtClean="0"/>
          </a:p>
          <a:p>
            <a:pPr algn="just"/>
            <a:r>
              <a:rPr lang="en-US" b="1" dirty="0" smtClean="0"/>
              <a:t>Periodic: </a:t>
            </a:r>
            <a:r>
              <a:rPr lang="en-US" dirty="0" smtClean="0"/>
              <a:t>when </a:t>
            </a:r>
            <a:r>
              <a:rPr lang="en-US" dirty="0"/>
              <a:t>data are collected at intervals, such as 1 month each quarter or 1 quarter per year. </a:t>
            </a:r>
          </a:p>
          <a:p>
            <a:pPr marL="0" indent="0" algn="just">
              <a:buNone/>
            </a:pPr>
            <a:endParaRPr lang="en-US" b="1" dirty="0"/>
          </a:p>
        </p:txBody>
      </p:sp>
    </p:spTree>
    <p:extLst>
      <p:ext uri="{BB962C8B-B14F-4D97-AF65-F5344CB8AC3E}">
        <p14:creationId xmlns:p14="http://schemas.microsoft.com/office/powerpoint/2010/main" val="24708122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Surveillance cont’d…</a:t>
            </a:r>
          </a:p>
        </p:txBody>
      </p:sp>
      <p:sp>
        <p:nvSpPr>
          <p:cNvPr id="3" name="Content Placeholder 2"/>
          <p:cNvSpPr>
            <a:spLocks noGrp="1"/>
          </p:cNvSpPr>
          <p:nvPr>
            <p:ph idx="1"/>
          </p:nvPr>
        </p:nvSpPr>
        <p:spPr>
          <a:xfrm>
            <a:off x="1569154" y="2490136"/>
            <a:ext cx="9064981" cy="3777660"/>
          </a:xfrm>
        </p:spPr>
        <p:txBody>
          <a:bodyPr>
            <a:normAutofit fontScale="92500" lnSpcReduction="10000"/>
          </a:bodyPr>
          <a:lstStyle/>
          <a:p>
            <a:pPr algn="just"/>
            <a:r>
              <a:rPr lang="en-US" b="1" dirty="0"/>
              <a:t>Active surveillance</a:t>
            </a:r>
            <a:r>
              <a:rPr lang="en-US" dirty="0"/>
              <a:t> is the identification of HAIs by trained personnel who proactively look for HAIs using multiple data </a:t>
            </a:r>
            <a:r>
              <a:rPr lang="en-US" dirty="0" smtClean="0"/>
              <a:t>sources</a:t>
            </a:r>
          </a:p>
          <a:p>
            <a:pPr algn="just"/>
            <a:r>
              <a:rPr lang="en-US" b="1" dirty="0"/>
              <a:t>Passive surveillance</a:t>
            </a:r>
            <a:r>
              <a:rPr lang="en-US" dirty="0"/>
              <a:t> of HAIs refers to the identification of HAIs by patient care providers, such as physicians or nurses, who may not be formally trained in surveillance and may not consistently use standardized surveillance case definitions to identify HAIs.</a:t>
            </a:r>
          </a:p>
        </p:txBody>
      </p:sp>
    </p:spTree>
    <p:extLst>
      <p:ext uri="{BB962C8B-B14F-4D97-AF65-F5344CB8AC3E}">
        <p14:creationId xmlns:p14="http://schemas.microsoft.com/office/powerpoint/2010/main" val="41038422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sz="5400" b="1" dirty="0" smtClean="0"/>
              <a:t>PPP 13.3:</a:t>
            </a:r>
            <a:br>
              <a:rPr lang="en-US" sz="5400" b="1" dirty="0" smtClean="0"/>
            </a:br>
            <a:r>
              <a:rPr lang="en-US" sz="5400" b="1" dirty="0" smtClean="0"/>
              <a:t>Purpose of Surveillance</a:t>
            </a:r>
            <a:endParaRPr lang="en-US" sz="5400" b="1"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212780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Purposes of Conducting Surveillance for HAI</a:t>
            </a:r>
            <a:endParaRPr lang="en-US" dirty="0"/>
          </a:p>
        </p:txBody>
      </p:sp>
      <p:sp>
        <p:nvSpPr>
          <p:cNvPr id="3" name="Content Placeholder 2"/>
          <p:cNvSpPr>
            <a:spLocks noGrp="1"/>
          </p:cNvSpPr>
          <p:nvPr>
            <p:ph idx="1"/>
          </p:nvPr>
        </p:nvSpPr>
        <p:spPr/>
        <p:txBody>
          <a:bodyPr/>
          <a:lstStyle/>
          <a:p>
            <a:pPr algn="just"/>
            <a:r>
              <a:rPr lang="en-US" dirty="0" smtClean="0"/>
              <a:t>Surveillance </a:t>
            </a:r>
            <a:r>
              <a:rPr lang="en-US" dirty="0"/>
              <a:t>can help guide IPC activities by providing data on outcomes as well as processes. </a:t>
            </a:r>
            <a:endParaRPr lang="en-US" dirty="0" smtClean="0"/>
          </a:p>
          <a:p>
            <a:pPr algn="just"/>
            <a:r>
              <a:rPr lang="en-US" dirty="0" smtClean="0"/>
              <a:t>Surveillance </a:t>
            </a:r>
            <a:r>
              <a:rPr lang="en-US" dirty="0"/>
              <a:t>should respond to the facility’s actual needs.  </a:t>
            </a:r>
          </a:p>
          <a:p>
            <a:pPr algn="just"/>
            <a:endParaRPr lang="en-US" dirty="0"/>
          </a:p>
        </p:txBody>
      </p:sp>
    </p:spTree>
    <p:extLst>
      <p:ext uri="{BB962C8B-B14F-4D97-AF65-F5344CB8AC3E}">
        <p14:creationId xmlns:p14="http://schemas.microsoft.com/office/powerpoint/2010/main" val="23435834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Outcome surveillance helps the IPC team to:</a:t>
            </a:r>
            <a:endParaRPr lang="en-US" dirty="0"/>
          </a:p>
        </p:txBody>
      </p:sp>
      <p:sp>
        <p:nvSpPr>
          <p:cNvPr id="3" name="Content Placeholder 2"/>
          <p:cNvSpPr>
            <a:spLocks noGrp="1"/>
          </p:cNvSpPr>
          <p:nvPr>
            <p:ph idx="1"/>
          </p:nvPr>
        </p:nvSpPr>
        <p:spPr/>
        <p:txBody>
          <a:bodyPr>
            <a:normAutofit fontScale="92500" lnSpcReduction="20000"/>
          </a:bodyPr>
          <a:lstStyle/>
          <a:p>
            <a:pPr lvl="0" algn="just"/>
            <a:r>
              <a:rPr lang="en-US" dirty="0" smtClean="0"/>
              <a:t>Determine </a:t>
            </a:r>
            <a:r>
              <a:rPr lang="en-US" dirty="0"/>
              <a:t>baseline rates of HAI, </a:t>
            </a:r>
          </a:p>
          <a:p>
            <a:pPr lvl="0" algn="just"/>
            <a:r>
              <a:rPr lang="en-US" dirty="0"/>
              <a:t>Identify occurrence of infections above the baseline (expected) rates, </a:t>
            </a:r>
          </a:p>
          <a:p>
            <a:pPr lvl="0" algn="just"/>
            <a:r>
              <a:rPr lang="en-US" dirty="0"/>
              <a:t>Detect and report notifiable diseases to the public health authorities </a:t>
            </a:r>
          </a:p>
          <a:p>
            <a:pPr lvl="0" algn="just"/>
            <a:r>
              <a:rPr lang="en-US" dirty="0" smtClean="0"/>
              <a:t>Detect </a:t>
            </a:r>
            <a:r>
              <a:rPr lang="en-US" dirty="0"/>
              <a:t>and investigate clusters, outbreaks, and exposures, including emerging infectious diseases</a:t>
            </a:r>
          </a:p>
          <a:p>
            <a:pPr algn="just"/>
            <a:endParaRPr lang="en-US" dirty="0"/>
          </a:p>
        </p:txBody>
      </p:sp>
    </p:spTree>
    <p:extLst>
      <p:ext uri="{BB962C8B-B14F-4D97-AF65-F5344CB8AC3E}">
        <p14:creationId xmlns:p14="http://schemas.microsoft.com/office/powerpoint/2010/main" val="6585084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Process surveillance helps the IPC team to</a:t>
            </a: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Observe </a:t>
            </a:r>
            <a:r>
              <a:rPr lang="en-US" dirty="0"/>
              <a:t>HCWs’ practices to ensure compliance </a:t>
            </a:r>
            <a:r>
              <a:rPr lang="en-US" dirty="0" smtClean="0"/>
              <a:t>with policies </a:t>
            </a:r>
            <a:r>
              <a:rPr lang="en-US" dirty="0"/>
              <a:t>and best practices,</a:t>
            </a:r>
          </a:p>
          <a:p>
            <a:pPr lvl="0" algn="just"/>
            <a:r>
              <a:rPr lang="en-US" dirty="0" smtClean="0"/>
              <a:t>Provide </a:t>
            </a:r>
            <a:r>
              <a:rPr lang="en-US" dirty="0"/>
              <a:t>information to help guide performance improvement activities, </a:t>
            </a:r>
          </a:p>
          <a:p>
            <a:pPr lvl="0" algn="just"/>
            <a:r>
              <a:rPr lang="en-US" dirty="0"/>
              <a:t>Assess the effectiveness of IPC measures </a:t>
            </a:r>
          </a:p>
          <a:p>
            <a:pPr lvl="0" algn="just"/>
            <a:r>
              <a:rPr lang="en-US" dirty="0"/>
              <a:t>Meet the safety standards required by the health department and other regulatory agencies  </a:t>
            </a:r>
          </a:p>
          <a:p>
            <a:pPr algn="just"/>
            <a:endParaRPr lang="en-US" dirty="0"/>
          </a:p>
        </p:txBody>
      </p:sp>
    </p:spTree>
    <p:extLst>
      <p:ext uri="{BB962C8B-B14F-4D97-AF65-F5344CB8AC3E}">
        <p14:creationId xmlns:p14="http://schemas.microsoft.com/office/powerpoint/2010/main" val="18413970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Autofit/>
          </a:bodyPr>
          <a:lstStyle/>
          <a:p>
            <a:r>
              <a:rPr lang="en-US" b="1" dirty="0" smtClean="0"/>
              <a:t>PPP 13.4:</a:t>
            </a:r>
            <a:br>
              <a:rPr lang="en-US" b="1" dirty="0" smtClean="0"/>
            </a:br>
            <a:r>
              <a:rPr lang="en-US" b="1" dirty="0" smtClean="0"/>
              <a:t>Steps for conducting Surveillance in HCF</a:t>
            </a:r>
            <a:endParaRPr lang="en-US" b="1" dirty="0"/>
          </a:p>
        </p:txBody>
      </p:sp>
      <p:sp>
        <p:nvSpPr>
          <p:cNvPr id="5" name="Text Placeholder 4"/>
          <p:cNvSpPr>
            <a:spLocks noGrp="1"/>
          </p:cNvSpPr>
          <p:nvPr>
            <p:ph type="body" idx="1"/>
          </p:nvPr>
        </p:nvSpPr>
        <p:spPr/>
        <p:txBody>
          <a:bodyPr/>
          <a:lstStyle/>
          <a:p>
            <a:endParaRPr lang="en-US"/>
          </a:p>
        </p:txBody>
      </p:sp>
    </p:spTree>
    <p:extLst>
      <p:ext uri="{BB962C8B-B14F-4D97-AF65-F5344CB8AC3E}">
        <p14:creationId xmlns:p14="http://schemas.microsoft.com/office/powerpoint/2010/main" val="394091513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Steps for Conducting Surveillance in a Health Care Facility</a:t>
            </a:r>
            <a:r>
              <a:rPr lang="en-US" dirty="0"/>
              <a:t> </a:t>
            </a:r>
          </a:p>
        </p:txBody>
      </p:sp>
      <p:sp>
        <p:nvSpPr>
          <p:cNvPr id="3" name="Content Placeholder 2"/>
          <p:cNvSpPr>
            <a:spLocks noGrp="1"/>
          </p:cNvSpPr>
          <p:nvPr>
            <p:ph idx="1"/>
          </p:nvPr>
        </p:nvSpPr>
        <p:spPr/>
        <p:txBody>
          <a:bodyPr/>
          <a:lstStyle/>
          <a:p>
            <a:pPr marL="0" indent="0" algn="just">
              <a:buNone/>
            </a:pPr>
            <a:r>
              <a:rPr lang="en-US" b="1" i="1" dirty="0" smtClean="0"/>
              <a:t> Prioritize </a:t>
            </a:r>
            <a:r>
              <a:rPr lang="en-US" b="1" i="1" dirty="0"/>
              <a:t>Surveillance Activities</a:t>
            </a:r>
            <a:r>
              <a:rPr lang="en-US" i="1" dirty="0"/>
              <a:t> </a:t>
            </a:r>
            <a:endParaRPr lang="en-US" dirty="0" smtClean="0"/>
          </a:p>
          <a:p>
            <a:pPr algn="just"/>
            <a:r>
              <a:rPr lang="en-US" dirty="0" smtClean="0"/>
              <a:t>Prioritizing </a:t>
            </a:r>
            <a:r>
              <a:rPr lang="en-US" dirty="0"/>
              <a:t>surveillance activities </a:t>
            </a:r>
            <a:r>
              <a:rPr lang="en-US" dirty="0" smtClean="0"/>
              <a:t>is </a:t>
            </a:r>
            <a:r>
              <a:rPr lang="en-US" dirty="0"/>
              <a:t>essential for effective allocation of resources to maximize the benefits of reducing HAI among patients admitted to health care facilities. </a:t>
            </a:r>
          </a:p>
        </p:txBody>
      </p:sp>
    </p:spTree>
    <p:extLst>
      <p:ext uri="{BB962C8B-B14F-4D97-AF65-F5344CB8AC3E}">
        <p14:creationId xmlns:p14="http://schemas.microsoft.com/office/powerpoint/2010/main" val="55958802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When planning surveillance, priority areas are: </a:t>
            </a:r>
          </a:p>
        </p:txBody>
      </p:sp>
      <p:sp>
        <p:nvSpPr>
          <p:cNvPr id="3" name="Content Placeholder 2"/>
          <p:cNvSpPr>
            <a:spLocks noGrp="1"/>
          </p:cNvSpPr>
          <p:nvPr>
            <p:ph idx="1"/>
          </p:nvPr>
        </p:nvSpPr>
        <p:spPr>
          <a:xfrm>
            <a:off x="1569154" y="2490136"/>
            <a:ext cx="9064981" cy="3877413"/>
          </a:xfrm>
        </p:spPr>
        <p:txBody>
          <a:bodyPr>
            <a:normAutofit fontScale="92500" lnSpcReduction="20000"/>
          </a:bodyPr>
          <a:lstStyle/>
          <a:p>
            <a:pPr algn="just"/>
            <a:r>
              <a:rPr lang="en-US" dirty="0" smtClean="0"/>
              <a:t>High-risk </a:t>
            </a:r>
            <a:r>
              <a:rPr lang="en-US" dirty="0"/>
              <a:t>areas such as intensive care and postoperative units  </a:t>
            </a:r>
          </a:p>
          <a:p>
            <a:pPr lvl="0" algn="just"/>
            <a:r>
              <a:rPr lang="en-US" dirty="0" smtClean="0"/>
              <a:t>High-risk </a:t>
            </a:r>
            <a:r>
              <a:rPr lang="en-US" dirty="0"/>
              <a:t>patient populations such as immune-compromised patients and neonates  </a:t>
            </a:r>
          </a:p>
          <a:p>
            <a:pPr lvl="0" algn="just"/>
            <a:r>
              <a:rPr lang="en-US" dirty="0" smtClean="0"/>
              <a:t>High-risk </a:t>
            </a:r>
            <a:r>
              <a:rPr lang="en-US" dirty="0"/>
              <a:t>procedures (varies depending on the scope of the setting) </a:t>
            </a:r>
          </a:p>
          <a:p>
            <a:pPr lvl="0" algn="just"/>
            <a:r>
              <a:rPr lang="en-US" dirty="0"/>
              <a:t>Diseases present in the community with potential to rapidly spread through the hospital </a:t>
            </a:r>
          </a:p>
          <a:p>
            <a:pPr algn="just"/>
            <a:endParaRPr lang="en-US" dirty="0"/>
          </a:p>
        </p:txBody>
      </p:sp>
    </p:spTree>
    <p:extLst>
      <p:ext uri="{BB962C8B-B14F-4D97-AF65-F5344CB8AC3E}">
        <p14:creationId xmlns:p14="http://schemas.microsoft.com/office/powerpoint/2010/main" val="361285458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i="1" dirty="0"/>
              <a:t>To set priorities, the health care facility team </a:t>
            </a:r>
            <a:r>
              <a:rPr lang="en-US" sz="4000" i="1" dirty="0" smtClean="0"/>
              <a:t>should :</a:t>
            </a:r>
            <a:endParaRPr lang="en-US" sz="4000" dirty="0"/>
          </a:p>
        </p:txBody>
      </p:sp>
      <p:sp>
        <p:nvSpPr>
          <p:cNvPr id="3" name="Content Placeholder 2"/>
          <p:cNvSpPr>
            <a:spLocks noGrp="1"/>
          </p:cNvSpPr>
          <p:nvPr>
            <p:ph idx="1"/>
          </p:nvPr>
        </p:nvSpPr>
        <p:spPr>
          <a:xfrm>
            <a:off x="1569154" y="2490136"/>
            <a:ext cx="9064981" cy="3827537"/>
          </a:xfrm>
        </p:spPr>
        <p:txBody>
          <a:bodyPr>
            <a:normAutofit lnSpcReduction="10000"/>
          </a:bodyPr>
          <a:lstStyle/>
          <a:p>
            <a:pPr lvl="0" algn="just"/>
            <a:r>
              <a:rPr lang="en-US" sz="3600" dirty="0" smtClean="0"/>
              <a:t>Review </a:t>
            </a:r>
            <a:r>
              <a:rPr lang="en-US" sz="3600" dirty="0"/>
              <a:t>available HAI data and prioritize what they want to include in surveillance during the initial stages. </a:t>
            </a:r>
          </a:p>
          <a:p>
            <a:pPr lvl="0" algn="just"/>
            <a:r>
              <a:rPr lang="en-US" sz="3600" dirty="0"/>
              <a:t>If data are limited, carry out an assessment to identify key HAIs in the facility and, based on local needs, decide which HAIs to include in surveillance. </a:t>
            </a:r>
          </a:p>
          <a:p>
            <a:pPr algn="just"/>
            <a:endParaRPr lang="en-US" dirty="0"/>
          </a:p>
        </p:txBody>
      </p:sp>
    </p:spTree>
    <p:extLst>
      <p:ext uri="{BB962C8B-B14F-4D97-AF65-F5344CB8AC3E}">
        <p14:creationId xmlns:p14="http://schemas.microsoft.com/office/powerpoint/2010/main" val="1961661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To set priorities, the health care facility team should </a:t>
            </a:r>
            <a:r>
              <a:rPr lang="en-US" i="1" dirty="0" smtClean="0"/>
              <a:t>cont’d…:</a:t>
            </a:r>
            <a:endParaRPr lang="en-US" dirty="0"/>
          </a:p>
        </p:txBody>
      </p:sp>
      <p:sp>
        <p:nvSpPr>
          <p:cNvPr id="3" name="Content Placeholder 2"/>
          <p:cNvSpPr>
            <a:spLocks noGrp="1"/>
          </p:cNvSpPr>
          <p:nvPr>
            <p:ph idx="1"/>
          </p:nvPr>
        </p:nvSpPr>
        <p:spPr>
          <a:xfrm>
            <a:off x="1569154" y="2490136"/>
            <a:ext cx="9064981" cy="3694533"/>
          </a:xfrm>
        </p:spPr>
        <p:txBody>
          <a:bodyPr>
            <a:normAutofit/>
          </a:bodyPr>
          <a:lstStyle/>
          <a:p>
            <a:pPr lvl="0"/>
            <a:r>
              <a:rPr lang="en-US" dirty="0"/>
              <a:t>Start surveillance activities with just one HAI and add other HAIs based on observed priorities and needs</a:t>
            </a:r>
            <a:r>
              <a:rPr lang="en-US" dirty="0" smtClean="0"/>
              <a:t>.</a:t>
            </a:r>
            <a:endParaRPr lang="en-US" dirty="0"/>
          </a:p>
          <a:p>
            <a:pPr lvl="0"/>
            <a:r>
              <a:rPr lang="en-US" dirty="0"/>
              <a:t>Select wards or areas </a:t>
            </a:r>
            <a:r>
              <a:rPr lang="en-US" dirty="0" smtClean="0"/>
              <a:t>with </a:t>
            </a:r>
            <a:r>
              <a:rPr lang="en-US" dirty="0"/>
              <a:t>the highest number of HAIs or most serious complications from </a:t>
            </a:r>
            <a:r>
              <a:rPr lang="en-US" dirty="0" smtClean="0"/>
              <a:t>HAIs</a:t>
            </a:r>
            <a:endParaRPr lang="en-US" dirty="0"/>
          </a:p>
          <a:p>
            <a:pPr lvl="0"/>
            <a:r>
              <a:rPr lang="en-US" dirty="0"/>
              <a:t>Select procedures based on risk of complications as well as number </a:t>
            </a:r>
            <a:r>
              <a:rPr lang="en-US" dirty="0" smtClean="0"/>
              <a:t>performed</a:t>
            </a:r>
            <a:endParaRPr lang="en-US" dirty="0"/>
          </a:p>
        </p:txBody>
      </p:sp>
    </p:spTree>
    <p:extLst>
      <p:ext uri="{BB962C8B-B14F-4D97-AF65-F5344CB8AC3E}">
        <p14:creationId xmlns:p14="http://schemas.microsoft.com/office/powerpoint/2010/main" val="813092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i="1" dirty="0"/>
              <a:t>To set priorities, the health care facility team should cont’d…:</a:t>
            </a:r>
            <a:endParaRPr lang="en-US" sz="4000" dirty="0"/>
          </a:p>
        </p:txBody>
      </p:sp>
      <p:sp>
        <p:nvSpPr>
          <p:cNvPr id="3" name="Content Placeholder 2"/>
          <p:cNvSpPr>
            <a:spLocks noGrp="1"/>
          </p:cNvSpPr>
          <p:nvPr>
            <p:ph idx="1"/>
          </p:nvPr>
        </p:nvSpPr>
        <p:spPr/>
        <p:txBody>
          <a:bodyPr>
            <a:normAutofit fontScale="92500" lnSpcReduction="20000"/>
          </a:bodyPr>
          <a:lstStyle/>
          <a:p>
            <a:pPr lvl="0" algn="just"/>
            <a:r>
              <a:rPr lang="en-US" dirty="0" smtClean="0"/>
              <a:t>Develop </a:t>
            </a:r>
            <a:r>
              <a:rPr lang="en-US" dirty="0"/>
              <a:t>a plan to assess whether staff have access to soap and water and towels to dry their hands or alcohol-based hand rub </a:t>
            </a:r>
            <a:endParaRPr lang="en-US" dirty="0" smtClean="0"/>
          </a:p>
          <a:p>
            <a:pPr lvl="0" algn="just"/>
            <a:r>
              <a:rPr lang="en-US" dirty="0" smtClean="0"/>
              <a:t>Ensure </a:t>
            </a:r>
            <a:r>
              <a:rPr lang="en-US" dirty="0"/>
              <a:t>that patient care practices are performed according to the best available evidence </a:t>
            </a:r>
            <a:endParaRPr lang="en-US" dirty="0" smtClean="0"/>
          </a:p>
          <a:p>
            <a:pPr lvl="0" algn="just"/>
            <a:r>
              <a:rPr lang="en-US" dirty="0" smtClean="0"/>
              <a:t>Ensure </a:t>
            </a:r>
            <a:r>
              <a:rPr lang="en-US" dirty="0"/>
              <a:t>adherence to recommended IPC practices, such as sterilization or high-level disinfection of all items that come in contact with normally sterile </a:t>
            </a:r>
            <a:r>
              <a:rPr lang="en-US" dirty="0" smtClean="0"/>
              <a:t>tissue. </a:t>
            </a:r>
            <a:endParaRPr lang="en-US" dirty="0"/>
          </a:p>
          <a:p>
            <a:pPr marL="0" lvl="0" indent="0">
              <a:buNone/>
            </a:pPr>
            <a:endParaRPr lang="en-US" dirty="0"/>
          </a:p>
        </p:txBody>
      </p:sp>
    </p:spTree>
    <p:extLst>
      <p:ext uri="{BB962C8B-B14F-4D97-AF65-F5344CB8AC3E}">
        <p14:creationId xmlns:p14="http://schemas.microsoft.com/office/powerpoint/2010/main" val="181212494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To set priorities, the health care facility team should cont’d…:</a:t>
            </a:r>
            <a:endParaRPr lang="en-US" dirty="0"/>
          </a:p>
        </p:txBody>
      </p:sp>
      <p:sp>
        <p:nvSpPr>
          <p:cNvPr id="3" name="Content Placeholder 2"/>
          <p:cNvSpPr>
            <a:spLocks noGrp="1"/>
          </p:cNvSpPr>
          <p:nvPr>
            <p:ph idx="1"/>
          </p:nvPr>
        </p:nvSpPr>
        <p:spPr>
          <a:xfrm>
            <a:off x="1569154" y="2490136"/>
            <a:ext cx="9064981" cy="3611406"/>
          </a:xfrm>
        </p:spPr>
        <p:txBody>
          <a:bodyPr>
            <a:normAutofit/>
          </a:bodyPr>
          <a:lstStyle/>
          <a:p>
            <a:pPr lvl="0" algn="just"/>
            <a:r>
              <a:rPr lang="en-US" dirty="0" smtClean="0"/>
              <a:t>Monitor </a:t>
            </a:r>
            <a:r>
              <a:rPr lang="en-US" dirty="0"/>
              <a:t>compliance with recommended practices for certain high-risk procedures, such as inserting and caring for central venous </a:t>
            </a:r>
            <a:r>
              <a:rPr lang="en-US" dirty="0" smtClean="0"/>
              <a:t>catheters</a:t>
            </a:r>
            <a:endParaRPr lang="en-US" dirty="0"/>
          </a:p>
          <a:p>
            <a:pPr lvl="0" algn="just"/>
            <a:r>
              <a:rPr lang="en-US" dirty="0"/>
              <a:t>Monitor employees’ exposure to infections and needle-stick injuries and use the data to develop plans to reduce exposures.	</a:t>
            </a:r>
          </a:p>
          <a:p>
            <a:pPr algn="just"/>
            <a:endParaRPr lang="en-US" dirty="0"/>
          </a:p>
          <a:p>
            <a:endParaRPr lang="en-US" dirty="0"/>
          </a:p>
        </p:txBody>
      </p:sp>
    </p:spTree>
    <p:extLst>
      <p:ext uri="{BB962C8B-B14F-4D97-AF65-F5344CB8AC3E}">
        <p14:creationId xmlns:p14="http://schemas.microsoft.com/office/powerpoint/2010/main" val="139318982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Design and Develop a Surveillance Approach </a:t>
            </a:r>
          </a:p>
        </p:txBody>
      </p:sp>
      <p:sp>
        <p:nvSpPr>
          <p:cNvPr id="3" name="Content Placeholder 2"/>
          <p:cNvSpPr>
            <a:spLocks noGrp="1"/>
          </p:cNvSpPr>
          <p:nvPr>
            <p:ph idx="1"/>
          </p:nvPr>
        </p:nvSpPr>
        <p:spPr>
          <a:xfrm>
            <a:off x="1569154" y="2490136"/>
            <a:ext cx="9064981" cy="3761035"/>
          </a:xfrm>
        </p:spPr>
        <p:txBody>
          <a:bodyPr>
            <a:normAutofit fontScale="85000" lnSpcReduction="20000"/>
          </a:bodyPr>
          <a:lstStyle/>
          <a:p>
            <a:pPr algn="just"/>
            <a:r>
              <a:rPr lang="en-US" b="1" dirty="0" smtClean="0"/>
              <a:t>Choose </a:t>
            </a:r>
            <a:r>
              <a:rPr lang="en-US" b="1" dirty="0"/>
              <a:t>whether to monitor an outcome or a process </a:t>
            </a:r>
            <a:r>
              <a:rPr lang="en-US" b="1" dirty="0" smtClean="0"/>
              <a:t>measure</a:t>
            </a:r>
          </a:p>
          <a:p>
            <a:pPr algn="just"/>
            <a:r>
              <a:rPr lang="en-US" b="1" dirty="0" smtClean="0"/>
              <a:t>Select </a:t>
            </a:r>
            <a:r>
              <a:rPr lang="en-US" b="1" dirty="0"/>
              <a:t>appropriate </a:t>
            </a:r>
            <a:r>
              <a:rPr lang="en-US" b="1" dirty="0" smtClean="0"/>
              <a:t>indicators</a:t>
            </a:r>
            <a:endParaRPr lang="en-US" dirty="0"/>
          </a:p>
          <a:p>
            <a:pPr marL="0" indent="0" algn="just">
              <a:buNone/>
            </a:pPr>
            <a:r>
              <a:rPr lang="en-US" b="1" dirty="0" smtClean="0"/>
              <a:t>     </a:t>
            </a:r>
            <a:r>
              <a:rPr lang="en-US" dirty="0" smtClean="0"/>
              <a:t>Example</a:t>
            </a:r>
            <a:endParaRPr lang="en-US" dirty="0"/>
          </a:p>
          <a:p>
            <a:pPr marL="0" indent="0" algn="just">
              <a:buNone/>
            </a:pPr>
            <a:r>
              <a:rPr lang="en-US" i="1" dirty="0" smtClean="0"/>
              <a:t>     The </a:t>
            </a:r>
            <a:r>
              <a:rPr lang="en-US" i="1" dirty="0"/>
              <a:t>SSI rates following C-sections, per 100 </a:t>
            </a:r>
            <a:r>
              <a:rPr lang="en-US" i="1" dirty="0" smtClean="0"/>
              <a:t>C-sections</a:t>
            </a:r>
            <a:endParaRPr lang="en-US" dirty="0"/>
          </a:p>
          <a:p>
            <a:pPr algn="just"/>
            <a:r>
              <a:rPr lang="en-US" b="1" dirty="0"/>
              <a:t>Consider benchmarks and goals</a:t>
            </a:r>
            <a:r>
              <a:rPr lang="en-US" dirty="0"/>
              <a:t> </a:t>
            </a:r>
          </a:p>
          <a:p>
            <a:pPr marL="0" indent="0" algn="just">
              <a:buNone/>
            </a:pPr>
            <a:r>
              <a:rPr lang="en-US" dirty="0" smtClean="0"/>
              <a:t>	Benchmarks </a:t>
            </a:r>
            <a:r>
              <a:rPr lang="en-US" dirty="0"/>
              <a:t>are a helpful reference against which a facility’s </a:t>
            </a:r>
            <a:r>
              <a:rPr lang="en-US" dirty="0" smtClean="0"/>
              <a:t>	surveillance data </a:t>
            </a:r>
            <a:r>
              <a:rPr lang="en-US" dirty="0"/>
              <a:t>can be </a:t>
            </a:r>
            <a:r>
              <a:rPr lang="en-US" dirty="0" smtClean="0"/>
              <a:t>compared.</a:t>
            </a:r>
            <a:endParaRPr lang="en-US" dirty="0"/>
          </a:p>
        </p:txBody>
      </p:sp>
    </p:spTree>
    <p:extLst>
      <p:ext uri="{BB962C8B-B14F-4D97-AF65-F5344CB8AC3E}">
        <p14:creationId xmlns:p14="http://schemas.microsoft.com/office/powerpoint/2010/main" val="42010629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Define the Denominator </a:t>
            </a:r>
            <a:endParaRPr lang="en-US" dirty="0"/>
          </a:p>
        </p:txBody>
      </p:sp>
      <p:sp>
        <p:nvSpPr>
          <p:cNvPr id="3" name="Content Placeholder 2"/>
          <p:cNvSpPr>
            <a:spLocks noGrp="1"/>
          </p:cNvSpPr>
          <p:nvPr>
            <p:ph idx="1"/>
          </p:nvPr>
        </p:nvSpPr>
        <p:spPr/>
        <p:txBody>
          <a:bodyPr/>
          <a:lstStyle/>
          <a:p>
            <a:r>
              <a:rPr lang="en-US" dirty="0" smtClean="0"/>
              <a:t>The </a:t>
            </a:r>
            <a:r>
              <a:rPr lang="en-US" dirty="0"/>
              <a:t>denominator refers the number of total possible events is </a:t>
            </a:r>
            <a:r>
              <a:rPr lang="en-US" dirty="0" smtClean="0"/>
              <a:t>needed. </a:t>
            </a:r>
            <a:r>
              <a:rPr lang="en-US" dirty="0"/>
              <a:t>In HAI surveillance, use of the standard HAI denominators will allow rates to be compared with other facility </a:t>
            </a:r>
            <a:r>
              <a:rPr lang="en-US" dirty="0" smtClean="0"/>
              <a:t>rates</a:t>
            </a:r>
            <a:endParaRPr lang="en-US" dirty="0"/>
          </a:p>
        </p:txBody>
      </p:sp>
    </p:spTree>
    <p:extLst>
      <p:ext uri="{BB962C8B-B14F-4D97-AF65-F5344CB8AC3E}">
        <p14:creationId xmlns:p14="http://schemas.microsoft.com/office/powerpoint/2010/main" val="2479991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denominators (incidence surveillance) </a:t>
            </a:r>
            <a:endParaRPr lang="en-US" dirty="0"/>
          </a:p>
        </p:txBody>
      </p:sp>
      <p:sp>
        <p:nvSpPr>
          <p:cNvPr id="3" name="Content Placeholder 2"/>
          <p:cNvSpPr>
            <a:spLocks noGrp="1"/>
          </p:cNvSpPr>
          <p:nvPr>
            <p:ph idx="1"/>
          </p:nvPr>
        </p:nvSpPr>
        <p:spPr>
          <a:xfrm>
            <a:off x="1203767" y="2490137"/>
            <a:ext cx="9850055" cy="3540274"/>
          </a:xfrm>
        </p:spPr>
        <p:txBody>
          <a:bodyPr>
            <a:normAutofit fontScale="77500" lnSpcReduction="20000"/>
          </a:bodyPr>
          <a:lstStyle/>
          <a:p>
            <a:pPr lvl="0" algn="just"/>
            <a:r>
              <a:rPr lang="en-US" b="1" dirty="0" smtClean="0"/>
              <a:t>Patient-days </a:t>
            </a:r>
            <a:r>
              <a:rPr lang="en-US" b="1" dirty="0"/>
              <a:t>at risk:</a:t>
            </a:r>
            <a:r>
              <a:rPr lang="en-US" dirty="0"/>
              <a:t> The number of patients present on the ward each day, added together (usually added for each month, quarter, or year)</a:t>
            </a:r>
          </a:p>
          <a:p>
            <a:pPr lvl="0" algn="just"/>
            <a:r>
              <a:rPr lang="en-US" b="1" dirty="0"/>
              <a:t>Device-days:</a:t>
            </a:r>
            <a:r>
              <a:rPr lang="en-US" dirty="0"/>
              <a:t> The number of patients with a device on the ward each day (e.g., urinary catheter), added together (usually added for each month, quarter, or year) </a:t>
            </a:r>
          </a:p>
          <a:p>
            <a:pPr lvl="0" algn="just"/>
            <a:r>
              <a:rPr lang="en-US" b="1" dirty="0"/>
              <a:t>Procedures:</a:t>
            </a:r>
            <a:r>
              <a:rPr lang="en-US" dirty="0"/>
              <a:t> The number of cases of a particular type of surgery performed (e.g., C-section) </a:t>
            </a:r>
          </a:p>
          <a:p>
            <a:pPr lvl="0" algn="just"/>
            <a:r>
              <a:rPr lang="en-US" b="1" dirty="0"/>
              <a:t>Event:</a:t>
            </a:r>
            <a:r>
              <a:rPr lang="en-US" dirty="0"/>
              <a:t> The number of occurrences of a certain type of event (e.g., live birth, admission to the facility, patients treated at the HIV clinic) </a:t>
            </a:r>
          </a:p>
          <a:p>
            <a:pPr algn="just"/>
            <a:endParaRPr lang="en-US" dirty="0"/>
          </a:p>
        </p:txBody>
      </p:sp>
    </p:spTree>
    <p:extLst>
      <p:ext uri="{BB962C8B-B14F-4D97-AF65-F5344CB8AC3E}">
        <p14:creationId xmlns:p14="http://schemas.microsoft.com/office/powerpoint/2010/main" val="164930052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b="1" dirty="0" smtClean="0"/>
              <a:t>Define the Numerator by Using a Case Definition </a:t>
            </a:r>
            <a:endParaRPr lang="en-US" sz="4000" dirty="0"/>
          </a:p>
        </p:txBody>
      </p:sp>
      <p:sp>
        <p:nvSpPr>
          <p:cNvPr id="3" name="Content Placeholder 2"/>
          <p:cNvSpPr>
            <a:spLocks noGrp="1"/>
          </p:cNvSpPr>
          <p:nvPr>
            <p:ph idx="1"/>
          </p:nvPr>
        </p:nvSpPr>
        <p:spPr>
          <a:xfrm>
            <a:off x="1569154" y="2490136"/>
            <a:ext cx="9064981" cy="3563423"/>
          </a:xfrm>
        </p:spPr>
        <p:txBody>
          <a:bodyPr>
            <a:normAutofit/>
          </a:bodyPr>
          <a:lstStyle/>
          <a:p>
            <a:r>
              <a:rPr lang="en-US" dirty="0" smtClean="0"/>
              <a:t>The </a:t>
            </a:r>
            <a:r>
              <a:rPr lang="en-US" dirty="0"/>
              <a:t>numerator for HAI surveillance is the number of times the infection of interest (e.g., SSI) occurs among the population at risk during a specific time interval </a:t>
            </a:r>
            <a:endParaRPr lang="en-US" dirty="0" smtClean="0"/>
          </a:p>
          <a:p>
            <a:r>
              <a:rPr lang="en-US" dirty="0" smtClean="0"/>
              <a:t>Numerator </a:t>
            </a:r>
            <a:r>
              <a:rPr lang="en-US" dirty="0"/>
              <a:t>data are collected by using a written, standardized surveillance case definition to determine which cases are included and which are not. </a:t>
            </a:r>
          </a:p>
          <a:p>
            <a:pPr marL="0" indent="0">
              <a:buNone/>
            </a:pPr>
            <a:endParaRPr lang="en-US" dirty="0"/>
          </a:p>
        </p:txBody>
      </p:sp>
    </p:spTree>
    <p:extLst>
      <p:ext uri="{BB962C8B-B14F-4D97-AF65-F5344CB8AC3E}">
        <p14:creationId xmlns:p14="http://schemas.microsoft.com/office/powerpoint/2010/main" val="387262277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
            </a:r>
            <a:br>
              <a:rPr lang="en-US" b="1" dirty="0" smtClean="0"/>
            </a:br>
            <a:r>
              <a:rPr lang="en-US" b="1" dirty="0" smtClean="0"/>
              <a:t>Design and Develop the Process for Monitoring the Chosen Event </a:t>
            </a:r>
            <a:r>
              <a:rPr lang="en-US" dirty="0" smtClean="0"/>
              <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lgn="just"/>
            <a:r>
              <a:rPr lang="en-US" b="1" dirty="0"/>
              <a:t>Time period (incidence surveillance)</a:t>
            </a:r>
            <a:r>
              <a:rPr lang="en-US" dirty="0"/>
              <a:t> </a:t>
            </a:r>
          </a:p>
          <a:p>
            <a:pPr algn="just"/>
            <a:r>
              <a:rPr lang="en-US" dirty="0" smtClean="0"/>
              <a:t>Determine </a:t>
            </a:r>
            <a:r>
              <a:rPr lang="en-US" dirty="0"/>
              <a:t>the time period for data collection, which could be a month, a quarter (periodic incidence surveillance), or continuously (incidence surveillance</a:t>
            </a:r>
            <a:r>
              <a:rPr lang="en-US" dirty="0" smtClean="0"/>
              <a:t>).</a:t>
            </a:r>
          </a:p>
          <a:p>
            <a:pPr algn="just"/>
            <a:r>
              <a:rPr lang="en-US" dirty="0" smtClean="0"/>
              <a:t> </a:t>
            </a:r>
            <a:r>
              <a:rPr lang="en-US" dirty="0"/>
              <a:t>Based on available resources, needs, and scope, the surveillance could be continuous or periodic.</a:t>
            </a:r>
          </a:p>
          <a:p>
            <a:pPr algn="just"/>
            <a:endParaRPr lang="en-US" dirty="0"/>
          </a:p>
        </p:txBody>
      </p:sp>
    </p:spTree>
    <p:extLst>
      <p:ext uri="{BB962C8B-B14F-4D97-AF65-F5344CB8AC3E}">
        <p14:creationId xmlns:p14="http://schemas.microsoft.com/office/powerpoint/2010/main" val="38045111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surveillance Time period</a:t>
            </a:r>
          </a:p>
        </p:txBody>
      </p:sp>
      <p:sp>
        <p:nvSpPr>
          <p:cNvPr id="3" name="Content Placeholder 2"/>
          <p:cNvSpPr>
            <a:spLocks noGrp="1"/>
          </p:cNvSpPr>
          <p:nvPr>
            <p:ph idx="1"/>
          </p:nvPr>
        </p:nvSpPr>
        <p:spPr>
          <a:xfrm>
            <a:off x="1569154" y="2490136"/>
            <a:ext cx="9064981" cy="3777660"/>
          </a:xfrm>
        </p:spPr>
        <p:txBody>
          <a:bodyPr>
            <a:normAutofit fontScale="77500" lnSpcReduction="20000"/>
          </a:bodyPr>
          <a:lstStyle/>
          <a:p>
            <a:pPr algn="just"/>
            <a:r>
              <a:rPr lang="en-US" b="1" dirty="0" smtClean="0"/>
              <a:t>Continuous </a:t>
            </a:r>
            <a:r>
              <a:rPr lang="en-US" b="1" dirty="0"/>
              <a:t>monitoring—</a:t>
            </a:r>
            <a:r>
              <a:rPr lang="en-US" dirty="0"/>
              <a:t>surveillance is ongoing throughout the time frame: </a:t>
            </a:r>
          </a:p>
          <a:p>
            <a:pPr marL="0" indent="0" algn="just">
              <a:buNone/>
            </a:pPr>
            <a:r>
              <a:rPr lang="en-US" dirty="0" smtClean="0"/>
              <a:t>      Example </a:t>
            </a:r>
          </a:p>
          <a:p>
            <a:pPr marL="0" indent="0" algn="just">
              <a:buNone/>
            </a:pPr>
            <a:r>
              <a:rPr lang="en-US" dirty="0"/>
              <a:t>	</a:t>
            </a:r>
            <a:r>
              <a:rPr lang="en-US" dirty="0" smtClean="0"/>
              <a:t>All </a:t>
            </a:r>
            <a:r>
              <a:rPr lang="en-US" dirty="0"/>
              <a:t>patients who had a C-section for surgical site infection  &amp; others</a:t>
            </a:r>
            <a:r>
              <a:rPr lang="en-US" dirty="0" smtClean="0"/>
              <a:t>.</a:t>
            </a:r>
            <a:endParaRPr lang="en-US" dirty="0"/>
          </a:p>
          <a:p>
            <a:pPr algn="just"/>
            <a:r>
              <a:rPr lang="en-US" b="1" dirty="0" smtClean="0"/>
              <a:t>Periodic </a:t>
            </a:r>
            <a:r>
              <a:rPr lang="en-US" b="1" dirty="0"/>
              <a:t>monitoring—</a:t>
            </a:r>
            <a:r>
              <a:rPr lang="en-US" dirty="0"/>
              <a:t>surveillance occurs at </a:t>
            </a:r>
            <a:r>
              <a:rPr lang="en-US" dirty="0" smtClean="0"/>
              <a:t>predetermined intermittent </a:t>
            </a:r>
            <a:r>
              <a:rPr lang="en-US" dirty="0"/>
              <a:t>intervals to manage resources: </a:t>
            </a:r>
          </a:p>
          <a:p>
            <a:pPr marL="0" indent="0" algn="just">
              <a:buNone/>
            </a:pPr>
            <a:r>
              <a:rPr lang="en-US" dirty="0" smtClean="0"/>
              <a:t>     Example   </a:t>
            </a:r>
          </a:p>
          <a:p>
            <a:pPr marL="0" indent="0" algn="just">
              <a:buNone/>
            </a:pPr>
            <a:r>
              <a:rPr lang="en-US" dirty="0"/>
              <a:t>	</a:t>
            </a:r>
            <a:r>
              <a:rPr lang="en-US" dirty="0" smtClean="0"/>
              <a:t>All </a:t>
            </a:r>
            <a:r>
              <a:rPr lang="en-US" dirty="0"/>
              <a:t>patients with a central venous catheter for bloodstream infection </a:t>
            </a:r>
            <a:r>
              <a:rPr lang="en-US" dirty="0" smtClean="0"/>
              <a:t>	for </a:t>
            </a:r>
            <a:r>
              <a:rPr lang="en-US" dirty="0"/>
              <a:t>1 </a:t>
            </a:r>
            <a:r>
              <a:rPr lang="en-US" dirty="0" smtClean="0"/>
              <a:t>month </a:t>
            </a:r>
            <a:r>
              <a:rPr lang="en-US" dirty="0"/>
              <a:t>in every 3 months. </a:t>
            </a:r>
          </a:p>
          <a:p>
            <a:pPr marL="0" indent="0" algn="just">
              <a:buNone/>
            </a:pPr>
            <a:endParaRPr lang="en-US" dirty="0"/>
          </a:p>
        </p:txBody>
      </p:sp>
    </p:spTree>
    <p:extLst>
      <p:ext uri="{BB962C8B-B14F-4D97-AF65-F5344CB8AC3E}">
        <p14:creationId xmlns:p14="http://schemas.microsoft.com/office/powerpoint/2010/main" val="276938076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Case identification  </a:t>
            </a:r>
            <a:endParaRPr lang="en-US" dirty="0"/>
          </a:p>
        </p:txBody>
      </p:sp>
      <p:sp>
        <p:nvSpPr>
          <p:cNvPr id="3" name="Content Placeholder 2"/>
          <p:cNvSpPr>
            <a:spLocks noGrp="1"/>
          </p:cNvSpPr>
          <p:nvPr>
            <p:ph idx="1"/>
          </p:nvPr>
        </p:nvSpPr>
        <p:spPr/>
        <p:txBody>
          <a:bodyPr/>
          <a:lstStyle/>
          <a:p>
            <a:r>
              <a:rPr lang="en-US" dirty="0" smtClean="0"/>
              <a:t>Determine </a:t>
            </a:r>
            <a:r>
              <a:rPr lang="en-US" dirty="0"/>
              <a:t>if potential cases in the facility are best identified based on signs and symptoms, laboratory results, or a combination of these.</a:t>
            </a:r>
          </a:p>
          <a:p>
            <a:endParaRPr lang="en-US" dirty="0"/>
          </a:p>
        </p:txBody>
      </p:sp>
    </p:spTree>
    <p:extLst>
      <p:ext uri="{BB962C8B-B14F-4D97-AF65-F5344CB8AC3E}">
        <p14:creationId xmlns:p14="http://schemas.microsoft.com/office/powerpoint/2010/main" val="102136726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Prospective or retrospective surveillance </a:t>
            </a:r>
            <a:endParaRPr lang="en-US" dirty="0"/>
          </a:p>
        </p:txBody>
      </p:sp>
      <p:sp>
        <p:nvSpPr>
          <p:cNvPr id="3" name="Content Placeholder 2"/>
          <p:cNvSpPr>
            <a:spLocks noGrp="1"/>
          </p:cNvSpPr>
          <p:nvPr>
            <p:ph idx="1"/>
          </p:nvPr>
        </p:nvSpPr>
        <p:spPr/>
        <p:txBody>
          <a:bodyPr/>
          <a:lstStyle/>
          <a:p>
            <a:pPr algn="just"/>
            <a:r>
              <a:rPr lang="en-US" dirty="0" smtClean="0"/>
              <a:t>Prospective </a:t>
            </a:r>
            <a:r>
              <a:rPr lang="en-US" dirty="0"/>
              <a:t>surveillance data are being collected in the present time, following the patients through their hospital course, looking for potential HAIs. </a:t>
            </a:r>
          </a:p>
          <a:p>
            <a:pPr algn="just"/>
            <a:r>
              <a:rPr lang="en-US" dirty="0"/>
              <a:t>Retrospective surveillance reviews patient data once potential infections been </a:t>
            </a:r>
            <a:r>
              <a:rPr lang="en-US" dirty="0" smtClean="0"/>
              <a:t>identified. </a:t>
            </a:r>
            <a:endParaRPr lang="en-US" dirty="0"/>
          </a:p>
        </p:txBody>
      </p:sp>
    </p:spTree>
    <p:extLst>
      <p:ext uri="{BB962C8B-B14F-4D97-AF65-F5344CB8AC3E}">
        <p14:creationId xmlns:p14="http://schemas.microsoft.com/office/powerpoint/2010/main" val="40646319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Number of observations (for process measure surveillance</a:t>
            </a:r>
            <a:r>
              <a:rPr lang="en-US" b="1" dirty="0" smtClean="0"/>
              <a:t>)</a:t>
            </a:r>
            <a:endParaRPr lang="en-US" dirty="0"/>
          </a:p>
        </p:txBody>
      </p:sp>
      <p:sp>
        <p:nvSpPr>
          <p:cNvPr id="3" name="Content Placeholder 2"/>
          <p:cNvSpPr>
            <a:spLocks noGrp="1"/>
          </p:cNvSpPr>
          <p:nvPr>
            <p:ph idx="1"/>
          </p:nvPr>
        </p:nvSpPr>
        <p:spPr/>
        <p:txBody>
          <a:bodyPr/>
          <a:lstStyle/>
          <a:p>
            <a:r>
              <a:rPr lang="en-US" dirty="0" smtClean="0"/>
              <a:t>Based </a:t>
            </a:r>
            <a:r>
              <a:rPr lang="en-US" dirty="0"/>
              <a:t>on the process selected for surveillance and the time allocated for data collection, the team will need to determine the number of observations to be made.</a:t>
            </a:r>
          </a:p>
        </p:txBody>
      </p:sp>
    </p:spTree>
    <p:extLst>
      <p:ext uri="{BB962C8B-B14F-4D97-AF65-F5344CB8AC3E}">
        <p14:creationId xmlns:p14="http://schemas.microsoft.com/office/powerpoint/2010/main" val="52775922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collection plan  </a:t>
            </a:r>
            <a:endParaRPr lang="en-US" dirty="0"/>
          </a:p>
        </p:txBody>
      </p:sp>
      <p:sp>
        <p:nvSpPr>
          <p:cNvPr id="3" name="Content Placeholder 2"/>
          <p:cNvSpPr>
            <a:spLocks noGrp="1"/>
          </p:cNvSpPr>
          <p:nvPr>
            <p:ph idx="1"/>
          </p:nvPr>
        </p:nvSpPr>
        <p:spPr>
          <a:xfrm>
            <a:off x="1569154" y="2490136"/>
            <a:ext cx="9064981" cy="3677908"/>
          </a:xfrm>
        </p:spPr>
        <p:txBody>
          <a:bodyPr>
            <a:normAutofit/>
          </a:bodyPr>
          <a:lstStyle/>
          <a:p>
            <a:pPr algn="just"/>
            <a:r>
              <a:rPr lang="en-US" dirty="0" smtClean="0"/>
              <a:t>An </a:t>
            </a:r>
            <a:r>
              <a:rPr lang="en-US" dirty="0"/>
              <a:t>ideal data collection plan will include details on the following: </a:t>
            </a:r>
          </a:p>
          <a:p>
            <a:pPr lvl="1" algn="just"/>
            <a:r>
              <a:rPr lang="en-US" b="1" dirty="0"/>
              <a:t> Data elements:</a:t>
            </a:r>
            <a:r>
              <a:rPr lang="en-US" dirty="0"/>
              <a:t> Data elements will depend upon the outcome or process being monitored. </a:t>
            </a:r>
          </a:p>
          <a:p>
            <a:pPr lvl="1" algn="just"/>
            <a:r>
              <a:rPr lang="en-US" b="1" dirty="0"/>
              <a:t>Data collection tools:</a:t>
            </a:r>
            <a:r>
              <a:rPr lang="en-US" dirty="0"/>
              <a:t> Prepare or adapt data collection tools for the </a:t>
            </a:r>
            <a:r>
              <a:rPr lang="en-US" dirty="0">
                <a:solidFill>
                  <a:srgbClr val="0070C0"/>
                </a:solidFill>
              </a:rPr>
              <a:t>numerator and denominator </a:t>
            </a:r>
            <a:r>
              <a:rPr lang="en-US" dirty="0"/>
              <a:t>for the HAI or the IPC practice selected for surveillance. </a:t>
            </a:r>
          </a:p>
        </p:txBody>
      </p:sp>
    </p:spTree>
    <p:extLst>
      <p:ext uri="{BB962C8B-B14F-4D97-AF65-F5344CB8AC3E}">
        <p14:creationId xmlns:p14="http://schemas.microsoft.com/office/powerpoint/2010/main" val="381397262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Data collection </a:t>
            </a:r>
            <a:r>
              <a:rPr lang="en-US" b="1" dirty="0" smtClean="0"/>
              <a:t>plan </a:t>
            </a:r>
            <a:r>
              <a:rPr lang="en-US" dirty="0" smtClean="0"/>
              <a:t>cont’d</a:t>
            </a:r>
            <a:r>
              <a:rPr lang="en-US" b="1" dirty="0" smtClean="0"/>
              <a:t>…</a:t>
            </a:r>
            <a:endParaRPr lang="en-US" dirty="0"/>
          </a:p>
        </p:txBody>
      </p:sp>
      <p:sp>
        <p:nvSpPr>
          <p:cNvPr id="3" name="Content Placeholder 2"/>
          <p:cNvSpPr>
            <a:spLocks noGrp="1"/>
          </p:cNvSpPr>
          <p:nvPr>
            <p:ph idx="1"/>
          </p:nvPr>
        </p:nvSpPr>
        <p:spPr>
          <a:xfrm>
            <a:off x="1569154" y="2490136"/>
            <a:ext cx="9064981" cy="3644657"/>
          </a:xfrm>
        </p:spPr>
        <p:txBody>
          <a:bodyPr>
            <a:normAutofit lnSpcReduction="10000"/>
          </a:bodyPr>
          <a:lstStyle/>
          <a:p>
            <a:r>
              <a:rPr lang="en-US" b="1" dirty="0"/>
              <a:t>Data collectors:</a:t>
            </a:r>
            <a:r>
              <a:rPr lang="en-US" dirty="0"/>
              <a:t> Appropriate persons to collect data should be selected based on the type of surveillance and frequency of data collection</a:t>
            </a:r>
            <a:r>
              <a:rPr lang="en-US" dirty="0" smtClean="0"/>
              <a:t>.</a:t>
            </a:r>
            <a:endParaRPr lang="en-US" dirty="0"/>
          </a:p>
          <a:p>
            <a:r>
              <a:rPr lang="en-US" b="1" dirty="0"/>
              <a:t>Data collection methods:</a:t>
            </a:r>
            <a:r>
              <a:rPr lang="en-US" dirty="0"/>
              <a:t>  depend upon several factors and the decisions made about type, frequency, and the outcomes or processes included in surveillance</a:t>
            </a:r>
          </a:p>
          <a:p>
            <a:endParaRPr lang="en-US" dirty="0"/>
          </a:p>
        </p:txBody>
      </p:sp>
    </p:spTree>
    <p:extLst>
      <p:ext uri="{BB962C8B-B14F-4D97-AF65-F5344CB8AC3E}">
        <p14:creationId xmlns:p14="http://schemas.microsoft.com/office/powerpoint/2010/main" val="67291042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collection plan cont’d…</a:t>
            </a:r>
          </a:p>
        </p:txBody>
      </p:sp>
      <p:sp>
        <p:nvSpPr>
          <p:cNvPr id="3" name="Content Placeholder 2"/>
          <p:cNvSpPr>
            <a:spLocks noGrp="1"/>
          </p:cNvSpPr>
          <p:nvPr>
            <p:ph idx="1"/>
          </p:nvPr>
        </p:nvSpPr>
        <p:spPr/>
        <p:txBody>
          <a:bodyPr>
            <a:normAutofit fontScale="92500" lnSpcReduction="10000"/>
          </a:bodyPr>
          <a:lstStyle/>
          <a:p>
            <a:pPr lvl="0"/>
            <a:r>
              <a:rPr lang="en-US" b="1" dirty="0" smtClean="0"/>
              <a:t>Data </a:t>
            </a:r>
            <a:r>
              <a:rPr lang="en-US" b="1" dirty="0"/>
              <a:t>sources:</a:t>
            </a:r>
            <a:r>
              <a:rPr lang="en-US" dirty="0"/>
              <a:t> These include records, reports, registers, and logbooks where specific data can be found. </a:t>
            </a:r>
          </a:p>
          <a:p>
            <a:pPr lvl="0"/>
            <a:r>
              <a:rPr lang="en-US" b="1" dirty="0"/>
              <a:t>Data management:</a:t>
            </a:r>
            <a:r>
              <a:rPr lang="en-US" dirty="0"/>
              <a:t> This is a method of receiving and collating data collection forms as well as filing, storing (electronic or manual) the data collected. </a:t>
            </a:r>
          </a:p>
          <a:p>
            <a:pPr lvl="0"/>
            <a:r>
              <a:rPr lang="en-US" b="1" dirty="0"/>
              <a:t>Data sharing:</a:t>
            </a:r>
            <a:r>
              <a:rPr lang="en-US" dirty="0"/>
              <a:t> Develop a plan and decide who will collate data, prepare reports, and share data with relevant parties. </a:t>
            </a:r>
          </a:p>
          <a:p>
            <a:endParaRPr lang="en-US" dirty="0"/>
          </a:p>
        </p:txBody>
      </p:sp>
    </p:spTree>
    <p:extLst>
      <p:ext uri="{BB962C8B-B14F-4D97-AF65-F5344CB8AC3E}">
        <p14:creationId xmlns:p14="http://schemas.microsoft.com/office/powerpoint/2010/main" val="168850828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Implement Surveillance Activities</a:t>
            </a:r>
            <a:r>
              <a:rPr lang="en-US" dirty="0"/>
              <a:t/>
            </a:r>
            <a:br>
              <a:rPr lang="en-US" dirty="0"/>
            </a:br>
            <a:endParaRPr lang="en-US" dirty="0"/>
          </a:p>
        </p:txBody>
      </p:sp>
      <p:sp>
        <p:nvSpPr>
          <p:cNvPr id="3" name="Content Placeholder 2"/>
          <p:cNvSpPr>
            <a:spLocks noGrp="1"/>
          </p:cNvSpPr>
          <p:nvPr>
            <p:ph idx="1"/>
          </p:nvPr>
        </p:nvSpPr>
        <p:spPr>
          <a:xfrm>
            <a:off x="1569154" y="2490136"/>
            <a:ext cx="9064981" cy="3711159"/>
          </a:xfrm>
        </p:spPr>
        <p:txBody>
          <a:bodyPr>
            <a:normAutofit/>
          </a:bodyPr>
          <a:lstStyle/>
          <a:p>
            <a:pPr algn="just"/>
            <a:r>
              <a:rPr lang="en-US" b="1" dirty="0" smtClean="0"/>
              <a:t>For </a:t>
            </a:r>
            <a:r>
              <a:rPr lang="en-US" b="1" dirty="0"/>
              <a:t>outcome surveillance: </a:t>
            </a:r>
            <a:endParaRPr lang="en-US" dirty="0"/>
          </a:p>
          <a:p>
            <a:pPr lvl="1" algn="just"/>
            <a:r>
              <a:rPr lang="en-US" dirty="0"/>
              <a:t>Ensure that all cases that qualify for the numerator and all patients that qualify as the at-risk population (denominator) are appropriately recorded and reviewed. </a:t>
            </a:r>
            <a:endParaRPr lang="en-US" dirty="0" smtClean="0"/>
          </a:p>
          <a:p>
            <a:pPr lvl="1" algn="just"/>
            <a:r>
              <a:rPr lang="en-US" dirty="0" smtClean="0"/>
              <a:t>Enter </a:t>
            </a:r>
            <a:r>
              <a:rPr lang="en-US" dirty="0"/>
              <a:t>all information from the completed tools into the database on a regular basis to avoid </a:t>
            </a:r>
            <a:r>
              <a:rPr lang="en-US" dirty="0">
                <a:solidFill>
                  <a:srgbClr val="0070C0"/>
                </a:solidFill>
              </a:rPr>
              <a:t>loss of information </a:t>
            </a:r>
            <a:r>
              <a:rPr lang="en-US" dirty="0"/>
              <a:t>on completed forms. </a:t>
            </a:r>
          </a:p>
        </p:txBody>
      </p:sp>
    </p:spTree>
    <p:extLst>
      <p:ext uri="{BB962C8B-B14F-4D97-AF65-F5344CB8AC3E}">
        <p14:creationId xmlns:p14="http://schemas.microsoft.com/office/powerpoint/2010/main" val="390476397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Implement Surveillance </a:t>
            </a:r>
            <a:r>
              <a:rPr lang="en-US" b="1" dirty="0" smtClean="0"/>
              <a:t>Activities</a:t>
            </a:r>
            <a:endParaRPr lang="en-US" dirty="0"/>
          </a:p>
        </p:txBody>
      </p:sp>
      <p:sp>
        <p:nvSpPr>
          <p:cNvPr id="3" name="Content Placeholder 2"/>
          <p:cNvSpPr>
            <a:spLocks noGrp="1"/>
          </p:cNvSpPr>
          <p:nvPr>
            <p:ph idx="1"/>
          </p:nvPr>
        </p:nvSpPr>
        <p:spPr>
          <a:xfrm>
            <a:off x="1569154" y="2490136"/>
            <a:ext cx="9064981" cy="3744410"/>
          </a:xfrm>
        </p:spPr>
        <p:txBody>
          <a:bodyPr/>
          <a:lstStyle/>
          <a:p>
            <a:r>
              <a:rPr lang="en-US" b="1" dirty="0" smtClean="0"/>
              <a:t>For </a:t>
            </a:r>
            <a:r>
              <a:rPr lang="en-US" b="1" dirty="0"/>
              <a:t>process surveillance: </a:t>
            </a:r>
            <a:endParaRPr lang="en-US" dirty="0"/>
          </a:p>
          <a:p>
            <a:pPr lvl="1" algn="just"/>
            <a:r>
              <a:rPr lang="en-US" dirty="0"/>
              <a:t>Complete the data collection forms following the plan and data collection method. </a:t>
            </a:r>
            <a:endParaRPr lang="en-US" dirty="0" smtClean="0"/>
          </a:p>
          <a:p>
            <a:pPr lvl="1" algn="just"/>
            <a:r>
              <a:rPr lang="en-US" dirty="0" smtClean="0"/>
              <a:t>Process </a:t>
            </a:r>
            <a:r>
              <a:rPr lang="en-US" dirty="0"/>
              <a:t>surveillance may include </a:t>
            </a:r>
            <a:r>
              <a:rPr lang="en-US" dirty="0">
                <a:solidFill>
                  <a:srgbClr val="0070C0"/>
                </a:solidFill>
              </a:rPr>
              <a:t>direct observation </a:t>
            </a:r>
            <a:r>
              <a:rPr lang="en-US" dirty="0" smtClean="0">
                <a:solidFill>
                  <a:srgbClr val="0070C0"/>
                </a:solidFill>
              </a:rPr>
              <a:t> </a:t>
            </a:r>
            <a:r>
              <a:rPr lang="en-US" dirty="0" smtClean="0"/>
              <a:t>or </a:t>
            </a:r>
            <a:r>
              <a:rPr lang="en-US" dirty="0"/>
              <a:t>a </a:t>
            </a:r>
            <a:r>
              <a:rPr lang="en-US" dirty="0">
                <a:solidFill>
                  <a:srgbClr val="0070C0"/>
                </a:solidFill>
              </a:rPr>
              <a:t>review of the </a:t>
            </a:r>
            <a:r>
              <a:rPr lang="en-US" dirty="0" smtClean="0">
                <a:solidFill>
                  <a:srgbClr val="0070C0"/>
                </a:solidFill>
              </a:rPr>
              <a:t>records</a:t>
            </a:r>
            <a:endParaRPr lang="en-US" dirty="0">
              <a:solidFill>
                <a:srgbClr val="0070C0"/>
              </a:solidFill>
            </a:endParaRPr>
          </a:p>
        </p:txBody>
      </p:sp>
    </p:spTree>
    <p:extLst>
      <p:ext uri="{BB962C8B-B14F-4D97-AF65-F5344CB8AC3E}">
        <p14:creationId xmlns:p14="http://schemas.microsoft.com/office/powerpoint/2010/main" val="190940777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Analyze and Report </a:t>
            </a:r>
            <a:r>
              <a:rPr lang="en-US" b="1" dirty="0" smtClean="0"/>
              <a:t>Data</a:t>
            </a:r>
            <a:endParaRPr lang="en-US" dirty="0"/>
          </a:p>
        </p:txBody>
      </p:sp>
      <p:sp>
        <p:nvSpPr>
          <p:cNvPr id="3" name="Content Placeholder 2"/>
          <p:cNvSpPr>
            <a:spLocks noGrp="1"/>
          </p:cNvSpPr>
          <p:nvPr>
            <p:ph idx="1"/>
          </p:nvPr>
        </p:nvSpPr>
        <p:spPr>
          <a:xfrm>
            <a:off x="1569154" y="2490136"/>
            <a:ext cx="9064981" cy="3827537"/>
          </a:xfrm>
        </p:spPr>
        <p:txBody>
          <a:bodyPr>
            <a:normAutofit fontScale="85000" lnSpcReduction="10000"/>
          </a:bodyPr>
          <a:lstStyle/>
          <a:p>
            <a:pPr algn="just"/>
            <a:r>
              <a:rPr lang="en-US" dirty="0" smtClean="0"/>
              <a:t>After </a:t>
            </a:r>
            <a:r>
              <a:rPr lang="en-US" dirty="0"/>
              <a:t>the data are collected and entered into the database, collate, </a:t>
            </a:r>
            <a:r>
              <a:rPr lang="en-US" dirty="0">
                <a:solidFill>
                  <a:srgbClr val="0070C0"/>
                </a:solidFill>
              </a:rPr>
              <a:t>clean</a:t>
            </a:r>
            <a:r>
              <a:rPr lang="en-US" dirty="0"/>
              <a:t>, and </a:t>
            </a:r>
            <a:r>
              <a:rPr lang="en-US" dirty="0">
                <a:solidFill>
                  <a:srgbClr val="0070C0"/>
                </a:solidFill>
              </a:rPr>
              <a:t>review</a:t>
            </a:r>
            <a:r>
              <a:rPr lang="en-US" dirty="0"/>
              <a:t> individual data for any obvious errors and </a:t>
            </a:r>
            <a:r>
              <a:rPr lang="en-US" dirty="0" smtClean="0">
                <a:solidFill>
                  <a:srgbClr val="0070C0"/>
                </a:solidFill>
              </a:rPr>
              <a:t>outliers</a:t>
            </a:r>
            <a:r>
              <a:rPr lang="en-US" dirty="0" smtClean="0"/>
              <a:t>.</a:t>
            </a:r>
          </a:p>
          <a:p>
            <a:pPr algn="just"/>
            <a:r>
              <a:rPr lang="en-US" dirty="0" smtClean="0"/>
              <a:t>Conduct </a:t>
            </a:r>
            <a:r>
              <a:rPr lang="en-US" dirty="0"/>
              <a:t>data analysis using a software program or a simple calculator and statistical formulas to derive mean, median, mode, percentage, proportion, or incidence density rates</a:t>
            </a:r>
            <a:r>
              <a:rPr lang="en-US" dirty="0" smtClean="0"/>
              <a:t>.</a:t>
            </a:r>
          </a:p>
          <a:p>
            <a:pPr algn="just"/>
            <a:r>
              <a:rPr lang="en-US" dirty="0" smtClean="0"/>
              <a:t>The </a:t>
            </a:r>
            <a:r>
              <a:rPr lang="en-US" dirty="0"/>
              <a:t>data should be cleaned (checking data and correcting or removing errors) and analyzed to calculate rates and prepared for sharing with key personnel as laid out in the plan.  </a:t>
            </a:r>
          </a:p>
          <a:p>
            <a:pPr algn="just"/>
            <a:endParaRPr lang="en-US" dirty="0"/>
          </a:p>
        </p:txBody>
      </p:sp>
    </p:spTree>
    <p:extLst>
      <p:ext uri="{BB962C8B-B14F-4D97-AF65-F5344CB8AC3E}">
        <p14:creationId xmlns:p14="http://schemas.microsoft.com/office/powerpoint/2010/main" val="304758619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Analyze and Report Data </a:t>
            </a:r>
            <a:r>
              <a:rPr lang="en-US" sz="4000" dirty="0" smtClean="0"/>
              <a:t>cont’d</a:t>
            </a:r>
            <a:r>
              <a:rPr lang="en-US" sz="4000" b="1" dirty="0" smtClean="0"/>
              <a:t>…</a:t>
            </a:r>
            <a:endParaRPr lang="en-US" sz="4000" dirty="0"/>
          </a:p>
        </p:txBody>
      </p:sp>
      <p:sp>
        <p:nvSpPr>
          <p:cNvPr id="3" name="Content Placeholder 2"/>
          <p:cNvSpPr>
            <a:spLocks noGrp="1"/>
          </p:cNvSpPr>
          <p:nvPr>
            <p:ph idx="1"/>
          </p:nvPr>
        </p:nvSpPr>
        <p:spPr>
          <a:xfrm>
            <a:off x="1569154" y="2490136"/>
            <a:ext cx="9064981" cy="3694533"/>
          </a:xfrm>
        </p:spPr>
        <p:txBody>
          <a:bodyPr>
            <a:normAutofit fontScale="92500" lnSpcReduction="10000"/>
          </a:bodyPr>
          <a:lstStyle/>
          <a:p>
            <a:pPr algn="just"/>
            <a:r>
              <a:rPr lang="en-US" dirty="0" smtClean="0"/>
              <a:t> A </a:t>
            </a:r>
            <a:r>
              <a:rPr lang="en-US" dirty="0"/>
              <a:t>surveillance report may be a written document or a presentation and at a minimum should contain: </a:t>
            </a:r>
          </a:p>
          <a:p>
            <a:pPr lvl="1" algn="just"/>
            <a:r>
              <a:rPr lang="en-US" dirty="0"/>
              <a:t>Description of the </a:t>
            </a:r>
            <a:r>
              <a:rPr lang="en-US" dirty="0">
                <a:solidFill>
                  <a:srgbClr val="0070C0"/>
                </a:solidFill>
              </a:rPr>
              <a:t>surveillance activity </a:t>
            </a:r>
          </a:p>
          <a:p>
            <a:pPr lvl="1" algn="just"/>
            <a:r>
              <a:rPr lang="en-US" dirty="0"/>
              <a:t>Description of </a:t>
            </a:r>
            <a:r>
              <a:rPr lang="en-US" dirty="0">
                <a:solidFill>
                  <a:srgbClr val="0070C0"/>
                </a:solidFill>
              </a:rPr>
              <a:t>outcomes</a:t>
            </a:r>
            <a:r>
              <a:rPr lang="en-US" dirty="0"/>
              <a:t> and </a:t>
            </a:r>
            <a:r>
              <a:rPr lang="en-US" dirty="0">
                <a:solidFill>
                  <a:srgbClr val="0070C0"/>
                </a:solidFill>
              </a:rPr>
              <a:t>processes</a:t>
            </a:r>
            <a:r>
              <a:rPr lang="en-US" dirty="0"/>
              <a:t> selected for surveillance and the standard surveillance </a:t>
            </a:r>
            <a:r>
              <a:rPr lang="en-US" dirty="0">
                <a:solidFill>
                  <a:srgbClr val="0070C0"/>
                </a:solidFill>
              </a:rPr>
              <a:t>case definitions </a:t>
            </a:r>
            <a:r>
              <a:rPr lang="en-US" dirty="0" smtClean="0"/>
              <a:t>used</a:t>
            </a:r>
            <a:endParaRPr lang="en-US" dirty="0"/>
          </a:p>
          <a:p>
            <a:pPr lvl="1" algn="just"/>
            <a:r>
              <a:rPr lang="en-US" dirty="0"/>
              <a:t>Information on the </a:t>
            </a:r>
            <a:r>
              <a:rPr lang="en-US" dirty="0">
                <a:solidFill>
                  <a:srgbClr val="0070C0"/>
                </a:solidFill>
              </a:rPr>
              <a:t>numerator</a:t>
            </a:r>
            <a:r>
              <a:rPr lang="en-US" dirty="0"/>
              <a:t> and </a:t>
            </a:r>
            <a:r>
              <a:rPr lang="en-US" dirty="0">
                <a:solidFill>
                  <a:srgbClr val="0070C0"/>
                </a:solidFill>
              </a:rPr>
              <a:t>denominator</a:t>
            </a:r>
            <a:r>
              <a:rPr lang="en-US" dirty="0"/>
              <a:t> as absolute numbers, as well as other descriptive data, such as </a:t>
            </a:r>
            <a:r>
              <a:rPr lang="en-US" dirty="0">
                <a:solidFill>
                  <a:srgbClr val="0070C0"/>
                </a:solidFill>
              </a:rPr>
              <a:t>mean</a:t>
            </a:r>
            <a:r>
              <a:rPr lang="en-US" dirty="0"/>
              <a:t>, </a:t>
            </a:r>
            <a:r>
              <a:rPr lang="en-US" dirty="0">
                <a:solidFill>
                  <a:srgbClr val="0070C0"/>
                </a:solidFill>
              </a:rPr>
              <a:t>median</a:t>
            </a:r>
            <a:r>
              <a:rPr lang="en-US" dirty="0"/>
              <a:t>, </a:t>
            </a:r>
            <a:r>
              <a:rPr lang="en-US" dirty="0">
                <a:solidFill>
                  <a:srgbClr val="0070C0"/>
                </a:solidFill>
              </a:rPr>
              <a:t>mode</a:t>
            </a:r>
            <a:r>
              <a:rPr lang="en-US" dirty="0"/>
              <a:t>, etc. </a:t>
            </a:r>
          </a:p>
          <a:p>
            <a:pPr algn="just"/>
            <a:endParaRPr lang="en-US" dirty="0"/>
          </a:p>
        </p:txBody>
      </p:sp>
    </p:spTree>
    <p:extLst>
      <p:ext uri="{BB962C8B-B14F-4D97-AF65-F5344CB8AC3E}">
        <p14:creationId xmlns:p14="http://schemas.microsoft.com/office/powerpoint/2010/main" val="379771038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Analyze and Report Data cont’d…</a:t>
            </a:r>
          </a:p>
        </p:txBody>
      </p:sp>
      <p:sp>
        <p:nvSpPr>
          <p:cNvPr id="3" name="Content Placeholder 2"/>
          <p:cNvSpPr>
            <a:spLocks noGrp="1"/>
          </p:cNvSpPr>
          <p:nvPr>
            <p:ph idx="1"/>
          </p:nvPr>
        </p:nvSpPr>
        <p:spPr/>
        <p:txBody>
          <a:bodyPr>
            <a:normAutofit/>
          </a:bodyPr>
          <a:lstStyle/>
          <a:p>
            <a:r>
              <a:rPr lang="en-US" dirty="0" smtClean="0"/>
              <a:t>Rates</a:t>
            </a:r>
            <a:r>
              <a:rPr lang="en-US" dirty="0"/>
              <a:t>, percentages, and comparisons with the chosen </a:t>
            </a:r>
            <a:r>
              <a:rPr lang="en-US" dirty="0">
                <a:solidFill>
                  <a:srgbClr val="0070C0"/>
                </a:solidFill>
              </a:rPr>
              <a:t>benchmark</a:t>
            </a:r>
            <a:r>
              <a:rPr lang="en-US" dirty="0"/>
              <a:t> </a:t>
            </a:r>
          </a:p>
          <a:p>
            <a:pPr lvl="0"/>
            <a:r>
              <a:rPr lang="en-US" dirty="0">
                <a:solidFill>
                  <a:srgbClr val="0070C0"/>
                </a:solidFill>
              </a:rPr>
              <a:t>Graphs</a:t>
            </a:r>
            <a:r>
              <a:rPr lang="en-US" dirty="0"/>
              <a:t> and/or </a:t>
            </a:r>
            <a:r>
              <a:rPr lang="en-US" dirty="0">
                <a:solidFill>
                  <a:srgbClr val="0070C0"/>
                </a:solidFill>
              </a:rPr>
              <a:t>tables</a:t>
            </a:r>
            <a:r>
              <a:rPr lang="en-US" dirty="0"/>
              <a:t> describing the findings that are easy to understand </a:t>
            </a:r>
          </a:p>
          <a:p>
            <a:r>
              <a:rPr lang="en-US" dirty="0"/>
              <a:t>A description of </a:t>
            </a:r>
            <a:r>
              <a:rPr lang="en-US" dirty="0">
                <a:solidFill>
                  <a:srgbClr val="0070C0"/>
                </a:solidFill>
              </a:rPr>
              <a:t>recommended actions </a:t>
            </a:r>
            <a:r>
              <a:rPr lang="en-US" dirty="0"/>
              <a:t>based on the findings of the surveillance data analysis </a:t>
            </a:r>
          </a:p>
          <a:p>
            <a:endParaRPr lang="en-US" dirty="0"/>
          </a:p>
        </p:txBody>
      </p:sp>
    </p:spTree>
    <p:extLst>
      <p:ext uri="{BB962C8B-B14F-4D97-AF65-F5344CB8AC3E}">
        <p14:creationId xmlns:p14="http://schemas.microsoft.com/office/powerpoint/2010/main" val="262770811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Analyze and Report Data cont’d…</a:t>
            </a:r>
            <a:endParaRPr lang="en-US" dirty="0"/>
          </a:p>
        </p:txBody>
      </p:sp>
      <p:sp>
        <p:nvSpPr>
          <p:cNvPr id="3" name="Content Placeholder 2"/>
          <p:cNvSpPr>
            <a:spLocks noGrp="1"/>
          </p:cNvSpPr>
          <p:nvPr>
            <p:ph idx="1"/>
          </p:nvPr>
        </p:nvSpPr>
        <p:spPr/>
        <p:txBody>
          <a:bodyPr>
            <a:normAutofit fontScale="92500" lnSpcReduction="10000"/>
          </a:bodyPr>
          <a:lstStyle/>
          <a:p>
            <a:pPr algn="just"/>
            <a:r>
              <a:rPr lang="en-US" dirty="0">
                <a:solidFill>
                  <a:srgbClr val="0070C0"/>
                </a:solidFill>
              </a:rPr>
              <a:t>Share</a:t>
            </a:r>
            <a:r>
              <a:rPr lang="en-US" dirty="0"/>
              <a:t> the report with all </a:t>
            </a:r>
            <a:r>
              <a:rPr lang="en-US" b="1" dirty="0"/>
              <a:t>stakeholders</a:t>
            </a:r>
            <a:r>
              <a:rPr lang="en-US" dirty="0"/>
              <a:t>; HCWs, the management team, and other stakeholders can help design interventions according to the surveillance plan. </a:t>
            </a:r>
            <a:endParaRPr lang="en-US" dirty="0" smtClean="0"/>
          </a:p>
          <a:p>
            <a:pPr algn="just"/>
            <a:r>
              <a:rPr lang="en-US" dirty="0" smtClean="0"/>
              <a:t>Surveillance </a:t>
            </a:r>
            <a:r>
              <a:rPr lang="en-US" dirty="0"/>
              <a:t>findings should be shared with the HCWs during staff meetings on a routine basis. Keep the report brief and focus on key findings and messages for improvement. </a:t>
            </a:r>
          </a:p>
          <a:p>
            <a:pPr algn="just"/>
            <a:endParaRPr lang="en-US" dirty="0"/>
          </a:p>
        </p:txBody>
      </p:sp>
    </p:spTree>
    <p:extLst>
      <p:ext uri="{BB962C8B-B14F-4D97-AF65-F5344CB8AC3E}">
        <p14:creationId xmlns:p14="http://schemas.microsoft.com/office/powerpoint/2010/main" val="455354026"/>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Initiate Quality Improvement </a:t>
            </a:r>
            <a:r>
              <a:rPr lang="en-US" b="1" dirty="0" smtClean="0"/>
              <a:t>Activities</a:t>
            </a:r>
            <a:endParaRPr lang="en-US" dirty="0"/>
          </a:p>
        </p:txBody>
      </p:sp>
      <p:sp>
        <p:nvSpPr>
          <p:cNvPr id="3" name="Content Placeholder 2"/>
          <p:cNvSpPr>
            <a:spLocks noGrp="1"/>
          </p:cNvSpPr>
          <p:nvPr>
            <p:ph idx="1"/>
          </p:nvPr>
        </p:nvSpPr>
        <p:spPr/>
        <p:txBody>
          <a:bodyPr/>
          <a:lstStyle/>
          <a:p>
            <a:pPr algn="just"/>
            <a:r>
              <a:rPr lang="en-US" dirty="0" smtClean="0"/>
              <a:t>After </a:t>
            </a:r>
            <a:r>
              <a:rPr lang="en-US" dirty="0"/>
              <a:t>reviewing surveillance data and reports, determine </a:t>
            </a:r>
            <a:r>
              <a:rPr lang="en-US" b="1" dirty="0">
                <a:solidFill>
                  <a:schemeClr val="tx1"/>
                </a:solidFill>
              </a:rPr>
              <a:t>what performance improvement activities should be </a:t>
            </a:r>
            <a:r>
              <a:rPr lang="en-US" b="1" dirty="0" smtClean="0">
                <a:solidFill>
                  <a:schemeClr val="tx1"/>
                </a:solidFill>
              </a:rPr>
              <a:t>undertaken?</a:t>
            </a:r>
            <a:endParaRPr lang="en-US" b="1" dirty="0">
              <a:solidFill>
                <a:schemeClr val="tx1"/>
              </a:solidFill>
            </a:endParaRPr>
          </a:p>
        </p:txBody>
      </p:sp>
    </p:spTree>
    <p:extLst>
      <p:ext uri="{BB962C8B-B14F-4D97-AF65-F5344CB8AC3E}">
        <p14:creationId xmlns:p14="http://schemas.microsoft.com/office/powerpoint/2010/main" val="294447695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Tips for Carrying Out Outcome Surveillance </a:t>
            </a:r>
            <a:endParaRPr lang="en-US" dirty="0"/>
          </a:p>
        </p:txBody>
      </p:sp>
      <p:sp>
        <p:nvSpPr>
          <p:cNvPr id="3" name="Content Placeholder 2"/>
          <p:cNvSpPr>
            <a:spLocks noGrp="1"/>
          </p:cNvSpPr>
          <p:nvPr>
            <p:ph idx="1"/>
          </p:nvPr>
        </p:nvSpPr>
        <p:spPr>
          <a:xfrm>
            <a:off x="1569154" y="2490136"/>
            <a:ext cx="9064981" cy="3960540"/>
          </a:xfrm>
        </p:spPr>
        <p:txBody>
          <a:bodyPr>
            <a:normAutofit fontScale="85000" lnSpcReduction="20000"/>
          </a:bodyPr>
          <a:lstStyle/>
          <a:p>
            <a:pPr lvl="0" algn="just"/>
            <a:r>
              <a:rPr lang="en-US" dirty="0" smtClean="0"/>
              <a:t>Make </a:t>
            </a:r>
            <a:r>
              <a:rPr lang="en-US" dirty="0"/>
              <a:t>institutional decisions about implementing surveillance of HAIs in the facility based on a facility IPC risk assessment</a:t>
            </a:r>
            <a:r>
              <a:rPr lang="en-US" dirty="0" smtClean="0"/>
              <a:t>.</a:t>
            </a:r>
            <a:endParaRPr lang="en-US" dirty="0"/>
          </a:p>
          <a:p>
            <a:pPr lvl="0" algn="just"/>
            <a:r>
              <a:rPr lang="en-US" dirty="0"/>
              <a:t>Establish a surveillance technical group, which could be a subgroup within the IPC team</a:t>
            </a:r>
            <a:r>
              <a:rPr lang="en-US" dirty="0" smtClean="0"/>
              <a:t>.</a:t>
            </a:r>
            <a:endParaRPr lang="en-US" dirty="0"/>
          </a:p>
          <a:p>
            <a:pPr lvl="0" algn="just"/>
            <a:r>
              <a:rPr lang="en-US" dirty="0"/>
              <a:t>Follow national guidelines on surveillance of HAIs, if one is available. </a:t>
            </a:r>
            <a:endParaRPr lang="en-US" dirty="0" smtClean="0"/>
          </a:p>
          <a:p>
            <a:pPr lvl="0" algn="just"/>
            <a:r>
              <a:rPr lang="en-US" dirty="0" smtClean="0"/>
              <a:t>If </a:t>
            </a:r>
            <a:r>
              <a:rPr lang="en-US" dirty="0"/>
              <a:t>national guidelines are not available, use international guidelines</a:t>
            </a:r>
            <a:r>
              <a:rPr lang="en-US" dirty="0" smtClean="0"/>
              <a:t>.</a:t>
            </a:r>
            <a:endParaRPr lang="en-US" dirty="0"/>
          </a:p>
          <a:p>
            <a:pPr lvl="0" algn="just"/>
            <a:r>
              <a:rPr lang="en-US" dirty="0" smtClean="0"/>
              <a:t>Use </a:t>
            </a:r>
            <a:r>
              <a:rPr lang="en-US" dirty="0"/>
              <a:t>standardized case definitions.</a:t>
            </a:r>
          </a:p>
          <a:p>
            <a:pPr marL="0" indent="0" algn="just">
              <a:buNone/>
            </a:pPr>
            <a:endParaRPr lang="en-US" dirty="0"/>
          </a:p>
          <a:p>
            <a:pPr algn="just"/>
            <a:endParaRPr lang="en-US" dirty="0"/>
          </a:p>
        </p:txBody>
      </p:sp>
    </p:spTree>
    <p:extLst>
      <p:ext uri="{BB962C8B-B14F-4D97-AF65-F5344CB8AC3E}">
        <p14:creationId xmlns:p14="http://schemas.microsoft.com/office/powerpoint/2010/main" val="104562917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Surveillance Process</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892434997"/>
              </p:ext>
            </p:extLst>
          </p:nvPr>
        </p:nvGraphicFramePr>
        <p:xfrm>
          <a:off x="947651" y="2294311"/>
          <a:ext cx="10324407" cy="4023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6844849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Tips for Carrying Out Outcome Surveillance </a:t>
            </a:r>
            <a:r>
              <a:rPr lang="en-US" dirty="0" smtClean="0"/>
              <a:t>cont’d…</a:t>
            </a:r>
            <a:endParaRPr lang="en-US" dirty="0"/>
          </a:p>
        </p:txBody>
      </p:sp>
      <p:sp>
        <p:nvSpPr>
          <p:cNvPr id="3" name="Content Placeholder 2"/>
          <p:cNvSpPr>
            <a:spLocks noGrp="1"/>
          </p:cNvSpPr>
          <p:nvPr>
            <p:ph idx="1"/>
          </p:nvPr>
        </p:nvSpPr>
        <p:spPr/>
        <p:txBody>
          <a:bodyPr>
            <a:normAutofit lnSpcReduction="10000"/>
          </a:bodyPr>
          <a:lstStyle/>
          <a:p>
            <a:pPr lvl="0" algn="just"/>
            <a:r>
              <a:rPr lang="en-US" dirty="0"/>
              <a:t>Review and adapt data collection tools, as appropriate</a:t>
            </a:r>
            <a:r>
              <a:rPr lang="en-US" dirty="0" smtClean="0"/>
              <a:t>.</a:t>
            </a:r>
            <a:endParaRPr lang="en-US" dirty="0"/>
          </a:p>
          <a:p>
            <a:pPr lvl="0" algn="just"/>
            <a:r>
              <a:rPr lang="en-US" dirty="0"/>
              <a:t>Decide on approaches for surveillance (e.g., active vs. passive, outcome vs. process</a:t>
            </a:r>
            <a:r>
              <a:rPr lang="en-US" dirty="0" smtClean="0"/>
              <a:t>).</a:t>
            </a:r>
            <a:endParaRPr lang="en-US" dirty="0"/>
          </a:p>
          <a:p>
            <a:pPr lvl="0" algn="just"/>
            <a:r>
              <a:rPr lang="en-US" dirty="0"/>
              <a:t>Train key staff in surveillance of HAIs. </a:t>
            </a:r>
            <a:endParaRPr lang="en-US" dirty="0" smtClean="0"/>
          </a:p>
          <a:p>
            <a:pPr lvl="0" algn="just"/>
            <a:r>
              <a:rPr lang="en-US" dirty="0" smtClean="0"/>
              <a:t>Orient </a:t>
            </a:r>
            <a:r>
              <a:rPr lang="en-US" dirty="0"/>
              <a:t>all clinical staff on surveillance of HAIs and their roles and responsibilities.</a:t>
            </a:r>
          </a:p>
          <a:p>
            <a:pPr marL="0" indent="0" algn="just">
              <a:buNone/>
            </a:pPr>
            <a:endParaRPr lang="en-US" dirty="0"/>
          </a:p>
          <a:p>
            <a:pPr algn="just"/>
            <a:endParaRPr lang="en-US" dirty="0"/>
          </a:p>
        </p:txBody>
      </p:sp>
    </p:spTree>
    <p:extLst>
      <p:ext uri="{BB962C8B-B14F-4D97-AF65-F5344CB8AC3E}">
        <p14:creationId xmlns:p14="http://schemas.microsoft.com/office/powerpoint/2010/main" val="65927532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Tips for Carrying Out Outcome Surveillance cont’d…</a:t>
            </a:r>
          </a:p>
        </p:txBody>
      </p:sp>
      <p:sp>
        <p:nvSpPr>
          <p:cNvPr id="3" name="Content Placeholder 2"/>
          <p:cNvSpPr>
            <a:spLocks noGrp="1"/>
          </p:cNvSpPr>
          <p:nvPr>
            <p:ph idx="1"/>
          </p:nvPr>
        </p:nvSpPr>
        <p:spPr>
          <a:xfrm>
            <a:off x="1569154" y="2490136"/>
            <a:ext cx="9064981" cy="3628031"/>
          </a:xfrm>
        </p:spPr>
        <p:txBody>
          <a:bodyPr>
            <a:normAutofit fontScale="85000" lnSpcReduction="10000"/>
          </a:bodyPr>
          <a:lstStyle/>
          <a:p>
            <a:pPr algn="just"/>
            <a:r>
              <a:rPr lang="en-US" dirty="0"/>
              <a:t>Allocate resources for data collection, data entry, data compilation, data analysis, and reporting. </a:t>
            </a:r>
            <a:endParaRPr lang="en-US" dirty="0" smtClean="0"/>
          </a:p>
          <a:p>
            <a:pPr lvl="0" algn="just"/>
            <a:r>
              <a:rPr lang="en-US" dirty="0" smtClean="0"/>
              <a:t>Conduct </a:t>
            </a:r>
            <a:r>
              <a:rPr lang="en-US" dirty="0"/>
              <a:t>surveillance</a:t>
            </a:r>
            <a:r>
              <a:rPr lang="en-US" dirty="0" smtClean="0"/>
              <a:t>.</a:t>
            </a:r>
            <a:endParaRPr lang="en-US" dirty="0"/>
          </a:p>
          <a:p>
            <a:pPr lvl="0" algn="just"/>
            <a:r>
              <a:rPr lang="en-US" dirty="0"/>
              <a:t>Carry out detailed analysis of the findings and identify the gaps. </a:t>
            </a:r>
          </a:p>
          <a:p>
            <a:pPr lvl="0" algn="just"/>
            <a:r>
              <a:rPr lang="en-US" dirty="0"/>
              <a:t>Organize periodic meetings to review the findings</a:t>
            </a:r>
            <a:r>
              <a:rPr lang="en-US" dirty="0" smtClean="0"/>
              <a:t>.</a:t>
            </a:r>
            <a:endParaRPr lang="en-US" dirty="0"/>
          </a:p>
          <a:p>
            <a:pPr lvl="0" algn="just"/>
            <a:r>
              <a:rPr lang="en-US" dirty="0"/>
              <a:t> Design and develop interventions to changes practices and processes. </a:t>
            </a:r>
            <a:r>
              <a:rPr lang="en-US" dirty="0" smtClean="0"/>
              <a:t> </a:t>
            </a:r>
            <a:r>
              <a:rPr lang="en-US" dirty="0"/>
              <a:t>Monitor compliance with interventions. </a:t>
            </a:r>
          </a:p>
          <a:p>
            <a:pPr algn="just"/>
            <a:endParaRPr lang="en-US" dirty="0"/>
          </a:p>
        </p:txBody>
      </p:sp>
    </p:spTree>
    <p:extLst>
      <p:ext uri="{BB962C8B-B14F-4D97-AF65-F5344CB8AC3E}">
        <p14:creationId xmlns:p14="http://schemas.microsoft.com/office/powerpoint/2010/main" val="426695138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a:t>
            </a:r>
          </a:p>
        </p:txBody>
      </p:sp>
      <p:sp>
        <p:nvSpPr>
          <p:cNvPr id="3" name="Content Placeholder 2"/>
          <p:cNvSpPr>
            <a:spLocks noGrp="1"/>
          </p:cNvSpPr>
          <p:nvPr>
            <p:ph idx="1"/>
          </p:nvPr>
        </p:nvSpPr>
        <p:spPr>
          <a:xfrm>
            <a:off x="1569154" y="2490136"/>
            <a:ext cx="9064981" cy="3810911"/>
          </a:xfrm>
        </p:spPr>
        <p:txBody>
          <a:bodyPr>
            <a:normAutofit fontScale="92500" lnSpcReduction="20000"/>
          </a:bodyPr>
          <a:lstStyle/>
          <a:p>
            <a:pPr algn="just"/>
            <a:r>
              <a:rPr lang="en-US" dirty="0" smtClean="0"/>
              <a:t>Surveillance </a:t>
            </a:r>
            <a:r>
              <a:rPr lang="en-US" dirty="0"/>
              <a:t>is an effective tool that can be used to improve IPC practices and decrease HAIs. </a:t>
            </a:r>
            <a:endParaRPr lang="en-US" dirty="0" smtClean="0"/>
          </a:p>
          <a:p>
            <a:pPr algn="just"/>
            <a:r>
              <a:rPr lang="en-US" dirty="0" smtClean="0"/>
              <a:t>Basic </a:t>
            </a:r>
            <a:r>
              <a:rPr lang="en-US" dirty="0"/>
              <a:t>surveillance can be conducted without a large infrastructure or many resources. </a:t>
            </a:r>
            <a:endParaRPr lang="en-US" dirty="0" smtClean="0"/>
          </a:p>
          <a:p>
            <a:pPr algn="just"/>
            <a:r>
              <a:rPr lang="en-US" dirty="0" smtClean="0"/>
              <a:t>Surveillance </a:t>
            </a:r>
            <a:r>
              <a:rPr lang="en-US" dirty="0"/>
              <a:t>should start with an infection risk assessment. </a:t>
            </a:r>
            <a:endParaRPr lang="en-US" dirty="0" smtClean="0"/>
          </a:p>
          <a:p>
            <a:pPr algn="just"/>
            <a:r>
              <a:rPr lang="en-US" dirty="0" smtClean="0"/>
              <a:t>Surveillance </a:t>
            </a:r>
            <a:r>
              <a:rPr lang="en-US" dirty="0"/>
              <a:t>is only truly beneficial when the results are used to inform actions that will make patients safer. </a:t>
            </a:r>
          </a:p>
          <a:p>
            <a:pPr algn="just"/>
            <a:endParaRPr lang="en-US" dirty="0"/>
          </a:p>
        </p:txBody>
      </p:sp>
    </p:spTree>
    <p:extLst>
      <p:ext uri="{BB962C8B-B14F-4D97-AF65-F5344CB8AC3E}">
        <p14:creationId xmlns:p14="http://schemas.microsoft.com/office/powerpoint/2010/main" val="38781840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heme5">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xmlns="" name="Presentation1" id="{FF8D033B-E2B8-2549-8206-D2592AE46FED}" vid="{E3C3ECE2-B6B8-A844-8217-32346E25080D}"/>
    </a:ext>
  </a:extLst>
</a:theme>
</file>

<file path=docProps/app.xml><?xml version="1.0" encoding="utf-8"?>
<Properties xmlns="http://schemas.openxmlformats.org/officeDocument/2006/extended-properties" xmlns:vt="http://schemas.openxmlformats.org/officeDocument/2006/docPropsVTypes">
  <Template>Theme5</Template>
  <TotalTime>2651</TotalTime>
  <Words>2038</Words>
  <Application>Microsoft Office PowerPoint</Application>
  <PresentationFormat>Custom</PresentationFormat>
  <Paragraphs>173</Paragraphs>
  <Slides>46</Slides>
  <Notes>0</Notes>
  <HiddenSlides>0</HiddenSlides>
  <MMClips>0</MMClips>
  <ScaleCrop>false</ScaleCrop>
  <HeadingPairs>
    <vt:vector size="4" baseType="variant">
      <vt:variant>
        <vt:lpstr>Theme</vt:lpstr>
      </vt:variant>
      <vt:variant>
        <vt:i4>1</vt:i4>
      </vt:variant>
      <vt:variant>
        <vt:lpstr>Slide Titles</vt:lpstr>
      </vt:variant>
      <vt:variant>
        <vt:i4>46</vt:i4>
      </vt:variant>
    </vt:vector>
  </HeadingPairs>
  <TitlesOfParts>
    <vt:vector size="47" baseType="lpstr">
      <vt:lpstr>Theme5</vt:lpstr>
      <vt:lpstr>VOLUME 2:  SECTION 3  CHAPTER 1:  INTRODUCTION TO SURVEILLANCE OF HAI</vt:lpstr>
      <vt:lpstr>  Chapter Content</vt:lpstr>
      <vt:lpstr>    Learning Objectives    </vt:lpstr>
      <vt:lpstr>PPP 13.1:  Overview</vt:lpstr>
      <vt:lpstr>  Overview</vt:lpstr>
      <vt:lpstr>PPP 13.2:  Characteristics of Surveillance</vt:lpstr>
      <vt:lpstr>Characteristics of Effective Surveillance</vt:lpstr>
      <vt:lpstr>PPP 12.3: Types of Surveillance</vt:lpstr>
      <vt:lpstr>Types of Surveillance </vt:lpstr>
      <vt:lpstr>Types of Surveillance cont’d…</vt:lpstr>
      <vt:lpstr>Types of Surveillance cont’d…</vt:lpstr>
      <vt:lpstr>PPP 13.3: Purpose of Surveillance</vt:lpstr>
      <vt:lpstr>Purposes of Conducting Surveillance for HAI</vt:lpstr>
      <vt:lpstr>Outcome surveillance helps the IPC team to:</vt:lpstr>
      <vt:lpstr>Process surveillance helps the IPC team to</vt:lpstr>
      <vt:lpstr>PPP 13.4: Steps for conducting Surveillance in HCF</vt:lpstr>
      <vt:lpstr>Steps for Conducting Surveillance in a Health Care Facility </vt:lpstr>
      <vt:lpstr>When planning surveillance, priority areas are: </vt:lpstr>
      <vt:lpstr>To set priorities, the health care facility team should :</vt:lpstr>
      <vt:lpstr>To set priorities, the health care facility team should cont’d…:</vt:lpstr>
      <vt:lpstr>To set priorities, the health care facility team should cont’d…:</vt:lpstr>
      <vt:lpstr>To set priorities, the health care facility team should cont’d…:</vt:lpstr>
      <vt:lpstr>Design and Develop a Surveillance Approach </vt:lpstr>
      <vt:lpstr>Define the Denominator </vt:lpstr>
      <vt:lpstr>Types of denominators (incidence surveillance) </vt:lpstr>
      <vt:lpstr>Define the Numerator by Using a Case Definition </vt:lpstr>
      <vt:lpstr>  Design and Develop the Process for Monitoring the Chosen Event   </vt:lpstr>
      <vt:lpstr>Example of surveillance Time period</vt:lpstr>
      <vt:lpstr>Case identification  </vt:lpstr>
      <vt:lpstr>Prospective or retrospective surveillance </vt:lpstr>
      <vt:lpstr>Number of observations (for process measure surveillance)</vt:lpstr>
      <vt:lpstr>Data collection plan  </vt:lpstr>
      <vt:lpstr>Data collection plan cont’d…</vt:lpstr>
      <vt:lpstr>Data collection plan cont’d…</vt:lpstr>
      <vt:lpstr>Implement Surveillance Activities </vt:lpstr>
      <vt:lpstr>Implement Surveillance Activities</vt:lpstr>
      <vt:lpstr>Analyze and Report Data</vt:lpstr>
      <vt:lpstr>Analyze and Report Data cont’d…</vt:lpstr>
      <vt:lpstr>Analyze and Report Data cont’d…</vt:lpstr>
      <vt:lpstr>Analyze and Report Data cont’d…</vt:lpstr>
      <vt:lpstr>Initiate Quality Improvement Activities</vt:lpstr>
      <vt:lpstr>Tips for Carrying Out Outcome Surveillance </vt:lpstr>
      <vt:lpstr>Surveillance Process</vt:lpstr>
      <vt:lpstr>Tips for Carrying Out Outcome Surveillance cont’d…</vt:lpstr>
      <vt:lpstr>Tips for Carrying Out Outcome Surveillance cont’d…</vt:lpstr>
      <vt:lpstr>Summary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Section 3: Surveillance of HAI</dc:title>
  <dc:creator>yayene Tad</dc:creator>
  <cp:lastModifiedBy>moh</cp:lastModifiedBy>
  <cp:revision>51</cp:revision>
  <dcterms:created xsi:type="dcterms:W3CDTF">2018-12-11T17:17:15Z</dcterms:created>
  <dcterms:modified xsi:type="dcterms:W3CDTF">2019-09-23T09:08:33Z</dcterms:modified>
</cp:coreProperties>
</file>